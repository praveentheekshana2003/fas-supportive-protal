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81" r:id="rId3"/>
    <p:sldId id="316" r:id="rId4"/>
    <p:sldId id="317" r:id="rId5"/>
    <p:sldId id="331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33" r:id="rId15"/>
    <p:sldId id="326" r:id="rId16"/>
    <p:sldId id="327" r:id="rId17"/>
    <p:sldId id="328" r:id="rId18"/>
    <p:sldId id="329" r:id="rId19"/>
    <p:sldId id="334" r:id="rId20"/>
    <p:sldId id="330" r:id="rId21"/>
    <p:sldId id="335" r:id="rId22"/>
    <p:sldId id="336" r:id="rId23"/>
    <p:sldId id="337" r:id="rId24"/>
    <p:sldId id="338" r:id="rId25"/>
    <p:sldId id="343" r:id="rId26"/>
    <p:sldId id="339" r:id="rId27"/>
    <p:sldId id="340" r:id="rId28"/>
    <p:sldId id="342" r:id="rId29"/>
    <p:sldId id="344" r:id="rId30"/>
    <p:sldId id="341" r:id="rId31"/>
    <p:sldId id="34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73913" autoAdjust="0"/>
  </p:normalViewPr>
  <p:slideViewPr>
    <p:cSldViewPr>
      <p:cViewPr varScale="1">
        <p:scale>
          <a:sx n="67" d="100"/>
          <a:sy n="67" d="100"/>
        </p:scale>
        <p:origin x="53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9F9D6-525A-49B7-8B71-29932B27C212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FCD54-E115-4ED1-9227-092E76F0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0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22/08/2021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youtu.be/Mrphn1zOWaE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m12xsf5g3Bo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GENERAL BIOLOGY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 err="1">
                <a:solidFill>
                  <a:srgbClr val="FF0000"/>
                </a:solidFill>
              </a:rPr>
              <a:t>fdn</a:t>
            </a:r>
            <a:r>
              <a:rPr lang="en-US" dirty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Dr. </a:t>
            </a:r>
            <a:r>
              <a:rPr lang="en-US" sz="2800" b="1" dirty="0" err="1">
                <a:solidFill>
                  <a:schemeClr val="bg1"/>
                </a:solidFill>
              </a:rPr>
              <a:t>Theja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Abayarathna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>
                <a:solidFill>
                  <a:schemeClr val="bg1"/>
                </a:solidFill>
              </a:rPr>
              <a:t>Rajarata</a:t>
            </a:r>
            <a:r>
              <a:rPr lang="en-US" sz="2000" b="1" dirty="0">
                <a:solidFill>
                  <a:schemeClr val="bg1"/>
                </a:solidFill>
              </a:rPr>
              <a:t> University of Sri Lanka</a:t>
            </a: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124744"/>
            <a:ext cx="7560840" cy="2664296"/>
          </a:xfrm>
        </p:spPr>
        <p:txBody>
          <a:bodyPr/>
          <a:lstStyle/>
          <a:p>
            <a:pPr eaLnBrk="1" hangingPunct="1">
              <a:defRPr/>
            </a:pPr>
            <a:r>
              <a:rPr lang="en-US" b="1" i="1" dirty="0">
                <a:solidFill>
                  <a:srgbClr val="FF0000"/>
                </a:solidFill>
                <a:effectLst/>
              </a:rPr>
              <a:t>NUTRITION</a:t>
            </a:r>
          </a:p>
        </p:txBody>
      </p:sp>
    </p:spTree>
    <p:extLst>
      <p:ext uri="{BB962C8B-B14F-4D97-AF65-F5344CB8AC3E}">
        <p14:creationId xmlns:p14="http://schemas.microsoft.com/office/powerpoint/2010/main" val="7308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88639"/>
            <a:ext cx="8229600" cy="108012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chemeClr val="folHlink"/>
                </a:solidFill>
                <a:effectLst/>
              </a:rPr>
              <a:t>Autotrophic and Heterotrophic Nutrition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6260A-6BE9-493F-8C59-A01FA2029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9658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Living organisms obtain chemical energy, they need to perform activities, in one of two ways.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" indent="0">
              <a:buNone/>
            </a:pPr>
            <a:endParaRPr lang="en-US" sz="32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US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Autotrophic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indent="-4572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Autotrophs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store </a:t>
            </a:r>
            <a:r>
              <a:rPr lang="en-US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chemical energy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 </a:t>
            </a:r>
            <a:r>
              <a:rPr lang="en-US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carbohydrate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food molecules they build themselves. </a:t>
            </a:r>
          </a:p>
          <a:p>
            <a:pPr marL="0" marR="0" indent="0">
              <a:buNone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Food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is chemical energy stored in organic molecules.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Food provides both the energy to do work and the carbon to build bodies. 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71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B70D2F-C59E-480F-B8CC-34A6F0CBA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88"/>
          </a:xfrm>
        </p:spPr>
        <p:txBody>
          <a:bodyPr/>
          <a:lstStyle/>
          <a:p>
            <a:pPr marL="13716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Because most </a:t>
            </a:r>
            <a:r>
              <a:rPr lang="en-US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autotrophs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transform sunlight to make food, we call the process they use </a:t>
            </a:r>
            <a:r>
              <a:rPr lang="en-US" b="1" dirty="0">
                <a:solidFill>
                  <a:srgbClr val="833C0B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photosynthesis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  <a:p>
            <a:pPr marL="137160" indent="0"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Only three groups of organisms - </a:t>
            </a:r>
            <a:r>
              <a:rPr lang="en-US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plants, algae, and some bacteria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- are capable of this life-giving energy transformation. </a:t>
            </a:r>
          </a:p>
          <a:p>
            <a:pPr marL="137160" indent="0"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Autotrophs make food for their own use, but they make enough to support other life as well. 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4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00DEA0-B814-4EC7-868A-97C0B4EF0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Almost all other organisms depend on these three groups for the food they produce. </a:t>
            </a:r>
          </a:p>
          <a:p>
            <a:pPr marL="137160" indent="0">
              <a:buNone/>
            </a:pP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 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producers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as autotrophs are also known, begin 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food chains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which feed all life. 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AF9CE-3A5B-4DFC-A3A7-A26E35AF8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4005064"/>
            <a:ext cx="6923112" cy="2615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C3A88F-97B5-4C84-B59E-3CB504FB255B}"/>
              </a:ext>
            </a:extLst>
          </p:cNvPr>
          <p:cNvSpPr txBox="1"/>
          <p:nvPr/>
        </p:nvSpPr>
        <p:spPr>
          <a:xfrm>
            <a:off x="0" y="296733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+mj-lt"/>
              <a:buAutoNum type="alphaLcParenBoth"/>
            </a:pPr>
            <a:r>
              <a:rPr lang="en-US" sz="1800" b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Plants              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lphaLcParenBoth"/>
            </a:pPr>
            <a:r>
              <a:rPr lang="en-US" sz="1800" b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Algae                                       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lphaLcParenBoth"/>
            </a:pPr>
            <a:r>
              <a:rPr lang="en-US" sz="1800" b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Photosynthetic bacteria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92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4087A-4785-478E-8131-CB287928F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976704"/>
          </a:xfrm>
        </p:spPr>
        <p:txBody>
          <a:bodyPr>
            <a:normAutofit/>
          </a:bodyPr>
          <a:lstStyle/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Heterotrophs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cannot make their own food, so they must eat or absorb it. </a:t>
            </a:r>
          </a:p>
          <a:p>
            <a:pPr marL="0" marR="0" indent="0">
              <a:buNone/>
            </a:pP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For this reason, heterotrophs are also known as </a:t>
            </a:r>
            <a:r>
              <a:rPr lang="en-US" sz="2400" b="1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consumers</a:t>
            </a:r>
            <a:r>
              <a:rPr lang="en-US" sz="2400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</a:p>
          <a:p>
            <a:pPr marL="0" marR="0" indent="0">
              <a:buNone/>
            </a:pPr>
            <a:endParaRPr lang="en-US" sz="2400" dirty="0">
              <a:solidFill>
                <a:srgbClr val="92D05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Consumers include </a:t>
            </a:r>
            <a:r>
              <a:rPr lang="en-US" sz="24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all animals and fungi and many protists and bacteria.</a:t>
            </a:r>
          </a:p>
          <a:p>
            <a:pPr marL="342900" marR="0" indent="-342900"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They may consume autotrophs or other heterotrophs or organic molecules from other organisms.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Heterotrophs show great diversity but heterotrophs are limited by our utter dependence on those autotrophs that originally made our food. </a:t>
            </a:r>
          </a:p>
          <a:p>
            <a:pPr marL="342900" marR="0" indent="-342900"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666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8BF0E-94CC-4325-80FD-9F1E9EC4B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If plants, algae, and autotrophic bacteria vanished from earth, animals, fungi, and other heterotrophs would soon disappear as well. </a:t>
            </a:r>
          </a:p>
          <a:p>
            <a:pPr marL="342900" marR="0" indent="-342900">
              <a:buFont typeface="Wingdings" panose="05000000000000000000" pitchFamily="2" charset="2"/>
              <a:buChar char="ü"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All life requires a constant input of energy. </a:t>
            </a:r>
          </a:p>
          <a:p>
            <a:pPr marL="342900" marR="0" indent="-342900">
              <a:buFont typeface="Wingdings" panose="05000000000000000000" pitchFamily="2" charset="2"/>
              <a:buChar char="ü"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Only autotrophs can transform that ultimate, solar source into the chemical energy in food that powers life.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5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68F39-F884-4141-890B-4AF504692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Photosynthesis is the process used by </a:t>
            </a: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plants, algae and certain bacteria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to capture energy from </a:t>
            </a: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sunlight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and turn it into </a:t>
            </a: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chemical energy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5D6CA-CB9E-4AF2-AA7B-C38936E1417D}"/>
              </a:ext>
            </a:extLst>
          </p:cNvPr>
          <p:cNvSpPr txBox="1"/>
          <p:nvPr/>
        </p:nvSpPr>
        <p:spPr>
          <a:xfrm>
            <a:off x="683568" y="360864"/>
            <a:ext cx="4572000" cy="7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Photosynthesis</a:t>
            </a:r>
            <a:endParaRPr lang="en-US" sz="4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130EDC-8C8E-49D6-B03D-8A26FA79C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568" y="2996952"/>
            <a:ext cx="3712046" cy="371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8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B04A9-23AF-463D-8DF1-2D72965A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09160"/>
          </a:xfrm>
        </p:spPr>
        <p:txBody>
          <a:bodyPr/>
          <a:lstStyle/>
          <a:p>
            <a:pPr marL="0" marR="0" indent="0" fontAlgn="base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There are two types of photosynthetic processes: 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</a:pPr>
            <a:r>
              <a:rPr lang="en-US" sz="32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oxygenic photosynthesis</a:t>
            </a:r>
            <a:endParaRPr lang="en-US" sz="32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</a:pPr>
            <a:r>
              <a:rPr lang="en-US" sz="32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anoxygenic photosynthesis</a:t>
            </a:r>
            <a:r>
              <a:rPr lang="en-US" sz="3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endParaRPr lang="en-US" dirty="0">
              <a:solidFill>
                <a:srgbClr val="333333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137160" indent="0">
              <a:buNone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general principles are very similar, but oxygenic photosynthesis is the most common.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2B31E5-E82B-4ED1-A3A9-5056CE76DB85}"/>
              </a:ext>
            </a:extLst>
          </p:cNvPr>
          <p:cNvSpPr txBox="1"/>
          <p:nvPr/>
        </p:nvSpPr>
        <p:spPr>
          <a:xfrm>
            <a:off x="683568" y="476672"/>
            <a:ext cx="7488832" cy="448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fontAlgn="base">
              <a:lnSpc>
                <a:spcPts val="2250"/>
              </a:lnSpc>
              <a:spcBef>
                <a:spcPts val="0"/>
              </a:spcBef>
              <a:spcAft>
                <a:spcPts val="840"/>
              </a:spcAft>
            </a:pPr>
            <a:r>
              <a:rPr lang="en-US" sz="40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process of Photosynthesis</a:t>
            </a:r>
            <a:endParaRPr lang="en-US" sz="40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28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36A8A-0F24-4049-812E-0B5E854B8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688672"/>
          </a:xfrm>
        </p:spPr>
        <p:txBody>
          <a:bodyPr>
            <a:normAutofit lnSpcReduction="10000"/>
          </a:bodyPr>
          <a:lstStyle/>
          <a:p>
            <a:pPr marL="137160" indent="0">
              <a:buNone/>
            </a:pPr>
            <a:r>
              <a:rPr lang="en-US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During oxygenic photosynthesis,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F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light energy transfers electrons from water (H</a:t>
            </a:r>
            <a:r>
              <a:rPr lang="en-US" baseline="-25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O) to carbon dioxide (CO</a:t>
            </a:r>
            <a:r>
              <a:rPr lang="en-US" baseline="-25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),to produce 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carbohydrates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333333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this transfer, the CO</a:t>
            </a:r>
            <a:r>
              <a:rPr lang="en-US" baseline="-250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is "reduced," or receives electrons,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and the water becomes "oxidized," or loses electrons.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Ultimately, oxygen is produced along with carbohydrates. The capturing of sunlight is done by chloroplast.</a:t>
            </a:r>
            <a:endParaRPr lang="en-US" dirty="0">
              <a:solidFill>
                <a:srgbClr val="FFC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670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CFE0C-D5F6-4036-A2C4-EF47EBD9F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88"/>
          </a:xfrm>
        </p:spPr>
        <p:txBody>
          <a:bodyPr>
            <a:normAutofit/>
          </a:bodyPr>
          <a:lstStyle/>
          <a:p>
            <a:pPr marL="457200" marR="0" indent="-45720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Anoxygenic photosynthesis </a:t>
            </a:r>
            <a:r>
              <a:rPr lang="en-US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does not produce oxygen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hence the name is given as </a:t>
            </a:r>
            <a:r>
              <a:rPr lang="en-US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anoxigenic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marR="0" indent="-45720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is produced depends on the electron donor. 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marR="0" indent="-45720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For example, many bacteria use the bad-eggs-smelling gas </a:t>
            </a:r>
            <a:r>
              <a:rPr lang="en-US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hydrogen sulfide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producing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solid sulfur 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as a 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byproduct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indent="-45720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dirty="0">
              <a:solidFill>
                <a:srgbClr val="333333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marR="0" indent="-457200" fontAlgn="base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Though both are complex, multistep affairs, the overall process can be neatly summarized as a chemical equation.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575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2A34F-D445-4F4F-9438-30F150F93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688632"/>
          </a:xfrm>
        </p:spPr>
        <p:txBody>
          <a:bodyPr>
            <a:normAutofit fontScale="85000" lnSpcReduction="10000"/>
          </a:bodyPr>
          <a:lstStyle/>
          <a:p>
            <a:pPr marL="0" marR="0" indent="0" fontAlgn="base"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solidFill>
                <a:srgbClr val="333333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marR="0" indent="-457200" fontAlgn="base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Oxygenic photosynthesis is written as follows: 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6CO</a:t>
            </a:r>
            <a:r>
              <a:rPr lang="en-US" baseline="-250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+ </a:t>
            </a: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12H</a:t>
            </a:r>
            <a:r>
              <a:rPr lang="en-US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+ </a:t>
            </a:r>
            <a:r>
              <a:rPr lang="en-US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Light Energy 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→ C</a:t>
            </a:r>
            <a:r>
              <a:rPr lang="en-US" baseline="-250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</a:t>
            </a:r>
            <a:r>
              <a:rPr lang="en-US" baseline="-250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12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US" baseline="-250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+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6O</a:t>
            </a:r>
            <a:r>
              <a:rPr lang="en-US" baseline="-25000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+ </a:t>
            </a:r>
            <a:r>
              <a:rPr lang="en-US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6H</a:t>
            </a:r>
            <a:r>
              <a:rPr lang="en-US" baseline="-25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endParaRPr lang="en-US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" indent="0">
              <a:buNone/>
            </a:pPr>
            <a:endParaRPr lang="en-US" dirty="0"/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rgbClr val="333333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marR="0" indent="-45720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Here, </a:t>
            </a:r>
            <a:r>
              <a:rPr lang="en-US" sz="32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six molecules of carbon dioxide (CO</a:t>
            </a:r>
            <a:r>
              <a:rPr lang="en-US" sz="3200" baseline="-25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 </a:t>
            </a:r>
            <a:r>
              <a:rPr lang="en-US" sz="3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combine with </a:t>
            </a:r>
            <a:r>
              <a:rPr lang="en-US" sz="32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12 molecules of water (H</a:t>
            </a:r>
            <a:r>
              <a:rPr lang="en-US" sz="3200" baseline="-250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O) </a:t>
            </a:r>
            <a:r>
              <a:rPr lang="en-US" sz="3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using </a:t>
            </a:r>
            <a:r>
              <a:rPr lang="en-US" sz="32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light energy</a:t>
            </a:r>
            <a:r>
              <a:rPr lang="en-US" sz="3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rgbClr val="333333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marR="0" indent="-45720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end result is the formation of a single carbohydrate molecule </a:t>
            </a:r>
            <a:r>
              <a:rPr lang="en-US" sz="32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(C</a:t>
            </a:r>
            <a:r>
              <a:rPr lang="en-US" sz="3200" baseline="-250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</a:t>
            </a:r>
            <a:r>
              <a:rPr lang="en-US" sz="32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</a:t>
            </a:r>
            <a:r>
              <a:rPr lang="en-US" sz="3200" baseline="-250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12</a:t>
            </a:r>
            <a:r>
              <a:rPr lang="en-US" sz="32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US" sz="3200" baseline="-250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</a:t>
            </a:r>
            <a:r>
              <a:rPr lang="en-US" sz="32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or glucose)</a:t>
            </a:r>
            <a:r>
              <a:rPr lang="en-US" sz="3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along with </a:t>
            </a:r>
            <a:r>
              <a:rPr lang="en-US" sz="32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six molecules each of breathable oxygen </a:t>
            </a:r>
            <a:r>
              <a:rPr lang="en-US" sz="32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and water.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fontAlgn="base">
              <a:spcBef>
                <a:spcPts val="0"/>
              </a:spcBef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83F60-C702-4FA3-ABDA-9092B1268420}"/>
              </a:ext>
            </a:extLst>
          </p:cNvPr>
          <p:cNvSpPr txBox="1"/>
          <p:nvPr/>
        </p:nvSpPr>
        <p:spPr>
          <a:xfrm>
            <a:off x="323528" y="1556792"/>
            <a:ext cx="8012313" cy="831362"/>
          </a:xfrm>
          <a:prstGeom prst="rect">
            <a:avLst/>
          </a:prstGeom>
          <a:noFill/>
          <a:ln w="698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6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59326-E4AE-495B-A11C-57D106E3B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3136"/>
            <a:ext cx="8229600" cy="5290120"/>
          </a:xfrm>
        </p:spPr>
        <p:txBody>
          <a:bodyPr>
            <a:normAutofit/>
          </a:bodyPr>
          <a:lstStyle/>
          <a:p>
            <a:pPr marL="457200" marR="0" indent="-457200" fontAlgn="base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Similarly, the various anoxygenic photosynthesis reactions can be represented as a single generalized formula:</a:t>
            </a:r>
          </a:p>
          <a:p>
            <a:pPr marL="0" marR="0" indent="0" fontAlgn="base"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CO</a:t>
            </a:r>
            <a:r>
              <a:rPr lang="en-US" baseline="-25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2 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+ 2H</a:t>
            </a:r>
            <a:r>
              <a:rPr lang="en-US" baseline="-25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+ Light Energy → [CH</a:t>
            </a:r>
            <a:r>
              <a:rPr lang="en-US" baseline="-25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O] + </a:t>
            </a:r>
            <a:r>
              <a:rPr lang="en-US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2A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+ H</a:t>
            </a:r>
            <a:r>
              <a:rPr lang="en-US" baseline="-25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fontAlgn="base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indent="-45720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letter </a:t>
            </a:r>
            <a:r>
              <a:rPr lang="en-US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in the equation is a variable and H</a:t>
            </a:r>
            <a:r>
              <a:rPr lang="en-US" baseline="-25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 represents the 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potential electron donor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For example, A may represent </a:t>
            </a: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sulfur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in the electron donor </a:t>
            </a: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hydrogen sulfide (H</a:t>
            </a:r>
            <a:r>
              <a:rPr lang="en-US" baseline="-250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S)</a:t>
            </a:r>
            <a:r>
              <a:rPr lang="en-US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60A15-24FD-4DE6-948F-3FEBCE7E439C}"/>
              </a:ext>
            </a:extLst>
          </p:cNvPr>
          <p:cNvSpPr txBox="1"/>
          <p:nvPr/>
        </p:nvSpPr>
        <p:spPr>
          <a:xfrm>
            <a:off x="971600" y="2276872"/>
            <a:ext cx="7272808" cy="864096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937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FC1941-5923-47AD-AEC9-5C1F28C4A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>
            <a:normAutofit lnSpcReduction="10000"/>
          </a:bodyPr>
          <a:lstStyle/>
          <a:p>
            <a:pPr marL="137160" indent="0">
              <a:buNone/>
            </a:pPr>
            <a:r>
              <a:rPr lang="en-US" sz="40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food – Respiration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 </a:t>
            </a:r>
            <a:r>
              <a:rPr lang="en-US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flow of energy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through living organisms </a:t>
            </a: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begins with photosynthesis. </a:t>
            </a:r>
          </a:p>
          <a:p>
            <a:pPr marL="137160" indent="0">
              <a:buNone/>
            </a:pPr>
            <a:endParaRPr lang="en-US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This process stores </a:t>
            </a: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energy from sunlight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 the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chemical bonds of glucose. </a:t>
            </a:r>
          </a:p>
          <a:p>
            <a:pPr marL="137160" indent="0">
              <a:buNone/>
            </a:pPr>
            <a:endParaRPr lang="en-US" dirty="0">
              <a:solidFill>
                <a:schemeClr val="accent5">
                  <a:lumMod val="50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By breaking the chemical bonds in glucose, cells 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release the stored energy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and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make the </a:t>
            </a: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ATP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they need. </a:t>
            </a:r>
          </a:p>
          <a:p>
            <a:pPr marL="137160" indent="0">
              <a:buNone/>
            </a:pP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process in which glucose is broken down and ATP is made is called </a:t>
            </a:r>
            <a:r>
              <a:rPr lang="en-US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cellular respiration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42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26B67-E041-48E2-A364-E31E13A93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9766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Photosynthesis and cellular respiration are like two sides of the same coin. </a:t>
            </a:r>
          </a:p>
          <a:p>
            <a:pPr marL="137160" indent="0"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products of one process are the reactants of the other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</a:p>
          <a:p>
            <a:pPr marL="137160" indent="0"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Together, the two processes </a:t>
            </a:r>
            <a:r>
              <a:rPr lang="en-US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store and release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energy in living organisms. </a:t>
            </a:r>
          </a:p>
          <a:p>
            <a:pPr marL="137160" indent="0"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two processes also work together to 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recycle oxygen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 Earth’s atmosphere.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641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F1A9A-1360-4C4D-9C0E-19290ADB1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656" y="457484"/>
            <a:ext cx="5632326" cy="598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94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3F882-31B5-4B08-8DEC-5D06FEC79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4556"/>
            <a:ext cx="8229600" cy="6192688"/>
          </a:xfrm>
          <a:ln>
            <a:solidFill>
              <a:schemeClr val="bg1">
                <a:alpha val="93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Cellular Respiration</a:t>
            </a:r>
            <a:endParaRPr lang="en-US" sz="3200" b="1" i="1" dirty="0">
              <a:solidFill>
                <a:srgbClr val="00B050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Cellular respiration actually “</a:t>
            </a:r>
            <a:r>
              <a:rPr lang="en-US" sz="24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burns” glucose 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for energy. </a:t>
            </a:r>
          </a:p>
          <a:p>
            <a:pPr marL="0" marR="0" indent="0">
              <a:buNone/>
            </a:pP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This is because it releases the energy in glucose slowly, in many small steps.</a:t>
            </a:r>
          </a:p>
          <a:p>
            <a:pPr marL="0" marR="0" indent="0">
              <a:buNone/>
            </a:pP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It uses the energy that is released to form molecules of </a:t>
            </a: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ATP. </a:t>
            </a:r>
          </a:p>
          <a:p>
            <a:pPr marL="0" marR="0" indent="0">
              <a:buNone/>
            </a:pP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Cellular respiration involves many chemical reactions, which can be summed up with this chemical equation:</a:t>
            </a:r>
          </a:p>
          <a:p>
            <a:pPr marL="0" marR="0" indent="0"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</a:t>
            </a:r>
            <a:r>
              <a:rPr lang="en-US" sz="24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</a:t>
            </a:r>
            <a:r>
              <a:rPr lang="en-US" sz="24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12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US" sz="24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6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+ 6O</a:t>
            </a:r>
            <a:r>
              <a:rPr lang="en-US" sz="24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→ 6CO</a:t>
            </a:r>
            <a:r>
              <a:rPr lang="en-US" sz="24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+ 6H</a:t>
            </a:r>
            <a:r>
              <a:rPr lang="en-US" sz="24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 + Chemical Energy (in ATP)</a:t>
            </a:r>
          </a:p>
          <a:p>
            <a:pPr marL="0" marR="0" indent="0">
              <a:buNone/>
            </a:pP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Cellular respiration occurs in the cells of all living things. It takes place in the cells of both autotrophs and heterotrophs.</a:t>
            </a: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3BDCB-2411-43F2-ABE4-BCE6B43C1352}"/>
              </a:ext>
            </a:extLst>
          </p:cNvPr>
          <p:cNvSpPr txBox="1"/>
          <p:nvPr/>
        </p:nvSpPr>
        <p:spPr>
          <a:xfrm>
            <a:off x="755576" y="4653136"/>
            <a:ext cx="7416824" cy="720080"/>
          </a:xfrm>
          <a:prstGeom prst="rect">
            <a:avLst/>
          </a:prstGeom>
          <a:noFill/>
          <a:ln w="539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52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53A91-A9C3-40F4-82FA-D05519E15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048712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sz="4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Reproduction</a:t>
            </a:r>
            <a:endParaRPr lang="en-US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Organisms reproduce to </a:t>
            </a:r>
            <a:r>
              <a:rPr lang="en-US" b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pass on their genes and create new members </a:t>
            </a:r>
            <a:r>
              <a:rPr lang="en-US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of their species.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solidFill>
                <a:srgbClr val="231F2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If the organisms of a species all 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fail to reproduce </a:t>
            </a:r>
            <a:r>
              <a:rPr lang="en-US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then the species may become </a:t>
            </a:r>
            <a:r>
              <a:rPr lang="en-US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extinct.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solidFill>
                <a:srgbClr val="FFC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31F2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 modes of </a:t>
            </a:r>
            <a:r>
              <a:rPr lang="en-US" dirty="0">
                <a:solidFill>
                  <a:srgbClr val="231F2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reproduction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solidFill>
                <a:srgbClr val="231F2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Asexual and Sexual.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1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6255B-AAA7-46FF-B57C-B86A014E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Asexual Reproduction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7AE51-68AC-4273-B81A-872668432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58924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Does not need the union of sex cells or gametes. </a:t>
            </a:r>
          </a:p>
          <a:p>
            <a:r>
              <a:rPr lang="en-US" sz="2400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offspring produced is usually a clone of the parent. </a:t>
            </a:r>
          </a:p>
          <a:p>
            <a:endParaRPr lang="en-US" sz="2400" dirty="0">
              <a:solidFill>
                <a:srgbClr val="212529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different types</a:t>
            </a:r>
          </a:p>
          <a:p>
            <a:r>
              <a:rPr lang="en-US" sz="24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binary fission, </a:t>
            </a:r>
          </a:p>
          <a:p>
            <a:r>
              <a:rPr lang="en-US" sz="24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budding, </a:t>
            </a:r>
          </a:p>
          <a:p>
            <a:r>
              <a:rPr lang="en-US" sz="24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vegetative propagation, </a:t>
            </a:r>
          </a:p>
          <a:p>
            <a:r>
              <a:rPr lang="en-US" sz="24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spore formation (sporogenesis), </a:t>
            </a:r>
          </a:p>
          <a:p>
            <a:r>
              <a:rPr lang="en-US" sz="24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fragmentation and </a:t>
            </a:r>
          </a:p>
          <a:p>
            <a:r>
              <a:rPr lang="en-US" sz="24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parthenogenesis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Ex. </a:t>
            </a:r>
            <a:r>
              <a:rPr lang="en-US" sz="24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bacteria, archaea, many plants, fungi, and certain animals.</a:t>
            </a:r>
            <a:endParaRPr lang="en-US" sz="2400" dirty="0">
              <a:solidFill>
                <a:srgbClr val="FFC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6995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8D5AFF1-38A5-45C2-9105-830ACCBB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1. Binary Fission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6A4FE2F-B896-4B86-9014-A929E4D05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/>
          <a:lstStyle/>
          <a:p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cell divides to produce two identical cells. </a:t>
            </a:r>
          </a:p>
          <a:p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Each of these two cells has the potential to grow to the size of the original cell. </a:t>
            </a:r>
          </a:p>
          <a:p>
            <a:r>
              <a:rPr lang="en-US" sz="1800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Ex. Prokaryotes, certain protozoans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3" name="Picture 12" descr="Binary fission steps.">
            <a:extLst>
              <a:ext uri="{FF2B5EF4-FFF2-40B4-BE49-F238E27FC236}">
                <a16:creationId xmlns:a16="http://schemas.microsoft.com/office/drawing/2014/main" id="{7360AFF2-D10C-42E7-B34B-30F6BDBAE42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73016"/>
            <a:ext cx="6552728" cy="2160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488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C6E31-91E1-4FA5-B71F-4D41C41D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2. Budding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D34BA-9EBF-4003-B858-9F5462633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92"/>
          </a:xfrm>
        </p:spPr>
        <p:txBody>
          <a:bodyPr/>
          <a:lstStyle/>
          <a:p>
            <a:pPr marL="0" marR="0">
              <a:spcBef>
                <a:spcPts val="0"/>
              </a:spcBef>
            </a:pPr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formation of an outgrowth (or bud) from an organism</a:t>
            </a:r>
          </a:p>
          <a:p>
            <a:pPr marL="0" marR="0">
              <a:spcBef>
                <a:spcPts val="0"/>
              </a:spcBef>
            </a:pPr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that is capable of developing into a new individual. </a:t>
            </a:r>
          </a:p>
          <a:p>
            <a:pPr marL="0" marR="0">
              <a:spcBef>
                <a:spcPts val="0"/>
              </a:spcBef>
            </a:pPr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outgrowth is genetically the same as the parent but relatively smaller. </a:t>
            </a:r>
          </a:p>
          <a:p>
            <a:pPr marL="0" marR="0">
              <a:spcBef>
                <a:spcPts val="0"/>
              </a:spcBef>
            </a:pPr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It may stay attached or eventually split off from the parent.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r>
              <a:rPr lang="en-US" sz="1800" dirty="0" err="1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Ex.certain</a:t>
            </a:r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bacteria, fungi, and certain asexual animals, such as hydra and corals.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Stages of budding in hydra">
            <a:extLst>
              <a:ext uri="{FF2B5EF4-FFF2-40B4-BE49-F238E27FC236}">
                <a16:creationId xmlns:a16="http://schemas.microsoft.com/office/drawing/2014/main" id="{719E4607-9BA8-47A3-83FB-F153B6F0932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443030"/>
            <a:ext cx="4680520" cy="28663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7614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812D-167A-46A2-B921-60F538E4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3.Vegetative 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32F45-1341-45C0-9525-B21B4325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It is when a new plant emerges from vegetative parts, such as specialized stems, leaves, and roots. </a:t>
            </a:r>
          </a:p>
          <a:p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Then, they form their own root system and grow. </a:t>
            </a:r>
          </a:p>
          <a:p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Ex. those emerging from runners, bulbs, tubers, corms, suckers (root sprouts), and plantlets.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natural vegetative propagation">
            <a:extLst>
              <a:ext uri="{FF2B5EF4-FFF2-40B4-BE49-F238E27FC236}">
                <a16:creationId xmlns:a16="http://schemas.microsoft.com/office/drawing/2014/main" id="{AD95557F-1265-48DC-B4A3-652C024A2D9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83568" y="3390454"/>
            <a:ext cx="4824536" cy="2342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rtificial vegetative propagation">
            <a:extLst>
              <a:ext uri="{FF2B5EF4-FFF2-40B4-BE49-F238E27FC236}">
                <a16:creationId xmlns:a16="http://schemas.microsoft.com/office/drawing/2014/main" id="{C57AF50B-AFCD-4C0C-BAB2-39B81B24E76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716" y="4728051"/>
            <a:ext cx="3571875" cy="20104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525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98554-B398-4CFB-881D-61183D66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4. Spore Formation (Sporogenesis)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CF4CE-1479-4532-9DB6-379FD1C4D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709160"/>
          </a:xfrm>
        </p:spPr>
        <p:txBody>
          <a:bodyPr/>
          <a:lstStyle/>
          <a:p>
            <a:r>
              <a:rPr lang="en-US" sz="2400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nvolves </a:t>
            </a:r>
            <a:r>
              <a:rPr lang="en-US" sz="24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spores.</a:t>
            </a: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Spores are </a:t>
            </a:r>
            <a:r>
              <a:rPr lang="en-US" sz="2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dormant, reproductive cells and are thick-walled and highly resistant to various unfavorable conditions</a:t>
            </a: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like high temperatures and low humidity. </a:t>
            </a:r>
          </a:p>
          <a:p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When the conditions are suitable, they germinate to give rise to new individuals. 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/>
              <a:t>Ex. Ferns</a:t>
            </a:r>
          </a:p>
          <a:p>
            <a:r>
              <a:rPr lang="en-US" sz="1800" u="sng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/>
              </a:rPr>
              <a:t>https://youtu.be/Mrphn1zOWaE</a:t>
            </a:r>
            <a:endParaRPr lang="en-US" sz="2400" u="sng" dirty="0">
              <a:solidFill>
                <a:srgbClr val="212529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2B3BF-F45B-4D1B-9325-4DD16422B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4095696"/>
            <a:ext cx="3456384" cy="259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93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B2BC-1BB1-4D5A-80DE-BD2FBCA6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5. Fragmentation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B1936-F747-4E22-B25B-AA545B93B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91722"/>
          </a:xfrm>
        </p:spPr>
        <p:txBody>
          <a:bodyPr/>
          <a:lstStyle/>
          <a:p>
            <a:pPr marL="0" marR="0">
              <a:spcBef>
                <a:spcPts val="0"/>
              </a:spcBef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parent organism breaking into fragments and </a:t>
            </a:r>
          </a:p>
          <a:p>
            <a:pPr marL="0" marR="0">
              <a:spcBef>
                <a:spcPts val="0"/>
              </a:spcBef>
            </a:pPr>
            <a:endParaRPr lang="en-US" sz="2400" dirty="0">
              <a:solidFill>
                <a:srgbClr val="21252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each fragment is capable of developing into a new organism </a:t>
            </a:r>
          </a:p>
          <a:p>
            <a:pPr marL="0" marR="0">
              <a:spcBef>
                <a:spcPts val="0"/>
              </a:spcBef>
            </a:pPr>
            <a:endParaRPr lang="en-US" sz="2400" dirty="0">
              <a:solidFill>
                <a:srgbClr val="21252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Human activity, predation, and other environmental factors may cause them to split into fragments. </a:t>
            </a:r>
          </a:p>
          <a:p>
            <a:pPr marL="0" marR="0">
              <a:spcBef>
                <a:spcPts val="0"/>
              </a:spcBef>
            </a:pPr>
            <a:endParaRPr lang="en-US" sz="2400" dirty="0">
              <a:solidFill>
                <a:srgbClr val="21252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Ex.fungi, molds, vascular and nonvascular plants, cyanobacteria, and animals (e.g. sponges, sea stars, planarians, and many annelid worms).</a:t>
            </a:r>
          </a:p>
          <a:p>
            <a:pPr marL="0" marR="0">
              <a:spcBef>
                <a:spcPts val="0"/>
              </a:spcBef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r>
              <a:rPr lang="en-US" sz="1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800" u="sng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https://youtu.be/m12xsf5g3Bo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563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ED14A4-6D9F-4320-8479-CDE4027D6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990" y="1772816"/>
            <a:ext cx="7786020" cy="386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90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A9F6-A7BB-4AD6-A1FB-8D5038C1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6. Parthenogenesis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F239-E9F1-464E-AB81-F99C34DD2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34" y="1268760"/>
            <a:ext cx="8440266" cy="2664296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offspring develops from a female gamete even without prior fertilization by a male gamete. </a:t>
            </a:r>
          </a:p>
          <a:p>
            <a:pPr marL="0" marR="0">
              <a:spcBef>
                <a:spcPts val="0"/>
              </a:spcBef>
            </a:pPr>
            <a:endParaRPr lang="en-US" sz="2400" dirty="0">
              <a:solidFill>
                <a:srgbClr val="21252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r>
              <a:rPr lang="en-US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the females lay 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unfertilised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eggs which hatch into females which also lay 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unfertilised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eggs and so on</a:t>
            </a:r>
            <a:endParaRPr lang="en-US" sz="2400" dirty="0">
              <a:solidFill>
                <a:srgbClr val="21252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Ex: insects (ants, bees)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842BB-121E-4C27-986F-30D36CB6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3504205"/>
            <a:ext cx="3461370" cy="308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52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8536-2CF0-4611-9E43-176F4F7F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Sexual Reproduction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4F17D-5092-43AC-A118-9BA8BD980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12608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Fusion of male and female </a:t>
            </a:r>
            <a:r>
              <a:rPr lang="en-US" sz="2400" dirty="0" err="1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gamates</a:t>
            </a: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must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semen containing sperm cells is released by the male into the female’s reproductive organ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solidFill>
                <a:srgbClr val="212529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a single sperm would be able to fertilize a viable ovum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solidFill>
                <a:srgbClr val="212529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haploid (n) sex cells form the diploid zygote that will next undergo mitosis to become an embryo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solidFill>
                <a:srgbClr val="212529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embryo then develops organs and become a fetus inside the female womb.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24789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156BF-713A-4034-8145-24BF7529E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726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fetus receives nutrients inside the mother’s womb via an </a:t>
            </a:r>
            <a:r>
              <a:rPr lang="en-US" dirty="0">
                <a:solidFill>
                  <a:srgbClr val="FFC000"/>
                </a:solidFill>
              </a:rPr>
              <a:t>umbilical cord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After the gestation period (usually, about 266 days), the female gives birth by pushing the fetus out of the birthing canal. </a:t>
            </a:r>
          </a:p>
          <a:p>
            <a:endParaRPr lang="en-US" dirty="0"/>
          </a:p>
          <a:p>
            <a:r>
              <a:rPr lang="en-US" dirty="0"/>
              <a:t>The newly born child, then, </a:t>
            </a:r>
            <a:r>
              <a:rPr lang="en-US" dirty="0">
                <a:solidFill>
                  <a:srgbClr val="002060"/>
                </a:solidFill>
              </a:rPr>
              <a:t>receives nutrition by lactation.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 Postnatal care continues until the child becomes independent.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99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9 - The Birds and the Bees, Eggs and Sperm (w/ Matt Fares!) — Curioscity: a  Science Show">
            <a:extLst>
              <a:ext uri="{FF2B5EF4-FFF2-40B4-BE49-F238E27FC236}">
                <a16:creationId xmlns:a16="http://schemas.microsoft.com/office/drawing/2014/main" id="{47E52533-0BB1-4C14-904F-E1981BBBC68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5" y="692696"/>
            <a:ext cx="5581162" cy="5616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3047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7ACCF-811F-4A04-8A94-E3CF067D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904696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in contrast to asexual reproduction where an organism </a:t>
            </a:r>
            <a:r>
              <a:rPr lang="en-US" sz="28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reproduces without involving gametes and the resulting offspring is a clone of the parent</a:t>
            </a:r>
            <a:r>
              <a:rPr lang="en-US" sz="2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endParaRPr lang="en-US" sz="2800" dirty="0">
              <a:solidFill>
                <a:srgbClr val="212529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Nonetheless, sexual reproduction has the advantage over asexual reproduction in </a:t>
            </a:r>
            <a:r>
              <a:rPr lang="en-US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increasing genetic variation and expanding the gene pool.</a:t>
            </a:r>
            <a:r>
              <a:rPr lang="en-US" sz="2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sz="2800" dirty="0">
              <a:solidFill>
                <a:srgbClr val="212529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Furthermore, it ensures that the </a:t>
            </a:r>
            <a:r>
              <a:rPr lang="en-US" sz="2800" dirty="0">
                <a:solidFill>
                  <a:srgbClr val="FFC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chromosome number of a particular species will remain the same across generations. </a:t>
            </a:r>
            <a:endParaRPr lang="en-US" sz="2800" dirty="0">
              <a:solidFill>
                <a:srgbClr val="FFC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421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180F7C-0C33-40BA-AF42-2B3851590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636" y="305272"/>
            <a:ext cx="6552728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01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22087</TotalTime>
  <Words>1470</Words>
  <Application>Microsoft Office PowerPoint</Application>
  <PresentationFormat>On-screen Show (4:3)</PresentationFormat>
  <Paragraphs>184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Book Antiqua</vt:lpstr>
      <vt:lpstr>Calibri</vt:lpstr>
      <vt:lpstr>Calibri Light</vt:lpstr>
      <vt:lpstr>Lucida Sans</vt:lpstr>
      <vt:lpstr>Times New Roman</vt:lpstr>
      <vt:lpstr>Verdana</vt:lpstr>
      <vt:lpstr>Wingdings</vt:lpstr>
      <vt:lpstr>Wingdings 2</vt:lpstr>
      <vt:lpstr>Wingdings 3</vt:lpstr>
      <vt:lpstr>Apex</vt:lpstr>
      <vt:lpstr>GENERAL BIOLOGY fdn 1203</vt:lpstr>
      <vt:lpstr>NUTRITION</vt:lpstr>
      <vt:lpstr>Autotrophic and Heterotrophic Nutrition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Asexual Reproduction</vt:lpstr>
      <vt:lpstr>1. Binary Fission</vt:lpstr>
      <vt:lpstr>2. Budding</vt:lpstr>
      <vt:lpstr>3.Vegetative Propagation</vt:lpstr>
      <vt:lpstr>4. Spore Formation (Sporogenesis)</vt:lpstr>
      <vt:lpstr>5. Fragmentation</vt:lpstr>
      <vt:lpstr>PowerPoint Presentation</vt:lpstr>
      <vt:lpstr>6. Parthenogenesis</vt:lpstr>
      <vt:lpstr>Sexual Reproduction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THEJA</cp:lastModifiedBy>
  <cp:revision>62</cp:revision>
  <dcterms:created xsi:type="dcterms:W3CDTF">2013-05-05T15:32:03Z</dcterms:created>
  <dcterms:modified xsi:type="dcterms:W3CDTF">2021-08-25T01:09:36Z</dcterms:modified>
</cp:coreProperties>
</file>