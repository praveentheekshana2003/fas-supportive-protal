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74"/>
  </p:notesMasterIdLst>
  <p:handoutMasterIdLst>
    <p:handoutMasterId r:id="rId175"/>
  </p:handoutMasterIdLst>
  <p:sldIdLst>
    <p:sldId id="256" r:id="rId2"/>
    <p:sldId id="311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335" r:id="rId27"/>
    <p:sldId id="336" r:id="rId28"/>
    <p:sldId id="337" r:id="rId29"/>
    <p:sldId id="338" r:id="rId30"/>
    <p:sldId id="339" r:id="rId31"/>
    <p:sldId id="340" r:id="rId32"/>
    <p:sldId id="341" r:id="rId33"/>
    <p:sldId id="342" r:id="rId34"/>
    <p:sldId id="343" r:id="rId35"/>
    <p:sldId id="344" r:id="rId36"/>
    <p:sldId id="345" r:id="rId37"/>
    <p:sldId id="346" r:id="rId38"/>
    <p:sldId id="347" r:id="rId39"/>
    <p:sldId id="348" r:id="rId40"/>
    <p:sldId id="349" r:id="rId41"/>
    <p:sldId id="350" r:id="rId42"/>
    <p:sldId id="351" r:id="rId43"/>
    <p:sldId id="352" r:id="rId44"/>
    <p:sldId id="353" r:id="rId45"/>
    <p:sldId id="354" r:id="rId46"/>
    <p:sldId id="355" r:id="rId47"/>
    <p:sldId id="447" r:id="rId48"/>
    <p:sldId id="356" r:id="rId49"/>
    <p:sldId id="357" r:id="rId50"/>
    <p:sldId id="448" r:id="rId51"/>
    <p:sldId id="358" r:id="rId52"/>
    <p:sldId id="449" r:id="rId53"/>
    <p:sldId id="359" r:id="rId54"/>
    <p:sldId id="450" r:id="rId55"/>
    <p:sldId id="360" r:id="rId56"/>
    <p:sldId id="361" r:id="rId57"/>
    <p:sldId id="432" r:id="rId58"/>
    <p:sldId id="363" r:id="rId59"/>
    <p:sldId id="364" r:id="rId60"/>
    <p:sldId id="365" r:id="rId61"/>
    <p:sldId id="366" r:id="rId62"/>
    <p:sldId id="439" r:id="rId63"/>
    <p:sldId id="440" r:id="rId64"/>
    <p:sldId id="441" r:id="rId65"/>
    <p:sldId id="442" r:id="rId66"/>
    <p:sldId id="443" r:id="rId67"/>
    <p:sldId id="444" r:id="rId68"/>
    <p:sldId id="445" r:id="rId69"/>
    <p:sldId id="446" r:id="rId70"/>
    <p:sldId id="367" r:id="rId71"/>
    <p:sldId id="368" r:id="rId72"/>
    <p:sldId id="369" r:id="rId73"/>
    <p:sldId id="370" r:id="rId74"/>
    <p:sldId id="371" r:id="rId75"/>
    <p:sldId id="372" r:id="rId76"/>
    <p:sldId id="373" r:id="rId77"/>
    <p:sldId id="374" r:id="rId78"/>
    <p:sldId id="375" r:id="rId79"/>
    <p:sldId id="434" r:id="rId80"/>
    <p:sldId id="435" r:id="rId81"/>
    <p:sldId id="436" r:id="rId82"/>
    <p:sldId id="437" r:id="rId83"/>
    <p:sldId id="376" r:id="rId84"/>
    <p:sldId id="377" r:id="rId85"/>
    <p:sldId id="378" r:id="rId86"/>
    <p:sldId id="379" r:id="rId87"/>
    <p:sldId id="380" r:id="rId88"/>
    <p:sldId id="381" r:id="rId89"/>
    <p:sldId id="382" r:id="rId90"/>
    <p:sldId id="383" r:id="rId91"/>
    <p:sldId id="384" r:id="rId92"/>
    <p:sldId id="385" r:id="rId93"/>
    <p:sldId id="386" r:id="rId94"/>
    <p:sldId id="438" r:id="rId95"/>
    <p:sldId id="387" r:id="rId96"/>
    <p:sldId id="388" r:id="rId97"/>
    <p:sldId id="389" r:id="rId98"/>
    <p:sldId id="390" r:id="rId99"/>
    <p:sldId id="391" r:id="rId100"/>
    <p:sldId id="392" r:id="rId101"/>
    <p:sldId id="393" r:id="rId102"/>
    <p:sldId id="394" r:id="rId103"/>
    <p:sldId id="395" r:id="rId104"/>
    <p:sldId id="396" r:id="rId105"/>
    <p:sldId id="397" r:id="rId106"/>
    <p:sldId id="398" r:id="rId107"/>
    <p:sldId id="399" r:id="rId108"/>
    <p:sldId id="400" r:id="rId109"/>
    <p:sldId id="401" r:id="rId110"/>
    <p:sldId id="402" r:id="rId111"/>
    <p:sldId id="403" r:id="rId112"/>
    <p:sldId id="404" r:id="rId113"/>
    <p:sldId id="405" r:id="rId114"/>
    <p:sldId id="406" r:id="rId115"/>
    <p:sldId id="407" r:id="rId116"/>
    <p:sldId id="408" r:id="rId117"/>
    <p:sldId id="409" r:id="rId118"/>
    <p:sldId id="410" r:id="rId119"/>
    <p:sldId id="411" r:id="rId120"/>
    <p:sldId id="412" r:id="rId121"/>
    <p:sldId id="413" r:id="rId122"/>
    <p:sldId id="433" r:id="rId123"/>
    <p:sldId id="414" r:id="rId124"/>
    <p:sldId id="415" r:id="rId125"/>
    <p:sldId id="416" r:id="rId126"/>
    <p:sldId id="417" r:id="rId127"/>
    <p:sldId id="418" r:id="rId128"/>
    <p:sldId id="419" r:id="rId129"/>
    <p:sldId id="420" r:id="rId130"/>
    <p:sldId id="421" r:id="rId131"/>
    <p:sldId id="422" r:id="rId132"/>
    <p:sldId id="423" r:id="rId133"/>
    <p:sldId id="424" r:id="rId134"/>
    <p:sldId id="425" r:id="rId135"/>
    <p:sldId id="426" r:id="rId136"/>
    <p:sldId id="427" r:id="rId137"/>
    <p:sldId id="428" r:id="rId138"/>
    <p:sldId id="429" r:id="rId139"/>
    <p:sldId id="430" r:id="rId140"/>
    <p:sldId id="431" r:id="rId141"/>
    <p:sldId id="257" r:id="rId142"/>
    <p:sldId id="258" r:id="rId143"/>
    <p:sldId id="259" r:id="rId144"/>
    <p:sldId id="260" r:id="rId145"/>
    <p:sldId id="262" r:id="rId146"/>
    <p:sldId id="264" r:id="rId147"/>
    <p:sldId id="273" r:id="rId148"/>
    <p:sldId id="274" r:id="rId149"/>
    <p:sldId id="275" r:id="rId150"/>
    <p:sldId id="276" r:id="rId151"/>
    <p:sldId id="283" r:id="rId152"/>
    <p:sldId id="284" r:id="rId153"/>
    <p:sldId id="285" r:id="rId154"/>
    <p:sldId id="286" r:id="rId155"/>
    <p:sldId id="287" r:id="rId156"/>
    <p:sldId id="288" r:id="rId157"/>
    <p:sldId id="289" r:id="rId158"/>
    <p:sldId id="290" r:id="rId159"/>
    <p:sldId id="291" r:id="rId160"/>
    <p:sldId id="293" r:id="rId161"/>
    <p:sldId id="294" r:id="rId162"/>
    <p:sldId id="295" r:id="rId163"/>
    <p:sldId id="300" r:id="rId164"/>
    <p:sldId id="301" r:id="rId165"/>
    <p:sldId id="302" r:id="rId166"/>
    <p:sldId id="303" r:id="rId167"/>
    <p:sldId id="304" r:id="rId168"/>
    <p:sldId id="305" r:id="rId169"/>
    <p:sldId id="306" r:id="rId170"/>
    <p:sldId id="307" r:id="rId171"/>
    <p:sldId id="308" r:id="rId172"/>
    <p:sldId id="310" r:id="rId17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7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5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slide" Target="slides/slide153.xml"/><Relationship Id="rId159" Type="http://schemas.openxmlformats.org/officeDocument/2006/relationships/slide" Target="slides/slide158.xml"/><Relationship Id="rId175" Type="http://schemas.openxmlformats.org/officeDocument/2006/relationships/handoutMaster" Target="handoutMasters/handoutMaster1.xml"/><Relationship Id="rId170" Type="http://schemas.openxmlformats.org/officeDocument/2006/relationships/slide" Target="slides/slide169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65" Type="http://schemas.openxmlformats.org/officeDocument/2006/relationships/slide" Target="slides/slide16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71" Type="http://schemas.openxmlformats.org/officeDocument/2006/relationships/slide" Target="slides/slide170.xml"/><Relationship Id="rId176" Type="http://schemas.openxmlformats.org/officeDocument/2006/relationships/presProps" Target="pres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77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notesMaster" Target="notesMasters/notesMaster1.xml"/><Relationship Id="rId179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image" Target="../media/image46.wmf"/><Relationship Id="rId7" Type="http://schemas.openxmlformats.org/officeDocument/2006/relationships/image" Target="../media/image50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Relationship Id="rId9" Type="http://schemas.openxmlformats.org/officeDocument/2006/relationships/image" Target="../media/image5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AAD92-74C3-4363-820A-18BA91CBA335}" type="datetimeFigureOut">
              <a:rPr lang="en-US" smtClean="0"/>
              <a:pPr/>
              <a:t>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632565-005A-48A9-A444-9D84F2479C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138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062B8-DDF7-4C33-8C6A-93B473628EF4}" type="datetimeFigureOut">
              <a:rPr lang="en-US" smtClean="0"/>
              <a:pPr/>
              <a:t>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6A4FF-26F5-4D79-ACE9-19B6C8FCC0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848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96A4FF-26F5-4D79-ACE9-19B6C8FCC02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01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96A4FF-26F5-4D79-ACE9-19B6C8FCC024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96A4FF-26F5-4D79-ACE9-19B6C8FCC024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992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47E257-8D04-4939-993E-FE612CFBD99B}" type="slidenum">
              <a:rPr lang="zh-CN" altLang="en-US" smtClean="0">
                <a:latin typeface="Arial" charset="0"/>
              </a:rPr>
              <a:pPr/>
              <a:t>68</a:t>
            </a:fld>
            <a:endParaRPr lang="en-US" altLang="zh-CN" smtClean="0">
              <a:latin typeface="Arial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zh-CN" dirty="0" smtClean="0"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40D257-6D57-4DB6-B3C7-9EC4E92BD148}" type="slidenum">
              <a:rPr lang="en-US" altLang="en-US"/>
              <a:pPr/>
              <a:t>88</a:t>
            </a:fld>
            <a:endParaRPr lang="en-US" altLang="en-US"/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3F3AD1-60EF-4F06-9E3F-2E5F5B68DE64}" type="slidenum">
              <a:rPr lang="en-US" altLang="en-US"/>
              <a:pPr/>
              <a:t>123</a:t>
            </a:fld>
            <a:endParaRPr lang="en-US" altLang="en-US"/>
          </a:p>
        </p:txBody>
      </p:sp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F4DEE6-212A-4A00-BCA9-A1901B40CE5A}" type="slidenum">
              <a:rPr lang="zh-CN" altLang="en-US" smtClean="0"/>
              <a:pPr/>
              <a:t>141</a:t>
            </a:fld>
            <a:endParaRPr lang="en-US" altLang="zh-CN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8A329A-DCA3-432C-A17A-B042442352F9}" type="slidenum">
              <a:rPr lang="en-US"/>
              <a:pPr/>
              <a:t>162</a:t>
            </a:fld>
            <a:endParaRPr lang="en-US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1AE30E4-E2FA-4A9D-BEF7-CF270C137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1AE30E4-E2FA-4A9D-BEF7-CF270C137C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1AE30E4-E2FA-4A9D-BEF7-CF270C137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smtClean="0"/>
              <a:t>AMH</a:t>
            </a: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44440D-4E53-447E-BD5E-362BAFB2C7A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37004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37004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AMH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2A2868-95E2-4694-90E9-225F7A2B1E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51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03663"/>
            <a:ext cx="4038600" cy="2152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2D31A052-8AFF-4866-A49B-52206F0EAFF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61AE30E4-E2FA-4A9D-BEF7-CF270C137C2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audio" Target="http://www.mccsc.edu/~nrapp/chemistrypowerpoint/TAHDAH1.WAV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audio" Target="file:///\\sou001\lockers\faculty-staff\nrapp\My%20Documents\Chemistry%201%20Power%20Point\2001.wav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file:///\\ABLFAC\Faculty_Lockers\SOU\nrapp\My%20Documents\Chemistry%201%20Power%20Point\LetsPlay.wav" TargetMode="External"/><Relationship Id="rId1" Type="http://schemas.openxmlformats.org/officeDocument/2006/relationships/audio" Target="file:///\\ABLFAC\Faculty_Lockers\SOU\nrapp\My%20Documents\Chemistry%201%20Power%20Point\Round1.wav" TargetMode="External"/><Relationship Id="rId4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7.bin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2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1.bin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35.wmf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14.xml"/><Relationship Id="rId1" Type="http://schemas.openxmlformats.org/officeDocument/2006/relationships/video" Target="file:///Z:\My%20Documents\Chemistry%201%20Power%20Point\geigercounter.mov" TargetMode="Externa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Relationship Id="rId5" Type="http://schemas.openxmlformats.org/officeDocument/2006/relationships/image" Target="../media/image2.png"/><Relationship Id="rId4" Type="http://schemas.openxmlformats.org/officeDocument/2006/relationships/image" Target="../media/image39.png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40.wmf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oleObject" Target="../embeddings/oleObject20.bin"/><Relationship Id="rId18" Type="http://schemas.openxmlformats.org/officeDocument/2006/relationships/image" Target="../media/image51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48.wmf"/><Relationship Id="rId17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0.wmf"/><Relationship Id="rId20" Type="http://schemas.openxmlformats.org/officeDocument/2006/relationships/image" Target="../media/image52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47.wmf"/><Relationship Id="rId19" Type="http://schemas.openxmlformats.org/officeDocument/2006/relationships/oleObject" Target="../embeddings/oleObject23.bin"/><Relationship Id="rId4" Type="http://schemas.openxmlformats.org/officeDocument/2006/relationships/image" Target="../media/image44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49.wmf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55.wmf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58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1" Type="http://schemas.openxmlformats.org/officeDocument/2006/relationships/video" Target="file:///D:\Nuclear%20Chemistry%20-%20CHEM\nuclear%20power%20plant%20flyby.avi" TargetMode="Externa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65.wmf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3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3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gif"/><Relationship Id="rId1" Type="http://schemas.openxmlformats.org/officeDocument/2006/relationships/slideLayout" Target="../slideLayouts/slideLayout13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3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CHE 2205</a:t>
            </a:r>
          </a:p>
          <a:p>
            <a:r>
              <a:rPr lang="en-US" smtClean="0"/>
              <a:t>Faculty of Applied Sciences</a:t>
            </a:r>
          </a:p>
          <a:p>
            <a:r>
              <a:rPr lang="en-US" smtClean="0"/>
              <a:t>Rajarata University of Sri Lanka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53975"/>
            <a:ext cx="5486400" cy="1470025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accent2"/>
                </a:solidFill>
                <a:latin typeface="Westminster" pitchFamily="82" charset="0"/>
              </a:rPr>
              <a:t> </a:t>
            </a:r>
            <a:r>
              <a:rPr lang="en-US" b="1" dirty="0" smtClean="0">
                <a:solidFill>
                  <a:schemeClr val="accent1"/>
                </a:solidFill>
                <a:latin typeface="Westminster" pitchFamily="82" charset="0"/>
              </a:rPr>
              <a:t>Nuclear</a:t>
            </a:r>
            <a:br>
              <a:rPr lang="en-US" b="1" dirty="0" smtClean="0">
                <a:solidFill>
                  <a:schemeClr val="accent1"/>
                </a:solidFill>
                <a:latin typeface="Westminster" pitchFamily="82" charset="0"/>
              </a:rPr>
            </a:br>
            <a:r>
              <a:rPr lang="en-US" b="1" dirty="0" smtClean="0">
                <a:solidFill>
                  <a:schemeClr val="accent1"/>
                </a:solidFill>
                <a:latin typeface="Westminster" pitchFamily="82" charset="0"/>
              </a:rPr>
              <a:t>			 Chemistry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81000"/>
            <a:ext cx="7162800" cy="838200"/>
          </a:xfrm>
          <a:noFill/>
          <a:ln/>
        </p:spPr>
        <p:txBody>
          <a:bodyPr lIns="90487" tIns="44450" rIns="90487" bIns="44450" anchor="ctr"/>
          <a:lstStyle/>
          <a:p>
            <a:r>
              <a:rPr lang="en-US" altLang="en-US" b="1">
                <a:solidFill>
                  <a:srgbClr val="FF0000"/>
                </a:solidFill>
                <a:latin typeface="Comic Sans MS" pitchFamily="66" charset="0"/>
              </a:rPr>
              <a:t>Radioactivity</a:t>
            </a:r>
            <a:endParaRPr lang="en-US" altLang="en-US" sz="7200">
              <a:solidFill>
                <a:schemeClr val="hlink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689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743200" y="1295400"/>
            <a:ext cx="6172200" cy="5181600"/>
          </a:xfrm>
          <a:noFill/>
          <a:ln/>
        </p:spPr>
        <p:txBody>
          <a:bodyPr lIns="90487" tIns="44450" rIns="90487" bIns="44450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One of the pieces of evidence for the fact that atoms are made of smaller particles came from the work of</a:t>
            </a: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Marie Curie.  </a:t>
            </a:r>
            <a:r>
              <a:rPr lang="en-US" altLang="en-US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(1876-1934).</a:t>
            </a: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She discovered radioactivity, the spontaneous disintegration of some elements into smaller pieces.</a:t>
            </a:r>
          </a:p>
        </p:txBody>
      </p:sp>
      <p:sp>
        <p:nvSpPr>
          <p:cNvPr id="168965" name="Line 5"/>
          <p:cNvSpPr>
            <a:spLocks noChangeShapeType="1"/>
          </p:cNvSpPr>
          <p:nvPr/>
        </p:nvSpPr>
        <p:spPr bwMode="auto">
          <a:xfrm>
            <a:off x="838200" y="1066800"/>
            <a:ext cx="71120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3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8" name="Rectangle 4"/>
          <p:cNvSpPr>
            <a:spLocks noChangeArrowheads="1"/>
          </p:cNvSpPr>
          <p:nvPr/>
        </p:nvSpPr>
        <p:spPr bwMode="auto">
          <a:xfrm>
            <a:off x="228600" y="381000"/>
            <a:ext cx="8229600" cy="559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/>
              <a:t>Radiochemistry is the </a:t>
            </a:r>
            <a:r>
              <a:rPr lang="en-US" sz="3200">
                <a:solidFill>
                  <a:schemeClr val="hlink"/>
                </a:solidFill>
              </a:rPr>
              <a:t>study of the chemical properties of natural and artificial radio nuclides</a:t>
            </a:r>
            <a:r>
              <a:rPr lang="en-US" sz="3200"/>
              <a:t> or the chemical phenomena associated with nuclear transformation.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>
                <a:solidFill>
                  <a:schemeClr val="accent2"/>
                </a:solidFill>
              </a:rPr>
              <a:t>Eg. N</a:t>
            </a:r>
            <a:r>
              <a:rPr lang="en-US" sz="3200" baseline="-25000">
                <a:solidFill>
                  <a:schemeClr val="accent2"/>
                </a:solidFill>
              </a:rPr>
              <a:t>2</a:t>
            </a:r>
            <a:r>
              <a:rPr lang="en-US" sz="3200">
                <a:solidFill>
                  <a:schemeClr val="accent2"/>
                </a:solidFill>
              </a:rPr>
              <a:t> gas interacts with the neutron component of cosmic radiation (comes from outer universe) resulting the nuclear reaction</a:t>
            </a: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3200"/>
              <a:t>      </a:t>
            </a:r>
            <a:r>
              <a:rPr lang="en-US" sz="3200" baseline="30000"/>
              <a:t>14</a:t>
            </a:r>
            <a:r>
              <a:rPr lang="en-US" sz="3200"/>
              <a:t>N + </a:t>
            </a:r>
            <a:r>
              <a:rPr lang="en-US" sz="3200" baseline="30000"/>
              <a:t>1</a:t>
            </a:r>
            <a:r>
              <a:rPr lang="en-US" sz="3200"/>
              <a:t>n               </a:t>
            </a:r>
            <a:r>
              <a:rPr lang="en-US" sz="3200" baseline="30000"/>
              <a:t>14</a:t>
            </a:r>
            <a:r>
              <a:rPr lang="en-US" sz="3200"/>
              <a:t>C    +  </a:t>
            </a:r>
            <a:r>
              <a:rPr lang="en-US" sz="3200" baseline="30000"/>
              <a:t>1</a:t>
            </a:r>
            <a:r>
              <a:rPr lang="en-US" sz="3200"/>
              <a:t>H</a:t>
            </a:r>
          </a:p>
        </p:txBody>
      </p:sp>
      <p:sp>
        <p:nvSpPr>
          <p:cNvPr id="169989" name="Text Box 5"/>
          <p:cNvSpPr txBox="1">
            <a:spLocks noChangeArrowheads="1"/>
          </p:cNvSpPr>
          <p:nvPr/>
        </p:nvSpPr>
        <p:spPr bwMode="auto">
          <a:xfrm>
            <a:off x="1676400" y="40386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Arial" charset="0"/>
              </a:rPr>
              <a:t>7</a:t>
            </a:r>
          </a:p>
        </p:txBody>
      </p:sp>
      <p:sp>
        <p:nvSpPr>
          <p:cNvPr id="169990" name="Text Box 6"/>
          <p:cNvSpPr txBox="1">
            <a:spLocks noChangeArrowheads="1"/>
          </p:cNvSpPr>
          <p:nvPr/>
        </p:nvSpPr>
        <p:spPr bwMode="auto">
          <a:xfrm>
            <a:off x="4343400" y="39624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Arial" charset="0"/>
              </a:rPr>
              <a:t>6</a:t>
            </a:r>
          </a:p>
        </p:txBody>
      </p:sp>
      <p:sp>
        <p:nvSpPr>
          <p:cNvPr id="169991" name="Text Box 7"/>
          <p:cNvSpPr txBox="1">
            <a:spLocks noChangeArrowheads="1"/>
          </p:cNvSpPr>
          <p:nvPr/>
        </p:nvSpPr>
        <p:spPr bwMode="auto">
          <a:xfrm>
            <a:off x="2438400" y="40386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Arial" charset="0"/>
              </a:rPr>
              <a:t>0</a:t>
            </a:r>
          </a:p>
        </p:txBody>
      </p:sp>
      <p:sp>
        <p:nvSpPr>
          <p:cNvPr id="169992" name="Text Box 8"/>
          <p:cNvSpPr txBox="1">
            <a:spLocks noChangeArrowheads="1"/>
          </p:cNvSpPr>
          <p:nvPr/>
        </p:nvSpPr>
        <p:spPr bwMode="auto">
          <a:xfrm>
            <a:off x="5410200" y="39624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dirty="0">
                <a:latin typeface="Arial" charset="0"/>
              </a:rPr>
              <a:t>1</a:t>
            </a:r>
          </a:p>
        </p:txBody>
      </p:sp>
      <p:sp>
        <p:nvSpPr>
          <p:cNvPr id="169993" name="Line 9"/>
          <p:cNvSpPr>
            <a:spLocks noChangeShapeType="1"/>
          </p:cNvSpPr>
          <p:nvPr/>
        </p:nvSpPr>
        <p:spPr bwMode="auto">
          <a:xfrm>
            <a:off x="3200400" y="3886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9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69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3000"/>
                                        <p:tgtEl>
                                          <p:spTgt spid="169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710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When we look into the structure of the atoms;</a:t>
            </a:r>
          </a:p>
          <a:p>
            <a:pPr>
              <a:lnSpc>
                <a:spcPct val="90000"/>
              </a:lnSpc>
            </a:pPr>
            <a:r>
              <a:rPr lang="en-US" sz="2800">
                <a:solidFill>
                  <a:schemeClr val="hlink"/>
                </a:solidFill>
              </a:rPr>
              <a:t>We find that the atoms consist of a nucleus surrounded by electrons.</a:t>
            </a:r>
          </a:p>
          <a:p>
            <a:pPr>
              <a:lnSpc>
                <a:spcPct val="90000"/>
              </a:lnSpc>
            </a:pPr>
            <a:r>
              <a:rPr lang="en-US" sz="2800">
                <a:solidFill>
                  <a:srgbClr val="FF0000"/>
                </a:solidFill>
              </a:rPr>
              <a:t>The nucleus contains two types of particles protons (positively charged)  and neutrons (electrically neutral). Particles such as protons, neutrons and electrons are called elementary particles or fundamental particles.</a:t>
            </a:r>
          </a:p>
          <a:p>
            <a:pPr>
              <a:lnSpc>
                <a:spcPct val="90000"/>
              </a:lnSpc>
            </a:pPr>
            <a:r>
              <a:rPr lang="en-US" sz="2800">
                <a:solidFill>
                  <a:schemeClr val="folHlink"/>
                </a:solidFill>
              </a:rPr>
              <a:t>A free neutron is unstable and decay</a:t>
            </a:r>
            <a:r>
              <a:rPr lang="en-US" sz="2800"/>
              <a:t>.</a:t>
            </a:r>
          </a:p>
          <a:p>
            <a:pPr>
              <a:lnSpc>
                <a:spcPct val="90000"/>
              </a:lnSpc>
            </a:pPr>
            <a:r>
              <a:rPr lang="en-US" sz="2800"/>
              <a:t>However, a neutron in a nucleus is stable due to strong nuclear binding forces between the nucleons.     </a:t>
            </a:r>
          </a:p>
          <a:p>
            <a:pPr>
              <a:lnSpc>
                <a:spcPct val="90000"/>
              </a:lnSpc>
            </a:pP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1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7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71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838200"/>
            <a:ext cx="7772400" cy="5257800"/>
          </a:xfrm>
        </p:spPr>
        <p:txBody>
          <a:bodyPr/>
          <a:lstStyle/>
          <a:p>
            <a:r>
              <a:rPr lang="en-US"/>
              <a:t>The nuclear binding forces are very strong and short range forces.</a:t>
            </a:r>
          </a:p>
          <a:p>
            <a:r>
              <a:rPr lang="en-US"/>
              <a:t>Which fall off very rapidly as the distance between the particles increases.</a:t>
            </a:r>
          </a:p>
          <a:p>
            <a:r>
              <a:rPr lang="en-US"/>
              <a:t>The particles which make up the nucleus are called collectively nucleons 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81000"/>
            <a:ext cx="7162800" cy="838200"/>
          </a:xfrm>
          <a:noFill/>
          <a:ln/>
        </p:spPr>
        <p:txBody>
          <a:bodyPr lIns="90487" tIns="44450" rIns="90487" bIns="44450" anchor="ctr">
            <a:normAutofit fontScale="90000"/>
          </a:bodyPr>
          <a:lstStyle/>
          <a:p>
            <a:r>
              <a:rPr lang="en-US" altLang="en-US" sz="4000" b="1">
                <a:solidFill>
                  <a:srgbClr val="FF0000"/>
                </a:solidFill>
                <a:latin typeface="Comic Sans MS" pitchFamily="66" charset="0"/>
              </a:rPr>
              <a:t>Nuclear Reactions vs. Normal Chemical Changes</a:t>
            </a:r>
            <a:endParaRPr lang="en-US" altLang="en-US" sz="6600">
              <a:solidFill>
                <a:schemeClr val="hlin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62000" y="1676400"/>
            <a:ext cx="7696200" cy="4419600"/>
          </a:xfrm>
          <a:noFill/>
          <a:ln/>
        </p:spPr>
        <p:txBody>
          <a:bodyPr lIns="90487" tIns="44450" rIns="90487" bIns="44450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1.	Nuclear reactions involve 	the nucleus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	The nucleus opens, and 	protons and neutrons are 	rearranged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3.	The opening of the nucleus 	releases a tremendous 	amount of energy that holds 	the nucleus together – 	called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binding energy</a:t>
            </a:r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>
            <a:off x="787400" y="1371600"/>
            <a:ext cx="71120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416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en-US" altLang="en-US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4.	“Normal” Chemical Reactions involve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electrons</a:t>
            </a:r>
            <a:r>
              <a:rPr lang="en-US" altLang="en-US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not protons and neutrons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1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6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anchor="ctr"/>
          <a:lstStyle/>
          <a:p>
            <a:r>
              <a:rPr lang="en-US"/>
              <a:t>Forces in the Nucleus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740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800"/>
              <a:t>Protons have a positive charge</a:t>
            </a:r>
          </a:p>
          <a:p>
            <a:pPr>
              <a:lnSpc>
                <a:spcPct val="80000"/>
              </a:lnSpc>
            </a:pPr>
            <a:r>
              <a:rPr lang="en-US" sz="2800"/>
              <a:t>In any nucleus containing two or more protons there will be electrostatic repulsion between the like charges.</a:t>
            </a:r>
          </a:p>
          <a:p>
            <a:pPr>
              <a:lnSpc>
                <a:spcPct val="80000"/>
              </a:lnSpc>
            </a:pPr>
            <a:r>
              <a:rPr lang="en-US" sz="2800"/>
              <a:t>In a stable nucleus, the attractive forces are greater than the repulsive forces.</a:t>
            </a:r>
          </a:p>
          <a:p>
            <a:pPr>
              <a:lnSpc>
                <a:spcPct val="80000"/>
              </a:lnSpc>
            </a:pPr>
            <a:r>
              <a:rPr lang="en-US" sz="2800"/>
              <a:t>In an unstable nucleus the repulsive forces exceed the attractive forces and spontaneous fission occurs. </a:t>
            </a:r>
          </a:p>
          <a:p>
            <a:pPr>
              <a:lnSpc>
                <a:spcPct val="80000"/>
              </a:lnSpc>
            </a:pPr>
            <a:r>
              <a:rPr lang="en-US" sz="2800"/>
              <a:t>Note :  liquid drop model</a:t>
            </a:r>
          </a:p>
          <a:p>
            <a:pPr>
              <a:lnSpc>
                <a:spcPct val="80000"/>
              </a:lnSpc>
            </a:pP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7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4" grpId="0" animBg="1"/>
      <p:bldP spid="17408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751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838200"/>
            <a:ext cx="7772400" cy="5334000"/>
          </a:xfrm>
        </p:spPr>
        <p:txBody>
          <a:bodyPr/>
          <a:lstStyle/>
          <a:p>
            <a:r>
              <a:rPr lang="en-US" dirty="0"/>
              <a:t>Note: The attractive forces in the nucleus cannot be electrostatic for two reasons.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1.	There are no oppositely 				charged particles.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2.	the forces only act over a very 		short distance of 2-3 fm.</a:t>
            </a:r>
          </a:p>
          <a:p>
            <a:r>
              <a:rPr lang="en-US" dirty="0"/>
              <a:t>Note: If the nuclear particles are separated by a distance much greater than 2-3 </a:t>
            </a:r>
            <a:r>
              <a:rPr lang="en-US" dirty="0" err="1"/>
              <a:t>fm</a:t>
            </a:r>
            <a:r>
              <a:rPr lang="en-US" dirty="0"/>
              <a:t>, attraction ceases.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7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81000"/>
            <a:ext cx="7162800" cy="838200"/>
          </a:xfrm>
          <a:noFill/>
          <a:ln/>
        </p:spPr>
        <p:txBody>
          <a:bodyPr lIns="90487" tIns="44450" rIns="90487" bIns="44450" anchor="ctr"/>
          <a:lstStyle/>
          <a:p>
            <a:r>
              <a:rPr lang="en-US" altLang="en-US" b="1">
                <a:solidFill>
                  <a:srgbClr val="FF0000"/>
                </a:solidFill>
                <a:latin typeface="Comic Sans MS" pitchFamily="66" charset="0"/>
              </a:rPr>
              <a:t>Mass Defect</a:t>
            </a:r>
            <a:endParaRPr lang="en-US" altLang="en-US" sz="7200">
              <a:solidFill>
                <a:schemeClr val="hlink"/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52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62000" y="1676400"/>
            <a:ext cx="7696200" cy="2895600"/>
          </a:xfrm>
          <a:noFill/>
          <a:ln/>
        </p:spPr>
        <p:txBody>
          <a:bodyPr lIns="90487" tIns="44450" rIns="90487" bIns="44450"/>
          <a:lstStyle/>
          <a:p>
            <a:pPr>
              <a:spcBef>
                <a:spcPct val="0"/>
              </a:spcBef>
            </a:pPr>
            <a:r>
              <a:rPr lang="en-US" altLang="en-US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Some of the mass can be converted into energy</a:t>
            </a:r>
          </a:p>
          <a:p>
            <a:pPr>
              <a:spcBef>
                <a:spcPct val="0"/>
              </a:spcBef>
            </a:pPr>
            <a:r>
              <a:rPr lang="en-US" altLang="en-US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Shown by a very famous equation!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			</a:t>
            </a:r>
            <a:br>
              <a:rPr lang="en-US" altLang="en-US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		</a:t>
            </a:r>
            <a:r>
              <a:rPr lang="en-US" altLang="en-US" sz="44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 = mc</a:t>
            </a:r>
            <a:r>
              <a:rPr lang="en-US" altLang="en-US" sz="4400" b="1" baseline="30000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endParaRPr lang="en-US" altLang="en-US" sz="4400" b="1" baseline="300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4400" b="1" baseline="300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5236" name="Line 4"/>
          <p:cNvSpPr>
            <a:spLocks noChangeShapeType="1"/>
          </p:cNvSpPr>
          <p:nvPr/>
        </p:nvSpPr>
        <p:spPr bwMode="auto">
          <a:xfrm>
            <a:off x="787400" y="1371600"/>
            <a:ext cx="71120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95238" name="TAHDAH1.WAV">
            <a:hlinkClick r:id="" action="ppaction://media"/>
          </p:cNvPr>
          <p:cNvPicPr>
            <a:picLocks noRot="1" noChangeAspect="1" noChangeArrowheads="1"/>
          </p:cNvPicPr>
          <p:nvPr>
            <a:audioFile r:link="rId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8991600" y="6705600"/>
            <a:ext cx="152400" cy="152400"/>
          </a:xfrm>
          <a:prstGeom prst="rect">
            <a:avLst/>
          </a:prstGeom>
          <a:noFill/>
        </p:spPr>
      </p:pic>
      <p:sp>
        <p:nvSpPr>
          <p:cNvPr id="95239" name="Line 7"/>
          <p:cNvSpPr>
            <a:spLocks noChangeShapeType="1"/>
          </p:cNvSpPr>
          <p:nvPr/>
        </p:nvSpPr>
        <p:spPr bwMode="auto">
          <a:xfrm flipV="1">
            <a:off x="1828800" y="4114800"/>
            <a:ext cx="1676400" cy="838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5240" name="Line 8"/>
          <p:cNvSpPr>
            <a:spLocks noChangeShapeType="1"/>
          </p:cNvSpPr>
          <p:nvPr/>
        </p:nvSpPr>
        <p:spPr bwMode="auto">
          <a:xfrm flipV="1">
            <a:off x="1447800" y="4343400"/>
            <a:ext cx="29718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5241" name="Line 9"/>
          <p:cNvSpPr>
            <a:spLocks noChangeShapeType="1"/>
          </p:cNvSpPr>
          <p:nvPr/>
        </p:nvSpPr>
        <p:spPr bwMode="auto">
          <a:xfrm flipV="1">
            <a:off x="2667000" y="4267200"/>
            <a:ext cx="2286000" cy="1752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5242" name="Text Box 10"/>
          <p:cNvSpPr txBox="1">
            <a:spLocks noChangeArrowheads="1"/>
          </p:cNvSpPr>
          <p:nvPr/>
        </p:nvSpPr>
        <p:spPr bwMode="auto">
          <a:xfrm>
            <a:off x="304800" y="4800600"/>
            <a:ext cx="44196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Energy</a:t>
            </a:r>
          </a:p>
          <a:p>
            <a:pPr>
              <a:spcBef>
                <a:spcPct val="50000"/>
              </a:spcBef>
            </a:pPr>
            <a:r>
              <a:rPr lang="en-US" sz="28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Mass (or  mass defects)</a:t>
            </a:r>
            <a:endParaRPr lang="en-US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"/>
            </a:endParaRPr>
          </a:p>
          <a:p>
            <a:pPr>
              <a:spcBef>
                <a:spcPct val="50000"/>
              </a:spcBef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Speed of light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5295" fill="hold"/>
                                        <p:tgtEl>
                                          <p:spTgt spid="952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795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5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5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5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34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5238"/>
                </p:tgtEl>
              </p:cMediaNode>
            </p:audio>
          </p:childTnLst>
        </p:cTn>
      </p:par>
    </p:tnLst>
    <p:bldLst>
      <p:bldP spid="95235" grpId="0" build="p" autoUpdateAnimBg="0"/>
      <p:bldP spid="95239" grpId="0" animBg="1"/>
      <p:bldP spid="95240" grpId="0" animBg="1"/>
      <p:bldP spid="95241" grpId="0" animBg="1"/>
      <p:bldP spid="952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r>
              <a:rPr lang="en-US"/>
              <a:t>Here E, is known as binding energy.</a:t>
            </a:r>
          </a:p>
          <a:p>
            <a:r>
              <a:rPr lang="en-US"/>
              <a:t>Generally coated as energy changes in terms of the mega electron volt (MeV).</a:t>
            </a:r>
          </a:p>
          <a:p>
            <a:r>
              <a:rPr lang="en-US"/>
              <a:t>1 MeV = 9.6 x 10</a:t>
            </a:r>
            <a:r>
              <a:rPr lang="en-US" baseline="30000"/>
              <a:t>7</a:t>
            </a:r>
            <a:r>
              <a:rPr lang="en-US"/>
              <a:t> kJ mol</a:t>
            </a:r>
            <a:r>
              <a:rPr lang="en-US" baseline="30000"/>
              <a:t>-1</a:t>
            </a:r>
            <a:r>
              <a:rPr lang="en-US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426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For eg.</a:t>
            </a:r>
          </a:p>
          <a:p>
            <a:r>
              <a:rPr lang="en-US"/>
              <a:t>The mass of the helium nucleus is 4.0017 amu,  whereas  the individual masses of the isolated proton and neutron are 1.0073 and 1.0087 respectively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239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0"/>
            <a:ext cx="8763000" cy="6858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The mass defect is; total mass – mass of the helium nucleus.</a:t>
            </a:r>
          </a:p>
          <a:p>
            <a:r>
              <a:rPr lang="en-US" dirty="0"/>
              <a:t>Total mass =  (2 x 1.0073) + (2 x 1.0087)</a:t>
            </a:r>
          </a:p>
          <a:p>
            <a:r>
              <a:rPr lang="en-US" dirty="0"/>
              <a:t>                  = 4.0320 </a:t>
            </a:r>
            <a:r>
              <a:rPr lang="en-US" dirty="0" err="1"/>
              <a:t>amu</a:t>
            </a: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Mass defect = (4.0320 – 4.0017 </a:t>
            </a:r>
            <a:r>
              <a:rPr lang="en-US" dirty="0" err="1">
                <a:solidFill>
                  <a:srgbClr val="FF0000"/>
                </a:solidFill>
              </a:rPr>
              <a:t>amu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r>
              <a:rPr lang="en-US" dirty="0">
                <a:solidFill>
                  <a:srgbClr val="002060"/>
                </a:solidFill>
              </a:rPr>
              <a:t>                    =  0.0303 </a:t>
            </a:r>
            <a:r>
              <a:rPr lang="en-US" dirty="0" err="1">
                <a:solidFill>
                  <a:srgbClr val="002060"/>
                </a:solidFill>
              </a:rPr>
              <a:t>amu</a:t>
            </a:r>
            <a:endParaRPr 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437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The loss in mass for the formation of 1 mole of helium atoms from isolated proton and neutrons is 0.0303 g.</a:t>
            </a:r>
          </a:p>
          <a:p>
            <a:r>
              <a:rPr lang="en-US"/>
              <a:t>E = mc</a:t>
            </a:r>
            <a:r>
              <a:rPr lang="en-US" baseline="30000"/>
              <a:t>2</a:t>
            </a:r>
            <a:r>
              <a:rPr lang="en-US"/>
              <a:t> =  (0.0303 x 10</a:t>
            </a:r>
            <a:r>
              <a:rPr lang="en-US" baseline="30000"/>
              <a:t>-3</a:t>
            </a:r>
            <a:r>
              <a:rPr lang="en-US"/>
              <a:t> kg) x (3 x 10</a:t>
            </a:r>
            <a:r>
              <a:rPr lang="en-US" baseline="30000"/>
              <a:t>8</a:t>
            </a:r>
            <a:r>
              <a:rPr lang="en-US"/>
              <a:t> m s</a:t>
            </a:r>
            <a:r>
              <a:rPr lang="en-US" baseline="30000"/>
              <a:t>-1</a:t>
            </a:r>
            <a:r>
              <a:rPr lang="en-US"/>
              <a:t>)</a:t>
            </a:r>
            <a:r>
              <a:rPr lang="en-US" baseline="30000"/>
              <a:t>2</a:t>
            </a:r>
            <a:endParaRPr lang="en-US"/>
          </a:p>
          <a:p>
            <a:r>
              <a:rPr lang="en-US"/>
              <a:t>     =   2.727 x 10</a:t>
            </a:r>
            <a:r>
              <a:rPr lang="en-US" baseline="30000"/>
              <a:t>12</a:t>
            </a:r>
            <a:r>
              <a:rPr lang="en-US"/>
              <a:t> J mol</a:t>
            </a:r>
            <a:r>
              <a:rPr lang="en-US" baseline="30000"/>
              <a:t>-1</a:t>
            </a:r>
          </a:p>
          <a:p>
            <a:r>
              <a:rPr lang="en-US"/>
              <a:t>     =   2.727 x 109 kJ mol</a:t>
            </a:r>
            <a:r>
              <a:rPr lang="en-US" baseline="30000"/>
              <a:t>-1</a:t>
            </a:r>
            <a:r>
              <a:rPr lang="en-US"/>
              <a:t>.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3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4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4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457200"/>
            <a:ext cx="7772400" cy="56388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Therefore, the formation of one mole of helium nuclei from its isolated protons and neutrons result in the release of ;</a:t>
            </a:r>
          </a:p>
          <a:p>
            <a:r>
              <a:rPr lang="en-US" dirty="0"/>
              <a:t>(2.7 x 10</a:t>
            </a:r>
            <a:r>
              <a:rPr lang="en-US" baseline="30000" dirty="0"/>
              <a:t>9</a:t>
            </a:r>
            <a:r>
              <a:rPr lang="en-US" dirty="0"/>
              <a:t>)/(9.6 x 10</a:t>
            </a:r>
            <a:r>
              <a:rPr lang="en-US" baseline="30000" dirty="0"/>
              <a:t>7</a:t>
            </a:r>
            <a:r>
              <a:rPr lang="en-US" dirty="0"/>
              <a:t> ) = 28 </a:t>
            </a:r>
            <a:r>
              <a:rPr lang="en-US" dirty="0" err="1"/>
              <a:t>MeV</a:t>
            </a:r>
            <a:r>
              <a:rPr lang="en-US" dirty="0"/>
              <a:t>.</a:t>
            </a:r>
          </a:p>
          <a:p>
            <a:r>
              <a:rPr lang="en-US" u="sng" dirty="0"/>
              <a:t>Note:</a:t>
            </a:r>
            <a:r>
              <a:rPr lang="en-US" dirty="0"/>
              <a:t> the helium nucleus contains four particles ( 2 protons and 2 neutrons), </a:t>
            </a:r>
            <a:r>
              <a:rPr lang="en-US" dirty="0" err="1"/>
              <a:t>i.e</a:t>
            </a:r>
            <a:r>
              <a:rPr lang="en-US" dirty="0"/>
              <a:t> 4 nucleons.</a:t>
            </a:r>
          </a:p>
          <a:p>
            <a:r>
              <a:rPr lang="en-US" dirty="0">
                <a:solidFill>
                  <a:srgbClr val="FF0000"/>
                </a:solidFill>
              </a:rPr>
              <a:t>The binding energy per nucleon is 28 / 4 = 7 </a:t>
            </a:r>
            <a:r>
              <a:rPr lang="en-US" dirty="0" err="1">
                <a:solidFill>
                  <a:srgbClr val="FF0000"/>
                </a:solidFill>
              </a:rPr>
              <a:t>MeV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FF0000"/>
                </a:solidFill>
                <a:latin typeface="Comic Sans MS" pitchFamily="66" charset="0"/>
              </a:rPr>
              <a:t>Types of Radiation</a:t>
            </a:r>
            <a:endParaRPr lang="en-US" altLang="en-US"/>
          </a:p>
        </p:txBody>
      </p:sp>
      <p:graphicFrame>
        <p:nvGraphicFramePr>
          <p:cNvPr id="36883" name="Object 19"/>
          <p:cNvGraphicFramePr>
            <a:graphicFrameLocks noGrp="1" noChangeAspect="1"/>
          </p:cNvGraphicFramePr>
          <p:nvPr>
            <p:ph sz="half" idx="1"/>
          </p:nvPr>
        </p:nvGraphicFramePr>
        <p:xfrm>
          <a:off x="2368550" y="3748088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4" name="Equation" r:id="rId3" imgW="215640" imgH="228600" progId="Equation.3">
                  <p:embed/>
                </p:oleObj>
              </mc:Choice>
              <mc:Fallback>
                <p:oleObj name="Equation" r:id="rId3" imgW="215640" imgH="228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8550" y="3748088"/>
                        <a:ext cx="2159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5" name="Object 21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105525" y="1858963"/>
          <a:ext cx="1284288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5" name="Equation" r:id="rId5" imgW="291960" imgH="228600" progId="Equation.3">
                  <p:embed/>
                </p:oleObj>
              </mc:Choice>
              <mc:Fallback>
                <p:oleObj name="Equation" r:id="rId5" imgW="29196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5525" y="1858963"/>
                        <a:ext cx="1284288" cy="1004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7" name="Object 2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265863" y="4994275"/>
          <a:ext cx="746125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6" name="Equation" r:id="rId7" imgW="190440" imgH="241200" progId="Equation.3">
                  <p:embed/>
                </p:oleObj>
              </mc:Choice>
              <mc:Fallback>
                <p:oleObj name="Equation" r:id="rId7" imgW="190440" imgH="241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5863" y="4994275"/>
                        <a:ext cx="746125" cy="944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AMH</a:t>
            </a: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44440D-4E53-447E-BD5E-362BAFB2C7AB}" type="slidenum">
              <a:rPr lang="zh-CN" altLang="en-US" smtClean="0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36868" name="Line 4"/>
          <p:cNvSpPr>
            <a:spLocks noChangeShapeType="1"/>
          </p:cNvSpPr>
          <p:nvPr/>
        </p:nvSpPr>
        <p:spPr bwMode="auto">
          <a:xfrm>
            <a:off x="787400" y="1752600"/>
            <a:ext cx="71120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69" name="Text Box 5"/>
          <p:cNvSpPr txBox="1">
            <a:spLocks noChangeArrowheads="1"/>
          </p:cNvSpPr>
          <p:nvPr/>
        </p:nvSpPr>
        <p:spPr bwMode="auto">
          <a:xfrm>
            <a:off x="685800" y="2133600"/>
            <a:ext cx="5334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28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 </a:t>
            </a:r>
            <a:r>
              <a:rPr 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Alpha (</a:t>
            </a:r>
            <a:r>
              <a:rPr lang="el-GR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ά</a:t>
            </a:r>
            <a:r>
              <a:rPr 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) – a positively charged helium isotope</a:t>
            </a:r>
            <a:r>
              <a:rPr lang="en-US" sz="28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  - </a:t>
            </a:r>
            <a:r>
              <a:rPr lang="en-US" sz="20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we usually ignore the charge because it involves electrons, not protons and neutrons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Beta (</a:t>
            </a:r>
            <a:r>
              <a:rPr lang="el-GR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β</a:t>
            </a:r>
            <a:r>
              <a:rPr 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) – an electron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Gamma (</a:t>
            </a:r>
            <a:r>
              <a:rPr lang="el-GR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γ</a:t>
            </a:r>
            <a:r>
              <a:rPr 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) – pure energy; called a ray rather than a particle</a:t>
            </a:r>
            <a:endParaRPr lang="el-GR" sz="3200" b="1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"/>
            </a:endParaRPr>
          </a:p>
        </p:txBody>
      </p:sp>
      <p:sp>
        <p:nvSpPr>
          <p:cNvPr id="36882" name="Text Box 18"/>
          <p:cNvSpPr txBox="1">
            <a:spLocks noChangeArrowheads="1"/>
          </p:cNvSpPr>
          <p:nvPr/>
        </p:nvSpPr>
        <p:spPr bwMode="auto">
          <a:xfrm>
            <a:off x="5791200" y="2209800"/>
            <a:ext cx="1752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sz="280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FF0000"/>
                </a:solidFill>
                <a:latin typeface="Comic Sans MS" pitchFamily="66" charset="0"/>
              </a:rPr>
              <a:t>Other Nuclear Particles</a:t>
            </a:r>
            <a:endParaRPr lang="en-US" altLang="en-US"/>
          </a:p>
        </p:txBody>
      </p:sp>
      <p:graphicFrame>
        <p:nvGraphicFramePr>
          <p:cNvPr id="92163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6350000" y="2941638"/>
          <a:ext cx="62388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8" name="Equation" r:id="rId3" imgW="215640" imgH="228600" progId="Equation.3">
                  <p:embed/>
                </p:oleObj>
              </mc:Choice>
              <mc:Fallback>
                <p:oleObj name="Equation" r:id="rId3" imgW="215640" imgH="228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0" y="2941638"/>
                        <a:ext cx="623888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251575" y="1828800"/>
          <a:ext cx="7493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9" name="Equation" r:id="rId5" imgW="190440" imgH="241200" progId="Equation.3">
                  <p:embed/>
                </p:oleObj>
              </mc:Choice>
              <mc:Fallback>
                <p:oleObj name="Equation" r:id="rId5" imgW="190440" imgH="2412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1575" y="1828800"/>
                        <a:ext cx="749300" cy="949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8" name="Object 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265863" y="4184650"/>
          <a:ext cx="74612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0" name="Equation" r:id="rId7" imgW="228600" imgH="228600" progId="Equation.3">
                  <p:embed/>
                </p:oleObj>
              </mc:Choice>
              <mc:Fallback>
                <p:oleObj name="Equation" r:id="rId7" imgW="22860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5863" y="4184650"/>
                        <a:ext cx="746125" cy="74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AMH</a:t>
            </a: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44440D-4E53-447E-BD5E-362BAFB2C7AB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92165" name="Line 5"/>
          <p:cNvSpPr>
            <a:spLocks noChangeShapeType="1"/>
          </p:cNvSpPr>
          <p:nvPr/>
        </p:nvSpPr>
        <p:spPr bwMode="auto">
          <a:xfrm>
            <a:off x="787400" y="1752600"/>
            <a:ext cx="71120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66" name="Text Box 6"/>
          <p:cNvSpPr txBox="1">
            <a:spLocks noChangeArrowheads="1"/>
          </p:cNvSpPr>
          <p:nvPr/>
        </p:nvSpPr>
        <p:spPr bwMode="auto">
          <a:xfrm>
            <a:off x="685800" y="2133600"/>
            <a:ext cx="5334000" cy="374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28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 </a:t>
            </a:r>
            <a:r>
              <a:rPr 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Neutron</a:t>
            </a:r>
            <a:endParaRPr lang="en-US" sz="2000" b="1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 Positron – a positive electron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Proton – usually referred to as hydrogen-1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Any other elemental isotope</a:t>
            </a:r>
          </a:p>
        </p:txBody>
      </p:sp>
      <p:sp>
        <p:nvSpPr>
          <p:cNvPr id="92167" name="Text Box 7"/>
          <p:cNvSpPr txBox="1">
            <a:spLocks noChangeArrowheads="1"/>
          </p:cNvSpPr>
          <p:nvPr/>
        </p:nvSpPr>
        <p:spPr bwMode="auto">
          <a:xfrm>
            <a:off x="5791200" y="2209800"/>
            <a:ext cx="1752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sz="280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761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685800"/>
            <a:ext cx="7772400" cy="5410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Particles were discovered from cosmic rays and also from different nuclear reactions are;</a:t>
            </a:r>
          </a:p>
          <a:p>
            <a:pPr lvl="1">
              <a:lnSpc>
                <a:spcPct val="90000"/>
              </a:lnSpc>
            </a:pPr>
            <a:r>
              <a:rPr lang="en-US" sz="2400">
                <a:solidFill>
                  <a:schemeClr val="folHlink"/>
                </a:solidFill>
              </a:rPr>
              <a:t>Mesons</a:t>
            </a:r>
          </a:p>
          <a:p>
            <a:pPr lvl="1">
              <a:lnSpc>
                <a:spcPct val="90000"/>
              </a:lnSpc>
            </a:pPr>
            <a:r>
              <a:rPr lang="en-US" sz="2400">
                <a:solidFill>
                  <a:srgbClr val="FF0000"/>
                </a:solidFill>
              </a:rPr>
              <a:t>Neutrinos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Positron etc.,</a:t>
            </a:r>
          </a:p>
          <a:p>
            <a:pPr>
              <a:lnSpc>
                <a:spcPct val="90000"/>
              </a:lnSpc>
            </a:pPr>
            <a:r>
              <a:rPr lang="en-US" sz="2800">
                <a:solidFill>
                  <a:srgbClr val="FF0000"/>
                </a:solidFill>
              </a:rPr>
              <a:t>Note: Each particle has its counterparts called antiparticles which differ in the sign of their charges but having identical masses.</a:t>
            </a:r>
          </a:p>
          <a:p>
            <a:pPr>
              <a:lnSpc>
                <a:spcPct val="90000"/>
              </a:lnSpc>
            </a:pP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6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76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76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76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76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447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458200" cy="4456113"/>
          </a:xfrm>
        </p:spPr>
        <p:txBody>
          <a:bodyPr/>
          <a:lstStyle/>
          <a:p>
            <a:r>
              <a:rPr lang="en-US"/>
              <a:t>Eg. electron (</a:t>
            </a:r>
            <a:r>
              <a:rPr lang="en-US" baseline="30000"/>
              <a:t>0</a:t>
            </a:r>
            <a:r>
              <a:rPr lang="en-US" baseline="-25000"/>
              <a:t>-1</a:t>
            </a:r>
            <a:r>
              <a:rPr lang="en-US"/>
              <a:t>e ) has its antiparticle called the positron (</a:t>
            </a:r>
            <a:r>
              <a:rPr lang="en-US" baseline="30000"/>
              <a:t>0</a:t>
            </a:r>
            <a:r>
              <a:rPr lang="en-US" baseline="-25000"/>
              <a:t>+1</a:t>
            </a:r>
            <a:r>
              <a:rPr lang="en-US"/>
              <a:t>e ).</a:t>
            </a:r>
          </a:p>
          <a:p>
            <a:r>
              <a:rPr lang="en-US">
                <a:solidFill>
                  <a:srgbClr val="FF0000"/>
                </a:solidFill>
              </a:rPr>
              <a:t>Note: Antiparticles were also discovered from studies on cosmic rays and other nuclear phenomena.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4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44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39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771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533400"/>
            <a:ext cx="7772400" cy="5562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Elementary particles (and antiparticles) can be classified into two broad categories according to their spins.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0000"/>
                </a:solidFill>
              </a:rPr>
              <a:t>Fermions</a:t>
            </a:r>
            <a:r>
              <a:rPr lang="en-US"/>
              <a:t> (with fractional spins, eg. electrons and protons)  and 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0000"/>
                </a:solidFill>
              </a:rPr>
              <a:t>Bosons</a:t>
            </a:r>
            <a:r>
              <a:rPr lang="en-US"/>
              <a:t> (with whole number spins eg. mesons and photons).</a:t>
            </a:r>
          </a:p>
          <a:p>
            <a:pPr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77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77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4576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The fermions can be further divided into leptons </a:t>
            </a:r>
            <a:r>
              <a:rPr lang="en-US">
                <a:solidFill>
                  <a:srgbClr val="FF0000"/>
                </a:solidFill>
              </a:rPr>
              <a:t>(having masses &lt; 283 m</a:t>
            </a:r>
            <a:r>
              <a:rPr lang="en-US" baseline="-25000">
                <a:solidFill>
                  <a:srgbClr val="FF0000"/>
                </a:solidFill>
              </a:rPr>
              <a:t>e</a:t>
            </a:r>
            <a:r>
              <a:rPr lang="en-US">
                <a:solidFill>
                  <a:srgbClr val="FF0000"/>
                </a:solidFill>
              </a:rPr>
              <a:t>)</a:t>
            </a:r>
            <a:r>
              <a:rPr lang="en-US"/>
              <a:t> and the baryons </a:t>
            </a:r>
            <a:r>
              <a:rPr lang="en-US">
                <a:solidFill>
                  <a:srgbClr val="FF0000"/>
                </a:solidFill>
              </a:rPr>
              <a:t>(those having masses &gt; 283 m</a:t>
            </a:r>
            <a:r>
              <a:rPr lang="en-US" baseline="-25000">
                <a:solidFill>
                  <a:srgbClr val="FF0000"/>
                </a:solidFill>
              </a:rPr>
              <a:t>e</a:t>
            </a:r>
            <a:r>
              <a:rPr lang="en-US">
                <a:solidFill>
                  <a:srgbClr val="FF0000"/>
                </a:solidFill>
              </a:rPr>
              <a:t>)</a:t>
            </a:r>
            <a:r>
              <a:rPr lang="en-US"/>
              <a:t> where, m</a:t>
            </a:r>
            <a:r>
              <a:rPr lang="en-US" baseline="-25000"/>
              <a:t>e</a:t>
            </a:r>
            <a:r>
              <a:rPr lang="en-US"/>
              <a:t> is mass of an electron)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Leptons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7817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Higher particles </a:t>
            </a:r>
          </a:p>
          <a:p>
            <a:pPr lvl="1"/>
            <a:r>
              <a:rPr lang="en-US"/>
              <a:t>Eg. electrons, neutrinos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8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78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8" grpId="0"/>
      <p:bldP spid="178179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Mesons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7920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Particles with intermediate mass-masses between that of electron and the proton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Baryons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8022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Heavy particles</a:t>
            </a:r>
          </a:p>
          <a:p>
            <a:pPr lvl="1"/>
            <a:r>
              <a:rPr lang="en-US"/>
              <a:t>Nucleons , the protons and neutrons</a:t>
            </a:r>
          </a:p>
          <a:p>
            <a:pPr lvl="1"/>
            <a:r>
              <a:rPr lang="en-US"/>
              <a:t>Hyperons, particles of masses greater than that of neutrons.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0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0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80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80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6" grpId="0"/>
      <p:bldP spid="18022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812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0"/>
            <a:ext cx="7772400" cy="6096000"/>
          </a:xfrm>
        </p:spPr>
        <p:txBody>
          <a:bodyPr/>
          <a:lstStyle/>
          <a:p>
            <a:r>
              <a:rPr lang="en-US" sz="2800"/>
              <a:t>Two nuclear particles may be held together by sharing a particle. (analogous to exchange forces result in a covalent bond between atoms).</a:t>
            </a:r>
          </a:p>
          <a:p>
            <a:r>
              <a:rPr lang="en-US" sz="2800"/>
              <a:t>The particle exchanged is called a </a:t>
            </a:r>
            <a:r>
              <a:rPr lang="en-US" sz="2800">
                <a:sym typeface="Symbol" pitchFamily="18" charset="2"/>
              </a:rPr>
              <a:t> meson.</a:t>
            </a:r>
          </a:p>
          <a:p>
            <a:r>
              <a:rPr lang="en-US" sz="2800">
                <a:sym typeface="Symbol" pitchFamily="18" charset="2"/>
              </a:rPr>
              <a:t>Mesons may have a positive charge </a:t>
            </a:r>
            <a:r>
              <a:rPr lang="en-US" sz="2800" baseline="30000">
                <a:sym typeface="Symbol" pitchFamily="18" charset="2"/>
              </a:rPr>
              <a:t>+</a:t>
            </a:r>
            <a:r>
              <a:rPr lang="en-US" sz="2800">
                <a:sym typeface="Symbol" pitchFamily="18" charset="2"/>
              </a:rPr>
              <a:t> , a negative charge </a:t>
            </a:r>
            <a:r>
              <a:rPr lang="en-US" sz="2800" baseline="30000">
                <a:sym typeface="Symbol" pitchFamily="18" charset="2"/>
              </a:rPr>
              <a:t>-</a:t>
            </a:r>
            <a:r>
              <a:rPr lang="en-US" sz="2800">
                <a:sym typeface="Symbol" pitchFamily="18" charset="2"/>
              </a:rPr>
              <a:t>  or no charge </a:t>
            </a:r>
            <a:r>
              <a:rPr lang="en-US" sz="2800" baseline="30000">
                <a:sym typeface="Symbol" pitchFamily="18" charset="2"/>
              </a:rPr>
              <a:t>o </a:t>
            </a:r>
            <a:r>
              <a:rPr lang="en-US" sz="2800">
                <a:sym typeface="Symbol" pitchFamily="18" charset="2"/>
              </a:rPr>
              <a:t>.</a:t>
            </a:r>
            <a:r>
              <a:rPr lang="en-US" sz="2800" baseline="30000">
                <a:sym typeface="Symbol" pitchFamily="18" charset="2"/>
              </a:rPr>
              <a:t> </a:t>
            </a:r>
            <a:r>
              <a:rPr lang="en-US" sz="2800">
                <a:sym typeface="Symbol" pitchFamily="18" charset="2"/>
              </a:rPr>
              <a:t>Exchange of </a:t>
            </a:r>
            <a:r>
              <a:rPr lang="en-US" sz="2800" baseline="30000">
                <a:sym typeface="Symbol" pitchFamily="18" charset="2"/>
              </a:rPr>
              <a:t>- </a:t>
            </a:r>
            <a:r>
              <a:rPr lang="en-US" sz="2800">
                <a:sym typeface="Symbol" pitchFamily="18" charset="2"/>
              </a:rPr>
              <a:t>and </a:t>
            </a:r>
            <a:r>
              <a:rPr lang="en-US" sz="2800" baseline="30000">
                <a:sym typeface="Symbol" pitchFamily="18" charset="2"/>
              </a:rPr>
              <a:t>+</a:t>
            </a:r>
            <a:r>
              <a:rPr lang="en-US" sz="2800">
                <a:sym typeface="Symbol" pitchFamily="18" charset="2"/>
              </a:rPr>
              <a:t> mesons accounts for the binding energy between neutrons and protons.</a:t>
            </a:r>
          </a:p>
          <a:p>
            <a:r>
              <a:rPr lang="en-US" sz="2800">
                <a:sym typeface="Symbol" pitchFamily="18" charset="2"/>
              </a:rPr>
              <a:t>Note: The transfer of a charge converts a neutron to a proton or vice versa.</a:t>
            </a:r>
            <a:endParaRPr lang="en-US" sz="2800"/>
          </a:p>
          <a:p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8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8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1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822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914400"/>
            <a:ext cx="7772400" cy="4114800"/>
          </a:xfrm>
        </p:spPr>
        <p:txBody>
          <a:bodyPr/>
          <a:lstStyle/>
          <a:p>
            <a:r>
              <a:rPr lang="en-US"/>
              <a:t>The resultant attractive forces are indicated by dotted lines below.</a:t>
            </a:r>
          </a:p>
          <a:p>
            <a:endParaRPr lang="en-US"/>
          </a:p>
          <a:p>
            <a:pPr lvl="3"/>
            <a:r>
              <a:rPr lang="en-US"/>
              <a:t>n</a:t>
            </a:r>
          </a:p>
          <a:p>
            <a:endParaRPr lang="en-US"/>
          </a:p>
        </p:txBody>
      </p:sp>
      <p:sp>
        <p:nvSpPr>
          <p:cNvPr id="182296" name="Arc 24"/>
          <p:cNvSpPr>
            <a:spLocks/>
          </p:cNvSpPr>
          <p:nvPr/>
        </p:nvSpPr>
        <p:spPr bwMode="auto">
          <a:xfrm rot="2145772">
            <a:off x="2000250" y="2925763"/>
            <a:ext cx="762000" cy="655637"/>
          </a:xfrm>
          <a:custGeom>
            <a:avLst/>
            <a:gdLst>
              <a:gd name="G0" fmla="+- 0 0 0"/>
              <a:gd name="G1" fmla="+- 20503 0 0"/>
              <a:gd name="G2" fmla="+- 21600 0 0"/>
              <a:gd name="T0" fmla="*/ 6795 w 21600"/>
              <a:gd name="T1" fmla="*/ 0 h 24627"/>
              <a:gd name="T2" fmla="*/ 21203 w 21600"/>
              <a:gd name="T3" fmla="*/ 24627 h 24627"/>
              <a:gd name="T4" fmla="*/ 0 w 21600"/>
              <a:gd name="T5" fmla="*/ 20503 h 24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4627" fill="none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</a:path>
              <a:path w="21600" h="24627" stroke="0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  <a:lnTo>
                  <a:pt x="0" y="2050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2297" name="Text Box 25"/>
          <p:cNvSpPr txBox="1">
            <a:spLocks noChangeArrowheads="1"/>
          </p:cNvSpPr>
          <p:nvPr/>
        </p:nvSpPr>
        <p:spPr bwMode="auto">
          <a:xfrm>
            <a:off x="2171700" y="351313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p</a:t>
            </a:r>
          </a:p>
        </p:txBody>
      </p:sp>
      <p:sp>
        <p:nvSpPr>
          <p:cNvPr id="182298" name="Text Box 26"/>
          <p:cNvSpPr txBox="1">
            <a:spLocks noChangeArrowheads="1"/>
          </p:cNvSpPr>
          <p:nvPr/>
        </p:nvSpPr>
        <p:spPr bwMode="auto">
          <a:xfrm>
            <a:off x="2514600" y="5900738"/>
            <a:ext cx="381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US">
              <a:latin typeface="Arial" charset="0"/>
            </a:endParaRPr>
          </a:p>
        </p:txBody>
      </p:sp>
      <p:sp>
        <p:nvSpPr>
          <p:cNvPr id="182299" name="Line 27"/>
          <p:cNvSpPr>
            <a:spLocks noChangeShapeType="1"/>
          </p:cNvSpPr>
          <p:nvPr/>
        </p:nvSpPr>
        <p:spPr bwMode="auto">
          <a:xfrm flipH="1">
            <a:off x="2438400" y="3614738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2300" name="Text Box 28"/>
          <p:cNvSpPr txBox="1">
            <a:spLocks noChangeArrowheads="1"/>
          </p:cNvSpPr>
          <p:nvPr/>
        </p:nvSpPr>
        <p:spPr bwMode="auto">
          <a:xfrm>
            <a:off x="2667000" y="308133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  <a:sym typeface="Symbol" pitchFamily="18" charset="2"/>
              </a:rPr>
              <a:t>-</a:t>
            </a:r>
          </a:p>
        </p:txBody>
      </p:sp>
      <p:sp>
        <p:nvSpPr>
          <p:cNvPr id="182301" name="Line 29"/>
          <p:cNvSpPr>
            <a:spLocks noChangeShapeType="1"/>
          </p:cNvSpPr>
          <p:nvPr/>
        </p:nvSpPr>
        <p:spPr bwMode="auto">
          <a:xfrm>
            <a:off x="3581400" y="3233738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2302" name="Arc 30"/>
          <p:cNvSpPr>
            <a:spLocks/>
          </p:cNvSpPr>
          <p:nvPr/>
        </p:nvSpPr>
        <p:spPr bwMode="auto">
          <a:xfrm rot="2145772">
            <a:off x="5410200" y="2816225"/>
            <a:ext cx="762000" cy="655638"/>
          </a:xfrm>
          <a:custGeom>
            <a:avLst/>
            <a:gdLst>
              <a:gd name="G0" fmla="+- 0 0 0"/>
              <a:gd name="G1" fmla="+- 20503 0 0"/>
              <a:gd name="G2" fmla="+- 21600 0 0"/>
              <a:gd name="T0" fmla="*/ 6795 w 21600"/>
              <a:gd name="T1" fmla="*/ 0 h 24627"/>
              <a:gd name="T2" fmla="*/ 21203 w 21600"/>
              <a:gd name="T3" fmla="*/ 24627 h 24627"/>
              <a:gd name="T4" fmla="*/ 0 w 21600"/>
              <a:gd name="T5" fmla="*/ 20503 h 24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4627" fill="none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</a:path>
              <a:path w="21600" h="24627" stroke="0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  <a:lnTo>
                  <a:pt x="0" y="2050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2303" name="Text Box 31"/>
          <p:cNvSpPr txBox="1">
            <a:spLocks noChangeArrowheads="1"/>
          </p:cNvSpPr>
          <p:nvPr/>
        </p:nvSpPr>
        <p:spPr bwMode="auto">
          <a:xfrm>
            <a:off x="5600700" y="3476625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182304" name="Line 32"/>
          <p:cNvSpPr>
            <a:spLocks noChangeShapeType="1"/>
          </p:cNvSpPr>
          <p:nvPr/>
        </p:nvSpPr>
        <p:spPr bwMode="auto">
          <a:xfrm flipH="1">
            <a:off x="5867400" y="3578225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2305" name="Text Box 33"/>
          <p:cNvSpPr txBox="1">
            <a:spLocks noChangeArrowheads="1"/>
          </p:cNvSpPr>
          <p:nvPr/>
        </p:nvSpPr>
        <p:spPr bwMode="auto">
          <a:xfrm>
            <a:off x="5600700" y="249713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p</a:t>
            </a:r>
          </a:p>
        </p:txBody>
      </p:sp>
      <p:sp>
        <p:nvSpPr>
          <p:cNvPr id="182306" name="Arc 34"/>
          <p:cNvSpPr>
            <a:spLocks/>
          </p:cNvSpPr>
          <p:nvPr/>
        </p:nvSpPr>
        <p:spPr bwMode="auto">
          <a:xfrm rot="2145772">
            <a:off x="2133600" y="4873625"/>
            <a:ext cx="762000" cy="655638"/>
          </a:xfrm>
          <a:custGeom>
            <a:avLst/>
            <a:gdLst>
              <a:gd name="G0" fmla="+- 0 0 0"/>
              <a:gd name="G1" fmla="+- 20503 0 0"/>
              <a:gd name="G2" fmla="+- 21600 0 0"/>
              <a:gd name="T0" fmla="*/ 6795 w 21600"/>
              <a:gd name="T1" fmla="*/ 0 h 24627"/>
              <a:gd name="T2" fmla="*/ 21203 w 21600"/>
              <a:gd name="T3" fmla="*/ 24627 h 24627"/>
              <a:gd name="T4" fmla="*/ 0 w 21600"/>
              <a:gd name="T5" fmla="*/ 20503 h 24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4627" fill="none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</a:path>
              <a:path w="21600" h="24627" stroke="0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  <a:lnTo>
                  <a:pt x="0" y="2050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2307" name="Text Box 35"/>
          <p:cNvSpPr txBox="1">
            <a:spLocks noChangeArrowheads="1"/>
          </p:cNvSpPr>
          <p:nvPr/>
        </p:nvSpPr>
        <p:spPr bwMode="auto">
          <a:xfrm>
            <a:off x="2324100" y="5534025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182308" name="Line 36"/>
          <p:cNvSpPr>
            <a:spLocks noChangeShapeType="1"/>
          </p:cNvSpPr>
          <p:nvPr/>
        </p:nvSpPr>
        <p:spPr bwMode="auto">
          <a:xfrm flipH="1">
            <a:off x="2590800" y="5635625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2309" name="Text Box 37"/>
          <p:cNvSpPr txBox="1">
            <a:spLocks noChangeArrowheads="1"/>
          </p:cNvSpPr>
          <p:nvPr/>
        </p:nvSpPr>
        <p:spPr bwMode="auto">
          <a:xfrm>
            <a:off x="2819400" y="5102225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  <a:sym typeface="Symbol" pitchFamily="18" charset="2"/>
              </a:rPr>
              <a:t>+</a:t>
            </a:r>
          </a:p>
        </p:txBody>
      </p:sp>
      <p:sp>
        <p:nvSpPr>
          <p:cNvPr id="182310" name="Line 38"/>
          <p:cNvSpPr>
            <a:spLocks noChangeShapeType="1"/>
          </p:cNvSpPr>
          <p:nvPr/>
        </p:nvSpPr>
        <p:spPr bwMode="auto">
          <a:xfrm>
            <a:off x="3733800" y="5254625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2311" name="Arc 39"/>
          <p:cNvSpPr>
            <a:spLocks/>
          </p:cNvSpPr>
          <p:nvPr/>
        </p:nvSpPr>
        <p:spPr bwMode="auto">
          <a:xfrm rot="2145772">
            <a:off x="5562600" y="4837113"/>
            <a:ext cx="762000" cy="655637"/>
          </a:xfrm>
          <a:custGeom>
            <a:avLst/>
            <a:gdLst>
              <a:gd name="G0" fmla="+- 0 0 0"/>
              <a:gd name="G1" fmla="+- 20503 0 0"/>
              <a:gd name="G2" fmla="+- 21600 0 0"/>
              <a:gd name="T0" fmla="*/ 6795 w 21600"/>
              <a:gd name="T1" fmla="*/ 0 h 24627"/>
              <a:gd name="T2" fmla="*/ 21203 w 21600"/>
              <a:gd name="T3" fmla="*/ 24627 h 24627"/>
              <a:gd name="T4" fmla="*/ 0 w 21600"/>
              <a:gd name="T5" fmla="*/ 20503 h 24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4627" fill="none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</a:path>
              <a:path w="21600" h="24627" stroke="0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  <a:lnTo>
                  <a:pt x="0" y="2050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2312" name="Text Box 40"/>
          <p:cNvSpPr txBox="1">
            <a:spLocks noChangeArrowheads="1"/>
          </p:cNvSpPr>
          <p:nvPr/>
        </p:nvSpPr>
        <p:spPr bwMode="auto">
          <a:xfrm>
            <a:off x="5753100" y="5497513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p</a:t>
            </a:r>
          </a:p>
        </p:txBody>
      </p:sp>
      <p:sp>
        <p:nvSpPr>
          <p:cNvPr id="182313" name="Line 41"/>
          <p:cNvSpPr>
            <a:spLocks noChangeShapeType="1"/>
          </p:cNvSpPr>
          <p:nvPr/>
        </p:nvSpPr>
        <p:spPr bwMode="auto">
          <a:xfrm flipH="1">
            <a:off x="6019800" y="5599113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2314" name="Text Box 42"/>
          <p:cNvSpPr txBox="1">
            <a:spLocks noChangeArrowheads="1"/>
          </p:cNvSpPr>
          <p:nvPr/>
        </p:nvSpPr>
        <p:spPr bwMode="auto">
          <a:xfrm>
            <a:off x="5753100" y="4518025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182315" name="Text Box 43"/>
          <p:cNvSpPr txBox="1">
            <a:spLocks noChangeArrowheads="1"/>
          </p:cNvSpPr>
          <p:nvPr/>
        </p:nvSpPr>
        <p:spPr bwMode="auto">
          <a:xfrm>
            <a:off x="2362200" y="459263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oter Placeholder 2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832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381000"/>
            <a:ext cx="7772400" cy="5715000"/>
          </a:xfrm>
        </p:spPr>
        <p:txBody>
          <a:bodyPr/>
          <a:lstStyle/>
          <a:p>
            <a:r>
              <a:rPr lang="en-US"/>
              <a:t>A </a:t>
            </a:r>
            <a:r>
              <a:rPr lang="en-US">
                <a:sym typeface="Symbol" pitchFamily="18" charset="2"/>
              </a:rPr>
              <a:t></a:t>
            </a:r>
            <a:r>
              <a:rPr lang="en-US" baseline="30000">
                <a:sym typeface="Symbol" pitchFamily="18" charset="2"/>
              </a:rPr>
              <a:t>o </a:t>
            </a:r>
            <a:r>
              <a:rPr lang="en-US">
                <a:sym typeface="Symbol" pitchFamily="18" charset="2"/>
              </a:rPr>
              <a:t>meson is exchanged between two protons or two neutrons.</a:t>
            </a:r>
          </a:p>
          <a:p>
            <a:endParaRPr lang="en-US"/>
          </a:p>
        </p:txBody>
      </p:sp>
      <p:sp>
        <p:nvSpPr>
          <p:cNvPr id="183300" name="Text Box 4"/>
          <p:cNvSpPr txBox="1">
            <a:spLocks noChangeArrowheads="1"/>
          </p:cNvSpPr>
          <p:nvPr/>
        </p:nvSpPr>
        <p:spPr bwMode="auto">
          <a:xfrm>
            <a:off x="2133600" y="3211513"/>
            <a:ext cx="381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US">
              <a:latin typeface="Arial" charset="0"/>
            </a:endParaRPr>
          </a:p>
        </p:txBody>
      </p:sp>
      <p:sp>
        <p:nvSpPr>
          <p:cNvPr id="183301" name="Arc 5"/>
          <p:cNvSpPr>
            <a:spLocks/>
          </p:cNvSpPr>
          <p:nvPr/>
        </p:nvSpPr>
        <p:spPr bwMode="auto">
          <a:xfrm rot="2145772">
            <a:off x="1752600" y="2184400"/>
            <a:ext cx="762000" cy="655638"/>
          </a:xfrm>
          <a:custGeom>
            <a:avLst/>
            <a:gdLst>
              <a:gd name="G0" fmla="+- 0 0 0"/>
              <a:gd name="G1" fmla="+- 20503 0 0"/>
              <a:gd name="G2" fmla="+- 21600 0 0"/>
              <a:gd name="T0" fmla="*/ 6795 w 21600"/>
              <a:gd name="T1" fmla="*/ 0 h 24627"/>
              <a:gd name="T2" fmla="*/ 21203 w 21600"/>
              <a:gd name="T3" fmla="*/ 24627 h 24627"/>
              <a:gd name="T4" fmla="*/ 0 w 21600"/>
              <a:gd name="T5" fmla="*/ 20503 h 24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4627" fill="none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</a:path>
              <a:path w="21600" h="24627" stroke="0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  <a:lnTo>
                  <a:pt x="0" y="2050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02" name="Text Box 6"/>
          <p:cNvSpPr txBox="1">
            <a:spLocks noChangeArrowheads="1"/>
          </p:cNvSpPr>
          <p:nvPr/>
        </p:nvSpPr>
        <p:spPr bwMode="auto">
          <a:xfrm>
            <a:off x="1943100" y="28448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p</a:t>
            </a:r>
          </a:p>
        </p:txBody>
      </p:sp>
      <p:sp>
        <p:nvSpPr>
          <p:cNvPr id="183303" name="Line 7"/>
          <p:cNvSpPr>
            <a:spLocks noChangeShapeType="1"/>
          </p:cNvSpPr>
          <p:nvPr/>
        </p:nvSpPr>
        <p:spPr bwMode="auto">
          <a:xfrm flipH="1">
            <a:off x="2209800" y="29464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3304" name="Text Box 8"/>
          <p:cNvSpPr txBox="1">
            <a:spLocks noChangeArrowheads="1"/>
          </p:cNvSpPr>
          <p:nvPr/>
        </p:nvSpPr>
        <p:spPr bwMode="auto">
          <a:xfrm>
            <a:off x="2438400" y="24130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  <a:sym typeface="Symbol" pitchFamily="18" charset="2"/>
              </a:rPr>
              <a:t></a:t>
            </a:r>
            <a:r>
              <a:rPr lang="en-US" baseline="30000">
                <a:latin typeface="Arial" charset="0"/>
                <a:sym typeface="Symbol" pitchFamily="18" charset="2"/>
              </a:rPr>
              <a:t>o</a:t>
            </a:r>
          </a:p>
        </p:txBody>
      </p:sp>
      <p:sp>
        <p:nvSpPr>
          <p:cNvPr id="183305" name="Line 9"/>
          <p:cNvSpPr>
            <a:spLocks noChangeShapeType="1"/>
          </p:cNvSpPr>
          <p:nvPr/>
        </p:nvSpPr>
        <p:spPr bwMode="auto">
          <a:xfrm>
            <a:off x="3352800" y="2565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3306" name="Arc 10"/>
          <p:cNvSpPr>
            <a:spLocks/>
          </p:cNvSpPr>
          <p:nvPr/>
        </p:nvSpPr>
        <p:spPr bwMode="auto">
          <a:xfrm rot="2145772">
            <a:off x="5181600" y="2147888"/>
            <a:ext cx="762000" cy="655637"/>
          </a:xfrm>
          <a:custGeom>
            <a:avLst/>
            <a:gdLst>
              <a:gd name="G0" fmla="+- 0 0 0"/>
              <a:gd name="G1" fmla="+- 20503 0 0"/>
              <a:gd name="G2" fmla="+- 21600 0 0"/>
              <a:gd name="T0" fmla="*/ 6795 w 21600"/>
              <a:gd name="T1" fmla="*/ 0 h 24627"/>
              <a:gd name="T2" fmla="*/ 21203 w 21600"/>
              <a:gd name="T3" fmla="*/ 24627 h 24627"/>
              <a:gd name="T4" fmla="*/ 0 w 21600"/>
              <a:gd name="T5" fmla="*/ 20503 h 24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4627" fill="none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</a:path>
              <a:path w="21600" h="24627" stroke="0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  <a:lnTo>
                  <a:pt x="0" y="2050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07" name="Text Box 11"/>
          <p:cNvSpPr txBox="1">
            <a:spLocks noChangeArrowheads="1"/>
          </p:cNvSpPr>
          <p:nvPr/>
        </p:nvSpPr>
        <p:spPr bwMode="auto">
          <a:xfrm>
            <a:off x="5372100" y="280828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p</a:t>
            </a:r>
          </a:p>
        </p:txBody>
      </p:sp>
      <p:sp>
        <p:nvSpPr>
          <p:cNvPr id="183308" name="Line 12"/>
          <p:cNvSpPr>
            <a:spLocks noChangeShapeType="1"/>
          </p:cNvSpPr>
          <p:nvPr/>
        </p:nvSpPr>
        <p:spPr bwMode="auto">
          <a:xfrm flipH="1">
            <a:off x="5638800" y="2909888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3309" name="Text Box 13"/>
          <p:cNvSpPr txBox="1">
            <a:spLocks noChangeArrowheads="1"/>
          </p:cNvSpPr>
          <p:nvPr/>
        </p:nvSpPr>
        <p:spPr bwMode="auto">
          <a:xfrm>
            <a:off x="5372100" y="18288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183310" name="Text Box 14"/>
          <p:cNvSpPr txBox="1">
            <a:spLocks noChangeArrowheads="1"/>
          </p:cNvSpPr>
          <p:nvPr/>
        </p:nvSpPr>
        <p:spPr bwMode="auto">
          <a:xfrm>
            <a:off x="1981200" y="1903413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p</a:t>
            </a:r>
          </a:p>
        </p:txBody>
      </p:sp>
      <p:sp>
        <p:nvSpPr>
          <p:cNvPr id="183311" name="Text Box 15"/>
          <p:cNvSpPr txBox="1">
            <a:spLocks noChangeArrowheads="1"/>
          </p:cNvSpPr>
          <p:nvPr/>
        </p:nvSpPr>
        <p:spPr bwMode="auto">
          <a:xfrm>
            <a:off x="2133600" y="52578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US">
              <a:latin typeface="Arial" charset="0"/>
            </a:endParaRPr>
          </a:p>
        </p:txBody>
      </p:sp>
      <p:sp>
        <p:nvSpPr>
          <p:cNvPr id="183312" name="Arc 16"/>
          <p:cNvSpPr>
            <a:spLocks/>
          </p:cNvSpPr>
          <p:nvPr/>
        </p:nvSpPr>
        <p:spPr bwMode="auto">
          <a:xfrm rot="2145772">
            <a:off x="1752600" y="4230688"/>
            <a:ext cx="762000" cy="655637"/>
          </a:xfrm>
          <a:custGeom>
            <a:avLst/>
            <a:gdLst>
              <a:gd name="G0" fmla="+- 0 0 0"/>
              <a:gd name="G1" fmla="+- 20503 0 0"/>
              <a:gd name="G2" fmla="+- 21600 0 0"/>
              <a:gd name="T0" fmla="*/ 6795 w 21600"/>
              <a:gd name="T1" fmla="*/ 0 h 24627"/>
              <a:gd name="T2" fmla="*/ 21203 w 21600"/>
              <a:gd name="T3" fmla="*/ 24627 h 24627"/>
              <a:gd name="T4" fmla="*/ 0 w 21600"/>
              <a:gd name="T5" fmla="*/ 20503 h 24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4627" fill="none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</a:path>
              <a:path w="21600" h="24627" stroke="0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  <a:lnTo>
                  <a:pt x="0" y="2050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13" name="Text Box 17"/>
          <p:cNvSpPr txBox="1">
            <a:spLocks noChangeArrowheads="1"/>
          </p:cNvSpPr>
          <p:nvPr/>
        </p:nvSpPr>
        <p:spPr bwMode="auto">
          <a:xfrm>
            <a:off x="1943100" y="489108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183314" name="Line 18"/>
          <p:cNvSpPr>
            <a:spLocks noChangeShapeType="1"/>
          </p:cNvSpPr>
          <p:nvPr/>
        </p:nvSpPr>
        <p:spPr bwMode="auto">
          <a:xfrm flipH="1">
            <a:off x="2209800" y="4992688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3315" name="Text Box 19"/>
          <p:cNvSpPr txBox="1">
            <a:spLocks noChangeArrowheads="1"/>
          </p:cNvSpPr>
          <p:nvPr/>
        </p:nvSpPr>
        <p:spPr bwMode="auto">
          <a:xfrm>
            <a:off x="2438400" y="445928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  <a:sym typeface="Symbol" pitchFamily="18" charset="2"/>
              </a:rPr>
              <a:t></a:t>
            </a:r>
            <a:r>
              <a:rPr lang="en-US" baseline="30000">
                <a:latin typeface="Arial" charset="0"/>
                <a:sym typeface="Symbol" pitchFamily="18" charset="2"/>
              </a:rPr>
              <a:t>o</a:t>
            </a:r>
          </a:p>
        </p:txBody>
      </p:sp>
      <p:sp>
        <p:nvSpPr>
          <p:cNvPr id="183316" name="Line 20"/>
          <p:cNvSpPr>
            <a:spLocks noChangeShapeType="1"/>
          </p:cNvSpPr>
          <p:nvPr/>
        </p:nvSpPr>
        <p:spPr bwMode="auto">
          <a:xfrm>
            <a:off x="3352800" y="4611688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3317" name="Arc 21"/>
          <p:cNvSpPr>
            <a:spLocks/>
          </p:cNvSpPr>
          <p:nvPr/>
        </p:nvSpPr>
        <p:spPr bwMode="auto">
          <a:xfrm rot="2145772">
            <a:off x="5181600" y="4194175"/>
            <a:ext cx="762000" cy="655638"/>
          </a:xfrm>
          <a:custGeom>
            <a:avLst/>
            <a:gdLst>
              <a:gd name="G0" fmla="+- 0 0 0"/>
              <a:gd name="G1" fmla="+- 20503 0 0"/>
              <a:gd name="G2" fmla="+- 21600 0 0"/>
              <a:gd name="T0" fmla="*/ 6795 w 21600"/>
              <a:gd name="T1" fmla="*/ 0 h 24627"/>
              <a:gd name="T2" fmla="*/ 21203 w 21600"/>
              <a:gd name="T3" fmla="*/ 24627 h 24627"/>
              <a:gd name="T4" fmla="*/ 0 w 21600"/>
              <a:gd name="T5" fmla="*/ 20503 h 24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4627" fill="none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</a:path>
              <a:path w="21600" h="24627" stroke="0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  <a:lnTo>
                  <a:pt x="0" y="2050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18" name="Text Box 22"/>
          <p:cNvSpPr txBox="1">
            <a:spLocks noChangeArrowheads="1"/>
          </p:cNvSpPr>
          <p:nvPr/>
        </p:nvSpPr>
        <p:spPr bwMode="auto">
          <a:xfrm>
            <a:off x="5372100" y="4854575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183319" name="Line 23"/>
          <p:cNvSpPr>
            <a:spLocks noChangeShapeType="1"/>
          </p:cNvSpPr>
          <p:nvPr/>
        </p:nvSpPr>
        <p:spPr bwMode="auto">
          <a:xfrm flipH="1">
            <a:off x="5638800" y="4956175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3320" name="Text Box 24"/>
          <p:cNvSpPr txBox="1">
            <a:spLocks noChangeArrowheads="1"/>
          </p:cNvSpPr>
          <p:nvPr/>
        </p:nvSpPr>
        <p:spPr bwMode="auto">
          <a:xfrm>
            <a:off x="5372100" y="387508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183321" name="Text Box 25"/>
          <p:cNvSpPr txBox="1">
            <a:spLocks noChangeArrowheads="1"/>
          </p:cNvSpPr>
          <p:nvPr/>
        </p:nvSpPr>
        <p:spPr bwMode="auto">
          <a:xfrm>
            <a:off x="1981200" y="39497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183322" name="Text Box 26"/>
          <p:cNvSpPr txBox="1">
            <a:spLocks noChangeArrowheads="1"/>
          </p:cNvSpPr>
          <p:nvPr/>
        </p:nvSpPr>
        <p:spPr bwMode="auto">
          <a:xfrm>
            <a:off x="609600" y="5334000"/>
            <a:ext cx="8001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>
                <a:solidFill>
                  <a:schemeClr val="accent2"/>
                </a:solidFill>
                <a:latin typeface="Arial" charset="0"/>
              </a:rPr>
              <a:t>The attractive forces between p-n, n-n and p-p are probably all similar in strength.</a:t>
            </a:r>
          </a:p>
        </p:txBody>
      </p:sp>
      <p:sp>
        <p:nvSpPr>
          <p:cNvPr id="183323" name="Text Box 27"/>
          <p:cNvSpPr txBox="1">
            <a:spLocks noChangeArrowheads="1"/>
          </p:cNvSpPr>
          <p:nvPr/>
        </p:nvSpPr>
        <p:spPr bwMode="auto">
          <a:xfrm>
            <a:off x="609600" y="6019800"/>
            <a:ext cx="8001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>
                <a:solidFill>
                  <a:srgbClr val="FF0000"/>
                </a:solidFill>
                <a:latin typeface="Arial" charset="0"/>
              </a:rPr>
              <a:t>All mesons are very unstable  outside the nucleus</a:t>
            </a:r>
            <a:r>
              <a:rPr lang="en-US" sz="2000">
                <a:latin typeface="Arial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843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457200"/>
            <a:ext cx="7772400" cy="5638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0000"/>
                </a:solidFill>
              </a:rPr>
              <a:t>The continual transfer of mesons means that the particles representing neutrons and protons are constantly changing.</a:t>
            </a:r>
          </a:p>
          <a:p>
            <a:r>
              <a:rPr lang="en-US"/>
              <a:t>The transformation of neutrons into protons and vice versa are first order reactions.</a:t>
            </a:r>
          </a:p>
          <a:p>
            <a:r>
              <a:rPr lang="en-US">
                <a:solidFill>
                  <a:srgbClr val="FF0000"/>
                </a:solidFill>
              </a:rPr>
              <a:t>The rates of the reactions depend  on the relative numbers of neutrons and protons present.</a:t>
            </a:r>
          </a:p>
          <a:p>
            <a:r>
              <a:rPr lang="en-US"/>
              <a:t>In a stable nucleus these two changes are in equilibrium.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8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Stability and the ratio of neutrons to protons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8534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/>
              <a:t>The stability of a nucleus depends on the number of protons and neutrons present.</a:t>
            </a:r>
          </a:p>
          <a:p>
            <a:pPr>
              <a:lnSpc>
                <a:spcPct val="80000"/>
              </a:lnSpc>
            </a:pPr>
            <a:r>
              <a:rPr lang="en-US"/>
              <a:t>For elements of low atomic number (up to Z=20), the most stable nuclei exist.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6" grpId="0"/>
      <p:bldP spid="185347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24678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Elements with higher atomic numbers are more stable if they have a slight excess of neutrons as this increase the attractive force and also reduces repulsion between protons.</a:t>
            </a:r>
          </a:p>
          <a:p>
            <a:pPr>
              <a:lnSpc>
                <a:spcPct val="90000"/>
              </a:lnSpc>
            </a:pPr>
            <a:r>
              <a:rPr lang="en-US"/>
              <a:t>Thus the ratio N/P increases progressively up to about 1.6 (for eg. U).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N/P vs P</a:t>
            </a: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86372" name="Line 4"/>
          <p:cNvSpPr>
            <a:spLocks noChangeShapeType="1"/>
          </p:cNvSpPr>
          <p:nvPr/>
        </p:nvSpPr>
        <p:spPr bwMode="auto">
          <a:xfrm>
            <a:off x="3429000" y="17526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6373" name="Line 5"/>
          <p:cNvSpPr>
            <a:spLocks noChangeShapeType="1"/>
          </p:cNvSpPr>
          <p:nvPr/>
        </p:nvSpPr>
        <p:spPr bwMode="auto">
          <a:xfrm>
            <a:off x="3429000" y="38100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6374" name="Freeform 6"/>
          <p:cNvSpPr>
            <a:spLocks/>
          </p:cNvSpPr>
          <p:nvPr/>
        </p:nvSpPr>
        <p:spPr bwMode="auto">
          <a:xfrm rot="-294904">
            <a:off x="3429000" y="1981200"/>
            <a:ext cx="2057400" cy="1295400"/>
          </a:xfrm>
          <a:custGeom>
            <a:avLst/>
            <a:gdLst/>
            <a:ahLst/>
            <a:cxnLst>
              <a:cxn ang="0">
                <a:pos x="0" y="720"/>
              </a:cxn>
              <a:cxn ang="0">
                <a:pos x="816" y="720"/>
              </a:cxn>
              <a:cxn ang="0">
                <a:pos x="1296" y="0"/>
              </a:cxn>
            </a:cxnLst>
            <a:rect l="0" t="0" r="r" b="b"/>
            <a:pathLst>
              <a:path w="1296" h="840">
                <a:moveTo>
                  <a:pt x="0" y="720"/>
                </a:moveTo>
                <a:cubicBezTo>
                  <a:pt x="300" y="780"/>
                  <a:pt x="600" y="840"/>
                  <a:pt x="816" y="720"/>
                </a:cubicBezTo>
                <a:cubicBezTo>
                  <a:pt x="1032" y="600"/>
                  <a:pt x="1216" y="120"/>
                  <a:pt x="1296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6375" name="Text Box 7"/>
          <p:cNvSpPr txBox="1">
            <a:spLocks noChangeArrowheads="1"/>
          </p:cNvSpPr>
          <p:nvPr/>
        </p:nvSpPr>
        <p:spPr bwMode="auto">
          <a:xfrm>
            <a:off x="2590800" y="2438400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N/P</a:t>
            </a:r>
          </a:p>
        </p:txBody>
      </p:sp>
      <p:sp>
        <p:nvSpPr>
          <p:cNvPr id="186376" name="Text Box 8"/>
          <p:cNvSpPr txBox="1">
            <a:spLocks noChangeArrowheads="1"/>
          </p:cNvSpPr>
          <p:nvPr/>
        </p:nvSpPr>
        <p:spPr bwMode="auto">
          <a:xfrm>
            <a:off x="2743200" y="30480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1.0</a:t>
            </a:r>
          </a:p>
        </p:txBody>
      </p:sp>
      <p:sp>
        <p:nvSpPr>
          <p:cNvPr id="186377" name="Text Box 9"/>
          <p:cNvSpPr txBox="1">
            <a:spLocks noChangeArrowheads="1"/>
          </p:cNvSpPr>
          <p:nvPr/>
        </p:nvSpPr>
        <p:spPr bwMode="auto">
          <a:xfrm>
            <a:off x="2667000" y="1752600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1.6</a:t>
            </a:r>
          </a:p>
        </p:txBody>
      </p:sp>
      <p:sp>
        <p:nvSpPr>
          <p:cNvPr id="186378" name="Rectangle 10"/>
          <p:cNvSpPr>
            <a:spLocks noChangeArrowheads="1"/>
          </p:cNvSpPr>
          <p:nvPr/>
        </p:nvSpPr>
        <p:spPr bwMode="auto">
          <a:xfrm>
            <a:off x="304800" y="4724400"/>
            <a:ext cx="822960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latin typeface="Times"/>
              </a:rPr>
              <a:t>Note 1: In elements with higher atomic numbers, the nuclei have become so large they undergo spontaneous fission.</a:t>
            </a:r>
          </a:p>
          <a:p>
            <a:r>
              <a:rPr lang="en-US" sz="2800">
                <a:latin typeface="Times"/>
              </a:rPr>
              <a:t>Note 2: Stable nuclei lie near to these curves.</a:t>
            </a: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 </a:t>
            </a:r>
          </a:p>
        </p:txBody>
      </p:sp>
      <p:sp>
        <p:nvSpPr>
          <p:cNvPr id="186379" name="Text Box 11"/>
          <p:cNvSpPr txBox="1">
            <a:spLocks noChangeArrowheads="1"/>
          </p:cNvSpPr>
          <p:nvPr/>
        </p:nvSpPr>
        <p:spPr bwMode="auto">
          <a:xfrm>
            <a:off x="6019800" y="3886200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8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8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86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86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86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86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86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2" grpId="0" animBg="1"/>
      <p:bldP spid="186373" grpId="0" animBg="1"/>
      <p:bldP spid="186374" grpId="0" animBg="1"/>
      <p:bldP spid="186375" grpId="0"/>
      <p:bldP spid="186376" grpId="0"/>
      <p:bldP spid="186377" grpId="0"/>
      <p:bldP spid="186378" grpId="0"/>
      <p:bldP spid="18637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Modes of Decay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873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Nuclei with N/P ratios appreciably higher or lower than the stable ratio are radioactive.</a:t>
            </a:r>
          </a:p>
          <a:p>
            <a:pPr>
              <a:lnSpc>
                <a:spcPct val="90000"/>
              </a:lnSpc>
            </a:pPr>
            <a:r>
              <a:rPr lang="en-US" sz="2800"/>
              <a:t>When they decay they form nuclei closer to the line of maximum stability.</a:t>
            </a:r>
          </a:p>
          <a:p>
            <a:pPr>
              <a:lnSpc>
                <a:spcPct val="90000"/>
              </a:lnSpc>
            </a:pPr>
            <a:r>
              <a:rPr lang="en-US" sz="2800"/>
              <a:t>If the N/P ratio is high, the isotope lies above the curve.</a:t>
            </a:r>
          </a:p>
          <a:p>
            <a:pPr>
              <a:lnSpc>
                <a:spcPct val="90000"/>
              </a:lnSpc>
            </a:pPr>
            <a:r>
              <a:rPr lang="en-US" sz="2800"/>
              <a:t>Such a nucleus will decay in such a way that it reduces the N/P ratio and form a stable arrangement.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8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4" grpId="0"/>
      <p:bldP spid="187395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The ratio can be reduced in the following ways.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884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Beta emission</a:t>
            </a:r>
          </a:p>
          <a:p>
            <a:r>
              <a:rPr lang="en-US"/>
              <a:t>Neutron emission</a:t>
            </a:r>
          </a:p>
          <a:p>
            <a:r>
              <a:rPr lang="en-US"/>
              <a:t>Positron emission</a:t>
            </a:r>
          </a:p>
          <a:p>
            <a:r>
              <a:rPr lang="en-US"/>
              <a:t>Orbital or K-electron capture</a:t>
            </a:r>
          </a:p>
          <a:p>
            <a:r>
              <a:rPr lang="en-US"/>
              <a:t>Proton emission</a:t>
            </a:r>
          </a:p>
          <a:p>
            <a:r>
              <a:rPr lang="en-US"/>
              <a:t>Gamma radiation</a:t>
            </a:r>
          </a:p>
          <a:p>
            <a:endParaRPr lang="en-US"/>
          </a:p>
        </p:txBody>
      </p:sp>
      <p:sp>
        <p:nvSpPr>
          <p:cNvPr id="188420" name="AutoShape 4"/>
          <p:cNvSpPr>
            <a:spLocks/>
          </p:cNvSpPr>
          <p:nvPr/>
        </p:nvSpPr>
        <p:spPr bwMode="auto">
          <a:xfrm>
            <a:off x="6053138" y="3259138"/>
            <a:ext cx="228600" cy="1600200"/>
          </a:xfrm>
          <a:prstGeom prst="rightBrace">
            <a:avLst>
              <a:gd name="adj1" fmla="val 5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8421" name="Text Box 5"/>
          <p:cNvSpPr txBox="1">
            <a:spLocks noChangeArrowheads="1"/>
          </p:cNvSpPr>
          <p:nvPr/>
        </p:nvSpPr>
        <p:spPr bwMode="auto">
          <a:xfrm>
            <a:off x="6705600" y="3733800"/>
            <a:ext cx="24384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If the N/P ratio is too low, the isotope lies below the curve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8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8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8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8" grpId="0"/>
      <p:bldP spid="188419" grpId="0" build="p"/>
      <p:bldP spid="188420" grpId="0" animBg="1"/>
      <p:bldP spid="1884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Beta emission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1894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/>
              <a:t>Electrons or </a:t>
            </a:r>
            <a:r>
              <a:rPr lang="en-US" sz="2800">
                <a:sym typeface="Symbol" pitchFamily="18" charset="2"/>
              </a:rPr>
              <a:t> radiation may be emitted from the nucleus when a neutron is converted into a proton, an electron and a neutrino.</a:t>
            </a:r>
          </a:p>
          <a:p>
            <a:r>
              <a:rPr lang="en-US" sz="2800">
                <a:sym typeface="Symbol" pitchFamily="18" charset="2"/>
              </a:rPr>
              <a:t>This change reduces the N/P ratio.</a:t>
            </a:r>
          </a:p>
          <a:p>
            <a:r>
              <a:rPr lang="en-US" sz="2800">
                <a:sym typeface="Symbol" pitchFamily="18" charset="2"/>
              </a:rPr>
              <a:t>The neutrino () is a strange particle.</a:t>
            </a:r>
          </a:p>
          <a:p>
            <a:r>
              <a:rPr lang="en-US" sz="2800">
                <a:sym typeface="Symbol" pitchFamily="18" charset="2"/>
              </a:rPr>
              <a:t> neutrino has zero mass and zero charge and is postulated to balance the spins.</a:t>
            </a:r>
          </a:p>
          <a:p>
            <a:r>
              <a:rPr lang="en-US" sz="2800">
                <a:sym typeface="Symbol" pitchFamily="18" charset="2"/>
              </a:rPr>
              <a:t>Is emitted in almost all nuclear transformations.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9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2" grpId="0"/>
      <p:bldP spid="18944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9" name="Rectangle 5"/>
          <p:cNvSpPr>
            <a:spLocks noChangeArrowheads="1"/>
          </p:cNvSpPr>
          <p:nvPr/>
        </p:nvSpPr>
        <p:spPr bwMode="auto">
          <a:xfrm>
            <a:off x="457200" y="304800"/>
            <a:ext cx="8229600" cy="5821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r>
              <a:rPr lang="en-US" sz="3200"/>
              <a:t>The change of a neutron into a proton may be written:</a:t>
            </a:r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r>
              <a:rPr lang="en-US" sz="3200" baseline="30000"/>
              <a:t>1</a:t>
            </a:r>
            <a:r>
              <a:rPr lang="en-US" sz="3200"/>
              <a:t>n          </a:t>
            </a:r>
            <a:r>
              <a:rPr lang="en-US" sz="3200" baseline="30000"/>
              <a:t>1</a:t>
            </a:r>
            <a:r>
              <a:rPr lang="en-US" sz="3200"/>
              <a:t>p   +    </a:t>
            </a:r>
            <a:r>
              <a:rPr lang="en-US" sz="3200" baseline="30000"/>
              <a:t>0</a:t>
            </a:r>
            <a:r>
              <a:rPr lang="en-US" sz="3200"/>
              <a:t>e  +    </a:t>
            </a:r>
            <a:r>
              <a:rPr lang="en-US" sz="3200">
                <a:sym typeface="Symbol" pitchFamily="18" charset="2"/>
              </a:rPr>
              <a:t></a:t>
            </a:r>
            <a:r>
              <a:rPr lang="en-US" sz="3200"/>
              <a:t> 			             </a:t>
            </a:r>
          </a:p>
        </p:txBody>
      </p:sp>
      <p:sp>
        <p:nvSpPr>
          <p:cNvPr id="190470" name="Line 6"/>
          <p:cNvSpPr>
            <a:spLocks noChangeShapeType="1"/>
          </p:cNvSpPr>
          <p:nvPr/>
        </p:nvSpPr>
        <p:spPr bwMode="auto">
          <a:xfrm>
            <a:off x="1371600" y="1719263"/>
            <a:ext cx="612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0471" name="Text Box 7"/>
          <p:cNvSpPr txBox="1">
            <a:spLocks noChangeArrowheads="1"/>
          </p:cNvSpPr>
          <p:nvPr/>
        </p:nvSpPr>
        <p:spPr bwMode="auto">
          <a:xfrm>
            <a:off x="3194050" y="1690687"/>
            <a:ext cx="387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dirty="0">
                <a:latin typeface="Arial" charset="0"/>
              </a:rPr>
              <a:t>-1</a:t>
            </a:r>
          </a:p>
        </p:txBody>
      </p:sp>
      <p:sp>
        <p:nvSpPr>
          <p:cNvPr id="190472" name="Text Box 8"/>
          <p:cNvSpPr txBox="1">
            <a:spLocks noChangeArrowheads="1"/>
          </p:cNvSpPr>
          <p:nvPr/>
        </p:nvSpPr>
        <p:spPr bwMode="auto">
          <a:xfrm>
            <a:off x="804863" y="17526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Arial" charset="0"/>
              </a:rPr>
              <a:t>0</a:t>
            </a:r>
          </a:p>
        </p:txBody>
      </p:sp>
      <p:sp>
        <p:nvSpPr>
          <p:cNvPr id="190473" name="Text Box 9"/>
          <p:cNvSpPr txBox="1">
            <a:spLocks noChangeArrowheads="1"/>
          </p:cNvSpPr>
          <p:nvPr/>
        </p:nvSpPr>
        <p:spPr bwMode="auto">
          <a:xfrm>
            <a:off x="1981200" y="17526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dirty="0">
                <a:latin typeface="Arial" charset="0"/>
              </a:rPr>
              <a:t>1</a:t>
            </a:r>
          </a:p>
        </p:txBody>
      </p:sp>
      <p:sp>
        <p:nvSpPr>
          <p:cNvPr id="190474" name="Text Box 10"/>
          <p:cNvSpPr txBox="1">
            <a:spLocks noChangeArrowheads="1"/>
          </p:cNvSpPr>
          <p:nvPr/>
        </p:nvSpPr>
        <p:spPr bwMode="auto">
          <a:xfrm>
            <a:off x="762000" y="2667000"/>
            <a:ext cx="7620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The loss of an electron from the nucleus in this way decreases the N/P ratio</a:t>
            </a:r>
          </a:p>
        </p:txBody>
      </p:sp>
      <p:sp>
        <p:nvSpPr>
          <p:cNvPr id="190475" name="Text Box 11"/>
          <p:cNvSpPr txBox="1">
            <a:spLocks noChangeArrowheads="1"/>
          </p:cNvSpPr>
          <p:nvPr/>
        </p:nvSpPr>
        <p:spPr bwMode="auto">
          <a:xfrm>
            <a:off x="762000" y="3581400"/>
            <a:ext cx="7620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dirty="0">
                <a:latin typeface="Arial" charset="0"/>
              </a:rPr>
              <a:t>If an isotope is not far from the stable N/P line one </a:t>
            </a:r>
            <a:r>
              <a:rPr lang="en-US" dirty="0">
                <a:latin typeface="Arial" charset="0"/>
                <a:sym typeface="Symbol" pitchFamily="18" charset="2"/>
              </a:rPr>
              <a:t> decay process may be sufficient.</a:t>
            </a:r>
          </a:p>
        </p:txBody>
      </p:sp>
      <p:sp>
        <p:nvSpPr>
          <p:cNvPr id="190476" name="Text Box 12"/>
          <p:cNvSpPr txBox="1">
            <a:spLocks noChangeArrowheads="1"/>
          </p:cNvSpPr>
          <p:nvPr/>
        </p:nvSpPr>
        <p:spPr bwMode="auto">
          <a:xfrm>
            <a:off x="771525" y="4343400"/>
            <a:ext cx="7620000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baseline="30000">
                <a:latin typeface="Arial" charset="0"/>
              </a:rPr>
              <a:t>14</a:t>
            </a:r>
            <a:r>
              <a:rPr lang="en-US">
                <a:latin typeface="Arial" charset="0"/>
              </a:rPr>
              <a:t>C          </a:t>
            </a:r>
            <a:r>
              <a:rPr lang="en-US" baseline="30000">
                <a:latin typeface="Arial" charset="0"/>
              </a:rPr>
              <a:t>14</a:t>
            </a:r>
            <a:r>
              <a:rPr lang="en-US">
                <a:latin typeface="Arial" charset="0"/>
              </a:rPr>
              <a:t>N  +    </a:t>
            </a:r>
            <a:r>
              <a:rPr lang="en-US" baseline="30000">
                <a:latin typeface="Arial" charset="0"/>
              </a:rPr>
              <a:t>0</a:t>
            </a:r>
            <a:r>
              <a:rPr lang="en-US">
                <a:latin typeface="Arial" charset="0"/>
              </a:rPr>
              <a:t>e  +    </a:t>
            </a:r>
            <a:r>
              <a:rPr lang="en-US">
                <a:latin typeface="Arial" charset="0"/>
                <a:sym typeface="Symbol" pitchFamily="18" charset="2"/>
              </a:rPr>
              <a:t></a:t>
            </a:r>
            <a:r>
              <a:rPr lang="en-US">
                <a:latin typeface="Arial" charset="0"/>
              </a:rPr>
              <a:t> 			             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>
              <a:latin typeface="Arial" charset="0"/>
              <a:sym typeface="Symbol" pitchFamily="18" charset="2"/>
            </a:endParaRPr>
          </a:p>
        </p:txBody>
      </p:sp>
      <p:sp>
        <p:nvSpPr>
          <p:cNvPr id="190477" name="Text Box 13"/>
          <p:cNvSpPr txBox="1">
            <a:spLocks noChangeArrowheads="1"/>
          </p:cNvSpPr>
          <p:nvPr/>
        </p:nvSpPr>
        <p:spPr bwMode="auto">
          <a:xfrm>
            <a:off x="914400" y="44958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Arial" charset="0"/>
              </a:rPr>
              <a:t>6</a:t>
            </a:r>
          </a:p>
        </p:txBody>
      </p:sp>
      <p:sp>
        <p:nvSpPr>
          <p:cNvPr id="190478" name="Text Box 14"/>
          <p:cNvSpPr txBox="1">
            <a:spLocks noChangeArrowheads="1"/>
          </p:cNvSpPr>
          <p:nvPr/>
        </p:nvSpPr>
        <p:spPr bwMode="auto">
          <a:xfrm>
            <a:off x="1828800" y="44958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>
                <a:latin typeface="Arial" charset="0"/>
              </a:rPr>
              <a:t>7</a:t>
            </a:r>
          </a:p>
        </p:txBody>
      </p:sp>
      <p:sp>
        <p:nvSpPr>
          <p:cNvPr id="190479" name="Text Box 15"/>
          <p:cNvSpPr txBox="1">
            <a:spLocks noChangeArrowheads="1"/>
          </p:cNvSpPr>
          <p:nvPr/>
        </p:nvSpPr>
        <p:spPr bwMode="auto">
          <a:xfrm>
            <a:off x="2514600" y="4572000"/>
            <a:ext cx="463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>
                <a:latin typeface="Arial" charset="0"/>
              </a:rPr>
              <a:t>-1</a:t>
            </a:r>
          </a:p>
        </p:txBody>
      </p:sp>
      <p:sp>
        <p:nvSpPr>
          <p:cNvPr id="190480" name="Text Box 16"/>
          <p:cNvSpPr txBox="1">
            <a:spLocks noChangeArrowheads="1"/>
          </p:cNvSpPr>
          <p:nvPr/>
        </p:nvSpPr>
        <p:spPr bwMode="auto">
          <a:xfrm>
            <a:off x="914400" y="5181600"/>
            <a:ext cx="76200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  <a:sym typeface="Symbol" pitchFamily="18" charset="2"/>
              </a:rPr>
              <a:t>Isotopes further from the stable line may undergo a series of  decays. The resultant nuclei become progressively more stable and have a longer half life period. </a:t>
            </a:r>
          </a:p>
        </p:txBody>
      </p:sp>
      <p:sp>
        <p:nvSpPr>
          <p:cNvPr id="190481" name="Line 17"/>
          <p:cNvSpPr>
            <a:spLocks noChangeShapeType="1"/>
          </p:cNvSpPr>
          <p:nvPr/>
        </p:nvSpPr>
        <p:spPr bwMode="auto">
          <a:xfrm>
            <a:off x="1447800" y="4648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AMH</a:t>
            </a:r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0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904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90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90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90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90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90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90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90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90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190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90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90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90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70" grpId="0" animBg="1"/>
      <p:bldP spid="190471" grpId="0"/>
      <p:bldP spid="190472" grpId="0"/>
      <p:bldP spid="190473" grpId="0"/>
      <p:bldP spid="190474" grpId="0"/>
      <p:bldP spid="190475" grpId="0"/>
      <p:bldP spid="190476" grpId="0"/>
      <p:bldP spid="190477" grpId="0"/>
      <p:bldP spid="190478" grpId="0"/>
      <p:bldP spid="190479" grpId="0"/>
      <p:bldP spid="190480" grpId="0"/>
      <p:bldP spid="19048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1914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For eg.</a:t>
            </a:r>
          </a:p>
        </p:txBody>
      </p:sp>
      <p:sp>
        <p:nvSpPr>
          <p:cNvPr id="191493" name="Text Box 5"/>
          <p:cNvSpPr txBox="1">
            <a:spLocks noChangeArrowheads="1"/>
          </p:cNvSpPr>
          <p:nvPr/>
        </p:nvSpPr>
        <p:spPr bwMode="auto">
          <a:xfrm>
            <a:off x="2290763" y="3424238"/>
            <a:ext cx="4572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56</a:t>
            </a:r>
          </a:p>
        </p:txBody>
      </p:sp>
      <p:sp>
        <p:nvSpPr>
          <p:cNvPr id="191494" name="Text Box 6"/>
          <p:cNvSpPr txBox="1">
            <a:spLocks noChangeArrowheads="1"/>
          </p:cNvSpPr>
          <p:nvPr/>
        </p:nvSpPr>
        <p:spPr bwMode="auto">
          <a:xfrm>
            <a:off x="4038600" y="3429000"/>
            <a:ext cx="4572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57</a:t>
            </a:r>
          </a:p>
        </p:txBody>
      </p:sp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5429250" y="3429000"/>
            <a:ext cx="4572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58</a:t>
            </a:r>
          </a:p>
        </p:txBody>
      </p:sp>
      <p:sp>
        <p:nvSpPr>
          <p:cNvPr id="191496" name="Text Box 8"/>
          <p:cNvSpPr txBox="1">
            <a:spLocks noChangeArrowheads="1"/>
          </p:cNvSpPr>
          <p:nvPr/>
        </p:nvSpPr>
        <p:spPr bwMode="auto">
          <a:xfrm>
            <a:off x="7010400" y="3414713"/>
            <a:ext cx="4572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59</a:t>
            </a:r>
          </a:p>
        </p:txBody>
      </p:sp>
      <p:sp>
        <p:nvSpPr>
          <p:cNvPr id="191497" name="Line 9"/>
          <p:cNvSpPr>
            <a:spLocks noChangeShapeType="1"/>
          </p:cNvSpPr>
          <p:nvPr/>
        </p:nvSpPr>
        <p:spPr bwMode="auto">
          <a:xfrm>
            <a:off x="2976563" y="3367088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498" name="Line 10"/>
          <p:cNvSpPr>
            <a:spLocks noChangeShapeType="1"/>
          </p:cNvSpPr>
          <p:nvPr/>
        </p:nvSpPr>
        <p:spPr bwMode="auto">
          <a:xfrm>
            <a:off x="4705350" y="3352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499" name="Line 11"/>
          <p:cNvSpPr>
            <a:spLocks noChangeShapeType="1"/>
          </p:cNvSpPr>
          <p:nvPr/>
        </p:nvSpPr>
        <p:spPr bwMode="auto">
          <a:xfrm>
            <a:off x="6229350" y="3338513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00" name="Text Box 12"/>
          <p:cNvSpPr txBox="1">
            <a:spLocks noChangeArrowheads="1"/>
          </p:cNvSpPr>
          <p:nvPr/>
        </p:nvSpPr>
        <p:spPr bwMode="auto">
          <a:xfrm>
            <a:off x="2976563" y="3443288"/>
            <a:ext cx="762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18 min</a:t>
            </a:r>
          </a:p>
        </p:txBody>
      </p:sp>
      <p:sp>
        <p:nvSpPr>
          <p:cNvPr id="191501" name="Text Box 13"/>
          <p:cNvSpPr txBox="1">
            <a:spLocks noChangeArrowheads="1"/>
          </p:cNvSpPr>
          <p:nvPr/>
        </p:nvSpPr>
        <p:spPr bwMode="auto">
          <a:xfrm>
            <a:off x="4652963" y="3443288"/>
            <a:ext cx="762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3.7 h</a:t>
            </a:r>
          </a:p>
        </p:txBody>
      </p:sp>
      <p:sp>
        <p:nvSpPr>
          <p:cNvPr id="191502" name="Text Box 14"/>
          <p:cNvSpPr txBox="1">
            <a:spLocks noChangeArrowheads="1"/>
          </p:cNvSpPr>
          <p:nvPr/>
        </p:nvSpPr>
        <p:spPr bwMode="auto">
          <a:xfrm>
            <a:off x="6157913" y="3443288"/>
            <a:ext cx="914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28</a:t>
            </a:r>
            <a:r>
              <a:rPr lang="en-US">
                <a:latin typeface="Arial" charset="0"/>
              </a:rPr>
              <a:t> </a:t>
            </a:r>
            <a:r>
              <a:rPr lang="en-US" baseline="30000">
                <a:latin typeface="Arial" charset="0"/>
              </a:rPr>
              <a:t>days</a:t>
            </a:r>
          </a:p>
        </p:txBody>
      </p:sp>
      <p:sp>
        <p:nvSpPr>
          <p:cNvPr id="191503" name="Text Box 15"/>
          <p:cNvSpPr txBox="1">
            <a:spLocks noChangeArrowheads="1"/>
          </p:cNvSpPr>
          <p:nvPr/>
        </p:nvSpPr>
        <p:spPr bwMode="auto">
          <a:xfrm>
            <a:off x="2286000" y="3124200"/>
            <a:ext cx="6781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141</a:t>
            </a:r>
            <a:r>
              <a:rPr lang="en-US">
                <a:latin typeface="Arial" charset="0"/>
              </a:rPr>
              <a:t>Ba                   </a:t>
            </a:r>
            <a:r>
              <a:rPr lang="en-US" baseline="30000">
                <a:latin typeface="Arial" charset="0"/>
              </a:rPr>
              <a:t>141</a:t>
            </a:r>
            <a:r>
              <a:rPr lang="en-US">
                <a:latin typeface="Arial" charset="0"/>
              </a:rPr>
              <a:t>La              </a:t>
            </a:r>
            <a:r>
              <a:rPr lang="en-US" baseline="30000">
                <a:latin typeface="Arial" charset="0"/>
              </a:rPr>
              <a:t>141</a:t>
            </a:r>
            <a:r>
              <a:rPr lang="en-US">
                <a:latin typeface="Arial" charset="0"/>
              </a:rPr>
              <a:t> Ce               </a:t>
            </a:r>
            <a:r>
              <a:rPr lang="en-US" baseline="30000">
                <a:latin typeface="Arial" charset="0"/>
              </a:rPr>
              <a:t>141</a:t>
            </a:r>
            <a:r>
              <a:rPr lang="en-US">
                <a:latin typeface="Arial" charset="0"/>
              </a:rPr>
              <a:t>Pr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9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9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91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9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9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91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91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91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91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91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91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1" grpId="0" build="p"/>
      <p:bldP spid="191493" grpId="0"/>
      <p:bldP spid="191494" grpId="0"/>
      <p:bldP spid="191495" grpId="0"/>
      <p:bldP spid="191496" grpId="0"/>
      <p:bldP spid="191497" grpId="0" animBg="1"/>
      <p:bldP spid="191498" grpId="0" animBg="1"/>
      <p:bldP spid="191499" grpId="0" animBg="1"/>
      <p:bldP spid="191500" grpId="0"/>
      <p:bldP spid="191501" grpId="0"/>
      <p:bldP spid="191502" grpId="0"/>
      <p:bldP spid="19150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/>
              <a:t>Neutron emission</a:t>
            </a: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1925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066800"/>
            <a:ext cx="7772400" cy="5029200"/>
          </a:xfrm>
        </p:spPr>
        <p:txBody>
          <a:bodyPr/>
          <a:lstStyle/>
          <a:p>
            <a:r>
              <a:rPr lang="en-US"/>
              <a:t>An obvious way to decrease the N/P ratio.</a:t>
            </a:r>
          </a:p>
          <a:p>
            <a:r>
              <a:rPr lang="en-US"/>
              <a:t>To emit a neutron from the nucleus.</a:t>
            </a:r>
          </a:p>
          <a:p>
            <a:r>
              <a:rPr lang="en-US"/>
              <a:t>This form of decay is rare and only takes place with highly energetic nuclei.</a:t>
            </a:r>
          </a:p>
          <a:p>
            <a:r>
              <a:rPr lang="en-US"/>
              <a:t>Because the binding energy of the neutron in the nucleus is high. </a:t>
            </a:r>
          </a:p>
          <a:p>
            <a:r>
              <a:rPr lang="en-US"/>
              <a:t>For eg.</a:t>
            </a:r>
          </a:p>
          <a:p>
            <a:endParaRPr lang="en-US"/>
          </a:p>
        </p:txBody>
      </p:sp>
      <p:sp>
        <p:nvSpPr>
          <p:cNvPr id="192516" name="Text Box 4"/>
          <p:cNvSpPr txBox="1">
            <a:spLocks noChangeArrowheads="1"/>
          </p:cNvSpPr>
          <p:nvPr/>
        </p:nvSpPr>
        <p:spPr bwMode="auto">
          <a:xfrm>
            <a:off x="1695450" y="5105400"/>
            <a:ext cx="3886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87</a:t>
            </a:r>
            <a:r>
              <a:rPr lang="en-US">
                <a:latin typeface="Arial" charset="0"/>
              </a:rPr>
              <a:t>Kr                        </a:t>
            </a:r>
            <a:r>
              <a:rPr lang="en-US" baseline="30000">
                <a:latin typeface="Arial" charset="0"/>
              </a:rPr>
              <a:t>86</a:t>
            </a:r>
            <a:r>
              <a:rPr lang="en-US">
                <a:latin typeface="Arial" charset="0"/>
              </a:rPr>
              <a:t>Kr      +  </a:t>
            </a:r>
            <a:r>
              <a:rPr lang="en-US" baseline="30000">
                <a:latin typeface="Arial" charset="0"/>
              </a:rPr>
              <a:t>1</a:t>
            </a: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192517" name="Text Box 5"/>
          <p:cNvSpPr txBox="1">
            <a:spLocks noChangeArrowheads="1"/>
          </p:cNvSpPr>
          <p:nvPr/>
        </p:nvSpPr>
        <p:spPr bwMode="auto">
          <a:xfrm>
            <a:off x="1695450" y="5334000"/>
            <a:ext cx="381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36</a:t>
            </a:r>
          </a:p>
        </p:txBody>
      </p:sp>
      <p:sp>
        <p:nvSpPr>
          <p:cNvPr id="192518" name="Text Box 6"/>
          <p:cNvSpPr txBox="1">
            <a:spLocks noChangeArrowheads="1"/>
          </p:cNvSpPr>
          <p:nvPr/>
        </p:nvSpPr>
        <p:spPr bwMode="auto">
          <a:xfrm>
            <a:off x="3643313" y="5334000"/>
            <a:ext cx="381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36</a:t>
            </a:r>
          </a:p>
        </p:txBody>
      </p:sp>
      <p:sp>
        <p:nvSpPr>
          <p:cNvPr id="192519" name="Text Box 7"/>
          <p:cNvSpPr txBox="1">
            <a:spLocks noChangeArrowheads="1"/>
          </p:cNvSpPr>
          <p:nvPr/>
        </p:nvSpPr>
        <p:spPr bwMode="auto">
          <a:xfrm>
            <a:off x="4667250" y="5334000"/>
            <a:ext cx="381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0</a:t>
            </a:r>
          </a:p>
        </p:txBody>
      </p:sp>
      <p:sp>
        <p:nvSpPr>
          <p:cNvPr id="192520" name="Line 8"/>
          <p:cNvSpPr>
            <a:spLocks noChangeShapeType="1"/>
          </p:cNvSpPr>
          <p:nvPr/>
        </p:nvSpPr>
        <p:spPr bwMode="auto">
          <a:xfrm>
            <a:off x="2609850" y="531495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2523" name="Text Box 11"/>
          <p:cNvSpPr txBox="1">
            <a:spLocks noChangeArrowheads="1"/>
          </p:cNvSpPr>
          <p:nvPr/>
        </p:nvSpPr>
        <p:spPr bwMode="auto">
          <a:xfrm>
            <a:off x="2990850" y="5943600"/>
            <a:ext cx="381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37</a:t>
            </a:r>
          </a:p>
        </p:txBody>
      </p:sp>
      <p:sp>
        <p:nvSpPr>
          <p:cNvPr id="192524" name="Text Box 12"/>
          <p:cNvSpPr txBox="1">
            <a:spLocks noChangeArrowheads="1"/>
          </p:cNvSpPr>
          <p:nvPr/>
        </p:nvSpPr>
        <p:spPr bwMode="auto">
          <a:xfrm>
            <a:off x="4976813" y="5929313"/>
            <a:ext cx="381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38</a:t>
            </a:r>
          </a:p>
        </p:txBody>
      </p:sp>
      <p:sp>
        <p:nvSpPr>
          <p:cNvPr id="192525" name="Line 13"/>
          <p:cNvSpPr>
            <a:spLocks noChangeShapeType="1"/>
          </p:cNvSpPr>
          <p:nvPr/>
        </p:nvSpPr>
        <p:spPr bwMode="auto">
          <a:xfrm>
            <a:off x="3752850" y="5943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2526" name="Text Box 14"/>
          <p:cNvSpPr txBox="1">
            <a:spLocks noChangeArrowheads="1"/>
          </p:cNvSpPr>
          <p:nvPr/>
        </p:nvSpPr>
        <p:spPr bwMode="auto">
          <a:xfrm>
            <a:off x="2895600" y="5562600"/>
            <a:ext cx="3886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87</a:t>
            </a:r>
            <a:r>
              <a:rPr lang="en-US">
                <a:latin typeface="Arial" charset="0"/>
              </a:rPr>
              <a:t>Rb                        </a:t>
            </a:r>
            <a:r>
              <a:rPr lang="en-US" baseline="30000">
                <a:latin typeface="Arial" charset="0"/>
              </a:rPr>
              <a:t>87</a:t>
            </a:r>
            <a:r>
              <a:rPr lang="en-US">
                <a:latin typeface="Arial" charset="0"/>
              </a:rPr>
              <a:t>Sr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2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92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9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9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9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9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92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92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92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92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92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4" grpId="0"/>
      <p:bldP spid="192515" grpId="0" build="p"/>
      <p:bldP spid="192516" grpId="0"/>
      <p:bldP spid="192517" grpId="0"/>
      <p:bldP spid="192518" grpId="0"/>
      <p:bldP spid="192519" grpId="0"/>
      <p:bldP spid="192520" grpId="0" animBg="1"/>
      <p:bldP spid="192523" grpId="0"/>
      <p:bldP spid="192524" grpId="0"/>
      <p:bldP spid="192525" grpId="0" animBg="1"/>
      <p:bldP spid="1925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193540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685800" y="304800"/>
            <a:ext cx="7772400" cy="5791200"/>
          </a:xfrm>
          <a:noFill/>
          <a:ln/>
        </p:spPr>
        <p:txBody>
          <a:bodyPr/>
          <a:lstStyle/>
          <a:p>
            <a:r>
              <a:rPr lang="en-US"/>
              <a:t>If the N/P ratio is too low, the isotope lies below the curve.</a:t>
            </a:r>
          </a:p>
          <a:p>
            <a:r>
              <a:rPr lang="en-US"/>
              <a:t>There are three possible modes of decay;</a:t>
            </a:r>
          </a:p>
          <a:p>
            <a:pPr lvl="2"/>
            <a:r>
              <a:rPr lang="en-US"/>
              <a:t>Positron emission</a:t>
            </a:r>
          </a:p>
          <a:p>
            <a:pPr lvl="2"/>
            <a:r>
              <a:rPr lang="en-US"/>
              <a:t>Orbital or K-electron capture</a:t>
            </a:r>
          </a:p>
          <a:p>
            <a:pPr lvl="2"/>
            <a:r>
              <a:rPr lang="en-US"/>
              <a:t>Proton emission</a:t>
            </a:r>
          </a:p>
          <a:p>
            <a:pPr lvl="2">
              <a:buFontTx/>
              <a:buNone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3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93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35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935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935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72400" cy="1143000"/>
          </a:xfrm>
        </p:spPr>
        <p:txBody>
          <a:bodyPr/>
          <a:lstStyle/>
          <a:p>
            <a:r>
              <a:rPr lang="en-US"/>
              <a:t>Positron emission</a:t>
            </a: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1945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143000"/>
            <a:ext cx="7772400" cy="4343400"/>
          </a:xfrm>
        </p:spPr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Positron or </a:t>
            </a:r>
            <a:r>
              <a:rPr lang="en-US">
                <a:solidFill>
                  <a:schemeClr val="accent2"/>
                </a:solidFill>
                <a:sym typeface="Symbol" pitchFamily="18" charset="2"/>
              </a:rPr>
              <a:t>+ radiation ( positive electron) result from the transformation of a proton to a neutron.</a:t>
            </a:r>
          </a:p>
          <a:p>
            <a:r>
              <a:rPr lang="en-US">
                <a:sym typeface="Symbol" pitchFamily="18" charset="2"/>
              </a:rPr>
              <a:t>The positron is  ejected from the nucleus together with an anti-neutrino </a:t>
            </a:r>
          </a:p>
          <a:p>
            <a:endParaRPr lang="en-US"/>
          </a:p>
        </p:txBody>
      </p:sp>
      <p:sp>
        <p:nvSpPr>
          <p:cNvPr id="194564" name="Text Box 4"/>
          <p:cNvSpPr txBox="1">
            <a:spLocks noChangeArrowheads="1"/>
          </p:cNvSpPr>
          <p:nvPr/>
        </p:nvSpPr>
        <p:spPr bwMode="auto">
          <a:xfrm>
            <a:off x="1371600" y="3810000"/>
            <a:ext cx="5029200" cy="8636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baseline="30000">
                <a:latin typeface="Arial" charset="0"/>
              </a:rPr>
              <a:t>1</a:t>
            </a:r>
            <a:r>
              <a:rPr lang="en-US" sz="2000">
                <a:latin typeface="Arial" charset="0"/>
              </a:rPr>
              <a:t>P                          </a:t>
            </a:r>
            <a:r>
              <a:rPr lang="en-US" sz="2000" baseline="30000">
                <a:latin typeface="Arial" charset="0"/>
              </a:rPr>
              <a:t>1</a:t>
            </a:r>
            <a:r>
              <a:rPr lang="en-US" sz="2000">
                <a:latin typeface="Arial" charset="0"/>
              </a:rPr>
              <a:t>n     +    </a:t>
            </a:r>
            <a:r>
              <a:rPr lang="en-US" sz="2000" baseline="30000">
                <a:latin typeface="Arial" charset="0"/>
              </a:rPr>
              <a:t>0</a:t>
            </a:r>
            <a:r>
              <a:rPr lang="en-US" sz="2000">
                <a:latin typeface="Arial" charset="0"/>
              </a:rPr>
              <a:t>e        +  </a:t>
            </a:r>
            <a:r>
              <a:rPr lang="en-US" sz="2000">
                <a:latin typeface="Arial" charset="0"/>
                <a:sym typeface="Symbol" pitchFamily="18" charset="2"/>
              </a:rPr>
              <a:t></a:t>
            </a:r>
          </a:p>
          <a:p>
            <a:pPr eaLnBrk="1" hangingPunct="1">
              <a:spcBef>
                <a:spcPct val="50000"/>
              </a:spcBef>
            </a:pPr>
            <a:endParaRPr lang="en-US" sz="2000">
              <a:latin typeface="Arial" charset="0"/>
            </a:endParaRPr>
          </a:p>
        </p:txBody>
      </p:sp>
      <p:sp>
        <p:nvSpPr>
          <p:cNvPr id="194565" name="Text Box 5"/>
          <p:cNvSpPr txBox="1">
            <a:spLocks noChangeArrowheads="1"/>
          </p:cNvSpPr>
          <p:nvPr/>
        </p:nvSpPr>
        <p:spPr bwMode="auto">
          <a:xfrm>
            <a:off x="5638800" y="3733800"/>
            <a:ext cx="228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-</a:t>
            </a:r>
          </a:p>
        </p:txBody>
      </p:sp>
      <p:sp>
        <p:nvSpPr>
          <p:cNvPr id="194566" name="Text Box 6"/>
          <p:cNvSpPr txBox="1">
            <a:spLocks noChangeArrowheads="1"/>
          </p:cNvSpPr>
          <p:nvPr/>
        </p:nvSpPr>
        <p:spPr bwMode="auto">
          <a:xfrm>
            <a:off x="4495800" y="4038600"/>
            <a:ext cx="228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</a:t>
            </a:r>
          </a:p>
        </p:txBody>
      </p:sp>
      <p:sp>
        <p:nvSpPr>
          <p:cNvPr id="194567" name="Text Box 7"/>
          <p:cNvSpPr txBox="1">
            <a:spLocks noChangeArrowheads="1"/>
          </p:cNvSpPr>
          <p:nvPr/>
        </p:nvSpPr>
        <p:spPr bwMode="auto">
          <a:xfrm>
            <a:off x="3429000" y="4038600"/>
            <a:ext cx="228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0</a:t>
            </a:r>
          </a:p>
        </p:txBody>
      </p:sp>
      <p:sp>
        <p:nvSpPr>
          <p:cNvPr id="194568" name="Text Box 8"/>
          <p:cNvSpPr txBox="1">
            <a:spLocks noChangeArrowheads="1"/>
          </p:cNvSpPr>
          <p:nvPr/>
        </p:nvSpPr>
        <p:spPr bwMode="auto">
          <a:xfrm>
            <a:off x="1371600" y="4038600"/>
            <a:ext cx="228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</a:t>
            </a:r>
          </a:p>
        </p:txBody>
      </p:sp>
      <p:sp>
        <p:nvSpPr>
          <p:cNvPr id="194569" name="Line 9"/>
          <p:cNvSpPr>
            <a:spLocks noChangeShapeType="1"/>
          </p:cNvSpPr>
          <p:nvPr/>
        </p:nvSpPr>
        <p:spPr bwMode="auto">
          <a:xfrm>
            <a:off x="1981200" y="40386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70" name="Text Box 10"/>
          <p:cNvSpPr txBox="1">
            <a:spLocks noChangeArrowheads="1"/>
          </p:cNvSpPr>
          <p:nvPr/>
        </p:nvSpPr>
        <p:spPr bwMode="auto">
          <a:xfrm>
            <a:off x="1295400" y="4876800"/>
            <a:ext cx="73152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>
                <a:latin typeface="Arial" charset="0"/>
              </a:rPr>
              <a:t>The anti-neutrino is to balance the spins.</a:t>
            </a:r>
          </a:p>
        </p:txBody>
      </p:sp>
      <p:sp>
        <p:nvSpPr>
          <p:cNvPr id="194571" name="Text Box 11"/>
          <p:cNvSpPr txBox="1">
            <a:spLocks noChangeArrowheads="1"/>
          </p:cNvSpPr>
          <p:nvPr/>
        </p:nvSpPr>
        <p:spPr bwMode="auto">
          <a:xfrm>
            <a:off x="838200" y="5629275"/>
            <a:ext cx="7620000" cy="83185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>
                <a:latin typeface="Arial" charset="0"/>
              </a:rPr>
              <a:t>The mass of the parent nucleus is greater than the mass of the daughter nucleus.</a:t>
            </a:r>
          </a:p>
        </p:txBody>
      </p:sp>
      <p:sp>
        <p:nvSpPr>
          <p:cNvPr id="194572" name="Text Box 12"/>
          <p:cNvSpPr txBox="1">
            <a:spLocks noChangeArrowheads="1"/>
          </p:cNvSpPr>
          <p:nvPr/>
        </p:nvSpPr>
        <p:spPr bwMode="auto">
          <a:xfrm>
            <a:off x="6019800" y="3124200"/>
            <a:ext cx="228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-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4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94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9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94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94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94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94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94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94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94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2" grpId="0"/>
      <p:bldP spid="194564" grpId="0" animBg="1"/>
      <p:bldP spid="194565" grpId="0"/>
      <p:bldP spid="194566" grpId="0"/>
      <p:bldP spid="194567" grpId="0"/>
      <p:bldP spid="194568" grpId="0"/>
      <p:bldP spid="194569" grpId="0" animBg="1"/>
      <p:bldP spid="194570" grpId="0" animBg="1"/>
      <p:bldP spid="194571" grpId="0" animBg="1"/>
      <p:bldP spid="19457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1955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838200"/>
            <a:ext cx="7772400" cy="5257800"/>
          </a:xfrm>
        </p:spPr>
        <p:txBody>
          <a:bodyPr/>
          <a:lstStyle/>
          <a:p>
            <a:r>
              <a:rPr lang="en-US" dirty="0"/>
              <a:t>This process increases the N/P ratio.</a:t>
            </a:r>
          </a:p>
          <a:p>
            <a:r>
              <a:rPr lang="en-US" dirty="0"/>
              <a:t>Some examples of positron emission are:</a:t>
            </a:r>
          </a:p>
          <a:p>
            <a:endParaRPr lang="en-US" dirty="0"/>
          </a:p>
        </p:txBody>
      </p:sp>
      <p:sp>
        <p:nvSpPr>
          <p:cNvPr id="195588" name="Text Box 4"/>
          <p:cNvSpPr txBox="1">
            <a:spLocks noChangeArrowheads="1"/>
          </p:cNvSpPr>
          <p:nvPr/>
        </p:nvSpPr>
        <p:spPr bwMode="auto">
          <a:xfrm>
            <a:off x="552450" y="26050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19</a:t>
            </a:r>
          </a:p>
        </p:txBody>
      </p:sp>
      <p:sp>
        <p:nvSpPr>
          <p:cNvPr id="195589" name="Text Box 5"/>
          <p:cNvSpPr txBox="1">
            <a:spLocks noChangeArrowheads="1"/>
          </p:cNvSpPr>
          <p:nvPr/>
        </p:nvSpPr>
        <p:spPr bwMode="auto">
          <a:xfrm>
            <a:off x="576263" y="302895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10</a:t>
            </a:r>
          </a:p>
        </p:txBody>
      </p:sp>
      <p:sp>
        <p:nvSpPr>
          <p:cNvPr id="195590" name="Text Box 6"/>
          <p:cNvSpPr txBox="1">
            <a:spLocks noChangeArrowheads="1"/>
          </p:cNvSpPr>
          <p:nvPr/>
        </p:nvSpPr>
        <p:spPr bwMode="auto">
          <a:xfrm>
            <a:off x="2743200" y="2595563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19</a:t>
            </a:r>
          </a:p>
        </p:txBody>
      </p:sp>
      <p:sp>
        <p:nvSpPr>
          <p:cNvPr id="195591" name="Text Box 7"/>
          <p:cNvSpPr txBox="1">
            <a:spLocks noChangeArrowheads="1"/>
          </p:cNvSpPr>
          <p:nvPr/>
        </p:nvSpPr>
        <p:spPr bwMode="auto">
          <a:xfrm>
            <a:off x="4267200" y="29718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</a:t>
            </a:r>
          </a:p>
        </p:txBody>
      </p:sp>
      <p:sp>
        <p:nvSpPr>
          <p:cNvPr id="195592" name="Text Box 8"/>
          <p:cNvSpPr txBox="1">
            <a:spLocks noChangeArrowheads="1"/>
          </p:cNvSpPr>
          <p:nvPr/>
        </p:nvSpPr>
        <p:spPr bwMode="auto">
          <a:xfrm>
            <a:off x="5819775" y="26670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-</a:t>
            </a:r>
          </a:p>
        </p:txBody>
      </p:sp>
      <p:sp>
        <p:nvSpPr>
          <p:cNvPr id="195593" name="Text Box 9"/>
          <p:cNvSpPr txBox="1">
            <a:spLocks noChangeArrowheads="1"/>
          </p:cNvSpPr>
          <p:nvPr/>
        </p:nvSpPr>
        <p:spPr bwMode="auto">
          <a:xfrm>
            <a:off x="4267200" y="26670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0</a:t>
            </a:r>
          </a:p>
        </p:txBody>
      </p:sp>
      <p:sp>
        <p:nvSpPr>
          <p:cNvPr id="195594" name="Text Box 10"/>
          <p:cNvSpPr txBox="1">
            <a:spLocks noChangeArrowheads="1"/>
          </p:cNvSpPr>
          <p:nvPr/>
        </p:nvSpPr>
        <p:spPr bwMode="auto">
          <a:xfrm>
            <a:off x="2862263" y="296227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9</a:t>
            </a:r>
          </a:p>
        </p:txBody>
      </p:sp>
      <p:sp>
        <p:nvSpPr>
          <p:cNvPr id="195595" name="Line 11"/>
          <p:cNvSpPr>
            <a:spLocks noChangeShapeType="1"/>
          </p:cNvSpPr>
          <p:nvPr/>
        </p:nvSpPr>
        <p:spPr bwMode="auto">
          <a:xfrm>
            <a:off x="1828800" y="3048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596" name="Rectangle 12"/>
          <p:cNvSpPr>
            <a:spLocks noChangeArrowheads="1"/>
          </p:cNvSpPr>
          <p:nvPr/>
        </p:nvSpPr>
        <p:spPr bwMode="auto">
          <a:xfrm>
            <a:off x="995363" y="3709988"/>
            <a:ext cx="4572000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dirty="0">
                <a:latin typeface="Arial" charset="0"/>
              </a:rPr>
              <a:t>C              B  +     e    +     </a:t>
            </a:r>
            <a:r>
              <a:rPr lang="en-US" dirty="0">
                <a:latin typeface="Arial" charset="0"/>
                <a:sym typeface="Symbol" pitchFamily="18" charset="2"/>
              </a:rPr>
              <a:t>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endParaRPr lang="en-US" sz="3200" dirty="0">
              <a:latin typeface="Arial" charset="0"/>
            </a:endParaRPr>
          </a:p>
        </p:txBody>
      </p:sp>
      <p:sp>
        <p:nvSpPr>
          <p:cNvPr id="195597" name="Text Box 13"/>
          <p:cNvSpPr txBox="1">
            <a:spLocks noChangeArrowheads="1"/>
          </p:cNvSpPr>
          <p:nvPr/>
        </p:nvSpPr>
        <p:spPr bwMode="auto">
          <a:xfrm>
            <a:off x="742950" y="356235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11</a:t>
            </a:r>
          </a:p>
        </p:txBody>
      </p:sp>
      <p:sp>
        <p:nvSpPr>
          <p:cNvPr id="195598" name="Text Box 14"/>
          <p:cNvSpPr txBox="1">
            <a:spLocks noChangeArrowheads="1"/>
          </p:cNvSpPr>
          <p:nvPr/>
        </p:nvSpPr>
        <p:spPr bwMode="auto">
          <a:xfrm>
            <a:off x="1819275" y="3567113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11</a:t>
            </a:r>
          </a:p>
        </p:txBody>
      </p:sp>
      <p:sp>
        <p:nvSpPr>
          <p:cNvPr id="195599" name="Text Box 15"/>
          <p:cNvSpPr txBox="1">
            <a:spLocks noChangeArrowheads="1"/>
          </p:cNvSpPr>
          <p:nvPr/>
        </p:nvSpPr>
        <p:spPr bwMode="auto">
          <a:xfrm>
            <a:off x="2705100" y="356235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0</a:t>
            </a:r>
          </a:p>
        </p:txBody>
      </p:sp>
      <p:sp>
        <p:nvSpPr>
          <p:cNvPr id="195600" name="Text Box 16"/>
          <p:cNvSpPr txBox="1">
            <a:spLocks noChangeArrowheads="1"/>
          </p:cNvSpPr>
          <p:nvPr/>
        </p:nvSpPr>
        <p:spPr bwMode="auto">
          <a:xfrm>
            <a:off x="2695575" y="38481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</a:t>
            </a:r>
          </a:p>
        </p:txBody>
      </p:sp>
      <p:sp>
        <p:nvSpPr>
          <p:cNvPr id="195601" name="Text Box 17"/>
          <p:cNvSpPr txBox="1">
            <a:spLocks noChangeArrowheads="1"/>
          </p:cNvSpPr>
          <p:nvPr/>
        </p:nvSpPr>
        <p:spPr bwMode="auto">
          <a:xfrm>
            <a:off x="3624263" y="35814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-</a:t>
            </a:r>
          </a:p>
        </p:txBody>
      </p:sp>
      <p:sp>
        <p:nvSpPr>
          <p:cNvPr id="195602" name="Text Box 18"/>
          <p:cNvSpPr txBox="1">
            <a:spLocks noChangeArrowheads="1"/>
          </p:cNvSpPr>
          <p:nvPr/>
        </p:nvSpPr>
        <p:spPr bwMode="auto">
          <a:xfrm>
            <a:off x="1900238" y="38242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5</a:t>
            </a:r>
          </a:p>
        </p:txBody>
      </p:sp>
      <p:sp>
        <p:nvSpPr>
          <p:cNvPr id="195603" name="Text Box 19"/>
          <p:cNvSpPr txBox="1">
            <a:spLocks noChangeArrowheads="1"/>
          </p:cNvSpPr>
          <p:nvPr/>
        </p:nvSpPr>
        <p:spPr bwMode="auto">
          <a:xfrm>
            <a:off x="823913" y="38242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6</a:t>
            </a:r>
          </a:p>
        </p:txBody>
      </p:sp>
      <p:sp>
        <p:nvSpPr>
          <p:cNvPr id="195604" name="Line 20"/>
          <p:cNvSpPr>
            <a:spLocks noChangeShapeType="1"/>
          </p:cNvSpPr>
          <p:nvPr/>
        </p:nvSpPr>
        <p:spPr bwMode="auto">
          <a:xfrm>
            <a:off x="1447800" y="3886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05" name="Rectangle 21"/>
          <p:cNvSpPr>
            <a:spLocks noChangeArrowheads="1"/>
          </p:cNvSpPr>
          <p:nvPr/>
        </p:nvSpPr>
        <p:spPr bwMode="auto">
          <a:xfrm>
            <a:off x="762000" y="2743200"/>
            <a:ext cx="5105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sz="2800" dirty="0">
                <a:latin typeface="Times"/>
              </a:rPr>
              <a:t>Ne  </a:t>
            </a:r>
            <a:r>
              <a:rPr lang="en-US" sz="2800" dirty="0" smtClean="0">
                <a:latin typeface="Times"/>
              </a:rPr>
              <a:t>                      </a:t>
            </a:r>
            <a:r>
              <a:rPr lang="en-US" sz="2800" dirty="0">
                <a:latin typeface="Times"/>
              </a:rPr>
              <a:t>F  +     e    +     </a:t>
            </a:r>
            <a:r>
              <a:rPr lang="en-US" sz="2800" dirty="0">
                <a:latin typeface="Times"/>
                <a:sym typeface="Symbol" pitchFamily="18" charset="2"/>
              </a:rPr>
              <a:t>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9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95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95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9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9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95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95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95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95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95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95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95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95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95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19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9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19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19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8" grpId="0"/>
      <p:bldP spid="195589" grpId="0"/>
      <p:bldP spid="195590" grpId="0"/>
      <p:bldP spid="195591" grpId="0"/>
      <p:bldP spid="195592" grpId="0"/>
      <p:bldP spid="195593" grpId="0"/>
      <p:bldP spid="195594" grpId="0"/>
      <p:bldP spid="195595" grpId="0" animBg="1"/>
      <p:bldP spid="195596" grpId="0"/>
      <p:bldP spid="195597" grpId="0"/>
      <p:bldP spid="195598" grpId="0"/>
      <p:bldP spid="195599" grpId="0"/>
      <p:bldP spid="195600" grpId="0"/>
      <p:bldP spid="195601" grpId="0"/>
      <p:bldP spid="195602" grpId="0"/>
      <p:bldP spid="195603" grpId="0"/>
      <p:bldP spid="195604" grpId="0" animBg="1"/>
      <p:bldP spid="19560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Orbital or K-electron capture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96612" name="Rectangle 4"/>
          <p:cNvSpPr>
            <a:spLocks noGrp="1" noChangeArrowheads="1"/>
          </p:cNvSpPr>
          <p:nvPr>
            <p:ph sz="quarter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The nucleus may capture an orbital electron and thus convert a proton into a neutron with the emission of a neutrino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lvl="1"/>
            <a:r>
              <a:rPr lang="en-US" dirty="0"/>
              <a:t>       P   +    e        </a:t>
            </a:r>
            <a:r>
              <a:rPr lang="en-US" dirty="0" smtClean="0"/>
              <a:t>           </a:t>
            </a:r>
            <a:r>
              <a:rPr lang="en-US" dirty="0"/>
              <a:t>n     +         </a:t>
            </a:r>
            <a:r>
              <a:rPr lang="en-US" dirty="0">
                <a:sym typeface="Symbol" pitchFamily="18" charset="2"/>
              </a:rPr>
              <a:t></a:t>
            </a:r>
            <a:r>
              <a:rPr lang="en-US" dirty="0"/>
              <a:t>    </a:t>
            </a:r>
          </a:p>
          <a:p>
            <a:endParaRPr lang="en-US" dirty="0"/>
          </a:p>
        </p:txBody>
      </p:sp>
      <p:sp>
        <p:nvSpPr>
          <p:cNvPr id="196621" name="Text Box 13"/>
          <p:cNvSpPr txBox="1">
            <a:spLocks noChangeArrowheads="1"/>
          </p:cNvSpPr>
          <p:nvPr/>
        </p:nvSpPr>
        <p:spPr bwMode="auto">
          <a:xfrm>
            <a:off x="1600200" y="25146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dirty="0">
                <a:latin typeface="Arial" charset="0"/>
              </a:rPr>
              <a:t>1</a:t>
            </a:r>
          </a:p>
        </p:txBody>
      </p:sp>
      <p:sp>
        <p:nvSpPr>
          <p:cNvPr id="196622" name="Text Box 14"/>
          <p:cNvSpPr txBox="1">
            <a:spLocks noChangeArrowheads="1"/>
          </p:cNvSpPr>
          <p:nvPr/>
        </p:nvSpPr>
        <p:spPr bwMode="auto">
          <a:xfrm>
            <a:off x="2514600" y="3138487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-1</a:t>
            </a:r>
          </a:p>
        </p:txBody>
      </p:sp>
      <p:sp>
        <p:nvSpPr>
          <p:cNvPr id="196623" name="Rectangle 15"/>
          <p:cNvSpPr>
            <a:spLocks noChangeArrowheads="1"/>
          </p:cNvSpPr>
          <p:nvPr/>
        </p:nvSpPr>
        <p:spPr bwMode="auto">
          <a:xfrm>
            <a:off x="6858000" y="38862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dirty="0" smtClean="0">
                <a:latin typeface="Arial" charset="0"/>
              </a:rPr>
              <a:t>0</a:t>
            </a:r>
            <a:endParaRPr lang="en-US" dirty="0">
              <a:latin typeface="Arial" charset="0"/>
            </a:endParaRPr>
          </a:p>
        </p:txBody>
      </p:sp>
      <p:sp>
        <p:nvSpPr>
          <p:cNvPr id="196624" name="Rectangle 16"/>
          <p:cNvSpPr>
            <a:spLocks noChangeArrowheads="1"/>
          </p:cNvSpPr>
          <p:nvPr/>
        </p:nvSpPr>
        <p:spPr bwMode="auto">
          <a:xfrm>
            <a:off x="2625725" y="2517246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dirty="0">
                <a:latin typeface="Arial" charset="0"/>
              </a:rPr>
              <a:t>0</a:t>
            </a:r>
          </a:p>
        </p:txBody>
      </p:sp>
      <p:sp>
        <p:nvSpPr>
          <p:cNvPr id="196625" name="Line 17"/>
          <p:cNvSpPr>
            <a:spLocks noChangeShapeType="1"/>
          </p:cNvSpPr>
          <p:nvPr/>
        </p:nvSpPr>
        <p:spPr bwMode="auto">
          <a:xfrm>
            <a:off x="3505200" y="3048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26" name="Text Box 18"/>
          <p:cNvSpPr txBox="1">
            <a:spLocks noChangeArrowheads="1"/>
          </p:cNvSpPr>
          <p:nvPr/>
        </p:nvSpPr>
        <p:spPr bwMode="auto">
          <a:xfrm>
            <a:off x="3962400" y="2514599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</a:t>
            </a:r>
          </a:p>
        </p:txBody>
      </p:sp>
      <p:sp>
        <p:nvSpPr>
          <p:cNvPr id="196627" name="Text Box 19"/>
          <p:cNvSpPr txBox="1">
            <a:spLocks noChangeArrowheads="1"/>
          </p:cNvSpPr>
          <p:nvPr/>
        </p:nvSpPr>
        <p:spPr bwMode="auto">
          <a:xfrm>
            <a:off x="990600" y="4495800"/>
            <a:ext cx="6934200" cy="6508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This process increases the N/P ratio. Usually an electron from the shell closest to the nucleus is captured </a:t>
            </a:r>
          </a:p>
        </p:txBody>
      </p:sp>
      <p:sp>
        <p:nvSpPr>
          <p:cNvPr id="196628" name="Text Box 20"/>
          <p:cNvSpPr txBox="1">
            <a:spLocks noChangeArrowheads="1"/>
          </p:cNvSpPr>
          <p:nvPr/>
        </p:nvSpPr>
        <p:spPr bwMode="auto">
          <a:xfrm>
            <a:off x="1295400" y="5562600"/>
            <a:ext cx="7162800" cy="650875"/>
          </a:xfrm>
          <a:prstGeom prst="rect">
            <a:avLst/>
          </a:prstGeom>
          <a:noFill/>
          <a:ln w="9525">
            <a:solidFill>
              <a:srgbClr val="00FF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This is called the K shell, and the process is called K electron capture </a:t>
            </a:r>
          </a:p>
        </p:txBody>
      </p:sp>
      <p:sp>
        <p:nvSpPr>
          <p:cNvPr id="196629" name="Text Box 21"/>
          <p:cNvSpPr txBox="1">
            <a:spLocks noChangeArrowheads="1"/>
          </p:cNvSpPr>
          <p:nvPr/>
        </p:nvSpPr>
        <p:spPr bwMode="auto">
          <a:xfrm>
            <a:off x="1608667" y="3132667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dirty="0">
                <a:latin typeface="Arial" charset="0"/>
              </a:rPr>
              <a:t>1</a:t>
            </a:r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4000500" y="3174999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dirty="0">
                <a:latin typeface="Arial" charset="0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6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96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96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96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96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96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96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9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966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9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9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19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0" grpId="0"/>
      <p:bldP spid="196621" grpId="0"/>
      <p:bldP spid="196622" grpId="0"/>
      <p:bldP spid="196623" grpId="0"/>
      <p:bldP spid="196624" grpId="0"/>
      <p:bldP spid="196625" grpId="0" animBg="1"/>
      <p:bldP spid="196626" grpId="0"/>
      <p:bldP spid="196627" grpId="0" animBg="1"/>
      <p:bldP spid="196628" grpId="0" animBg="1"/>
      <p:bldP spid="196629" grpId="0"/>
      <p:bldP spid="1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976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Eg:</a:t>
            </a:r>
          </a:p>
          <a:p>
            <a:endParaRPr lang="en-US"/>
          </a:p>
        </p:txBody>
      </p:sp>
      <p:sp>
        <p:nvSpPr>
          <p:cNvPr id="197636" name="Text Box 4"/>
          <p:cNvSpPr txBox="1">
            <a:spLocks noChangeArrowheads="1"/>
          </p:cNvSpPr>
          <p:nvPr/>
        </p:nvSpPr>
        <p:spPr bwMode="auto">
          <a:xfrm>
            <a:off x="2667000" y="31242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4</a:t>
            </a:r>
          </a:p>
        </p:txBody>
      </p:sp>
      <p:sp>
        <p:nvSpPr>
          <p:cNvPr id="197637" name="Text Box 5"/>
          <p:cNvSpPr txBox="1">
            <a:spLocks noChangeArrowheads="1"/>
          </p:cNvSpPr>
          <p:nvPr/>
        </p:nvSpPr>
        <p:spPr bwMode="auto">
          <a:xfrm>
            <a:off x="5791200" y="31384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5</a:t>
            </a:r>
          </a:p>
        </p:txBody>
      </p:sp>
      <p:sp>
        <p:nvSpPr>
          <p:cNvPr id="197638" name="Text Box 6"/>
          <p:cNvSpPr txBox="1">
            <a:spLocks noChangeArrowheads="1"/>
          </p:cNvSpPr>
          <p:nvPr/>
        </p:nvSpPr>
        <p:spPr bwMode="auto">
          <a:xfrm>
            <a:off x="5786438" y="27574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7</a:t>
            </a:r>
          </a:p>
        </p:txBody>
      </p:sp>
      <p:sp>
        <p:nvSpPr>
          <p:cNvPr id="197639" name="Text Box 7"/>
          <p:cNvSpPr txBox="1">
            <a:spLocks noChangeArrowheads="1"/>
          </p:cNvSpPr>
          <p:nvPr/>
        </p:nvSpPr>
        <p:spPr bwMode="auto">
          <a:xfrm>
            <a:off x="2667000" y="27432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7</a:t>
            </a:r>
          </a:p>
        </p:txBody>
      </p:sp>
      <p:sp>
        <p:nvSpPr>
          <p:cNvPr id="197640" name="Text Box 8"/>
          <p:cNvSpPr txBox="1">
            <a:spLocks noChangeArrowheads="1"/>
          </p:cNvSpPr>
          <p:nvPr/>
        </p:nvSpPr>
        <p:spPr bwMode="auto">
          <a:xfrm>
            <a:off x="3795713" y="28336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0</a:t>
            </a:r>
          </a:p>
        </p:txBody>
      </p:sp>
      <p:sp>
        <p:nvSpPr>
          <p:cNvPr id="197641" name="Text Box 9"/>
          <p:cNvSpPr txBox="1">
            <a:spLocks noChangeArrowheads="1"/>
          </p:cNvSpPr>
          <p:nvPr/>
        </p:nvSpPr>
        <p:spPr bwMode="auto">
          <a:xfrm>
            <a:off x="3714750" y="3071813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-1</a:t>
            </a:r>
          </a:p>
        </p:txBody>
      </p:sp>
      <p:sp>
        <p:nvSpPr>
          <p:cNvPr id="197642" name="Line 10"/>
          <p:cNvSpPr>
            <a:spLocks noChangeShapeType="1"/>
          </p:cNvSpPr>
          <p:nvPr/>
        </p:nvSpPr>
        <p:spPr bwMode="auto">
          <a:xfrm>
            <a:off x="4633913" y="3138488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7643" name="Rectangle 11"/>
          <p:cNvSpPr>
            <a:spLocks noChangeArrowheads="1"/>
          </p:cNvSpPr>
          <p:nvPr/>
        </p:nvSpPr>
        <p:spPr bwMode="auto">
          <a:xfrm>
            <a:off x="2895600" y="2819400"/>
            <a:ext cx="3562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latin typeface="Times"/>
              </a:rPr>
              <a:t>Be   +  e                     Li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9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9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97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97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97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97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97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6" grpId="0"/>
      <p:bldP spid="197637" grpId="0"/>
      <p:bldP spid="197638" grpId="0"/>
      <p:bldP spid="197639" grpId="0"/>
      <p:bldP spid="197640" grpId="0"/>
      <p:bldP spid="197641" grpId="0"/>
      <p:bldP spid="197642" grpId="0" animBg="1"/>
      <p:bldP spid="19764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Proton emission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19865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Except for nuclei in a very high energy state, proton emission is unlikely as the energy needed to remove a proton is about 8 MeV.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9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8" grpId="0"/>
      <p:bldP spid="198659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sz="4000"/>
              <a:t>Gamma radiation</a:t>
            </a:r>
            <a:br>
              <a:rPr lang="en-US" sz="4000"/>
            </a:br>
            <a:endParaRPr lang="en-US" sz="40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1996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371600"/>
            <a:ext cx="7848600" cy="5791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/>
              <a:t>Immediately following any nuclear change, the neutrons and protons often have not arranged themselves in their most stable positions.</a:t>
            </a:r>
          </a:p>
          <a:p>
            <a:pPr>
              <a:lnSpc>
                <a:spcPct val="80000"/>
              </a:lnSpc>
            </a:pPr>
            <a:r>
              <a:rPr lang="en-US" sz="2800"/>
              <a:t>The newly formed daughter nucleus is thus in an excited state, and has a higher energy than the ground state.</a:t>
            </a:r>
          </a:p>
          <a:p>
            <a:pPr>
              <a:lnSpc>
                <a:spcPct val="80000"/>
              </a:lnSpc>
            </a:pPr>
            <a:r>
              <a:rPr lang="en-US" sz="2800"/>
              <a:t>Generally the nucleus rearrange themselves quite rapidly, thus lowering the energy of the daughter nucleus to the ground state.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9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2" grpId="0"/>
      <p:bldP spid="19968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2406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The corresponding amount of energy is emitted, in the range of 0.1 – 1 MeV.</a:t>
            </a:r>
          </a:p>
          <a:p>
            <a:r>
              <a:rPr lang="en-US"/>
              <a:t>This is emitted as electromagnetic radiation of very short wavelength, called </a:t>
            </a:r>
            <a:r>
              <a:rPr lang="en-US">
                <a:sym typeface="Symbol" pitchFamily="18" charset="2"/>
              </a:rPr>
              <a:t> rays.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42913" y="103188"/>
            <a:ext cx="8243887" cy="701675"/>
          </a:xfrm>
        </p:spPr>
        <p:txBody>
          <a:bodyPr>
            <a:normAutofit fontScale="90000"/>
          </a:bodyPr>
          <a:lstStyle/>
          <a:p>
            <a:r>
              <a:rPr lang="en-US" altLang="en-US" sz="4000" b="1">
                <a:solidFill>
                  <a:srgbClr val="FF0000"/>
                </a:solidFill>
                <a:latin typeface="Comic Sans MS" pitchFamily="66" charset="0"/>
              </a:rPr>
              <a:t>Penetrating Ability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46</a:t>
            </a:fld>
            <a:endParaRPr lang="en-US"/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50" y="1587500"/>
            <a:ext cx="7429500" cy="368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724" name="Line 4"/>
          <p:cNvSpPr>
            <a:spLocks noChangeShapeType="1"/>
          </p:cNvSpPr>
          <p:nvPr/>
        </p:nvSpPr>
        <p:spPr bwMode="auto">
          <a:xfrm>
            <a:off x="787400" y="1371600"/>
            <a:ext cx="71120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3600" smtClean="0">
                <a:solidFill>
                  <a:srgbClr val="FF0000"/>
                </a:solidFill>
              </a:rPr>
              <a:t>Penetrating Power of Different Types of Ionizing Radiation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47</a:t>
            </a:fld>
            <a:endParaRPr lang="en-US"/>
          </a:p>
        </p:txBody>
      </p:sp>
      <p:pic>
        <p:nvPicPr>
          <p:cNvPr id="5" name="Picture 5" descr="ral2-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133600"/>
            <a:ext cx="8079623" cy="3581400"/>
          </a:xfrm>
          <a:prstGeom prst="rect">
            <a:avLst/>
          </a:prstGeom>
          <a:noFill/>
        </p:spPr>
      </p:pic>
    </p:spTree>
  </p:cSld>
  <p:clrMapOvr>
    <a:masterClrMapping/>
  </p:clrMapOvr>
  <p:transition>
    <p:cover dir="r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85800"/>
          </a:xfrm>
        </p:spPr>
        <p:txBody>
          <a:bodyPr/>
          <a:lstStyle/>
          <a:p>
            <a:r>
              <a:rPr lang="en-US" altLang="en-US" sz="3600" b="1">
                <a:solidFill>
                  <a:srgbClr val="FF0000"/>
                </a:solidFill>
                <a:latin typeface="Comic Sans MS" pitchFamily="66" charset="0"/>
              </a:rPr>
              <a:t>Balancing Nuclear Reactions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32775" name="Line 7"/>
          <p:cNvSpPr>
            <a:spLocks noChangeShapeType="1"/>
          </p:cNvSpPr>
          <p:nvPr/>
        </p:nvSpPr>
        <p:spPr bwMode="auto">
          <a:xfrm>
            <a:off x="787400" y="1143000"/>
            <a:ext cx="71120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76" name="Text Box 8"/>
          <p:cNvSpPr txBox="1">
            <a:spLocks noChangeArrowheads="1"/>
          </p:cNvSpPr>
          <p:nvPr/>
        </p:nvSpPr>
        <p:spPr bwMode="auto">
          <a:xfrm>
            <a:off x="228600" y="1219200"/>
            <a:ext cx="8686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sz="3200" b="1" dirty="0" smtClean="0">
                <a:solidFill>
                  <a:srgbClr val="000066"/>
                </a:solidFill>
                <a:latin typeface="Times"/>
              </a:rPr>
              <a:t>       In </a:t>
            </a:r>
            <a:r>
              <a:rPr lang="en-US" sz="3200" b="1" dirty="0">
                <a:solidFill>
                  <a:srgbClr val="000066"/>
                </a:solidFill>
                <a:latin typeface="Times"/>
              </a:rPr>
              <a:t>the </a:t>
            </a:r>
            <a:r>
              <a:rPr lang="en-US" sz="3200" b="1" dirty="0">
                <a:solidFill>
                  <a:srgbClr val="FF0000"/>
                </a:solidFill>
                <a:latin typeface="Times"/>
              </a:rPr>
              <a:t>reactants</a:t>
            </a:r>
            <a:r>
              <a:rPr lang="en-US" sz="3200" b="1" dirty="0">
                <a:solidFill>
                  <a:srgbClr val="000066"/>
                </a:solidFill>
                <a:latin typeface="Times"/>
              </a:rPr>
              <a:t> (starting materials – </a:t>
            </a:r>
            <a:r>
              <a:rPr lang="en-US" sz="3200" b="1" dirty="0" smtClean="0">
                <a:solidFill>
                  <a:srgbClr val="000066"/>
                </a:solidFill>
                <a:latin typeface="Times"/>
              </a:rPr>
              <a:t>   	on the </a:t>
            </a:r>
            <a:r>
              <a:rPr lang="en-US" sz="3200" b="1" dirty="0">
                <a:solidFill>
                  <a:srgbClr val="000066"/>
                </a:solidFill>
                <a:latin typeface="Times"/>
              </a:rPr>
              <a:t>left side of an equation) and </a:t>
            </a:r>
            <a:r>
              <a:rPr lang="en-US" sz="3200" b="1" dirty="0" smtClean="0">
                <a:solidFill>
                  <a:srgbClr val="000066"/>
                </a:solidFill>
                <a:latin typeface="Times"/>
              </a:rPr>
              <a:t>	</a:t>
            </a:r>
            <a:r>
              <a:rPr lang="en-US" sz="3200" b="1" dirty="0" smtClean="0">
                <a:solidFill>
                  <a:srgbClr val="FF0000"/>
                </a:solidFill>
                <a:latin typeface="Times"/>
              </a:rPr>
              <a:t>products</a:t>
            </a:r>
            <a:r>
              <a:rPr lang="en-US" sz="3200" b="1" dirty="0" smtClean="0">
                <a:solidFill>
                  <a:srgbClr val="000066"/>
                </a:solidFill>
                <a:latin typeface="Times"/>
              </a:rPr>
              <a:t> </a:t>
            </a:r>
            <a:r>
              <a:rPr lang="en-US" sz="3200" b="1" dirty="0">
                <a:solidFill>
                  <a:srgbClr val="000066"/>
                </a:solidFill>
                <a:latin typeface="Times"/>
              </a:rPr>
              <a:t>(final products – on the right </a:t>
            </a:r>
            <a:r>
              <a:rPr lang="en-US" sz="3200" b="1" dirty="0" smtClean="0">
                <a:solidFill>
                  <a:srgbClr val="000066"/>
                </a:solidFill>
                <a:latin typeface="Times"/>
              </a:rPr>
              <a:t>	side </a:t>
            </a:r>
            <a:r>
              <a:rPr lang="en-US" sz="3200" b="1" dirty="0">
                <a:solidFill>
                  <a:srgbClr val="000066"/>
                </a:solidFill>
                <a:latin typeface="Times"/>
              </a:rPr>
              <a:t>of an equation)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>
                <a:solidFill>
                  <a:srgbClr val="000066"/>
                </a:solidFill>
                <a:latin typeface="Times"/>
              </a:rPr>
              <a:t>	</a:t>
            </a:r>
            <a:r>
              <a:rPr lang="en-US" sz="3200" b="1" dirty="0">
                <a:solidFill>
                  <a:srgbClr val="FF0000"/>
                </a:solidFill>
                <a:latin typeface="Times"/>
              </a:rPr>
              <a:t>Atomic numbers must balance</a:t>
            </a:r>
          </a:p>
          <a:p>
            <a:r>
              <a:rPr lang="en-US" sz="3200" b="1" dirty="0">
                <a:solidFill>
                  <a:srgbClr val="FF0000"/>
                </a:solidFill>
                <a:latin typeface="Times"/>
              </a:rPr>
              <a:t>			and</a:t>
            </a:r>
          </a:p>
          <a:p>
            <a:pPr>
              <a:buFont typeface="Arial" pitchFamily="34" charset="0"/>
              <a:buChar char="•"/>
            </a:pPr>
            <a:r>
              <a:rPr lang="en-US" sz="3200" b="1" dirty="0">
                <a:solidFill>
                  <a:srgbClr val="FF0000"/>
                </a:solidFill>
                <a:latin typeface="Times"/>
              </a:rPr>
              <a:t>	Mass numbers must balance</a:t>
            </a:r>
          </a:p>
          <a:p>
            <a:endParaRPr lang="en-US" sz="3200" b="1" dirty="0">
              <a:solidFill>
                <a:srgbClr val="000066"/>
              </a:solidFill>
              <a:latin typeface="Times"/>
            </a:endParaRPr>
          </a:p>
          <a:p>
            <a:pPr>
              <a:buFontTx/>
              <a:buChar char="•"/>
            </a:pPr>
            <a:r>
              <a:rPr lang="en-US" sz="3200" b="1" dirty="0" smtClean="0">
                <a:solidFill>
                  <a:srgbClr val="000066"/>
                </a:solidFill>
                <a:latin typeface="Times"/>
              </a:rPr>
              <a:t>      Use </a:t>
            </a:r>
            <a:r>
              <a:rPr lang="en-US" sz="3200" b="1" dirty="0">
                <a:solidFill>
                  <a:srgbClr val="000066"/>
                </a:solidFill>
                <a:latin typeface="Times"/>
              </a:rPr>
              <a:t>a particle or isotope to fill in the </a:t>
            </a:r>
            <a:r>
              <a:rPr lang="en-US" sz="3200" b="1" dirty="0" smtClean="0">
                <a:solidFill>
                  <a:srgbClr val="000066"/>
                </a:solidFill>
                <a:latin typeface="Times"/>
              </a:rPr>
              <a:t>	missing </a:t>
            </a:r>
            <a:r>
              <a:rPr lang="en-US" sz="3200" b="1" dirty="0">
                <a:solidFill>
                  <a:srgbClr val="000066"/>
                </a:solidFill>
                <a:latin typeface="Times"/>
              </a:rPr>
              <a:t>protons and neutrons</a:t>
            </a:r>
            <a:endParaRPr lang="en-US" sz="28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/>
      <p:bldP spid="3277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85800"/>
          </a:xfrm>
        </p:spPr>
        <p:txBody>
          <a:bodyPr/>
          <a:lstStyle/>
          <a:p>
            <a:r>
              <a:rPr lang="en-US" altLang="en-US" sz="3600" b="1">
                <a:solidFill>
                  <a:srgbClr val="FF0000"/>
                </a:solidFill>
                <a:latin typeface="Comic Sans MS" pitchFamily="66" charset="0"/>
              </a:rPr>
              <a:t>Nuclear Reactions</a:t>
            </a:r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962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219200"/>
            <a:ext cx="7772400" cy="609600"/>
          </a:xfrm>
        </p:spPr>
        <p:txBody>
          <a:bodyPr/>
          <a:lstStyle/>
          <a:p>
            <a:r>
              <a:rPr lang="en-US" altLang="en-US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Alpha emission</a:t>
            </a:r>
            <a:endParaRPr lang="en-US" altLang="en-US">
              <a:solidFill>
                <a:srgbClr val="0000FF"/>
              </a:solidFill>
            </a:endParaRPr>
          </a:p>
        </p:txBody>
      </p:sp>
      <p:pic>
        <p:nvPicPr>
          <p:cNvPr id="9626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828800"/>
            <a:ext cx="79883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6263" name="Line 7"/>
          <p:cNvSpPr>
            <a:spLocks noChangeShapeType="1"/>
          </p:cNvSpPr>
          <p:nvPr/>
        </p:nvSpPr>
        <p:spPr bwMode="auto">
          <a:xfrm>
            <a:off x="787400" y="1143000"/>
            <a:ext cx="71120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build="p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sz="2800" b="1" dirty="0" smtClean="0">
                <a:solidFill>
                  <a:srgbClr val="0000FF"/>
                </a:solidFill>
                <a:latin typeface="Times"/>
              </a:rPr>
              <a:t>Note that mass number (A) goes down by 4 and atomic number (Z) goes down by 2.</a:t>
            </a:r>
          </a:p>
          <a:p>
            <a:r>
              <a:rPr lang="en-US" altLang="en-US" sz="2800" b="1" dirty="0" smtClean="0">
                <a:solidFill>
                  <a:schemeClr val="accent2"/>
                </a:solidFill>
                <a:latin typeface="Times"/>
              </a:rPr>
              <a:t>Nucleons (nuclear particles… protons and neutrons) are rearranged but conserved</a:t>
            </a:r>
          </a:p>
          <a:p>
            <a:endParaRPr lang="en-US" altLang="en-US" sz="2800" dirty="0" smtClean="0">
              <a:solidFill>
                <a:srgbClr val="0000FF"/>
              </a:solidFill>
              <a:latin typeface="Times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85800"/>
          </a:xfrm>
        </p:spPr>
        <p:txBody>
          <a:bodyPr/>
          <a:lstStyle/>
          <a:p>
            <a:r>
              <a:rPr lang="en-US" altLang="en-US" sz="3600" b="1">
                <a:solidFill>
                  <a:srgbClr val="FF0000"/>
                </a:solidFill>
                <a:latin typeface="Comic Sans MS" pitchFamily="66" charset="0"/>
              </a:rPr>
              <a:t>Nuclear Reactions</a:t>
            </a:r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219200"/>
            <a:ext cx="7772400" cy="609600"/>
          </a:xfrm>
        </p:spPr>
        <p:txBody>
          <a:bodyPr/>
          <a:lstStyle/>
          <a:p>
            <a:r>
              <a:rPr lang="en-US" altLang="en-US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Beta</a:t>
            </a:r>
            <a:r>
              <a:rPr lang="en-US" altLang="en-US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emission</a:t>
            </a:r>
            <a:endParaRPr lang="en-US" altLang="en-US">
              <a:solidFill>
                <a:srgbClr val="0000FF"/>
              </a:solidFill>
            </a:endParaRPr>
          </a:p>
        </p:txBody>
      </p:sp>
      <p:pic>
        <p:nvPicPr>
          <p:cNvPr id="33799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2286000"/>
            <a:ext cx="80010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sz="2800" b="1" dirty="0" smtClean="0">
                <a:solidFill>
                  <a:srgbClr val="0000FF"/>
                </a:solidFill>
                <a:latin typeface="Times"/>
              </a:rPr>
              <a:t>Note that mass number (A) is unchanged and atomic number (Z) goes up by 1.</a:t>
            </a:r>
            <a:endParaRPr lang="en-US" altLang="en-US" sz="2800" dirty="0" smtClean="0">
              <a:solidFill>
                <a:srgbClr val="0000FF"/>
              </a:solidFill>
              <a:latin typeface="Times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153400" cy="685800"/>
          </a:xfrm>
        </p:spPr>
        <p:txBody>
          <a:bodyPr/>
          <a:lstStyle/>
          <a:p>
            <a:r>
              <a:rPr lang="en-US" altLang="en-US" sz="3600" b="1">
                <a:solidFill>
                  <a:srgbClr val="FF0000"/>
                </a:solidFill>
                <a:latin typeface="Comic Sans MS" pitchFamily="66" charset="0"/>
              </a:rPr>
              <a:t>Other Types of Nuclear Reactions</a:t>
            </a:r>
            <a:endParaRPr lang="en-US" alt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2209800"/>
            <a:ext cx="7772400" cy="6096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Positron (</a:t>
            </a:r>
            <a:r>
              <a:rPr lang="en-US" altLang="en-US" sz="2800" b="1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en-US" sz="2800" b="1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+1</a:t>
            </a:r>
            <a:r>
              <a:rPr lang="en-US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b</a:t>
            </a:r>
            <a:r>
              <a:rPr lang="en-US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): a positive electron</a:t>
            </a:r>
            <a:endParaRPr lang="en-US" altLang="en-US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85800" y="3124200"/>
            <a:ext cx="8128000" cy="1473200"/>
            <a:chOff x="320" y="1152"/>
            <a:chExt cx="5120" cy="928"/>
          </a:xfrm>
        </p:grpSpPr>
        <p:pic>
          <p:nvPicPr>
            <p:cNvPr id="35847" name="Picture 7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20" y="1152"/>
              <a:ext cx="5120" cy="9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5851" name="Text Box 11"/>
            <p:cNvSpPr txBox="1">
              <a:spLocks noChangeArrowheads="1"/>
            </p:cNvSpPr>
            <p:nvPr/>
          </p:nvSpPr>
          <p:spPr bwMode="auto">
            <a:xfrm>
              <a:off x="2640" y="1680"/>
              <a:ext cx="332" cy="23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Times"/>
                </a:rPr>
                <a:t>207</a:t>
              </a:r>
              <a:endParaRPr lang="en-US" altLang="en-US" sz="2400">
                <a:latin typeface="Times"/>
              </a:endParaRPr>
            </a:p>
          </p:txBody>
        </p:sp>
        <p:sp>
          <p:nvSpPr>
            <p:cNvPr id="35852" name="Text Box 12"/>
            <p:cNvSpPr txBox="1">
              <a:spLocks noChangeArrowheads="1"/>
            </p:cNvSpPr>
            <p:nvPr/>
          </p:nvSpPr>
          <p:spPr bwMode="auto">
            <a:xfrm>
              <a:off x="4800" y="1680"/>
              <a:ext cx="332" cy="23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Times"/>
                </a:rPr>
                <a:t>207</a:t>
              </a:r>
              <a:endParaRPr lang="en-US" altLang="en-US" sz="2400">
                <a:latin typeface="Time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smtClean="0"/>
              <a:t>Electron capture: the capture of an electron</a:t>
            </a:r>
          </a:p>
          <a:p>
            <a:endParaRPr lang="en-US" dirty="0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2819400"/>
            <a:ext cx="8102600" cy="149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1054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981200"/>
            <a:ext cx="83820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/>
              <a:t>	What radioactive isotope is produced in the following bombardment of boron?</a:t>
            </a:r>
            <a:endParaRPr lang="en-US" sz="2800" b="1" i="1" dirty="0">
              <a:solidFill>
                <a:schemeClr val="accent2"/>
              </a:solidFill>
            </a:endParaRPr>
          </a:p>
          <a:p>
            <a:pPr>
              <a:buFontTx/>
              <a:buNone/>
            </a:pPr>
            <a:r>
              <a:rPr lang="en-US" b="1" dirty="0"/>
              <a:t>	</a:t>
            </a:r>
          </a:p>
          <a:p>
            <a:pPr>
              <a:buFontTx/>
              <a:buNone/>
            </a:pPr>
            <a:r>
              <a:rPr lang="en-US" b="1" dirty="0"/>
              <a:t>	</a:t>
            </a:r>
            <a:r>
              <a:rPr lang="en-US" b="1" baseline="30000" dirty="0" smtClean="0"/>
              <a:t>10</a:t>
            </a:r>
            <a:r>
              <a:rPr lang="en-US" b="1" dirty="0" smtClean="0"/>
              <a:t>B     </a:t>
            </a:r>
            <a:r>
              <a:rPr lang="en-US" b="1" dirty="0"/>
              <a:t>+  </a:t>
            </a:r>
            <a:r>
              <a:rPr lang="en-US" b="1" baseline="30000" dirty="0"/>
              <a:t>4</a:t>
            </a:r>
            <a:r>
              <a:rPr lang="en-US" b="1" dirty="0"/>
              <a:t>He 	         	</a:t>
            </a:r>
            <a:r>
              <a:rPr lang="en-US" b="1" dirty="0" smtClean="0"/>
              <a:t>          ?   </a:t>
            </a:r>
            <a:r>
              <a:rPr lang="en-US" b="1" dirty="0"/>
              <a:t>+    </a:t>
            </a:r>
            <a:r>
              <a:rPr lang="en-US" b="1" baseline="30000" dirty="0"/>
              <a:t>1</a:t>
            </a:r>
            <a:r>
              <a:rPr lang="en-US" b="1" dirty="0"/>
              <a:t>n </a:t>
            </a:r>
          </a:p>
          <a:p>
            <a:pPr>
              <a:buFontTx/>
              <a:buNone/>
            </a:pPr>
            <a:r>
              <a:rPr lang="en-US" b="1" baseline="30000" dirty="0"/>
              <a:t>		                 	</a:t>
            </a:r>
          </a:p>
          <a:p>
            <a:pPr>
              <a:lnSpc>
                <a:spcPct val="110000"/>
              </a:lnSpc>
              <a:spcBef>
                <a:spcPct val="30000"/>
              </a:spcBef>
              <a:buFontTx/>
              <a:buNone/>
            </a:pPr>
            <a:r>
              <a:rPr lang="en-US" sz="2800" b="1" dirty="0">
                <a:solidFill>
                  <a:schemeClr val="accent1"/>
                </a:solidFill>
              </a:rPr>
              <a:t>	</a:t>
            </a:r>
          </a:p>
        </p:txBody>
      </p:sp>
      <p:sp>
        <p:nvSpPr>
          <p:cNvPr id="105476" name="Line 4"/>
          <p:cNvSpPr>
            <a:spLocks noChangeShapeType="1"/>
          </p:cNvSpPr>
          <p:nvPr/>
        </p:nvSpPr>
        <p:spPr bwMode="auto">
          <a:xfrm>
            <a:off x="3124200" y="35814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105480" name="2001.wav">
            <a:hlinkClick r:id="" action="ppaction://media"/>
          </p:cNvPr>
          <p:cNvPicPr>
            <a:picLocks noRot="1" noChangeAspect="1" noChangeArrowheads="1"/>
          </p:cNvPicPr>
          <p:nvPr>
            <a:audioFile r:link="rId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8839200" y="6553200"/>
            <a:ext cx="304800" cy="3048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 flipH="1">
            <a:off x="762000" y="3581400"/>
            <a:ext cx="30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30000" dirty="0" smtClean="0"/>
              <a:t>5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 flipH="1">
            <a:off x="1828800" y="3581400"/>
            <a:ext cx="30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30000" dirty="0" smtClean="0"/>
              <a:t>2</a:t>
            </a:r>
            <a:endParaRPr lang="en-US" sz="2800" dirty="0"/>
          </a:p>
        </p:txBody>
      </p:sp>
      <p:sp>
        <p:nvSpPr>
          <p:cNvPr id="10" name="TextBox 9"/>
          <p:cNvSpPr txBox="1"/>
          <p:nvPr/>
        </p:nvSpPr>
        <p:spPr>
          <a:xfrm flipH="1">
            <a:off x="5638800" y="3581400"/>
            <a:ext cx="30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30000" dirty="0" smtClean="0"/>
              <a:t>0</a:t>
            </a:r>
            <a:endParaRPr lang="en-US" sz="2800" dirty="0"/>
          </a:p>
        </p:txBody>
      </p:sp>
      <p:sp>
        <p:nvSpPr>
          <p:cNvPr id="11" name="TextBox 10"/>
          <p:cNvSpPr txBox="1"/>
          <p:nvPr/>
        </p:nvSpPr>
        <p:spPr>
          <a:xfrm flipH="1">
            <a:off x="2870196" y="4931226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30000" dirty="0" smtClean="0">
                <a:solidFill>
                  <a:srgbClr val="FF0000"/>
                </a:solidFill>
              </a:rPr>
              <a:t>13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 flipH="1">
            <a:off x="3352800" y="5105400"/>
            <a:ext cx="30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30000" dirty="0" smtClean="0">
                <a:solidFill>
                  <a:srgbClr val="FF0000"/>
                </a:solidFill>
              </a:rPr>
              <a:t>X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 flipH="1">
            <a:off x="3048000" y="5410200"/>
            <a:ext cx="30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30000" dirty="0" smtClean="0">
                <a:solidFill>
                  <a:srgbClr val="FF0000"/>
                </a:solidFill>
              </a:rPr>
              <a:t>7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 flipH="1">
            <a:off x="5460996" y="4865206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30000" dirty="0" smtClean="0">
                <a:solidFill>
                  <a:srgbClr val="FF0000"/>
                </a:solidFill>
              </a:rPr>
              <a:t>13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flipH="1">
            <a:off x="5943600" y="5039380"/>
            <a:ext cx="30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30000" dirty="0" smtClean="0">
                <a:solidFill>
                  <a:srgbClr val="FF0000"/>
                </a:solidFill>
              </a:rPr>
              <a:t>N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 flipH="1">
            <a:off x="5638800" y="5344180"/>
            <a:ext cx="30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30000" dirty="0" smtClean="0">
                <a:solidFill>
                  <a:srgbClr val="FF0000"/>
                </a:solidFill>
              </a:rPr>
              <a:t>7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flipH="1">
            <a:off x="4419600" y="5029200"/>
            <a:ext cx="30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aseline="30000" dirty="0" smtClean="0">
                <a:solidFill>
                  <a:srgbClr val="FF0000"/>
                </a:solidFill>
                <a:sym typeface="Wingdings" pitchFamily="2" charset="2"/>
              </a:rPr>
              <a:t>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328" fill="hold"/>
                                        <p:tgtEl>
                                          <p:spTgt spid="10548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5480"/>
                </p:tgtEl>
              </p:cMediaNode>
            </p:audio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ln w="28575">
            <a:solidFill>
              <a:schemeClr val="hlink"/>
            </a:solidFill>
          </a:ln>
        </p:spPr>
        <p:txBody>
          <a:bodyPr/>
          <a:lstStyle/>
          <a:p>
            <a:r>
              <a:rPr lang="en-US" sz="4000" b="1">
                <a:solidFill>
                  <a:srgbClr val="FF0000"/>
                </a:solidFill>
                <a:latin typeface="Comic Sans MS" pitchFamily="66" charset="0"/>
              </a:rPr>
              <a:t>Write Nuclear Equations!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3000"/>
              <a:t>	</a:t>
            </a:r>
            <a:r>
              <a:rPr lang="en-US" sz="3000" b="1">
                <a:solidFill>
                  <a:srgbClr val="000066"/>
                </a:solidFill>
              </a:rPr>
              <a:t>Write the nuclear equation for the beta emitter Co-60.</a:t>
            </a:r>
          </a:p>
          <a:p>
            <a:pPr>
              <a:buFontTx/>
              <a:buNone/>
            </a:pPr>
            <a:r>
              <a:rPr lang="en-US" sz="3000"/>
              <a:t>	</a:t>
            </a:r>
            <a:r>
              <a:rPr lang="en-US" sz="3400"/>
              <a:t>	</a:t>
            </a:r>
            <a:endParaRPr lang="en-US" sz="2800" b="1">
              <a:solidFill>
                <a:schemeClr val="accent1"/>
              </a:solidFill>
            </a:endParaRPr>
          </a:p>
        </p:txBody>
      </p:sp>
      <p:pic>
        <p:nvPicPr>
          <p:cNvPr id="101380" name="Round1.wav">
            <a:hlinkClick r:id="" action="ppaction://media"/>
          </p:cNvPr>
          <p:cNvPicPr>
            <a:picLocks noRot="1" noChangeAspect="1" noChangeArrowheads="1"/>
          </p:cNvPicPr>
          <p:nvPr>
            <a:audioFile r:link="rId1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8839200" y="6553200"/>
            <a:ext cx="304800" cy="304800"/>
          </a:xfrm>
          <a:prstGeom prst="rect">
            <a:avLst/>
          </a:prstGeom>
          <a:noFill/>
        </p:spPr>
      </p:pic>
      <p:pic>
        <p:nvPicPr>
          <p:cNvPr id="101381" name="LetsPlay.wav">
            <a:hlinkClick r:id="" action="ppaction://media"/>
          </p:cNvPr>
          <p:cNvPicPr>
            <a:picLocks noRot="1" noChangeAspect="1" noChangeArrowheads="1"/>
          </p:cNvPicPr>
          <p:nvPr>
            <a:audioFile r:link="rId2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0" y="6553200"/>
            <a:ext cx="304800" cy="304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48" fill="hold"/>
                                        <p:tgtEl>
                                          <p:spTgt spid="10138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269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55680" fill="hold"/>
                                        <p:tgtEl>
                                          <p:spTgt spid="10138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0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1380"/>
                </p:tgtEl>
              </p:cMediaNode>
            </p:audio>
            <p:audio>
              <p:cMediaNode>
                <p:cTn id="1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1381"/>
                </p:tgtEl>
              </p:cMediaNode>
            </p:audio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57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3970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00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Name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00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Symbol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00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defined to be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00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Curie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>
                          <a:solidFill>
                            <a:srgbClr val="0000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Ci</a:t>
                      </a:r>
                      <a:endParaRPr lang="en-US" sz="1800" dirty="0" smtClean="0">
                        <a:solidFill>
                          <a:srgbClr val="000066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00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3.7 x 10</a:t>
                      </a:r>
                      <a:r>
                        <a:rPr lang="en-US" sz="1800" baseline="30000" dirty="0" smtClean="0">
                          <a:solidFill>
                            <a:srgbClr val="0000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10</a:t>
                      </a:r>
                      <a:r>
                        <a:rPr lang="en-US" sz="1800" dirty="0" smtClean="0">
                          <a:solidFill>
                            <a:srgbClr val="0000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 disintegration per second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Bacquerel</a:t>
                      </a:r>
                      <a:endParaRPr lang="en-US" sz="1800" dirty="0" smtClean="0"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Bq</a:t>
                      </a:r>
                      <a:endParaRPr lang="en-US" sz="1800" dirty="0" smtClean="0"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One disintegration per second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00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Gray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>
                          <a:solidFill>
                            <a:srgbClr val="0000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Gy</a:t>
                      </a:r>
                      <a:endParaRPr lang="en-US" sz="1800" dirty="0" smtClean="0">
                        <a:solidFill>
                          <a:srgbClr val="000066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00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1 kg of tissue receiving 1 J of energy 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Sievert</a:t>
                      </a:r>
                      <a:endParaRPr lang="en-US" sz="1800" dirty="0" smtClean="0"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Sv</a:t>
                      </a:r>
                      <a:endParaRPr lang="en-US" sz="1800" dirty="0" smtClean="0"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Gray x quality number of radiation (</a:t>
                      </a:r>
                      <a:r>
                        <a:rPr lang="en-US" sz="1800" dirty="0" err="1" smtClean="0"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e.g</a:t>
                      </a:r>
                      <a:r>
                        <a:rPr lang="en-US" sz="1800" dirty="0" smtClean="0"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 20 for </a:t>
                      </a:r>
                      <a:r>
                        <a:rPr lang="en-US" sz="1800" dirty="0" smtClean="0"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  <a:sym typeface="Symbol" pitchFamily="18" charset="2"/>
                        </a:rPr>
                        <a:t>, 1 for 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905000" y="304800"/>
            <a:ext cx="434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/>
              <a:t>Units of radioactivity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b="1">
                <a:solidFill>
                  <a:srgbClr val="FF0000"/>
                </a:solidFill>
                <a:latin typeface="Comic Sans MS" pitchFamily="66" charset="0"/>
              </a:rPr>
              <a:t>Artificial Nuclear Reactions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604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600200"/>
            <a:ext cx="7772400" cy="44958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New elements or new isotopes of known elements are produced by bombarding an atom with a subatomic particle such as a proton or neutron -- or even a much heavier particle such as </a:t>
            </a:r>
            <a:r>
              <a:rPr lang="en-US" altLang="en-US" sz="2800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He and </a:t>
            </a:r>
            <a:r>
              <a:rPr lang="en-US" altLang="en-US" sz="2800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11</a:t>
            </a: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B.</a:t>
            </a:r>
          </a:p>
          <a:p>
            <a:pPr>
              <a:buFontTx/>
              <a:buNone/>
            </a:pP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Reactions using neutrons are called </a:t>
            </a:r>
            <a:b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sz="4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g</a:t>
            </a:r>
            <a:r>
              <a:rPr lang="en-US" altLang="en-US" sz="4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reactions</a:t>
            </a: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 because a </a:t>
            </a: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g</a:t>
            </a: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 ray is usually emitted.</a:t>
            </a:r>
          </a:p>
          <a:p>
            <a:pPr>
              <a:buFontTx/>
              <a:buNone/>
            </a:pPr>
            <a:r>
              <a:rPr lang="en-US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Radioisotopes used in medicine are often made by </a:t>
            </a:r>
            <a:r>
              <a:rPr lang="en-US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g</a:t>
            </a:r>
            <a:r>
              <a:rPr lang="en-US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reactions.</a:t>
            </a:r>
            <a:endParaRPr lang="en-US" altLang="en-US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Tx/>
              <a:buNone/>
            </a:pPr>
            <a:endParaRPr lang="en-US" altLang="en-US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Tx/>
              <a:buNone/>
            </a:pPr>
            <a:endParaRPr lang="en-US" altLang="en-US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421" name="Line 5"/>
          <p:cNvSpPr>
            <a:spLocks noChangeShapeType="1"/>
          </p:cNvSpPr>
          <p:nvPr/>
        </p:nvSpPr>
        <p:spPr bwMode="auto">
          <a:xfrm>
            <a:off x="584200" y="1219200"/>
            <a:ext cx="77978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b="1">
                <a:solidFill>
                  <a:srgbClr val="FF0000"/>
                </a:solidFill>
                <a:latin typeface="Comic Sans MS" pitchFamily="66" charset="0"/>
              </a:rPr>
              <a:t>Artificial Nuclear Reactions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447800"/>
            <a:ext cx="7772400" cy="4495800"/>
          </a:xfrm>
        </p:spPr>
        <p:txBody>
          <a:bodyPr/>
          <a:lstStyle/>
          <a:p>
            <a:pPr>
              <a:lnSpc>
                <a:spcPct val="150000"/>
              </a:lnSpc>
              <a:buFontTx/>
              <a:buNone/>
            </a:pP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a </a:t>
            </a:r>
            <a:r>
              <a:rPr lang="en-US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g</a:t>
            </a:r>
            <a:r>
              <a:rPr lang="en-US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reaction</a:t>
            </a: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is production of radioactive </a:t>
            </a:r>
            <a:r>
              <a:rPr lang="en-US" altLang="en-US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31</a:t>
            </a: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 for use in studies of P uptake in the body.</a:t>
            </a:r>
          </a:p>
          <a:p>
            <a:pPr algn="ctr">
              <a:lnSpc>
                <a:spcPct val="150000"/>
              </a:lnSpc>
              <a:buFontTx/>
              <a:buNone/>
            </a:pPr>
            <a:r>
              <a:rPr lang="en-US" altLang="en-US" sz="4000" b="1" baseline="30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31</a:t>
            </a:r>
            <a:r>
              <a:rPr lang="en-US" altLang="en-US" sz="4000" b="1" baseline="-25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15</a:t>
            </a:r>
            <a:r>
              <a:rPr lang="en-US" altLang="en-US" sz="4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  +  </a:t>
            </a:r>
            <a:r>
              <a:rPr lang="en-US" altLang="en-US" sz="4000" b="1" baseline="30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en-US" sz="4000" b="1" baseline="-25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en-US" sz="4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  </a:t>
            </a:r>
            <a:r>
              <a:rPr lang="en-US" altLang="en-US" sz="40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</a:t>
            </a:r>
            <a:r>
              <a:rPr lang="en-US" altLang="en-US" sz="40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</a:t>
            </a:r>
            <a:r>
              <a:rPr lang="en-US" altLang="en-US" sz="4000" b="1" baseline="30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32</a:t>
            </a:r>
            <a:r>
              <a:rPr lang="en-US" altLang="en-US" sz="4000" b="1" baseline="-25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15</a:t>
            </a:r>
            <a:r>
              <a:rPr lang="en-US" altLang="en-US" sz="4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  +  </a:t>
            </a:r>
            <a:r>
              <a:rPr lang="en-US" altLang="en-US" sz="4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g</a:t>
            </a:r>
            <a:endParaRPr lang="en-US" altLang="en-US" sz="2800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4516" name="Line 4"/>
          <p:cNvSpPr>
            <a:spLocks noChangeShapeType="1"/>
          </p:cNvSpPr>
          <p:nvPr/>
        </p:nvSpPr>
        <p:spPr bwMode="auto">
          <a:xfrm>
            <a:off x="584200" y="1219200"/>
            <a:ext cx="77978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b="1">
                <a:solidFill>
                  <a:srgbClr val="FF0000"/>
                </a:solidFill>
                <a:latin typeface="Comic Sans MS" pitchFamily="66" charset="0"/>
              </a:rPr>
              <a:t>Transuranium Elements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655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447800"/>
            <a:ext cx="7772400" cy="4495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US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Elements beyond 92 </a:t>
            </a:r>
            <a:r>
              <a:rPr lang="en-US" altLang="en-US" b="1" i="1">
                <a:effectLst>
                  <a:outerShdw blurRad="38100" dist="38100" dir="2700000" algn="tl">
                    <a:srgbClr val="C0C0C0"/>
                  </a:outerShdw>
                </a:effectLst>
              </a:rPr>
              <a:t>(transuranium)</a:t>
            </a:r>
            <a:r>
              <a:rPr lang="en-US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 made starting with an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g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reaction</a:t>
            </a:r>
            <a:r>
              <a:rPr lang="en-US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4000" b="1" baseline="30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238</a:t>
            </a:r>
            <a:r>
              <a:rPr lang="en-US" altLang="en-US" sz="40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92</a:t>
            </a:r>
            <a:r>
              <a:rPr lang="en-US" altLang="en-US" sz="4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  +  </a:t>
            </a:r>
            <a:r>
              <a:rPr lang="en-US" altLang="en-US" sz="4000" b="1" baseline="30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en-US" sz="40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en-US" sz="4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  ---&gt;  </a:t>
            </a:r>
            <a:r>
              <a:rPr lang="en-US" altLang="en-US" sz="4000" b="1" baseline="30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239</a:t>
            </a:r>
            <a:r>
              <a:rPr lang="en-US" altLang="en-US" sz="40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92</a:t>
            </a:r>
            <a:r>
              <a:rPr lang="en-US" altLang="en-US" sz="4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  +  </a:t>
            </a:r>
            <a:r>
              <a:rPr lang="en-US" altLang="en-US" sz="4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g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4000" b="1" baseline="30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239</a:t>
            </a:r>
            <a:r>
              <a:rPr lang="en-US" altLang="en-US" sz="40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92</a:t>
            </a:r>
            <a:r>
              <a:rPr lang="en-US" altLang="en-US" sz="4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  		---&gt;  </a:t>
            </a:r>
            <a:r>
              <a:rPr lang="en-US" altLang="en-US" sz="4000" b="1" baseline="30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239</a:t>
            </a:r>
            <a:r>
              <a:rPr lang="en-US" altLang="en-US" sz="40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93</a:t>
            </a:r>
            <a:r>
              <a:rPr lang="en-US" altLang="en-US" sz="4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Np  + </a:t>
            </a:r>
            <a:r>
              <a:rPr lang="en-US" altLang="en-US" sz="4000" b="1" baseline="30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en-US" sz="40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-1</a:t>
            </a:r>
            <a:r>
              <a:rPr lang="en-US" altLang="en-US" sz="4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b</a:t>
            </a:r>
            <a:endParaRPr lang="en-US" altLang="en-US" sz="40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4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sz="4000" b="1" baseline="30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239</a:t>
            </a:r>
            <a:r>
              <a:rPr lang="en-US" altLang="en-US" sz="40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93</a:t>
            </a:r>
            <a:r>
              <a:rPr lang="en-US" altLang="en-US" sz="4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Np  	---&gt;  </a:t>
            </a:r>
            <a:r>
              <a:rPr lang="en-US" altLang="en-US" sz="4000" b="1" baseline="30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239</a:t>
            </a:r>
            <a:r>
              <a:rPr lang="en-US" altLang="en-US" sz="40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94</a:t>
            </a:r>
            <a:r>
              <a:rPr lang="en-US" altLang="en-US" sz="4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Pu  +  </a:t>
            </a:r>
            <a:r>
              <a:rPr lang="en-US" altLang="en-US" sz="4000" b="1" baseline="30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en-US" sz="40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-1</a:t>
            </a:r>
            <a:r>
              <a:rPr lang="en-US" altLang="en-US" sz="4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b</a:t>
            </a:r>
            <a:endParaRPr lang="en-US" altLang="en-US" sz="40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150000"/>
              </a:lnSpc>
              <a:buFontTx/>
              <a:buNone/>
            </a:pPr>
            <a:endParaRPr lang="en-US" altLang="en-US" sz="40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Symbol" pitchFamily="18" charset="2"/>
            </a:endParaRPr>
          </a:p>
        </p:txBody>
      </p:sp>
      <p:sp>
        <p:nvSpPr>
          <p:cNvPr id="65540" name="Line 4"/>
          <p:cNvSpPr>
            <a:spLocks noChangeShapeType="1"/>
          </p:cNvSpPr>
          <p:nvPr/>
        </p:nvSpPr>
        <p:spPr bwMode="auto">
          <a:xfrm>
            <a:off x="584200" y="1219200"/>
            <a:ext cx="77978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Radioactive Series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2007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981200"/>
            <a:ext cx="7772400" cy="4495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/>
              <a:t>Naturally occurring radioactive nuclides have masses ranging from A=3 (tritium) to A= 238 (uranium)</a:t>
            </a:r>
          </a:p>
          <a:p>
            <a:pPr>
              <a:lnSpc>
                <a:spcPct val="80000"/>
              </a:lnSpc>
            </a:pPr>
            <a:r>
              <a:rPr lang="en-US" sz="2800"/>
              <a:t>The heavy elements fall into three radioactive families or series beginning with;</a:t>
            </a:r>
          </a:p>
          <a:p>
            <a:pPr lvl="1">
              <a:lnSpc>
                <a:spcPct val="80000"/>
              </a:lnSpc>
            </a:pPr>
            <a:r>
              <a:rPr lang="en-US" sz="2400" baseline="30000"/>
              <a:t>232</a:t>
            </a:r>
            <a:r>
              <a:rPr lang="en-US" sz="2400"/>
              <a:t>Th (Thorium Series)</a:t>
            </a:r>
          </a:p>
          <a:p>
            <a:pPr lvl="1">
              <a:lnSpc>
                <a:spcPct val="80000"/>
              </a:lnSpc>
            </a:pPr>
            <a:r>
              <a:rPr lang="en-US" sz="2400" baseline="30000"/>
              <a:t>241</a:t>
            </a:r>
            <a:r>
              <a:rPr lang="en-US" sz="2400"/>
              <a:t>Pu(Neptunium Series)</a:t>
            </a:r>
          </a:p>
          <a:p>
            <a:pPr lvl="1">
              <a:lnSpc>
                <a:spcPct val="80000"/>
              </a:lnSpc>
            </a:pPr>
            <a:r>
              <a:rPr lang="en-US" sz="2400" baseline="30000"/>
              <a:t>238</a:t>
            </a:r>
            <a:r>
              <a:rPr lang="en-US" sz="2400"/>
              <a:t>U and (Uranium Series)</a:t>
            </a:r>
          </a:p>
          <a:p>
            <a:pPr lvl="1">
              <a:lnSpc>
                <a:spcPct val="80000"/>
              </a:lnSpc>
            </a:pPr>
            <a:r>
              <a:rPr lang="en-US" sz="2400" baseline="30000"/>
              <a:t>235</a:t>
            </a:r>
            <a:r>
              <a:rPr lang="en-US" sz="2400"/>
              <a:t>U (Actinium Series)</a:t>
            </a:r>
          </a:p>
          <a:p>
            <a:pPr>
              <a:lnSpc>
                <a:spcPct val="80000"/>
              </a:lnSpc>
            </a:pPr>
            <a:r>
              <a:rPr lang="en-US" sz="2800"/>
              <a:t>In each series, successive </a:t>
            </a:r>
            <a:r>
              <a:rPr lang="en-US" sz="2800">
                <a:sym typeface="Symbol" pitchFamily="18" charset="2"/>
              </a:rPr>
              <a:t> and  emissions finally transform these to stable isotopes of Pb with masses 206, 207 and 208.</a:t>
            </a:r>
          </a:p>
          <a:p>
            <a:pPr>
              <a:lnSpc>
                <a:spcPct val="80000"/>
              </a:lnSpc>
            </a:pP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0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0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00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00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00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00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00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00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6" grpId="0"/>
      <p:bldP spid="200707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5" descr="decayseri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87488" y="0"/>
            <a:ext cx="6167437" cy="806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494" name="Rectangle 6"/>
          <p:cNvSpPr>
            <a:spLocks noChangeArrowheads="1"/>
          </p:cNvSpPr>
          <p:nvPr/>
        </p:nvSpPr>
        <p:spPr bwMode="auto">
          <a:xfrm rot="16200000">
            <a:off x="-2907506" y="2907506"/>
            <a:ext cx="6858000" cy="1042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altLang="zh-CN" sz="44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Natural Decay Chains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62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5" descr="Th232chai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22388" y="908050"/>
            <a:ext cx="6499225" cy="5815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46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Thorium Decay Chain (4n + 0)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25604" name="Text Box 7"/>
          <p:cNvSpPr txBox="1">
            <a:spLocks noChangeArrowheads="1"/>
          </p:cNvSpPr>
          <p:nvPr/>
        </p:nvSpPr>
        <p:spPr bwMode="auto">
          <a:xfrm>
            <a:off x="7143750" y="1647825"/>
            <a:ext cx="13430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1.4 x 10</a:t>
            </a:r>
            <a:r>
              <a:rPr lang="en-US" baseline="30000"/>
              <a:t>10</a:t>
            </a:r>
            <a:r>
              <a:rPr lang="en-US"/>
              <a:t> 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5" descr="decu23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950" y="323850"/>
            <a:ext cx="7920038" cy="620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7" name="Text Box 6"/>
          <p:cNvSpPr txBox="1">
            <a:spLocks noChangeArrowheads="1"/>
          </p:cNvSpPr>
          <p:nvPr/>
        </p:nvSpPr>
        <p:spPr bwMode="auto">
          <a:xfrm>
            <a:off x="7216775" y="568325"/>
            <a:ext cx="9779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宋体" pitchFamily="2" charset="-122"/>
              </a:rPr>
              <a:t>(4n + 2)</a:t>
            </a:r>
          </a:p>
        </p:txBody>
      </p:sp>
      <p:sp>
        <p:nvSpPr>
          <p:cNvPr id="26628" name="Text Box 7"/>
          <p:cNvSpPr txBox="1">
            <a:spLocks noChangeArrowheads="1"/>
          </p:cNvSpPr>
          <p:nvPr/>
        </p:nvSpPr>
        <p:spPr bwMode="auto">
          <a:xfrm>
            <a:off x="7847013" y="1812925"/>
            <a:ext cx="12588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4.5 x 10</a:t>
            </a:r>
            <a:r>
              <a:rPr lang="en-US" baseline="30000"/>
              <a:t>9</a:t>
            </a:r>
            <a:r>
              <a:rPr lang="en-US"/>
              <a:t> y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64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The Actinium Decay Series </a:t>
            </a:r>
            <a:br>
              <a:rPr lang="en-US" sz="40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40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(4n +3)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baseline="30000" smtClean="0"/>
              <a:t>235</a:t>
            </a:r>
            <a:r>
              <a:rPr lang="en-US" smtClean="0"/>
              <a:t>U </a:t>
            </a:r>
            <a:r>
              <a:rPr lang="en-US" smtClean="0">
                <a:sym typeface="Wingdings" pitchFamily="2" charset="2"/>
              </a:rPr>
              <a:t> … </a:t>
            </a:r>
            <a:r>
              <a:rPr lang="en-US" baseline="30000" smtClean="0">
                <a:sym typeface="Wingdings" pitchFamily="2" charset="2"/>
              </a:rPr>
              <a:t>207</a:t>
            </a:r>
            <a:r>
              <a:rPr lang="en-US" smtClean="0">
                <a:sym typeface="Wingdings" pitchFamily="2" charset="2"/>
              </a:rPr>
              <a:t>Pb (7 alphas and 4 betas)</a:t>
            </a:r>
          </a:p>
          <a:p>
            <a:pPr eaLnBrk="1" hangingPunct="1">
              <a:buFontTx/>
              <a:buNone/>
            </a:pPr>
            <a:r>
              <a:rPr lang="en-US" smtClean="0"/>
              <a:t>7.04 x 10</a:t>
            </a:r>
            <a:r>
              <a:rPr lang="en-US" baseline="30000" smtClean="0"/>
              <a:t>8</a:t>
            </a:r>
            <a:r>
              <a:rPr lang="en-US" smtClean="0"/>
              <a:t> 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An Extinct Natural Decay Chain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Neptunium decay series (4n + 1)</a:t>
            </a:r>
          </a:p>
          <a:p>
            <a:pPr eaLnBrk="1" hangingPunct="1"/>
            <a:r>
              <a:rPr lang="en-US" altLang="zh-CN" baseline="30000" smtClean="0">
                <a:ea typeface="宋体" pitchFamily="2" charset="-122"/>
              </a:rPr>
              <a:t>237</a:t>
            </a:r>
            <a:r>
              <a:rPr lang="en-US" altLang="zh-CN" smtClean="0">
                <a:ea typeface="宋体" pitchFamily="2" charset="-122"/>
              </a:rPr>
              <a:t>Np (</a:t>
            </a:r>
            <a:r>
              <a:rPr lang="en-US" altLang="zh-CN" i="1" smtClean="0">
                <a:ea typeface="宋体" pitchFamily="2" charset="-122"/>
              </a:rPr>
              <a:t>t</a:t>
            </a:r>
            <a:r>
              <a:rPr lang="en-US" altLang="zh-CN" baseline="-25000" smtClean="0">
                <a:ea typeface="宋体" pitchFamily="2" charset="-122"/>
              </a:rPr>
              <a:t>1/2</a:t>
            </a:r>
            <a:r>
              <a:rPr lang="en-US" altLang="zh-CN" smtClean="0">
                <a:ea typeface="宋体" pitchFamily="2" charset="-122"/>
              </a:rPr>
              <a:t> = 2.14 x 10</a:t>
            </a:r>
            <a:r>
              <a:rPr lang="en-US" altLang="zh-CN" baseline="30000" smtClean="0">
                <a:ea typeface="宋体" pitchFamily="2" charset="-122"/>
              </a:rPr>
              <a:t>9</a:t>
            </a:r>
            <a:r>
              <a:rPr lang="en-US" altLang="zh-CN" smtClean="0">
                <a:ea typeface="宋体" pitchFamily="2" charset="-122"/>
              </a:rPr>
              <a:t> y ) </a:t>
            </a:r>
            <a:r>
              <a:rPr lang="en-US" altLang="zh-CN" smtClean="0">
                <a:ea typeface="宋体" pitchFamily="2" charset="-122"/>
                <a:sym typeface="Wingdings" pitchFamily="2" charset="2"/>
              </a:rPr>
              <a:t>…</a:t>
            </a:r>
            <a:r>
              <a:rPr lang="en-US" altLang="zh-CN" baseline="30000" smtClean="0">
                <a:ea typeface="宋体" pitchFamily="2" charset="-122"/>
                <a:sym typeface="Wingdings" pitchFamily="2" charset="2"/>
              </a:rPr>
              <a:t>209</a:t>
            </a:r>
            <a:r>
              <a:rPr lang="en-US" altLang="zh-CN" smtClean="0">
                <a:ea typeface="宋体" pitchFamily="2" charset="-122"/>
                <a:sym typeface="Wingdings" pitchFamily="2" charset="2"/>
              </a:rPr>
              <a:t>Bi</a:t>
            </a:r>
            <a:endParaRPr lang="en-US" altLang="zh-CN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>
              <a:ea typeface="宋体" pitchFamily="2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zh-CN" altLang="en-US" smtClean="0">
              <a:ea typeface="宋体" pitchFamily="2" charset="-122"/>
            </a:endParaRPr>
          </a:p>
        </p:txBody>
      </p:sp>
      <p:pic>
        <p:nvPicPr>
          <p:cNvPr id="17412" name="Picture 5" descr="fiss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63513" y="317500"/>
            <a:ext cx="9453563" cy="6361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9"/>
          <p:cNvSpPr>
            <a:spLocks noChangeArrowheads="1"/>
          </p:cNvSpPr>
          <p:nvPr/>
        </p:nvSpPr>
        <p:spPr bwMode="auto">
          <a:xfrm>
            <a:off x="762000" y="3048000"/>
            <a:ext cx="7620000" cy="12192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mtClean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Radioactive Decay Processes</a:t>
            </a:r>
          </a:p>
        </p:txBody>
      </p:sp>
      <p:graphicFrame>
        <p:nvGraphicFramePr>
          <p:cNvPr id="5122" name="Object 6"/>
          <p:cNvGraphicFramePr>
            <a:graphicFrameLocks noGrp="1" noChangeAspect="1"/>
          </p:cNvGraphicFramePr>
          <p:nvPr>
            <p:ph sz="half" idx="1"/>
          </p:nvPr>
        </p:nvGraphicFramePr>
        <p:xfrm>
          <a:off x="992188" y="3124200"/>
          <a:ext cx="7134225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666" name="Equation" r:id="rId4" imgW="3225600" imgH="457200" progId="Equation.3">
                  <p:embed/>
                </p:oleObj>
              </mc:Choice>
              <mc:Fallback>
                <p:oleObj name="Equation" r:id="rId4" imgW="3225600" imgH="457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188" y="3124200"/>
                        <a:ext cx="7134225" cy="1011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10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915988" y="1676400"/>
          <a:ext cx="6702425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667" name="Equation" r:id="rId6" imgW="2374560" imgH="241200" progId="Equation.3">
                  <p:embed/>
                </p:oleObj>
              </mc:Choice>
              <mc:Fallback>
                <p:oleObj name="Equation" r:id="rId6" imgW="2374560" imgH="241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988" y="1676400"/>
                        <a:ext cx="6702425" cy="681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AMH</a:t>
            </a: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44440D-4E53-447E-BD5E-362BAFB2C7AB}" type="slidenum">
              <a:rPr lang="zh-CN" altLang="en-US" smtClean="0"/>
              <a:pPr>
                <a:defRPr/>
              </a:pPr>
              <a:t>68</a:t>
            </a:fld>
            <a:endParaRPr lang="en-US" altLang="zh-CN"/>
          </a:p>
        </p:txBody>
      </p:sp>
      <p:sp>
        <p:nvSpPr>
          <p:cNvPr id="5126" name="Text Box 8"/>
          <p:cNvSpPr txBox="1">
            <a:spLocks noChangeArrowheads="1"/>
          </p:cNvSpPr>
          <p:nvPr/>
        </p:nvSpPr>
        <p:spPr bwMode="auto">
          <a:xfrm>
            <a:off x="838200" y="5181600"/>
            <a:ext cx="7321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>
                <a:latin typeface="Arial" charset="0"/>
                <a:ea typeface="宋体" pitchFamily="2" charset="-122"/>
              </a:rPr>
              <a:t>These radioactive products are the waste products of nuclear reactors.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6"/>
          <p:cNvSpPr txBox="1">
            <a:spLocks noChangeArrowheads="1"/>
          </p:cNvSpPr>
          <p:nvPr/>
        </p:nvSpPr>
        <p:spPr bwMode="auto">
          <a:xfrm>
            <a:off x="457200" y="990600"/>
            <a:ext cx="741045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>
                <a:latin typeface="Arial" charset="0"/>
                <a:ea typeface="宋体" pitchFamily="2" charset="-122"/>
              </a:rPr>
              <a:t>The fragments in the vicinity of </a:t>
            </a:r>
            <a:r>
              <a:rPr lang="en-US" altLang="zh-CN" sz="1800" i="1">
                <a:latin typeface="Arial" charset="0"/>
                <a:ea typeface="宋体" pitchFamily="2" charset="-122"/>
              </a:rPr>
              <a:t>A</a:t>
            </a:r>
            <a:r>
              <a:rPr lang="en-US" altLang="zh-CN" sz="1800">
                <a:latin typeface="Arial" charset="0"/>
                <a:ea typeface="宋体" pitchFamily="2" charset="-122"/>
              </a:rPr>
              <a:t> = 95 and </a:t>
            </a:r>
            <a:r>
              <a:rPr lang="en-US" altLang="zh-CN" sz="1800" i="1">
                <a:latin typeface="Arial" charset="0"/>
                <a:ea typeface="宋体" pitchFamily="2" charset="-122"/>
              </a:rPr>
              <a:t>A </a:t>
            </a:r>
            <a:r>
              <a:rPr lang="en-US" altLang="zh-CN" sz="1800">
                <a:latin typeface="Arial" charset="0"/>
                <a:ea typeface="宋体" pitchFamily="2" charset="-122"/>
              </a:rPr>
              <a:t>= 140 share 92 protons.</a:t>
            </a:r>
          </a:p>
          <a:p>
            <a:r>
              <a:rPr lang="en-US" altLang="zh-CN" sz="1800">
                <a:latin typeface="Arial" charset="0"/>
                <a:ea typeface="宋体" pitchFamily="2" charset="-122"/>
              </a:rPr>
              <a:t>Prompt neutrons are emitted in 10</a:t>
            </a:r>
            <a:r>
              <a:rPr lang="en-US" altLang="zh-CN" sz="1800" baseline="30000">
                <a:latin typeface="Arial" charset="0"/>
                <a:ea typeface="宋体" pitchFamily="2" charset="-122"/>
              </a:rPr>
              <a:t>-16</a:t>
            </a:r>
            <a:r>
              <a:rPr lang="en-US" altLang="zh-CN" sz="1800">
                <a:latin typeface="Arial" charset="0"/>
                <a:ea typeface="宋体" pitchFamily="2" charset="-122"/>
              </a:rPr>
              <a:t> s.</a:t>
            </a:r>
          </a:p>
          <a:p>
            <a:r>
              <a:rPr lang="en-US" altLang="zh-CN" sz="1800">
                <a:latin typeface="Arial" charset="0"/>
                <a:ea typeface="宋体" pitchFamily="2" charset="-122"/>
              </a:rPr>
              <a:t>Delayed neutrons intensity 1 in 100 fissions or 0.02 neutrons per fission</a:t>
            </a:r>
          </a:p>
          <a:p>
            <a:r>
              <a:rPr lang="en-US" altLang="zh-CN" sz="1800">
                <a:latin typeface="Arial" charset="0"/>
                <a:ea typeface="宋体" pitchFamily="2" charset="-122"/>
              </a:rPr>
              <a:t>(from neutron emission). </a:t>
            </a:r>
          </a:p>
          <a:p>
            <a:r>
              <a:rPr lang="en-US" altLang="zh-CN" sz="1800">
                <a:latin typeface="Arial" charset="0"/>
                <a:ea typeface="宋体" pitchFamily="2" charset="-122"/>
              </a:rPr>
              <a:t>Delayed neutrons are essential for controlling the reactors.</a:t>
            </a:r>
          </a:p>
          <a:p>
            <a:endParaRPr lang="en-US" altLang="zh-CN" sz="1800">
              <a:latin typeface="Arial" charset="0"/>
              <a:ea typeface="宋体" pitchFamily="2" charset="-122"/>
            </a:endParaRPr>
          </a:p>
        </p:txBody>
      </p:sp>
      <p:sp>
        <p:nvSpPr>
          <p:cNvPr id="52233" name="Rectangle 9"/>
          <p:cNvSpPr>
            <a:spLocks noChangeArrowheads="1"/>
          </p:cNvSpPr>
          <p:nvPr/>
        </p:nvSpPr>
        <p:spPr bwMode="auto">
          <a:xfrm>
            <a:off x="457200" y="152400"/>
            <a:ext cx="822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宋体" pitchFamily="2" charset="-122"/>
              </a:rPr>
              <a:t>Mass Distribution of Fission</a:t>
            </a:r>
          </a:p>
        </p:txBody>
      </p:sp>
      <p:pic>
        <p:nvPicPr>
          <p:cNvPr id="18436" name="Picture 10" descr="fissionyiel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2590800"/>
            <a:ext cx="4175125" cy="421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7" name="Text Box 11"/>
          <p:cNvSpPr txBox="1">
            <a:spLocks noChangeArrowheads="1"/>
          </p:cNvSpPr>
          <p:nvPr/>
        </p:nvSpPr>
        <p:spPr bwMode="auto">
          <a:xfrm>
            <a:off x="3657600" y="4038600"/>
            <a:ext cx="43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 b="1">
                <a:latin typeface="Arial" charset="0"/>
                <a:ea typeface="宋体" pitchFamily="2" charset="-122"/>
              </a:rPr>
              <a:t>95</a:t>
            </a:r>
          </a:p>
        </p:txBody>
      </p:sp>
      <p:sp>
        <p:nvSpPr>
          <p:cNvPr id="18438" name="Text Box 12"/>
          <p:cNvSpPr txBox="1">
            <a:spLocks noChangeArrowheads="1"/>
          </p:cNvSpPr>
          <p:nvPr/>
        </p:nvSpPr>
        <p:spPr bwMode="auto">
          <a:xfrm>
            <a:off x="4845050" y="4052888"/>
            <a:ext cx="565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 b="1">
                <a:latin typeface="Arial" charset="0"/>
                <a:ea typeface="宋体" pitchFamily="2" charset="-122"/>
              </a:rPr>
              <a:t>140</a:t>
            </a:r>
          </a:p>
        </p:txBody>
      </p:sp>
      <p:sp>
        <p:nvSpPr>
          <p:cNvPr id="18439" name="AutoShape 13"/>
          <p:cNvSpPr>
            <a:spLocks noChangeArrowheads="1"/>
          </p:cNvSpPr>
          <p:nvPr/>
        </p:nvSpPr>
        <p:spPr bwMode="auto">
          <a:xfrm>
            <a:off x="3810000" y="3429000"/>
            <a:ext cx="152400" cy="457200"/>
          </a:xfrm>
          <a:prstGeom prst="up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CA"/>
          </a:p>
        </p:txBody>
      </p:sp>
      <p:sp>
        <p:nvSpPr>
          <p:cNvPr id="18440" name="AutoShape 14"/>
          <p:cNvSpPr>
            <a:spLocks noChangeArrowheads="1"/>
          </p:cNvSpPr>
          <p:nvPr/>
        </p:nvSpPr>
        <p:spPr bwMode="auto">
          <a:xfrm>
            <a:off x="5029200" y="3429000"/>
            <a:ext cx="152400" cy="457200"/>
          </a:xfrm>
          <a:prstGeom prst="up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CA"/>
          </a:p>
        </p:txBody>
      </p:sp>
      <p:sp>
        <p:nvSpPr>
          <p:cNvPr id="18441" name="AutoShape 15"/>
          <p:cNvSpPr>
            <a:spLocks noChangeArrowheads="1"/>
          </p:cNvSpPr>
          <p:nvPr/>
        </p:nvSpPr>
        <p:spPr bwMode="auto">
          <a:xfrm>
            <a:off x="4419600" y="5486400"/>
            <a:ext cx="152400" cy="457200"/>
          </a:xfrm>
          <a:prstGeom prst="up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CA"/>
          </a:p>
        </p:txBody>
      </p:sp>
      <p:sp>
        <p:nvSpPr>
          <p:cNvPr id="18442" name="Text Box 16"/>
          <p:cNvSpPr txBox="1">
            <a:spLocks noChangeArrowheads="1"/>
          </p:cNvSpPr>
          <p:nvPr/>
        </p:nvSpPr>
        <p:spPr bwMode="auto">
          <a:xfrm>
            <a:off x="3911600" y="5881688"/>
            <a:ext cx="1149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>
                <a:ea typeface="宋体" pitchFamily="2" charset="-122"/>
              </a:rPr>
              <a:t>symmetric</a:t>
            </a:r>
          </a:p>
        </p:txBody>
      </p:sp>
      <p:sp>
        <p:nvSpPr>
          <p:cNvPr id="18443" name="Text Box 18"/>
          <p:cNvSpPr txBox="1">
            <a:spLocks noChangeArrowheads="1"/>
          </p:cNvSpPr>
          <p:nvPr/>
        </p:nvSpPr>
        <p:spPr bwMode="auto">
          <a:xfrm>
            <a:off x="6172200" y="6400800"/>
            <a:ext cx="27368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i="1">
                <a:solidFill>
                  <a:srgbClr val="0000CC"/>
                </a:solidFill>
                <a:ea typeface="宋体" pitchFamily="2" charset="-122"/>
              </a:rPr>
              <a:t>Source: University of Waterloo</a:t>
            </a: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69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 baseline="30000"/>
              <a:t>232</a:t>
            </a:r>
            <a:r>
              <a:rPr lang="en-US"/>
              <a:t>Th (Thorium Series)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2017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219200"/>
            <a:ext cx="7772400" cy="5257800"/>
          </a:xfrm>
        </p:spPr>
        <p:txBody>
          <a:bodyPr/>
          <a:lstStyle/>
          <a:p>
            <a:r>
              <a:rPr lang="en-US"/>
              <a:t>Known as 4n series</a:t>
            </a:r>
          </a:p>
          <a:p>
            <a:r>
              <a:rPr lang="en-US"/>
              <a:t>All members will have masses which are multiples of 4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1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0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0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0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6" name="Text Box 4"/>
          <p:cNvSpPr txBox="1">
            <a:spLocks noChangeArrowheads="1"/>
          </p:cNvSpPr>
          <p:nvPr/>
        </p:nvSpPr>
        <p:spPr bwMode="auto">
          <a:xfrm>
            <a:off x="914400" y="1219200"/>
            <a:ext cx="2133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232</a:t>
            </a:r>
            <a:r>
              <a:rPr lang="en-US">
                <a:latin typeface="Arial" charset="0"/>
              </a:rPr>
              <a:t>Th (1.39x10</a:t>
            </a:r>
            <a:r>
              <a:rPr lang="en-US" baseline="30000">
                <a:latin typeface="Arial" charset="0"/>
              </a:rPr>
              <a:t>10</a:t>
            </a:r>
            <a:r>
              <a:rPr lang="en-US">
                <a:latin typeface="Arial" charset="0"/>
              </a:rPr>
              <a:t> y)</a:t>
            </a:r>
          </a:p>
        </p:txBody>
      </p:sp>
      <p:sp>
        <p:nvSpPr>
          <p:cNvPr id="202757" name="Text Box 5"/>
          <p:cNvSpPr txBox="1">
            <a:spLocks noChangeArrowheads="1"/>
          </p:cNvSpPr>
          <p:nvPr/>
        </p:nvSpPr>
        <p:spPr bwMode="auto">
          <a:xfrm>
            <a:off x="914400" y="1905000"/>
            <a:ext cx="1676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228</a:t>
            </a:r>
            <a:r>
              <a:rPr lang="en-US">
                <a:latin typeface="Arial" charset="0"/>
              </a:rPr>
              <a:t>Ra</a:t>
            </a:r>
            <a:r>
              <a:rPr lang="en-US" baseline="30000">
                <a:latin typeface="Arial" charset="0"/>
              </a:rPr>
              <a:t> (6.7 y)</a:t>
            </a:r>
            <a:endParaRPr lang="en-US">
              <a:latin typeface="Arial" charset="0"/>
            </a:endParaRPr>
          </a:p>
        </p:txBody>
      </p:sp>
      <p:sp>
        <p:nvSpPr>
          <p:cNvPr id="202758" name="Text Box 6"/>
          <p:cNvSpPr txBox="1">
            <a:spLocks noChangeArrowheads="1"/>
          </p:cNvSpPr>
          <p:nvPr/>
        </p:nvSpPr>
        <p:spPr bwMode="auto">
          <a:xfrm>
            <a:off x="1143000" y="2590800"/>
            <a:ext cx="1752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228</a:t>
            </a:r>
            <a:r>
              <a:rPr lang="en-US">
                <a:latin typeface="Arial" charset="0"/>
              </a:rPr>
              <a:t>Ac (6.13 hrs)</a:t>
            </a:r>
          </a:p>
        </p:txBody>
      </p:sp>
      <p:sp>
        <p:nvSpPr>
          <p:cNvPr id="202759" name="Text Box 7"/>
          <p:cNvSpPr txBox="1">
            <a:spLocks noChangeArrowheads="1"/>
          </p:cNvSpPr>
          <p:nvPr/>
        </p:nvSpPr>
        <p:spPr bwMode="auto">
          <a:xfrm>
            <a:off x="762000" y="3352800"/>
            <a:ext cx="1981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228Th</a:t>
            </a:r>
            <a:r>
              <a:rPr lang="en-US">
                <a:latin typeface="Arial" charset="0"/>
              </a:rPr>
              <a:t> (1.90 y)</a:t>
            </a:r>
          </a:p>
        </p:txBody>
      </p:sp>
      <p:sp>
        <p:nvSpPr>
          <p:cNvPr id="202760" name="Text Box 8"/>
          <p:cNvSpPr txBox="1">
            <a:spLocks noChangeArrowheads="1"/>
          </p:cNvSpPr>
          <p:nvPr/>
        </p:nvSpPr>
        <p:spPr bwMode="auto">
          <a:xfrm>
            <a:off x="838200" y="4191000"/>
            <a:ext cx="1905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224</a:t>
            </a:r>
            <a:r>
              <a:rPr lang="en-US">
                <a:latin typeface="Arial" charset="0"/>
              </a:rPr>
              <a:t>Th (3.64 d)</a:t>
            </a:r>
          </a:p>
        </p:txBody>
      </p:sp>
      <p:sp>
        <p:nvSpPr>
          <p:cNvPr id="202761" name="Text Box 9"/>
          <p:cNvSpPr txBox="1">
            <a:spLocks noChangeArrowheads="1"/>
          </p:cNvSpPr>
          <p:nvPr/>
        </p:nvSpPr>
        <p:spPr bwMode="auto">
          <a:xfrm>
            <a:off x="3962400" y="1219200"/>
            <a:ext cx="1905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220</a:t>
            </a:r>
            <a:r>
              <a:rPr lang="en-US">
                <a:latin typeface="Arial" charset="0"/>
              </a:rPr>
              <a:t>Rn (54.5 s)</a:t>
            </a:r>
          </a:p>
        </p:txBody>
      </p:sp>
      <p:sp>
        <p:nvSpPr>
          <p:cNvPr id="202762" name="Text Box 10"/>
          <p:cNvSpPr txBox="1">
            <a:spLocks noChangeArrowheads="1"/>
          </p:cNvSpPr>
          <p:nvPr/>
        </p:nvSpPr>
        <p:spPr bwMode="auto">
          <a:xfrm>
            <a:off x="3962400" y="1905000"/>
            <a:ext cx="1981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216</a:t>
            </a:r>
            <a:r>
              <a:rPr lang="en-US">
                <a:latin typeface="Arial" charset="0"/>
              </a:rPr>
              <a:t>Po (0.158 s)</a:t>
            </a:r>
          </a:p>
        </p:txBody>
      </p:sp>
      <p:sp>
        <p:nvSpPr>
          <p:cNvPr id="202763" name="Text Box 11"/>
          <p:cNvSpPr txBox="1">
            <a:spLocks noChangeArrowheads="1"/>
          </p:cNvSpPr>
          <p:nvPr/>
        </p:nvSpPr>
        <p:spPr bwMode="auto">
          <a:xfrm>
            <a:off x="3962400" y="2667000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212</a:t>
            </a:r>
            <a:r>
              <a:rPr lang="en-US">
                <a:latin typeface="Arial" charset="0"/>
              </a:rPr>
              <a:t>Po </a:t>
            </a:r>
          </a:p>
        </p:txBody>
      </p:sp>
      <p:sp>
        <p:nvSpPr>
          <p:cNvPr id="202764" name="Text Box 12"/>
          <p:cNvSpPr txBox="1">
            <a:spLocks noChangeArrowheads="1"/>
          </p:cNvSpPr>
          <p:nvPr/>
        </p:nvSpPr>
        <p:spPr bwMode="auto">
          <a:xfrm>
            <a:off x="3581400" y="3581400"/>
            <a:ext cx="2133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212</a:t>
            </a:r>
            <a:r>
              <a:rPr lang="en-US">
                <a:latin typeface="Arial" charset="0"/>
              </a:rPr>
              <a:t>Bi (60.6 mon)</a:t>
            </a:r>
          </a:p>
        </p:txBody>
      </p:sp>
      <p:sp>
        <p:nvSpPr>
          <p:cNvPr id="202765" name="Text Box 13"/>
          <p:cNvSpPr txBox="1">
            <a:spLocks noChangeArrowheads="1"/>
          </p:cNvSpPr>
          <p:nvPr/>
        </p:nvSpPr>
        <p:spPr bwMode="auto">
          <a:xfrm>
            <a:off x="6248400" y="2489200"/>
            <a:ext cx="2209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212</a:t>
            </a:r>
            <a:r>
              <a:rPr lang="en-US">
                <a:latin typeface="Arial" charset="0"/>
              </a:rPr>
              <a:t>Po (3 x 10</a:t>
            </a:r>
            <a:r>
              <a:rPr lang="en-US" baseline="30000">
                <a:latin typeface="Arial" charset="0"/>
              </a:rPr>
              <a:t>-7</a:t>
            </a:r>
            <a:r>
              <a:rPr lang="en-US">
                <a:latin typeface="Arial" charset="0"/>
              </a:rPr>
              <a:t> s)</a:t>
            </a:r>
          </a:p>
        </p:txBody>
      </p:sp>
      <p:sp>
        <p:nvSpPr>
          <p:cNvPr id="202766" name="Line 14"/>
          <p:cNvSpPr>
            <a:spLocks noChangeShapeType="1"/>
          </p:cNvSpPr>
          <p:nvPr/>
        </p:nvSpPr>
        <p:spPr bwMode="auto">
          <a:xfrm>
            <a:off x="1676400" y="16002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67" name="Line 15"/>
          <p:cNvSpPr>
            <a:spLocks noChangeShapeType="1"/>
          </p:cNvSpPr>
          <p:nvPr/>
        </p:nvSpPr>
        <p:spPr bwMode="auto">
          <a:xfrm>
            <a:off x="1676400" y="2209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68" name="Line 16"/>
          <p:cNvSpPr>
            <a:spLocks noChangeShapeType="1"/>
          </p:cNvSpPr>
          <p:nvPr/>
        </p:nvSpPr>
        <p:spPr bwMode="auto">
          <a:xfrm>
            <a:off x="1676400" y="28956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69" name="Line 17"/>
          <p:cNvSpPr>
            <a:spLocks noChangeShapeType="1"/>
          </p:cNvSpPr>
          <p:nvPr/>
        </p:nvSpPr>
        <p:spPr bwMode="auto">
          <a:xfrm>
            <a:off x="1676400" y="3733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70" name="Line 18"/>
          <p:cNvSpPr>
            <a:spLocks noChangeShapeType="1"/>
          </p:cNvSpPr>
          <p:nvPr/>
        </p:nvSpPr>
        <p:spPr bwMode="auto">
          <a:xfrm flipV="1">
            <a:off x="2133600" y="1371600"/>
            <a:ext cx="1752600" cy="2895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71" name="Line 19"/>
          <p:cNvSpPr>
            <a:spLocks noChangeShapeType="1"/>
          </p:cNvSpPr>
          <p:nvPr/>
        </p:nvSpPr>
        <p:spPr bwMode="auto">
          <a:xfrm>
            <a:off x="4267200" y="16002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72" name="Line 20"/>
          <p:cNvSpPr>
            <a:spLocks noChangeShapeType="1"/>
          </p:cNvSpPr>
          <p:nvPr/>
        </p:nvSpPr>
        <p:spPr bwMode="auto">
          <a:xfrm>
            <a:off x="4267200" y="2209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73" name="Line 21"/>
          <p:cNvSpPr>
            <a:spLocks noChangeShapeType="1"/>
          </p:cNvSpPr>
          <p:nvPr/>
        </p:nvSpPr>
        <p:spPr bwMode="auto">
          <a:xfrm>
            <a:off x="4267200" y="31242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74" name="Text Box 22"/>
          <p:cNvSpPr txBox="1">
            <a:spLocks noChangeArrowheads="1"/>
          </p:cNvSpPr>
          <p:nvPr/>
        </p:nvSpPr>
        <p:spPr bwMode="auto">
          <a:xfrm>
            <a:off x="3352800" y="4279900"/>
            <a:ext cx="1981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208</a:t>
            </a:r>
            <a:r>
              <a:rPr lang="en-US">
                <a:latin typeface="Arial" charset="0"/>
              </a:rPr>
              <a:t>Tl (3.1 mon)</a:t>
            </a:r>
          </a:p>
        </p:txBody>
      </p:sp>
      <p:sp>
        <p:nvSpPr>
          <p:cNvPr id="202775" name="Line 23"/>
          <p:cNvSpPr>
            <a:spLocks noChangeShapeType="1"/>
          </p:cNvSpPr>
          <p:nvPr/>
        </p:nvSpPr>
        <p:spPr bwMode="auto">
          <a:xfrm>
            <a:off x="4267200" y="38862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76" name="Line 24"/>
          <p:cNvSpPr>
            <a:spLocks noChangeShapeType="1"/>
          </p:cNvSpPr>
          <p:nvPr/>
        </p:nvSpPr>
        <p:spPr bwMode="auto">
          <a:xfrm flipV="1">
            <a:off x="4724400" y="2819400"/>
            <a:ext cx="14478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77" name="Text Box 25"/>
          <p:cNvSpPr txBox="1">
            <a:spLocks noChangeArrowheads="1"/>
          </p:cNvSpPr>
          <p:nvPr/>
        </p:nvSpPr>
        <p:spPr bwMode="auto">
          <a:xfrm>
            <a:off x="6248400" y="3352800"/>
            <a:ext cx="1752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208</a:t>
            </a:r>
            <a:r>
              <a:rPr lang="en-US">
                <a:latin typeface="Arial" charset="0"/>
              </a:rPr>
              <a:t>Pb (stable)</a:t>
            </a:r>
          </a:p>
        </p:txBody>
      </p:sp>
      <p:sp>
        <p:nvSpPr>
          <p:cNvPr id="202778" name="Line 26"/>
          <p:cNvSpPr>
            <a:spLocks noChangeShapeType="1"/>
          </p:cNvSpPr>
          <p:nvPr/>
        </p:nvSpPr>
        <p:spPr bwMode="auto">
          <a:xfrm flipV="1">
            <a:off x="4724400" y="3581400"/>
            <a:ext cx="14478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79" name="Line 27"/>
          <p:cNvSpPr>
            <a:spLocks noChangeShapeType="1"/>
          </p:cNvSpPr>
          <p:nvPr/>
        </p:nvSpPr>
        <p:spPr bwMode="auto">
          <a:xfrm>
            <a:off x="6553200" y="2971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80" name="Text Box 28"/>
          <p:cNvSpPr txBox="1">
            <a:spLocks noChangeArrowheads="1"/>
          </p:cNvSpPr>
          <p:nvPr/>
        </p:nvSpPr>
        <p:spPr bwMode="auto">
          <a:xfrm>
            <a:off x="1828800" y="1524000"/>
            <a:ext cx="304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sz="2000" baseline="30000">
                <a:latin typeface="Arial" charset="0"/>
                <a:sym typeface="Symbol" pitchFamily="18" charset="2"/>
              </a:rPr>
              <a:t></a:t>
            </a:r>
            <a:endParaRPr lang="en-US" sz="2000">
              <a:latin typeface="Arial" charset="0"/>
              <a:sym typeface="Symbol" pitchFamily="18" charset="2"/>
            </a:endParaRPr>
          </a:p>
        </p:txBody>
      </p:sp>
      <p:sp>
        <p:nvSpPr>
          <p:cNvPr id="202781" name="Text Box 29"/>
          <p:cNvSpPr txBox="1">
            <a:spLocks noChangeArrowheads="1"/>
          </p:cNvSpPr>
          <p:nvPr/>
        </p:nvSpPr>
        <p:spPr bwMode="auto">
          <a:xfrm>
            <a:off x="1752600" y="22098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>
              <a:latin typeface="Arial" charset="0"/>
              <a:sym typeface="Symbol" pitchFamily="18" charset="2"/>
            </a:endParaRPr>
          </a:p>
        </p:txBody>
      </p:sp>
      <p:sp>
        <p:nvSpPr>
          <p:cNvPr id="202782" name="Text Box 30"/>
          <p:cNvSpPr txBox="1">
            <a:spLocks noChangeArrowheads="1"/>
          </p:cNvSpPr>
          <p:nvPr/>
        </p:nvSpPr>
        <p:spPr bwMode="auto">
          <a:xfrm>
            <a:off x="1752600" y="29718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>
              <a:latin typeface="Arial" charset="0"/>
              <a:sym typeface="Symbol" pitchFamily="18" charset="2"/>
            </a:endParaRPr>
          </a:p>
        </p:txBody>
      </p:sp>
      <p:sp>
        <p:nvSpPr>
          <p:cNvPr id="202783" name="Text Box 31"/>
          <p:cNvSpPr txBox="1">
            <a:spLocks noChangeArrowheads="1"/>
          </p:cNvSpPr>
          <p:nvPr/>
        </p:nvSpPr>
        <p:spPr bwMode="auto">
          <a:xfrm>
            <a:off x="1752600" y="37338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>
              <a:latin typeface="Arial" charset="0"/>
              <a:sym typeface="Symbol" pitchFamily="18" charset="2"/>
            </a:endParaRPr>
          </a:p>
        </p:txBody>
      </p:sp>
      <p:sp>
        <p:nvSpPr>
          <p:cNvPr id="202784" name="Text Box 32"/>
          <p:cNvSpPr txBox="1">
            <a:spLocks noChangeArrowheads="1"/>
          </p:cNvSpPr>
          <p:nvPr/>
        </p:nvSpPr>
        <p:spPr bwMode="auto">
          <a:xfrm>
            <a:off x="2743200" y="2209800"/>
            <a:ext cx="304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sz="2000" baseline="30000">
                <a:latin typeface="Arial" charset="0"/>
                <a:sym typeface="Symbol" pitchFamily="18" charset="2"/>
              </a:rPr>
              <a:t></a:t>
            </a:r>
            <a:endParaRPr lang="en-US" sz="2000">
              <a:latin typeface="Arial" charset="0"/>
              <a:sym typeface="Symbol" pitchFamily="18" charset="2"/>
            </a:endParaRPr>
          </a:p>
        </p:txBody>
      </p:sp>
      <p:sp>
        <p:nvSpPr>
          <p:cNvPr id="202785" name="Text Box 33"/>
          <p:cNvSpPr txBox="1">
            <a:spLocks noChangeArrowheads="1"/>
          </p:cNvSpPr>
          <p:nvPr/>
        </p:nvSpPr>
        <p:spPr bwMode="auto">
          <a:xfrm>
            <a:off x="4343400" y="15240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>
              <a:latin typeface="Arial" charset="0"/>
              <a:sym typeface="Symbol" pitchFamily="18" charset="2"/>
            </a:endParaRPr>
          </a:p>
        </p:txBody>
      </p:sp>
      <p:sp>
        <p:nvSpPr>
          <p:cNvPr id="202786" name="Text Box 34"/>
          <p:cNvSpPr txBox="1">
            <a:spLocks noChangeArrowheads="1"/>
          </p:cNvSpPr>
          <p:nvPr/>
        </p:nvSpPr>
        <p:spPr bwMode="auto">
          <a:xfrm>
            <a:off x="4419600" y="22860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>
              <a:latin typeface="Arial" charset="0"/>
              <a:sym typeface="Symbol" pitchFamily="18" charset="2"/>
            </a:endParaRPr>
          </a:p>
        </p:txBody>
      </p:sp>
      <p:sp>
        <p:nvSpPr>
          <p:cNvPr id="202787" name="Text Box 35"/>
          <p:cNvSpPr txBox="1">
            <a:spLocks noChangeArrowheads="1"/>
          </p:cNvSpPr>
          <p:nvPr/>
        </p:nvSpPr>
        <p:spPr bwMode="auto">
          <a:xfrm>
            <a:off x="3810000" y="30480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>
              <a:latin typeface="Arial" charset="0"/>
              <a:sym typeface="Symbol" pitchFamily="18" charset="2"/>
            </a:endParaRPr>
          </a:p>
        </p:txBody>
      </p:sp>
      <p:sp>
        <p:nvSpPr>
          <p:cNvPr id="202788" name="Text Box 36"/>
          <p:cNvSpPr txBox="1">
            <a:spLocks noChangeArrowheads="1"/>
          </p:cNvSpPr>
          <p:nvPr/>
        </p:nvSpPr>
        <p:spPr bwMode="auto">
          <a:xfrm>
            <a:off x="3886200" y="38862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>
              <a:latin typeface="Arial" charset="0"/>
              <a:sym typeface="Symbol" pitchFamily="18" charset="2"/>
            </a:endParaRPr>
          </a:p>
        </p:txBody>
      </p:sp>
      <p:sp>
        <p:nvSpPr>
          <p:cNvPr id="202789" name="Text Box 37"/>
          <p:cNvSpPr txBox="1">
            <a:spLocks noChangeArrowheads="1"/>
          </p:cNvSpPr>
          <p:nvPr/>
        </p:nvSpPr>
        <p:spPr bwMode="auto">
          <a:xfrm>
            <a:off x="5181600" y="27432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>
              <a:latin typeface="Arial" charset="0"/>
              <a:sym typeface="Symbol" pitchFamily="18" charset="2"/>
            </a:endParaRPr>
          </a:p>
        </p:txBody>
      </p:sp>
      <p:sp>
        <p:nvSpPr>
          <p:cNvPr id="202790" name="Text Box 38"/>
          <p:cNvSpPr txBox="1">
            <a:spLocks noChangeArrowheads="1"/>
          </p:cNvSpPr>
          <p:nvPr/>
        </p:nvSpPr>
        <p:spPr bwMode="auto">
          <a:xfrm>
            <a:off x="5410200" y="35052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>
              <a:latin typeface="Arial" charset="0"/>
              <a:sym typeface="Symbol" pitchFamily="18" charset="2"/>
            </a:endParaRP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7" name="Slide Number Placeholder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71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 baseline="30000"/>
              <a:t>Neptunium series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2037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4n + 1 series.</a:t>
            </a:r>
          </a:p>
          <a:p>
            <a:pPr>
              <a:lnSpc>
                <a:spcPct val="90000"/>
              </a:lnSpc>
            </a:pPr>
            <a:r>
              <a:rPr lang="en-US" sz="2800"/>
              <a:t>This series known a Np (neptunium) series, since Np is the longest lived member.</a:t>
            </a:r>
          </a:p>
          <a:p>
            <a:pPr>
              <a:lnSpc>
                <a:spcPct val="90000"/>
              </a:lnSpc>
            </a:pPr>
            <a:r>
              <a:rPr lang="en-US" sz="2800"/>
              <a:t>Only trace quantities of this isotopes are found in nature and its origins are quit different from those of the other series.</a:t>
            </a:r>
          </a:p>
          <a:p>
            <a:pPr>
              <a:lnSpc>
                <a:spcPct val="90000"/>
              </a:lnSpc>
            </a:pP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3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78" grpId="0"/>
      <p:bldP spid="203779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2478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Non of its member have sufficiently long half lives .</a:t>
            </a:r>
          </a:p>
          <a:p>
            <a:r>
              <a:rPr lang="en-US"/>
              <a:t>(4n+1) series ends with a bismuth (Bi) isotope and also it contains no isotope of radon. 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sz="4000" dirty="0" smtClean="0">
                <a:solidFill>
                  <a:schemeClr val="tx1"/>
                </a:solidFill>
                <a:sym typeface="Symbol" pitchFamily="18" charset="2"/>
              </a:rPr>
              <a:t/>
            </a:r>
            <a:br>
              <a:rPr lang="en-US" sz="4000" dirty="0" smtClean="0">
                <a:solidFill>
                  <a:schemeClr val="tx1"/>
                </a:solidFill>
                <a:sym typeface="Symbol" pitchFamily="18" charset="2"/>
              </a:rPr>
            </a:br>
            <a:r>
              <a:rPr lang="en-US" dirty="0" smtClean="0">
                <a:solidFill>
                  <a:schemeClr val="tx1"/>
                </a:solidFill>
                <a:sym typeface="Symbol" pitchFamily="18" charset="2"/>
              </a:rPr>
              <a:t/>
            </a:r>
            <a:br>
              <a:rPr lang="en-US" dirty="0" smtClean="0">
                <a:solidFill>
                  <a:schemeClr val="tx1"/>
                </a:solidFill>
                <a:sym typeface="Symbol" pitchFamily="18" charset="2"/>
              </a:rPr>
            </a:br>
            <a:r>
              <a:rPr lang="en-US" dirty="0" smtClean="0">
                <a:solidFill>
                  <a:schemeClr val="tx1"/>
                </a:solidFill>
                <a:sym typeface="Symbol" pitchFamily="18" charset="2"/>
              </a:rPr>
              <a:t/>
            </a:r>
            <a:br>
              <a:rPr lang="en-US" dirty="0" smtClean="0">
                <a:solidFill>
                  <a:schemeClr val="tx1"/>
                </a:solidFill>
                <a:sym typeface="Symbol" pitchFamily="18" charset="2"/>
              </a:rPr>
            </a:br>
            <a:r>
              <a:rPr lang="en-US" dirty="0" smtClean="0">
                <a:solidFill>
                  <a:schemeClr val="tx1"/>
                </a:solidFill>
                <a:sym typeface="Symbol" pitchFamily="18" charset="2"/>
              </a:rPr>
              <a:t/>
            </a:r>
            <a:br>
              <a:rPr lang="en-US" dirty="0" smtClean="0">
                <a:solidFill>
                  <a:schemeClr val="tx1"/>
                </a:solidFill>
                <a:sym typeface="Symbol" pitchFamily="18" charset="2"/>
              </a:rPr>
            </a:br>
            <a:r>
              <a:rPr lang="en-US" dirty="0" smtClean="0">
                <a:solidFill>
                  <a:schemeClr val="tx1"/>
                </a:solidFill>
                <a:sym typeface="Symbol" pitchFamily="18" charset="2"/>
              </a:rPr>
              <a:t/>
            </a:r>
            <a:br>
              <a:rPr lang="en-US" dirty="0" smtClean="0">
                <a:solidFill>
                  <a:schemeClr val="tx1"/>
                </a:solidFill>
                <a:sym typeface="Symbol" pitchFamily="18" charset="2"/>
              </a:rPr>
            </a:br>
            <a:r>
              <a:rPr lang="en-US" sz="4000" dirty="0" smtClean="0">
                <a:solidFill>
                  <a:schemeClr val="tx1"/>
                </a:solidFill>
                <a:sym typeface="Symbol" pitchFamily="18" charset="2"/>
              </a:rPr>
              <a:t>4n </a:t>
            </a:r>
            <a:r>
              <a:rPr lang="en-US" sz="4000" dirty="0">
                <a:solidFill>
                  <a:schemeClr val="tx1"/>
                </a:solidFill>
                <a:sym typeface="Symbol" pitchFamily="18" charset="2"/>
              </a:rPr>
              <a:t>+ 1) series</a:t>
            </a:r>
            <a:br>
              <a:rPr lang="en-US" sz="4000" dirty="0">
                <a:solidFill>
                  <a:schemeClr val="tx1"/>
                </a:solidFill>
                <a:sym typeface="Symbol" pitchFamily="18" charset="2"/>
              </a:rPr>
            </a:br>
            <a:endParaRPr lang="en-US" sz="4000" dirty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52" name="Footer Placeholder 5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1" name="Slide Number Placeholder 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204804" name="Text Box 4"/>
          <p:cNvSpPr txBox="1">
            <a:spLocks noChangeArrowheads="1"/>
          </p:cNvSpPr>
          <p:nvPr/>
        </p:nvSpPr>
        <p:spPr bwMode="auto">
          <a:xfrm>
            <a:off x="7200900" y="190023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05" name="Text Box 5"/>
          <p:cNvSpPr txBox="1">
            <a:spLocks noChangeArrowheads="1"/>
          </p:cNvSpPr>
          <p:nvPr/>
        </p:nvSpPr>
        <p:spPr bwMode="auto">
          <a:xfrm>
            <a:off x="457200" y="1647825"/>
            <a:ext cx="762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241</a:t>
            </a:r>
            <a:r>
              <a:rPr lang="en-US">
                <a:latin typeface="Arial" charset="0"/>
              </a:rPr>
              <a:t>Pu</a:t>
            </a:r>
            <a:endParaRPr lang="en-US" sz="1000">
              <a:latin typeface="Arial" charset="0"/>
            </a:endParaRPr>
          </a:p>
        </p:txBody>
      </p:sp>
      <p:sp>
        <p:nvSpPr>
          <p:cNvPr id="204806" name="Text Box 6"/>
          <p:cNvSpPr txBox="1">
            <a:spLocks noChangeArrowheads="1"/>
          </p:cNvSpPr>
          <p:nvPr/>
        </p:nvSpPr>
        <p:spPr bwMode="auto">
          <a:xfrm>
            <a:off x="1295400" y="2409825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237</a:t>
            </a:r>
            <a:r>
              <a:rPr lang="en-US">
                <a:latin typeface="Arial" charset="0"/>
              </a:rPr>
              <a:t>U</a:t>
            </a:r>
            <a:endParaRPr lang="en-US" sz="1000">
              <a:latin typeface="Arial" charset="0"/>
            </a:endParaRPr>
          </a:p>
        </p:txBody>
      </p:sp>
      <p:sp>
        <p:nvSpPr>
          <p:cNvPr id="204807" name="Text Box 7"/>
          <p:cNvSpPr txBox="1">
            <a:spLocks noChangeArrowheads="1"/>
          </p:cNvSpPr>
          <p:nvPr/>
        </p:nvSpPr>
        <p:spPr bwMode="auto">
          <a:xfrm>
            <a:off x="1371600" y="1662113"/>
            <a:ext cx="914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241</a:t>
            </a:r>
            <a:r>
              <a:rPr lang="en-US">
                <a:latin typeface="Arial" charset="0"/>
              </a:rPr>
              <a:t>Am</a:t>
            </a:r>
            <a:endParaRPr lang="en-US" sz="1000">
              <a:latin typeface="Arial" charset="0"/>
            </a:endParaRPr>
          </a:p>
        </p:txBody>
      </p:sp>
      <p:sp>
        <p:nvSpPr>
          <p:cNvPr id="204808" name="Text Box 8"/>
          <p:cNvSpPr txBox="1">
            <a:spLocks noChangeArrowheads="1"/>
          </p:cNvSpPr>
          <p:nvPr/>
        </p:nvSpPr>
        <p:spPr bwMode="auto">
          <a:xfrm>
            <a:off x="2243138" y="2009775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237</a:t>
            </a:r>
            <a:r>
              <a:rPr lang="en-US">
                <a:latin typeface="Arial" charset="0"/>
              </a:rPr>
              <a:t>Np</a:t>
            </a:r>
            <a:endParaRPr lang="en-US" sz="1000">
              <a:latin typeface="Arial" charset="0"/>
            </a:endParaRPr>
          </a:p>
        </p:txBody>
      </p:sp>
      <p:sp>
        <p:nvSpPr>
          <p:cNvPr id="204809" name="Text Box 9"/>
          <p:cNvSpPr txBox="1">
            <a:spLocks noChangeArrowheads="1"/>
          </p:cNvSpPr>
          <p:nvPr/>
        </p:nvSpPr>
        <p:spPr bwMode="auto">
          <a:xfrm>
            <a:off x="3124200" y="2028825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233</a:t>
            </a:r>
            <a:r>
              <a:rPr lang="en-US">
                <a:latin typeface="Arial" charset="0"/>
              </a:rPr>
              <a:t>Pa</a:t>
            </a:r>
            <a:endParaRPr lang="en-US" sz="1000">
              <a:latin typeface="Arial" charset="0"/>
            </a:endParaRPr>
          </a:p>
        </p:txBody>
      </p:sp>
      <p:sp>
        <p:nvSpPr>
          <p:cNvPr id="204810" name="Text Box 10"/>
          <p:cNvSpPr txBox="1">
            <a:spLocks noChangeArrowheads="1"/>
          </p:cNvSpPr>
          <p:nvPr/>
        </p:nvSpPr>
        <p:spPr bwMode="auto">
          <a:xfrm>
            <a:off x="4038600" y="2052638"/>
            <a:ext cx="685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233</a:t>
            </a:r>
            <a:r>
              <a:rPr lang="en-US">
                <a:latin typeface="Arial" charset="0"/>
              </a:rPr>
              <a:t>U</a:t>
            </a:r>
            <a:endParaRPr lang="en-US" sz="1000">
              <a:latin typeface="Arial" charset="0"/>
            </a:endParaRPr>
          </a:p>
        </p:txBody>
      </p:sp>
      <p:sp>
        <p:nvSpPr>
          <p:cNvPr id="204811" name="Text Box 11"/>
          <p:cNvSpPr txBox="1">
            <a:spLocks noChangeArrowheads="1"/>
          </p:cNvSpPr>
          <p:nvPr/>
        </p:nvSpPr>
        <p:spPr bwMode="auto">
          <a:xfrm>
            <a:off x="4724400" y="2028825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229</a:t>
            </a:r>
            <a:r>
              <a:rPr lang="en-US">
                <a:latin typeface="Arial" charset="0"/>
              </a:rPr>
              <a:t>Th</a:t>
            </a:r>
            <a:endParaRPr lang="en-US" sz="1000">
              <a:latin typeface="Arial" charset="0"/>
            </a:endParaRPr>
          </a:p>
        </p:txBody>
      </p:sp>
      <p:sp>
        <p:nvSpPr>
          <p:cNvPr id="204812" name="Text Box 12"/>
          <p:cNvSpPr txBox="1">
            <a:spLocks noChangeArrowheads="1"/>
          </p:cNvSpPr>
          <p:nvPr/>
        </p:nvSpPr>
        <p:spPr bwMode="auto">
          <a:xfrm>
            <a:off x="5581650" y="2028825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225</a:t>
            </a:r>
            <a:r>
              <a:rPr lang="en-US">
                <a:latin typeface="Arial" charset="0"/>
              </a:rPr>
              <a:t>Ra</a:t>
            </a:r>
            <a:endParaRPr lang="en-US" sz="1000">
              <a:latin typeface="Arial" charset="0"/>
            </a:endParaRPr>
          </a:p>
        </p:txBody>
      </p:sp>
      <p:sp>
        <p:nvSpPr>
          <p:cNvPr id="204813" name="Text Box 13"/>
          <p:cNvSpPr txBox="1">
            <a:spLocks noChangeArrowheads="1"/>
          </p:cNvSpPr>
          <p:nvPr/>
        </p:nvSpPr>
        <p:spPr bwMode="auto">
          <a:xfrm>
            <a:off x="6505575" y="2038350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225</a:t>
            </a:r>
            <a:r>
              <a:rPr lang="en-US">
                <a:latin typeface="Arial" charset="0"/>
              </a:rPr>
              <a:t>Ac</a:t>
            </a:r>
            <a:endParaRPr lang="en-US" sz="1000">
              <a:latin typeface="Arial" charset="0"/>
            </a:endParaRPr>
          </a:p>
        </p:txBody>
      </p:sp>
      <p:sp>
        <p:nvSpPr>
          <p:cNvPr id="204814" name="Text Box 14"/>
          <p:cNvSpPr txBox="1">
            <a:spLocks noChangeArrowheads="1"/>
          </p:cNvSpPr>
          <p:nvPr/>
        </p:nvSpPr>
        <p:spPr bwMode="auto">
          <a:xfrm>
            <a:off x="7467600" y="2028825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221</a:t>
            </a:r>
            <a:r>
              <a:rPr lang="en-US">
                <a:latin typeface="Arial" charset="0"/>
              </a:rPr>
              <a:t>Fr</a:t>
            </a:r>
            <a:endParaRPr lang="en-US" sz="1000">
              <a:latin typeface="Arial" charset="0"/>
            </a:endParaRPr>
          </a:p>
        </p:txBody>
      </p:sp>
      <p:sp>
        <p:nvSpPr>
          <p:cNvPr id="204815" name="Text Box 15"/>
          <p:cNvSpPr txBox="1">
            <a:spLocks noChangeArrowheads="1"/>
          </p:cNvSpPr>
          <p:nvPr/>
        </p:nvSpPr>
        <p:spPr bwMode="auto">
          <a:xfrm>
            <a:off x="7481888" y="3019425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217</a:t>
            </a:r>
            <a:r>
              <a:rPr lang="en-US">
                <a:latin typeface="Arial" charset="0"/>
              </a:rPr>
              <a:t>At</a:t>
            </a:r>
            <a:endParaRPr lang="en-US" sz="1000">
              <a:latin typeface="Arial" charset="0"/>
            </a:endParaRPr>
          </a:p>
        </p:txBody>
      </p:sp>
      <p:sp>
        <p:nvSpPr>
          <p:cNvPr id="204816" name="Text Box 16"/>
          <p:cNvSpPr txBox="1">
            <a:spLocks noChangeArrowheads="1"/>
          </p:cNvSpPr>
          <p:nvPr/>
        </p:nvSpPr>
        <p:spPr bwMode="auto">
          <a:xfrm>
            <a:off x="5715000" y="3019425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213</a:t>
            </a:r>
            <a:r>
              <a:rPr lang="en-US">
                <a:latin typeface="Arial" charset="0"/>
              </a:rPr>
              <a:t>Bi</a:t>
            </a:r>
            <a:endParaRPr lang="en-US" sz="1000">
              <a:latin typeface="Arial" charset="0"/>
            </a:endParaRPr>
          </a:p>
        </p:txBody>
      </p:sp>
      <p:sp>
        <p:nvSpPr>
          <p:cNvPr id="204817" name="Text Box 17"/>
          <p:cNvSpPr txBox="1">
            <a:spLocks noChangeArrowheads="1"/>
          </p:cNvSpPr>
          <p:nvPr/>
        </p:nvSpPr>
        <p:spPr bwMode="auto">
          <a:xfrm>
            <a:off x="4572000" y="3781425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213</a:t>
            </a:r>
            <a:r>
              <a:rPr lang="en-US">
                <a:latin typeface="Arial" charset="0"/>
              </a:rPr>
              <a:t>Po</a:t>
            </a:r>
            <a:endParaRPr lang="en-US" sz="1000">
              <a:latin typeface="Arial" charset="0"/>
            </a:endParaRPr>
          </a:p>
        </p:txBody>
      </p:sp>
      <p:sp>
        <p:nvSpPr>
          <p:cNvPr id="204818" name="Text Box 18"/>
          <p:cNvSpPr txBox="1">
            <a:spLocks noChangeArrowheads="1"/>
          </p:cNvSpPr>
          <p:nvPr/>
        </p:nvSpPr>
        <p:spPr bwMode="auto">
          <a:xfrm>
            <a:off x="6400800" y="3781425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209</a:t>
            </a:r>
            <a:r>
              <a:rPr lang="en-US">
                <a:latin typeface="Arial" charset="0"/>
              </a:rPr>
              <a:t>Tl</a:t>
            </a:r>
            <a:endParaRPr lang="en-US" sz="1000">
              <a:latin typeface="Arial" charset="0"/>
            </a:endParaRPr>
          </a:p>
        </p:txBody>
      </p:sp>
      <p:sp>
        <p:nvSpPr>
          <p:cNvPr id="204819" name="Text Box 19"/>
          <p:cNvSpPr txBox="1">
            <a:spLocks noChangeArrowheads="1"/>
          </p:cNvSpPr>
          <p:nvPr/>
        </p:nvSpPr>
        <p:spPr bwMode="auto">
          <a:xfrm>
            <a:off x="5562600" y="4543425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209</a:t>
            </a:r>
            <a:r>
              <a:rPr lang="en-US">
                <a:latin typeface="Arial" charset="0"/>
              </a:rPr>
              <a:t>Pb</a:t>
            </a:r>
            <a:endParaRPr lang="en-US" sz="1000">
              <a:latin typeface="Arial" charset="0"/>
            </a:endParaRPr>
          </a:p>
        </p:txBody>
      </p:sp>
      <p:sp>
        <p:nvSpPr>
          <p:cNvPr id="204820" name="Text Box 20"/>
          <p:cNvSpPr txBox="1">
            <a:spLocks noChangeArrowheads="1"/>
          </p:cNvSpPr>
          <p:nvPr/>
        </p:nvSpPr>
        <p:spPr bwMode="auto">
          <a:xfrm>
            <a:off x="5538788" y="5424488"/>
            <a:ext cx="838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209</a:t>
            </a:r>
            <a:r>
              <a:rPr lang="en-US">
                <a:latin typeface="Arial" charset="0"/>
              </a:rPr>
              <a:t>Bi</a:t>
            </a:r>
            <a:endParaRPr lang="en-US" sz="1000">
              <a:latin typeface="Arial" charset="0"/>
            </a:endParaRPr>
          </a:p>
        </p:txBody>
      </p:sp>
      <p:sp>
        <p:nvSpPr>
          <p:cNvPr id="204821" name="Line 21"/>
          <p:cNvSpPr>
            <a:spLocks noChangeShapeType="1"/>
          </p:cNvSpPr>
          <p:nvPr/>
        </p:nvSpPr>
        <p:spPr bwMode="auto">
          <a:xfrm>
            <a:off x="1143000" y="1828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22" name="Line 22"/>
          <p:cNvSpPr>
            <a:spLocks noChangeShapeType="1"/>
          </p:cNvSpPr>
          <p:nvPr/>
        </p:nvSpPr>
        <p:spPr bwMode="auto">
          <a:xfrm>
            <a:off x="2057400" y="1952625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23" name="Line 23"/>
          <p:cNvSpPr>
            <a:spLocks noChangeShapeType="1"/>
          </p:cNvSpPr>
          <p:nvPr/>
        </p:nvSpPr>
        <p:spPr bwMode="auto">
          <a:xfrm flipV="1">
            <a:off x="1981200" y="2257425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24" name="Line 24"/>
          <p:cNvSpPr>
            <a:spLocks noChangeShapeType="1"/>
          </p:cNvSpPr>
          <p:nvPr/>
        </p:nvSpPr>
        <p:spPr bwMode="auto">
          <a:xfrm>
            <a:off x="2943225" y="21812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25" name="Line 25"/>
          <p:cNvSpPr>
            <a:spLocks noChangeShapeType="1"/>
          </p:cNvSpPr>
          <p:nvPr/>
        </p:nvSpPr>
        <p:spPr bwMode="auto">
          <a:xfrm>
            <a:off x="3810000" y="21812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26" name="Line 26"/>
          <p:cNvSpPr>
            <a:spLocks noChangeShapeType="1"/>
          </p:cNvSpPr>
          <p:nvPr/>
        </p:nvSpPr>
        <p:spPr bwMode="auto">
          <a:xfrm>
            <a:off x="4572000" y="21812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27" name="Line 27"/>
          <p:cNvSpPr>
            <a:spLocks noChangeShapeType="1"/>
          </p:cNvSpPr>
          <p:nvPr/>
        </p:nvSpPr>
        <p:spPr bwMode="auto">
          <a:xfrm>
            <a:off x="6238875" y="21812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28" name="Line 28"/>
          <p:cNvSpPr>
            <a:spLocks noChangeShapeType="1"/>
          </p:cNvSpPr>
          <p:nvPr/>
        </p:nvSpPr>
        <p:spPr bwMode="auto">
          <a:xfrm>
            <a:off x="7239000" y="2195513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29" name="Line 29"/>
          <p:cNvSpPr>
            <a:spLocks noChangeShapeType="1"/>
          </p:cNvSpPr>
          <p:nvPr/>
        </p:nvSpPr>
        <p:spPr bwMode="auto">
          <a:xfrm>
            <a:off x="7829550" y="2362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30" name="Line 30"/>
          <p:cNvSpPr>
            <a:spLocks noChangeShapeType="1"/>
          </p:cNvSpPr>
          <p:nvPr/>
        </p:nvSpPr>
        <p:spPr bwMode="auto">
          <a:xfrm flipH="1">
            <a:off x="6586538" y="3167063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31" name="Line 31"/>
          <p:cNvSpPr>
            <a:spLocks noChangeShapeType="1"/>
          </p:cNvSpPr>
          <p:nvPr/>
        </p:nvSpPr>
        <p:spPr bwMode="auto">
          <a:xfrm>
            <a:off x="5334000" y="218122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32" name="Line 32"/>
          <p:cNvSpPr>
            <a:spLocks noChangeShapeType="1"/>
          </p:cNvSpPr>
          <p:nvPr/>
        </p:nvSpPr>
        <p:spPr bwMode="auto">
          <a:xfrm flipH="1">
            <a:off x="5334000" y="3324225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33" name="Line 33"/>
          <p:cNvSpPr>
            <a:spLocks noChangeShapeType="1"/>
          </p:cNvSpPr>
          <p:nvPr/>
        </p:nvSpPr>
        <p:spPr bwMode="auto">
          <a:xfrm>
            <a:off x="6096000" y="3324225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34" name="Line 34"/>
          <p:cNvSpPr>
            <a:spLocks noChangeShapeType="1"/>
          </p:cNvSpPr>
          <p:nvPr/>
        </p:nvSpPr>
        <p:spPr bwMode="auto">
          <a:xfrm>
            <a:off x="5181600" y="4162425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35" name="Line 35"/>
          <p:cNvSpPr>
            <a:spLocks noChangeShapeType="1"/>
          </p:cNvSpPr>
          <p:nvPr/>
        </p:nvSpPr>
        <p:spPr bwMode="auto">
          <a:xfrm flipH="1">
            <a:off x="6172200" y="4162425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36" name="Line 36"/>
          <p:cNvSpPr>
            <a:spLocks noChangeShapeType="1"/>
          </p:cNvSpPr>
          <p:nvPr/>
        </p:nvSpPr>
        <p:spPr bwMode="auto">
          <a:xfrm>
            <a:off x="5867400" y="49244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37" name="Text Box 37"/>
          <p:cNvSpPr txBox="1">
            <a:spLocks noChangeArrowheads="1"/>
          </p:cNvSpPr>
          <p:nvPr/>
        </p:nvSpPr>
        <p:spPr bwMode="auto">
          <a:xfrm>
            <a:off x="1066800" y="14954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38" name="Text Box 38"/>
          <p:cNvSpPr txBox="1">
            <a:spLocks noChangeArrowheads="1"/>
          </p:cNvSpPr>
          <p:nvPr/>
        </p:nvSpPr>
        <p:spPr bwMode="auto">
          <a:xfrm>
            <a:off x="2133600" y="16478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39" name="Text Box 39"/>
          <p:cNvSpPr txBox="1">
            <a:spLocks noChangeArrowheads="1"/>
          </p:cNvSpPr>
          <p:nvPr/>
        </p:nvSpPr>
        <p:spPr bwMode="auto">
          <a:xfrm>
            <a:off x="2057400" y="24860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40" name="Text Box 40"/>
          <p:cNvSpPr txBox="1">
            <a:spLocks noChangeArrowheads="1"/>
          </p:cNvSpPr>
          <p:nvPr/>
        </p:nvSpPr>
        <p:spPr bwMode="auto">
          <a:xfrm>
            <a:off x="2819400" y="17240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41" name="Text Box 41"/>
          <p:cNvSpPr txBox="1">
            <a:spLocks noChangeArrowheads="1"/>
          </p:cNvSpPr>
          <p:nvPr/>
        </p:nvSpPr>
        <p:spPr bwMode="auto">
          <a:xfrm>
            <a:off x="3733800" y="180975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42" name="Text Box 42"/>
          <p:cNvSpPr txBox="1">
            <a:spLocks noChangeArrowheads="1"/>
          </p:cNvSpPr>
          <p:nvPr/>
        </p:nvSpPr>
        <p:spPr bwMode="auto">
          <a:xfrm>
            <a:off x="4495800" y="17240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43" name="Text Box 43"/>
          <p:cNvSpPr txBox="1">
            <a:spLocks noChangeArrowheads="1"/>
          </p:cNvSpPr>
          <p:nvPr/>
        </p:nvSpPr>
        <p:spPr bwMode="auto">
          <a:xfrm>
            <a:off x="5334000" y="18002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44" name="Text Box 44"/>
          <p:cNvSpPr txBox="1">
            <a:spLocks noChangeArrowheads="1"/>
          </p:cNvSpPr>
          <p:nvPr/>
        </p:nvSpPr>
        <p:spPr bwMode="auto">
          <a:xfrm>
            <a:off x="6172200" y="18002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45" name="Text Box 45"/>
          <p:cNvSpPr txBox="1">
            <a:spLocks noChangeArrowheads="1"/>
          </p:cNvSpPr>
          <p:nvPr/>
        </p:nvSpPr>
        <p:spPr bwMode="auto">
          <a:xfrm>
            <a:off x="7924800" y="24098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46" name="Text Box 46"/>
          <p:cNvSpPr txBox="1">
            <a:spLocks noChangeArrowheads="1"/>
          </p:cNvSpPr>
          <p:nvPr/>
        </p:nvSpPr>
        <p:spPr bwMode="auto">
          <a:xfrm>
            <a:off x="6705600" y="27146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47" name="Text Box 47"/>
          <p:cNvSpPr txBox="1">
            <a:spLocks noChangeArrowheads="1"/>
          </p:cNvSpPr>
          <p:nvPr/>
        </p:nvSpPr>
        <p:spPr bwMode="auto">
          <a:xfrm>
            <a:off x="5029200" y="42386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48" name="Text Box 48"/>
          <p:cNvSpPr txBox="1">
            <a:spLocks noChangeArrowheads="1"/>
          </p:cNvSpPr>
          <p:nvPr/>
        </p:nvSpPr>
        <p:spPr bwMode="auto">
          <a:xfrm>
            <a:off x="5257800" y="31718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49" name="Text Box 49"/>
          <p:cNvSpPr txBox="1">
            <a:spLocks noChangeArrowheads="1"/>
          </p:cNvSpPr>
          <p:nvPr/>
        </p:nvSpPr>
        <p:spPr bwMode="auto">
          <a:xfrm>
            <a:off x="6400800" y="42386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50" name="Text Box 50"/>
          <p:cNvSpPr txBox="1">
            <a:spLocks noChangeArrowheads="1"/>
          </p:cNvSpPr>
          <p:nvPr/>
        </p:nvSpPr>
        <p:spPr bwMode="auto">
          <a:xfrm>
            <a:off x="5943600" y="49244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51" name="Text Box 51"/>
          <p:cNvSpPr txBox="1">
            <a:spLocks noChangeArrowheads="1"/>
          </p:cNvSpPr>
          <p:nvPr/>
        </p:nvSpPr>
        <p:spPr bwMode="auto">
          <a:xfrm>
            <a:off x="6324600" y="32480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 baseline="30000"/>
              <a:t>238</a:t>
            </a:r>
            <a:r>
              <a:rPr lang="en-US"/>
              <a:t>U (Uranium Series)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2058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447800"/>
            <a:ext cx="7772400" cy="4953000"/>
          </a:xfrm>
        </p:spPr>
        <p:txBody>
          <a:bodyPr/>
          <a:lstStyle/>
          <a:p>
            <a:r>
              <a:rPr lang="en-US"/>
              <a:t>(4n + 2) series 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2" name="Text Box 4"/>
          <p:cNvSpPr txBox="1">
            <a:spLocks noChangeArrowheads="1"/>
          </p:cNvSpPr>
          <p:nvPr/>
        </p:nvSpPr>
        <p:spPr bwMode="auto">
          <a:xfrm>
            <a:off x="1143000" y="1066800"/>
            <a:ext cx="1676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238</a:t>
            </a:r>
            <a:r>
              <a:rPr lang="en-US">
                <a:latin typeface="Arial" charset="0"/>
              </a:rPr>
              <a:t>U </a:t>
            </a:r>
            <a:r>
              <a:rPr lang="en-US" sz="1000">
                <a:latin typeface="Arial" charset="0"/>
              </a:rPr>
              <a:t>(4.51 x 10</a:t>
            </a:r>
            <a:r>
              <a:rPr lang="en-US" sz="1000" baseline="30000">
                <a:latin typeface="Arial" charset="0"/>
              </a:rPr>
              <a:t>9</a:t>
            </a:r>
            <a:r>
              <a:rPr lang="en-US" sz="1000">
                <a:latin typeface="Arial" charset="0"/>
              </a:rPr>
              <a:t> y)</a:t>
            </a:r>
          </a:p>
        </p:txBody>
      </p:sp>
      <p:sp>
        <p:nvSpPr>
          <p:cNvPr id="206853" name="Text Box 5"/>
          <p:cNvSpPr txBox="1">
            <a:spLocks noChangeArrowheads="1"/>
          </p:cNvSpPr>
          <p:nvPr/>
        </p:nvSpPr>
        <p:spPr bwMode="auto">
          <a:xfrm>
            <a:off x="1143000" y="1752600"/>
            <a:ext cx="1295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234</a:t>
            </a:r>
            <a:r>
              <a:rPr lang="en-US">
                <a:latin typeface="Arial" charset="0"/>
              </a:rPr>
              <a:t>Th</a:t>
            </a:r>
            <a:r>
              <a:rPr lang="en-US" baseline="30000">
                <a:latin typeface="Arial" charset="0"/>
              </a:rPr>
              <a:t> (24.1 d)</a:t>
            </a:r>
            <a:endParaRPr lang="en-US">
              <a:latin typeface="Arial" charset="0"/>
            </a:endParaRPr>
          </a:p>
        </p:txBody>
      </p:sp>
      <p:sp>
        <p:nvSpPr>
          <p:cNvPr id="206854" name="Text Box 6"/>
          <p:cNvSpPr txBox="1">
            <a:spLocks noChangeArrowheads="1"/>
          </p:cNvSpPr>
          <p:nvPr/>
        </p:nvSpPr>
        <p:spPr bwMode="auto">
          <a:xfrm>
            <a:off x="1143000" y="2438400"/>
            <a:ext cx="144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234</a:t>
            </a:r>
            <a:r>
              <a:rPr lang="en-US">
                <a:latin typeface="Arial" charset="0"/>
              </a:rPr>
              <a:t>Pa </a:t>
            </a:r>
            <a:r>
              <a:rPr lang="en-US" sz="1000">
                <a:latin typeface="Arial" charset="0"/>
              </a:rPr>
              <a:t>(1.18 mon)</a:t>
            </a:r>
          </a:p>
        </p:txBody>
      </p:sp>
      <p:sp>
        <p:nvSpPr>
          <p:cNvPr id="206855" name="Text Box 7"/>
          <p:cNvSpPr txBox="1">
            <a:spLocks noChangeArrowheads="1"/>
          </p:cNvSpPr>
          <p:nvPr/>
        </p:nvSpPr>
        <p:spPr bwMode="auto">
          <a:xfrm>
            <a:off x="1143000" y="3200400"/>
            <a:ext cx="762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234</a:t>
            </a:r>
            <a:r>
              <a:rPr lang="en-US">
                <a:latin typeface="Arial" charset="0"/>
              </a:rPr>
              <a:t>U</a:t>
            </a:r>
            <a:endParaRPr lang="en-US" sz="1000">
              <a:latin typeface="Arial" charset="0"/>
            </a:endParaRPr>
          </a:p>
        </p:txBody>
      </p:sp>
      <p:sp>
        <p:nvSpPr>
          <p:cNvPr id="206856" name="Text Box 8"/>
          <p:cNvSpPr txBox="1">
            <a:spLocks noChangeArrowheads="1"/>
          </p:cNvSpPr>
          <p:nvPr/>
        </p:nvSpPr>
        <p:spPr bwMode="auto">
          <a:xfrm>
            <a:off x="1143000" y="4038600"/>
            <a:ext cx="152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230</a:t>
            </a:r>
            <a:r>
              <a:rPr lang="en-US">
                <a:latin typeface="Arial" charset="0"/>
              </a:rPr>
              <a:t>Th </a:t>
            </a:r>
            <a:r>
              <a:rPr lang="en-US" sz="1000">
                <a:latin typeface="Arial" charset="0"/>
              </a:rPr>
              <a:t>(7.52 x 10</a:t>
            </a:r>
            <a:r>
              <a:rPr lang="en-US" sz="1000" baseline="30000">
                <a:latin typeface="Arial" charset="0"/>
              </a:rPr>
              <a:t>4</a:t>
            </a:r>
            <a:r>
              <a:rPr lang="en-US" sz="1000">
                <a:latin typeface="Arial" charset="0"/>
              </a:rPr>
              <a:t>) y</a:t>
            </a:r>
          </a:p>
        </p:txBody>
      </p:sp>
      <p:sp>
        <p:nvSpPr>
          <p:cNvPr id="206857" name="Text Box 9"/>
          <p:cNvSpPr txBox="1">
            <a:spLocks noChangeArrowheads="1"/>
          </p:cNvSpPr>
          <p:nvPr/>
        </p:nvSpPr>
        <p:spPr bwMode="auto">
          <a:xfrm>
            <a:off x="3733800" y="1066800"/>
            <a:ext cx="1905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226</a:t>
            </a:r>
            <a:r>
              <a:rPr lang="en-US">
                <a:latin typeface="Arial" charset="0"/>
              </a:rPr>
              <a:t>Ra (1622 y)</a:t>
            </a:r>
          </a:p>
        </p:txBody>
      </p:sp>
      <p:sp>
        <p:nvSpPr>
          <p:cNvPr id="206858" name="Text Box 10"/>
          <p:cNvSpPr txBox="1">
            <a:spLocks noChangeArrowheads="1"/>
          </p:cNvSpPr>
          <p:nvPr/>
        </p:nvSpPr>
        <p:spPr bwMode="auto">
          <a:xfrm>
            <a:off x="3733800" y="1752600"/>
            <a:ext cx="1981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222</a:t>
            </a:r>
            <a:r>
              <a:rPr lang="en-US">
                <a:latin typeface="Arial" charset="0"/>
              </a:rPr>
              <a:t>Rn (3.825 d)</a:t>
            </a:r>
          </a:p>
        </p:txBody>
      </p:sp>
      <p:sp>
        <p:nvSpPr>
          <p:cNvPr id="206859" name="Text Box 11"/>
          <p:cNvSpPr txBox="1">
            <a:spLocks noChangeArrowheads="1"/>
          </p:cNvSpPr>
          <p:nvPr/>
        </p:nvSpPr>
        <p:spPr bwMode="auto">
          <a:xfrm>
            <a:off x="3505200" y="2514600"/>
            <a:ext cx="137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218</a:t>
            </a:r>
            <a:r>
              <a:rPr lang="en-US">
                <a:latin typeface="Arial" charset="0"/>
              </a:rPr>
              <a:t>Po </a:t>
            </a:r>
            <a:r>
              <a:rPr lang="en-US" sz="1000">
                <a:latin typeface="Arial" charset="0"/>
              </a:rPr>
              <a:t>(3.05 mo)</a:t>
            </a:r>
          </a:p>
        </p:txBody>
      </p:sp>
      <p:sp>
        <p:nvSpPr>
          <p:cNvPr id="206860" name="Text Box 12"/>
          <p:cNvSpPr txBox="1">
            <a:spLocks noChangeArrowheads="1"/>
          </p:cNvSpPr>
          <p:nvPr/>
        </p:nvSpPr>
        <p:spPr bwMode="auto">
          <a:xfrm>
            <a:off x="3733800" y="3429000"/>
            <a:ext cx="137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214</a:t>
            </a:r>
            <a:r>
              <a:rPr lang="en-US">
                <a:latin typeface="Arial" charset="0"/>
              </a:rPr>
              <a:t>Pb </a:t>
            </a:r>
            <a:r>
              <a:rPr lang="en-US" sz="1000">
                <a:latin typeface="Arial" charset="0"/>
              </a:rPr>
              <a:t>(26.8mon)</a:t>
            </a:r>
          </a:p>
        </p:txBody>
      </p:sp>
      <p:sp>
        <p:nvSpPr>
          <p:cNvPr id="206861" name="Text Box 13"/>
          <p:cNvSpPr txBox="1">
            <a:spLocks noChangeArrowheads="1"/>
          </p:cNvSpPr>
          <p:nvPr/>
        </p:nvSpPr>
        <p:spPr bwMode="auto">
          <a:xfrm>
            <a:off x="5029200" y="2360613"/>
            <a:ext cx="1143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218</a:t>
            </a:r>
            <a:r>
              <a:rPr lang="en-US">
                <a:latin typeface="Arial" charset="0"/>
              </a:rPr>
              <a:t>At </a:t>
            </a:r>
            <a:r>
              <a:rPr lang="en-US" sz="1000">
                <a:latin typeface="Arial" charset="0"/>
              </a:rPr>
              <a:t>(1.3 s)</a:t>
            </a:r>
          </a:p>
        </p:txBody>
      </p:sp>
      <p:sp>
        <p:nvSpPr>
          <p:cNvPr id="206862" name="Line 14"/>
          <p:cNvSpPr>
            <a:spLocks noChangeShapeType="1"/>
          </p:cNvSpPr>
          <p:nvPr/>
        </p:nvSpPr>
        <p:spPr bwMode="auto">
          <a:xfrm>
            <a:off x="1447800" y="1447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63" name="Line 15"/>
          <p:cNvSpPr>
            <a:spLocks noChangeShapeType="1"/>
          </p:cNvSpPr>
          <p:nvPr/>
        </p:nvSpPr>
        <p:spPr bwMode="auto">
          <a:xfrm>
            <a:off x="1447800" y="20574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64" name="Line 16"/>
          <p:cNvSpPr>
            <a:spLocks noChangeShapeType="1"/>
          </p:cNvSpPr>
          <p:nvPr/>
        </p:nvSpPr>
        <p:spPr bwMode="auto">
          <a:xfrm>
            <a:off x="1447800" y="27432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65" name="Line 17"/>
          <p:cNvSpPr>
            <a:spLocks noChangeShapeType="1"/>
          </p:cNvSpPr>
          <p:nvPr/>
        </p:nvSpPr>
        <p:spPr bwMode="auto">
          <a:xfrm>
            <a:off x="1447800" y="35814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66" name="Line 18"/>
          <p:cNvSpPr>
            <a:spLocks noChangeShapeType="1"/>
          </p:cNvSpPr>
          <p:nvPr/>
        </p:nvSpPr>
        <p:spPr bwMode="auto">
          <a:xfrm flipV="1">
            <a:off x="1905000" y="1219200"/>
            <a:ext cx="1752600" cy="2895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67" name="Line 19"/>
          <p:cNvSpPr>
            <a:spLocks noChangeShapeType="1"/>
          </p:cNvSpPr>
          <p:nvPr/>
        </p:nvSpPr>
        <p:spPr bwMode="auto">
          <a:xfrm>
            <a:off x="4038600" y="1447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68" name="Line 20"/>
          <p:cNvSpPr>
            <a:spLocks noChangeShapeType="1"/>
          </p:cNvSpPr>
          <p:nvPr/>
        </p:nvSpPr>
        <p:spPr bwMode="auto">
          <a:xfrm>
            <a:off x="4038600" y="20574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69" name="Line 21"/>
          <p:cNvSpPr>
            <a:spLocks noChangeShapeType="1"/>
          </p:cNvSpPr>
          <p:nvPr/>
        </p:nvSpPr>
        <p:spPr bwMode="auto">
          <a:xfrm>
            <a:off x="4038600" y="2971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70" name="Text Box 22"/>
          <p:cNvSpPr txBox="1">
            <a:spLocks noChangeArrowheads="1"/>
          </p:cNvSpPr>
          <p:nvPr/>
        </p:nvSpPr>
        <p:spPr bwMode="auto">
          <a:xfrm>
            <a:off x="5105400" y="3122613"/>
            <a:ext cx="1447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214</a:t>
            </a:r>
            <a:r>
              <a:rPr lang="en-US">
                <a:latin typeface="Arial" charset="0"/>
              </a:rPr>
              <a:t>Bi </a:t>
            </a:r>
            <a:r>
              <a:rPr lang="en-US" sz="1000">
                <a:latin typeface="Arial" charset="0"/>
              </a:rPr>
              <a:t>(19.7 mon)</a:t>
            </a:r>
          </a:p>
        </p:txBody>
      </p:sp>
      <p:sp>
        <p:nvSpPr>
          <p:cNvPr id="206871" name="Text Box 23"/>
          <p:cNvSpPr txBox="1">
            <a:spLocks noChangeArrowheads="1"/>
          </p:cNvSpPr>
          <p:nvPr/>
        </p:nvSpPr>
        <p:spPr bwMode="auto">
          <a:xfrm>
            <a:off x="5105400" y="4037013"/>
            <a:ext cx="1371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210</a:t>
            </a:r>
            <a:r>
              <a:rPr lang="en-US">
                <a:latin typeface="Arial" charset="0"/>
              </a:rPr>
              <a:t>Tl </a:t>
            </a:r>
            <a:r>
              <a:rPr lang="en-US" sz="1000">
                <a:latin typeface="Arial" charset="0"/>
              </a:rPr>
              <a:t>(1.32 mon)</a:t>
            </a:r>
          </a:p>
        </p:txBody>
      </p:sp>
      <p:sp>
        <p:nvSpPr>
          <p:cNvPr id="206872" name="Text Box 24"/>
          <p:cNvSpPr txBox="1">
            <a:spLocks noChangeArrowheads="1"/>
          </p:cNvSpPr>
          <p:nvPr/>
        </p:nvSpPr>
        <p:spPr bwMode="auto">
          <a:xfrm>
            <a:off x="6781800" y="2741613"/>
            <a:ext cx="1600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214</a:t>
            </a:r>
            <a:r>
              <a:rPr lang="en-US">
                <a:latin typeface="Arial" charset="0"/>
              </a:rPr>
              <a:t>Po </a:t>
            </a:r>
            <a:r>
              <a:rPr lang="en-US" sz="1000">
                <a:latin typeface="Arial" charset="0"/>
              </a:rPr>
              <a:t>(1.6 x 10</a:t>
            </a:r>
            <a:r>
              <a:rPr lang="en-US" sz="1000" baseline="30000">
                <a:latin typeface="Arial" charset="0"/>
              </a:rPr>
              <a:t>-4</a:t>
            </a:r>
            <a:r>
              <a:rPr lang="en-US" sz="1000">
                <a:latin typeface="Arial" charset="0"/>
              </a:rPr>
              <a:t> s)</a:t>
            </a:r>
          </a:p>
        </p:txBody>
      </p:sp>
      <p:sp>
        <p:nvSpPr>
          <p:cNvPr id="206873" name="Text Box 25"/>
          <p:cNvSpPr txBox="1">
            <a:spLocks noChangeArrowheads="1"/>
          </p:cNvSpPr>
          <p:nvPr/>
        </p:nvSpPr>
        <p:spPr bwMode="auto">
          <a:xfrm>
            <a:off x="6781800" y="3732213"/>
            <a:ext cx="1143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210</a:t>
            </a:r>
            <a:r>
              <a:rPr lang="en-US">
                <a:latin typeface="Arial" charset="0"/>
              </a:rPr>
              <a:t>Pb </a:t>
            </a:r>
            <a:r>
              <a:rPr lang="en-US" sz="1000">
                <a:latin typeface="Arial" charset="0"/>
              </a:rPr>
              <a:t>(22 y)</a:t>
            </a:r>
          </a:p>
        </p:txBody>
      </p:sp>
      <p:sp>
        <p:nvSpPr>
          <p:cNvPr id="206874" name="Line 26"/>
          <p:cNvSpPr>
            <a:spLocks noChangeShapeType="1"/>
          </p:cNvSpPr>
          <p:nvPr/>
        </p:nvSpPr>
        <p:spPr bwMode="auto">
          <a:xfrm flipV="1">
            <a:off x="4495800" y="2513013"/>
            <a:ext cx="533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75" name="Line 27"/>
          <p:cNvSpPr>
            <a:spLocks noChangeShapeType="1"/>
          </p:cNvSpPr>
          <p:nvPr/>
        </p:nvSpPr>
        <p:spPr bwMode="auto">
          <a:xfrm flipV="1">
            <a:off x="4419600" y="3275013"/>
            <a:ext cx="685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76" name="Line 28"/>
          <p:cNvSpPr>
            <a:spLocks noChangeShapeType="1"/>
          </p:cNvSpPr>
          <p:nvPr/>
        </p:nvSpPr>
        <p:spPr bwMode="auto">
          <a:xfrm>
            <a:off x="5410200" y="266541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77" name="Line 29"/>
          <p:cNvSpPr>
            <a:spLocks noChangeShapeType="1"/>
          </p:cNvSpPr>
          <p:nvPr/>
        </p:nvSpPr>
        <p:spPr bwMode="auto">
          <a:xfrm flipV="1">
            <a:off x="6019800" y="2970213"/>
            <a:ext cx="762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78" name="Line 30"/>
          <p:cNvSpPr>
            <a:spLocks noChangeShapeType="1"/>
          </p:cNvSpPr>
          <p:nvPr/>
        </p:nvSpPr>
        <p:spPr bwMode="auto">
          <a:xfrm>
            <a:off x="5410200" y="350361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79" name="Line 31"/>
          <p:cNvSpPr>
            <a:spLocks noChangeShapeType="1"/>
          </p:cNvSpPr>
          <p:nvPr/>
        </p:nvSpPr>
        <p:spPr bwMode="auto">
          <a:xfrm flipV="1">
            <a:off x="6096000" y="3884613"/>
            <a:ext cx="609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80" name="Line 32"/>
          <p:cNvSpPr>
            <a:spLocks noChangeShapeType="1"/>
          </p:cNvSpPr>
          <p:nvPr/>
        </p:nvSpPr>
        <p:spPr bwMode="auto">
          <a:xfrm>
            <a:off x="7162800" y="3122613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81" name="Text Box 33"/>
          <p:cNvSpPr txBox="1">
            <a:spLocks noChangeArrowheads="1"/>
          </p:cNvSpPr>
          <p:nvPr/>
        </p:nvSpPr>
        <p:spPr bwMode="auto">
          <a:xfrm>
            <a:off x="6858000" y="4367213"/>
            <a:ext cx="1219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210</a:t>
            </a:r>
            <a:r>
              <a:rPr lang="en-US">
                <a:latin typeface="Arial" charset="0"/>
              </a:rPr>
              <a:t>Bi </a:t>
            </a:r>
            <a:r>
              <a:rPr lang="en-US" sz="1000">
                <a:latin typeface="Arial" charset="0"/>
              </a:rPr>
              <a:t>(5.01 d)</a:t>
            </a:r>
          </a:p>
        </p:txBody>
      </p:sp>
      <p:sp>
        <p:nvSpPr>
          <p:cNvPr id="206882" name="Text Box 34"/>
          <p:cNvSpPr txBox="1">
            <a:spLocks noChangeArrowheads="1"/>
          </p:cNvSpPr>
          <p:nvPr/>
        </p:nvSpPr>
        <p:spPr bwMode="auto">
          <a:xfrm>
            <a:off x="6858000" y="4951413"/>
            <a:ext cx="1371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210</a:t>
            </a:r>
            <a:r>
              <a:rPr lang="en-US">
                <a:latin typeface="Arial" charset="0"/>
              </a:rPr>
              <a:t>Po </a:t>
            </a:r>
            <a:r>
              <a:rPr lang="en-US" sz="1000">
                <a:latin typeface="Arial" charset="0"/>
              </a:rPr>
              <a:t>(138.4 d)</a:t>
            </a:r>
          </a:p>
        </p:txBody>
      </p:sp>
      <p:sp>
        <p:nvSpPr>
          <p:cNvPr id="206883" name="Line 35"/>
          <p:cNvSpPr>
            <a:spLocks noChangeShapeType="1"/>
          </p:cNvSpPr>
          <p:nvPr/>
        </p:nvSpPr>
        <p:spPr bwMode="auto">
          <a:xfrm>
            <a:off x="7086600" y="41132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84" name="Line 36"/>
          <p:cNvSpPr>
            <a:spLocks noChangeShapeType="1"/>
          </p:cNvSpPr>
          <p:nvPr/>
        </p:nvSpPr>
        <p:spPr bwMode="auto">
          <a:xfrm>
            <a:off x="7162800" y="47228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85" name="Text Box 37"/>
          <p:cNvSpPr txBox="1">
            <a:spLocks noChangeArrowheads="1"/>
          </p:cNvSpPr>
          <p:nvPr/>
        </p:nvSpPr>
        <p:spPr bwMode="auto">
          <a:xfrm>
            <a:off x="4876800" y="4646613"/>
            <a:ext cx="1371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206</a:t>
            </a:r>
            <a:r>
              <a:rPr lang="en-US">
                <a:latin typeface="Arial" charset="0"/>
              </a:rPr>
              <a:t>Hg </a:t>
            </a:r>
            <a:r>
              <a:rPr lang="en-US" sz="1000">
                <a:latin typeface="Arial" charset="0"/>
              </a:rPr>
              <a:t>(8.5  mon)</a:t>
            </a:r>
          </a:p>
        </p:txBody>
      </p:sp>
      <p:sp>
        <p:nvSpPr>
          <p:cNvPr id="206886" name="Text Box 38"/>
          <p:cNvSpPr txBox="1">
            <a:spLocks noChangeArrowheads="1"/>
          </p:cNvSpPr>
          <p:nvPr/>
        </p:nvSpPr>
        <p:spPr bwMode="auto">
          <a:xfrm>
            <a:off x="4953000" y="5256213"/>
            <a:ext cx="1371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206</a:t>
            </a:r>
            <a:r>
              <a:rPr lang="en-US">
                <a:latin typeface="Arial" charset="0"/>
              </a:rPr>
              <a:t>Tl </a:t>
            </a:r>
            <a:r>
              <a:rPr lang="en-US" sz="1000">
                <a:latin typeface="Arial" charset="0"/>
              </a:rPr>
              <a:t>(4.3 mon)</a:t>
            </a:r>
          </a:p>
        </p:txBody>
      </p:sp>
      <p:sp>
        <p:nvSpPr>
          <p:cNvPr id="206887" name="Text Box 39"/>
          <p:cNvSpPr txBox="1">
            <a:spLocks noChangeArrowheads="1"/>
          </p:cNvSpPr>
          <p:nvPr/>
        </p:nvSpPr>
        <p:spPr bwMode="auto">
          <a:xfrm>
            <a:off x="5943600" y="5803900"/>
            <a:ext cx="137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206</a:t>
            </a:r>
            <a:r>
              <a:rPr lang="en-US">
                <a:latin typeface="Arial" charset="0"/>
              </a:rPr>
              <a:t>Pb</a:t>
            </a:r>
            <a:r>
              <a:rPr lang="en-US" sz="1000">
                <a:latin typeface="Arial" charset="0"/>
              </a:rPr>
              <a:t>(stable)</a:t>
            </a:r>
          </a:p>
        </p:txBody>
      </p:sp>
      <p:sp>
        <p:nvSpPr>
          <p:cNvPr id="206888" name="Line 40"/>
          <p:cNvSpPr>
            <a:spLocks noChangeShapeType="1"/>
          </p:cNvSpPr>
          <p:nvPr/>
        </p:nvSpPr>
        <p:spPr bwMode="auto">
          <a:xfrm>
            <a:off x="5410200" y="44180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89" name="Line 41"/>
          <p:cNvSpPr>
            <a:spLocks noChangeShapeType="1"/>
          </p:cNvSpPr>
          <p:nvPr/>
        </p:nvSpPr>
        <p:spPr bwMode="auto">
          <a:xfrm>
            <a:off x="5410200" y="50276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90" name="Line 42"/>
          <p:cNvSpPr>
            <a:spLocks noChangeShapeType="1"/>
          </p:cNvSpPr>
          <p:nvPr/>
        </p:nvSpPr>
        <p:spPr bwMode="auto">
          <a:xfrm>
            <a:off x="5486400" y="5637213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91" name="Line 43"/>
          <p:cNvSpPr>
            <a:spLocks noChangeShapeType="1"/>
          </p:cNvSpPr>
          <p:nvPr/>
        </p:nvSpPr>
        <p:spPr bwMode="auto">
          <a:xfrm flipH="1">
            <a:off x="5867400" y="4037013"/>
            <a:ext cx="1066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92" name="Line 44"/>
          <p:cNvSpPr>
            <a:spLocks noChangeShapeType="1"/>
          </p:cNvSpPr>
          <p:nvPr/>
        </p:nvSpPr>
        <p:spPr bwMode="auto">
          <a:xfrm flipH="1">
            <a:off x="5867400" y="4646613"/>
            <a:ext cx="1066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93" name="Line 45"/>
          <p:cNvSpPr>
            <a:spLocks noChangeShapeType="1"/>
          </p:cNvSpPr>
          <p:nvPr/>
        </p:nvSpPr>
        <p:spPr bwMode="auto">
          <a:xfrm flipH="1">
            <a:off x="6553200" y="5256213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94" name="Text Box 46"/>
          <p:cNvSpPr txBox="1">
            <a:spLocks noChangeArrowheads="1"/>
          </p:cNvSpPr>
          <p:nvPr/>
        </p:nvSpPr>
        <p:spPr bwMode="auto">
          <a:xfrm>
            <a:off x="5334000" y="56372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895" name="Text Box 47"/>
          <p:cNvSpPr txBox="1">
            <a:spLocks noChangeArrowheads="1"/>
          </p:cNvSpPr>
          <p:nvPr/>
        </p:nvSpPr>
        <p:spPr bwMode="auto">
          <a:xfrm>
            <a:off x="1600200" y="13700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896" name="Text Box 48"/>
          <p:cNvSpPr txBox="1">
            <a:spLocks noChangeArrowheads="1"/>
          </p:cNvSpPr>
          <p:nvPr/>
        </p:nvSpPr>
        <p:spPr bwMode="auto">
          <a:xfrm>
            <a:off x="1066800" y="35798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897" name="Text Box 49"/>
          <p:cNvSpPr txBox="1">
            <a:spLocks noChangeArrowheads="1"/>
          </p:cNvSpPr>
          <p:nvPr/>
        </p:nvSpPr>
        <p:spPr bwMode="auto">
          <a:xfrm>
            <a:off x="2667000" y="19796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898" name="Text Box 50"/>
          <p:cNvSpPr txBox="1">
            <a:spLocks noChangeArrowheads="1"/>
          </p:cNvSpPr>
          <p:nvPr/>
        </p:nvSpPr>
        <p:spPr bwMode="auto">
          <a:xfrm>
            <a:off x="4114800" y="13700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899" name="Text Box 51"/>
          <p:cNvSpPr txBox="1">
            <a:spLocks noChangeArrowheads="1"/>
          </p:cNvSpPr>
          <p:nvPr/>
        </p:nvSpPr>
        <p:spPr bwMode="auto">
          <a:xfrm>
            <a:off x="3581400" y="20558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00" name="Text Box 52"/>
          <p:cNvSpPr txBox="1">
            <a:spLocks noChangeArrowheads="1"/>
          </p:cNvSpPr>
          <p:nvPr/>
        </p:nvSpPr>
        <p:spPr bwMode="auto">
          <a:xfrm>
            <a:off x="3657600" y="29702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01" name="Text Box 53"/>
          <p:cNvSpPr txBox="1">
            <a:spLocks noChangeArrowheads="1"/>
          </p:cNvSpPr>
          <p:nvPr/>
        </p:nvSpPr>
        <p:spPr bwMode="auto">
          <a:xfrm>
            <a:off x="5486400" y="27416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02" name="Text Box 54"/>
          <p:cNvSpPr txBox="1">
            <a:spLocks noChangeArrowheads="1"/>
          </p:cNvSpPr>
          <p:nvPr/>
        </p:nvSpPr>
        <p:spPr bwMode="auto">
          <a:xfrm>
            <a:off x="5486400" y="35036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03" name="Text Box 55"/>
          <p:cNvSpPr txBox="1">
            <a:spLocks noChangeArrowheads="1"/>
          </p:cNvSpPr>
          <p:nvPr/>
        </p:nvSpPr>
        <p:spPr bwMode="auto">
          <a:xfrm>
            <a:off x="7239000" y="31988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04" name="Text Box 56"/>
          <p:cNvSpPr txBox="1">
            <a:spLocks noChangeArrowheads="1"/>
          </p:cNvSpPr>
          <p:nvPr/>
        </p:nvSpPr>
        <p:spPr bwMode="auto">
          <a:xfrm>
            <a:off x="6781800" y="54086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05" name="Text Box 57"/>
          <p:cNvSpPr txBox="1">
            <a:spLocks noChangeArrowheads="1"/>
          </p:cNvSpPr>
          <p:nvPr/>
        </p:nvSpPr>
        <p:spPr bwMode="auto">
          <a:xfrm>
            <a:off x="5029200" y="42656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06" name="Text Box 58"/>
          <p:cNvSpPr txBox="1">
            <a:spLocks noChangeArrowheads="1"/>
          </p:cNvSpPr>
          <p:nvPr/>
        </p:nvSpPr>
        <p:spPr bwMode="auto">
          <a:xfrm>
            <a:off x="1066800" y="19796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07" name="Text Box 59"/>
          <p:cNvSpPr txBox="1">
            <a:spLocks noChangeArrowheads="1"/>
          </p:cNvSpPr>
          <p:nvPr/>
        </p:nvSpPr>
        <p:spPr bwMode="auto">
          <a:xfrm>
            <a:off x="1066800" y="27416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08" name="Text Box 60"/>
          <p:cNvSpPr txBox="1">
            <a:spLocks noChangeArrowheads="1"/>
          </p:cNvSpPr>
          <p:nvPr/>
        </p:nvSpPr>
        <p:spPr bwMode="auto">
          <a:xfrm>
            <a:off x="4572000" y="21320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09" name="Text Box 61"/>
          <p:cNvSpPr txBox="1">
            <a:spLocks noChangeArrowheads="1"/>
          </p:cNvSpPr>
          <p:nvPr/>
        </p:nvSpPr>
        <p:spPr bwMode="auto">
          <a:xfrm>
            <a:off x="4495800" y="29702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10" name="Text Box 62"/>
          <p:cNvSpPr txBox="1">
            <a:spLocks noChangeArrowheads="1"/>
          </p:cNvSpPr>
          <p:nvPr/>
        </p:nvSpPr>
        <p:spPr bwMode="auto">
          <a:xfrm>
            <a:off x="6172200" y="26654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11" name="Text Box 63"/>
          <p:cNvSpPr txBox="1">
            <a:spLocks noChangeArrowheads="1"/>
          </p:cNvSpPr>
          <p:nvPr/>
        </p:nvSpPr>
        <p:spPr bwMode="auto">
          <a:xfrm>
            <a:off x="6172200" y="36560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12" name="Text Box 64"/>
          <p:cNvSpPr txBox="1">
            <a:spLocks noChangeArrowheads="1"/>
          </p:cNvSpPr>
          <p:nvPr/>
        </p:nvSpPr>
        <p:spPr bwMode="auto">
          <a:xfrm>
            <a:off x="6248400" y="41132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13" name="Text Box 65"/>
          <p:cNvSpPr txBox="1">
            <a:spLocks noChangeArrowheads="1"/>
          </p:cNvSpPr>
          <p:nvPr/>
        </p:nvSpPr>
        <p:spPr bwMode="auto">
          <a:xfrm>
            <a:off x="6248400" y="47228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65" name="Footer Placeholder 6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4" name="Slide Number Placeholder 6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76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Actinium Series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20787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(4n + 3) series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4" grpId="0"/>
      <p:bldP spid="207875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00" name="Text Box 4"/>
          <p:cNvSpPr txBox="1">
            <a:spLocks noChangeArrowheads="1"/>
          </p:cNvSpPr>
          <p:nvPr/>
        </p:nvSpPr>
        <p:spPr bwMode="auto">
          <a:xfrm>
            <a:off x="1219200" y="2043113"/>
            <a:ext cx="762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235</a:t>
            </a:r>
            <a:r>
              <a:rPr lang="en-US">
                <a:latin typeface="Arial" charset="0"/>
              </a:rPr>
              <a:t>U</a:t>
            </a:r>
            <a:endParaRPr lang="en-US" sz="1000">
              <a:latin typeface="Arial" charset="0"/>
            </a:endParaRPr>
          </a:p>
        </p:txBody>
      </p:sp>
      <p:sp>
        <p:nvSpPr>
          <p:cNvPr id="208901" name="Text Box 5"/>
          <p:cNvSpPr txBox="1">
            <a:spLocks noChangeArrowheads="1"/>
          </p:cNvSpPr>
          <p:nvPr/>
        </p:nvSpPr>
        <p:spPr bwMode="auto">
          <a:xfrm>
            <a:off x="1219200" y="2728913"/>
            <a:ext cx="1295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231</a:t>
            </a:r>
            <a:r>
              <a:rPr lang="en-US">
                <a:latin typeface="Arial" charset="0"/>
              </a:rPr>
              <a:t>Ra</a:t>
            </a:r>
            <a:r>
              <a:rPr lang="en-US" baseline="30000">
                <a:latin typeface="Arial" charset="0"/>
              </a:rPr>
              <a:t> (25.6 h)</a:t>
            </a:r>
            <a:endParaRPr lang="en-US">
              <a:latin typeface="Arial" charset="0"/>
            </a:endParaRPr>
          </a:p>
        </p:txBody>
      </p:sp>
      <p:sp>
        <p:nvSpPr>
          <p:cNvPr id="208902" name="Text Box 6"/>
          <p:cNvSpPr txBox="1">
            <a:spLocks noChangeArrowheads="1"/>
          </p:cNvSpPr>
          <p:nvPr/>
        </p:nvSpPr>
        <p:spPr bwMode="auto">
          <a:xfrm>
            <a:off x="1066800" y="3414713"/>
            <a:ext cx="1676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231</a:t>
            </a:r>
            <a:r>
              <a:rPr lang="en-US">
                <a:latin typeface="Arial" charset="0"/>
              </a:rPr>
              <a:t>Pa </a:t>
            </a:r>
            <a:r>
              <a:rPr lang="en-US" sz="1000">
                <a:latin typeface="Arial" charset="0"/>
              </a:rPr>
              <a:t>(3.48 x 10</a:t>
            </a:r>
            <a:r>
              <a:rPr lang="en-US" sz="1000" baseline="30000">
                <a:latin typeface="Arial" charset="0"/>
              </a:rPr>
              <a:t>4</a:t>
            </a:r>
            <a:r>
              <a:rPr lang="en-US" sz="1000">
                <a:latin typeface="Arial" charset="0"/>
              </a:rPr>
              <a:t> y)</a:t>
            </a:r>
          </a:p>
        </p:txBody>
      </p:sp>
      <p:sp>
        <p:nvSpPr>
          <p:cNvPr id="208903" name="Text Box 7"/>
          <p:cNvSpPr txBox="1">
            <a:spLocks noChangeArrowheads="1"/>
          </p:cNvSpPr>
          <p:nvPr/>
        </p:nvSpPr>
        <p:spPr bwMode="auto">
          <a:xfrm>
            <a:off x="1219200" y="4176713"/>
            <a:ext cx="1371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227</a:t>
            </a:r>
            <a:r>
              <a:rPr lang="en-US">
                <a:latin typeface="Arial" charset="0"/>
              </a:rPr>
              <a:t>Ac </a:t>
            </a:r>
            <a:r>
              <a:rPr lang="en-US" sz="1000">
                <a:latin typeface="Arial" charset="0"/>
              </a:rPr>
              <a:t>(22.0 y)</a:t>
            </a:r>
          </a:p>
        </p:txBody>
      </p:sp>
      <p:sp>
        <p:nvSpPr>
          <p:cNvPr id="208904" name="Text Box 8"/>
          <p:cNvSpPr txBox="1">
            <a:spLocks noChangeArrowheads="1"/>
          </p:cNvSpPr>
          <p:nvPr/>
        </p:nvSpPr>
        <p:spPr bwMode="auto">
          <a:xfrm>
            <a:off x="1066800" y="5014913"/>
            <a:ext cx="1371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223</a:t>
            </a:r>
            <a:r>
              <a:rPr lang="en-US">
                <a:latin typeface="Arial" charset="0"/>
              </a:rPr>
              <a:t>Fr </a:t>
            </a:r>
            <a:r>
              <a:rPr lang="en-US" sz="1000">
                <a:latin typeface="Arial" charset="0"/>
              </a:rPr>
              <a:t>(22 mo)</a:t>
            </a:r>
          </a:p>
        </p:txBody>
      </p:sp>
      <p:sp>
        <p:nvSpPr>
          <p:cNvPr id="208905" name="Text Box 9"/>
          <p:cNvSpPr txBox="1">
            <a:spLocks noChangeArrowheads="1"/>
          </p:cNvSpPr>
          <p:nvPr/>
        </p:nvSpPr>
        <p:spPr bwMode="auto">
          <a:xfrm>
            <a:off x="4445000" y="1524000"/>
            <a:ext cx="165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219</a:t>
            </a:r>
            <a:r>
              <a:rPr lang="en-US">
                <a:latin typeface="Arial" charset="0"/>
              </a:rPr>
              <a:t>At (0.9 mo)</a:t>
            </a:r>
          </a:p>
        </p:txBody>
      </p:sp>
      <p:sp>
        <p:nvSpPr>
          <p:cNvPr id="208906" name="Text Box 10"/>
          <p:cNvSpPr txBox="1">
            <a:spLocks noChangeArrowheads="1"/>
          </p:cNvSpPr>
          <p:nvPr/>
        </p:nvSpPr>
        <p:spPr bwMode="auto">
          <a:xfrm>
            <a:off x="2971800" y="3490913"/>
            <a:ext cx="838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227</a:t>
            </a:r>
            <a:r>
              <a:rPr lang="en-US">
                <a:latin typeface="Arial" charset="0"/>
              </a:rPr>
              <a:t>Th </a:t>
            </a:r>
            <a:r>
              <a:rPr lang="en-US" sz="1000">
                <a:latin typeface="Arial" charset="0"/>
              </a:rPr>
              <a:t>(18.17 d)</a:t>
            </a:r>
          </a:p>
        </p:txBody>
      </p:sp>
      <p:sp>
        <p:nvSpPr>
          <p:cNvPr id="208907" name="Text Box 11"/>
          <p:cNvSpPr txBox="1">
            <a:spLocks noChangeArrowheads="1"/>
          </p:cNvSpPr>
          <p:nvPr/>
        </p:nvSpPr>
        <p:spPr bwMode="auto">
          <a:xfrm>
            <a:off x="2667000" y="4419600"/>
            <a:ext cx="137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223</a:t>
            </a:r>
            <a:r>
              <a:rPr lang="en-US">
                <a:latin typeface="Arial" charset="0"/>
              </a:rPr>
              <a:t>Ra </a:t>
            </a:r>
            <a:r>
              <a:rPr lang="en-US" sz="1000">
                <a:latin typeface="Arial" charset="0"/>
              </a:rPr>
              <a:t>(11.7 d)</a:t>
            </a:r>
          </a:p>
        </p:txBody>
      </p:sp>
      <p:sp>
        <p:nvSpPr>
          <p:cNvPr id="208908" name="Text Box 12"/>
          <p:cNvSpPr txBox="1">
            <a:spLocks noChangeArrowheads="1"/>
          </p:cNvSpPr>
          <p:nvPr/>
        </p:nvSpPr>
        <p:spPr bwMode="auto">
          <a:xfrm>
            <a:off x="6019800" y="2652713"/>
            <a:ext cx="1600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212</a:t>
            </a:r>
            <a:r>
              <a:rPr lang="en-US">
                <a:latin typeface="Arial" charset="0"/>
              </a:rPr>
              <a:t>Po </a:t>
            </a:r>
            <a:r>
              <a:rPr lang="en-US" sz="1000">
                <a:latin typeface="Arial" charset="0"/>
              </a:rPr>
              <a:t>(3 x 10</a:t>
            </a:r>
            <a:r>
              <a:rPr lang="en-US" sz="1000" baseline="30000">
                <a:latin typeface="Arial" charset="0"/>
              </a:rPr>
              <a:t>-7</a:t>
            </a:r>
            <a:r>
              <a:rPr lang="en-US" sz="1000">
                <a:latin typeface="Arial" charset="0"/>
              </a:rPr>
              <a:t> s)</a:t>
            </a:r>
          </a:p>
        </p:txBody>
      </p:sp>
      <p:sp>
        <p:nvSpPr>
          <p:cNvPr id="208909" name="Line 13"/>
          <p:cNvSpPr>
            <a:spLocks noChangeShapeType="1"/>
          </p:cNvSpPr>
          <p:nvPr/>
        </p:nvSpPr>
        <p:spPr bwMode="auto">
          <a:xfrm>
            <a:off x="1524000" y="2424113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10" name="Line 14"/>
          <p:cNvSpPr>
            <a:spLocks noChangeShapeType="1"/>
          </p:cNvSpPr>
          <p:nvPr/>
        </p:nvSpPr>
        <p:spPr bwMode="auto">
          <a:xfrm>
            <a:off x="1524000" y="3033713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11" name="Line 15"/>
          <p:cNvSpPr>
            <a:spLocks noChangeShapeType="1"/>
          </p:cNvSpPr>
          <p:nvPr/>
        </p:nvSpPr>
        <p:spPr bwMode="auto">
          <a:xfrm>
            <a:off x="1524000" y="3719513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12" name="Line 16"/>
          <p:cNvSpPr>
            <a:spLocks noChangeShapeType="1"/>
          </p:cNvSpPr>
          <p:nvPr/>
        </p:nvSpPr>
        <p:spPr bwMode="auto">
          <a:xfrm>
            <a:off x="1524000" y="4557713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13" name="Text Box 17"/>
          <p:cNvSpPr txBox="1">
            <a:spLocks noChangeArrowheads="1"/>
          </p:cNvSpPr>
          <p:nvPr/>
        </p:nvSpPr>
        <p:spPr bwMode="auto">
          <a:xfrm>
            <a:off x="4495800" y="2271713"/>
            <a:ext cx="1219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215</a:t>
            </a:r>
            <a:r>
              <a:rPr lang="en-US">
                <a:latin typeface="Arial" charset="0"/>
              </a:rPr>
              <a:t>Bi </a:t>
            </a:r>
            <a:r>
              <a:rPr lang="en-US" sz="1000">
                <a:latin typeface="Arial" charset="0"/>
              </a:rPr>
              <a:t>(8 mon)</a:t>
            </a:r>
          </a:p>
        </p:txBody>
      </p:sp>
      <p:sp>
        <p:nvSpPr>
          <p:cNvPr id="208914" name="Text Box 18"/>
          <p:cNvSpPr txBox="1">
            <a:spLocks noChangeArrowheads="1"/>
          </p:cNvSpPr>
          <p:nvPr/>
        </p:nvSpPr>
        <p:spPr bwMode="auto">
          <a:xfrm>
            <a:off x="7239000" y="4329113"/>
            <a:ext cx="1371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212</a:t>
            </a:r>
            <a:r>
              <a:rPr lang="en-US">
                <a:latin typeface="Arial" charset="0"/>
              </a:rPr>
              <a:t>Po </a:t>
            </a:r>
            <a:r>
              <a:rPr lang="en-US" sz="1000">
                <a:latin typeface="Arial" charset="0"/>
              </a:rPr>
              <a:t>(0.52 s)</a:t>
            </a:r>
          </a:p>
        </p:txBody>
      </p:sp>
      <p:sp>
        <p:nvSpPr>
          <p:cNvPr id="208915" name="Line 19"/>
          <p:cNvSpPr>
            <a:spLocks noChangeShapeType="1"/>
          </p:cNvSpPr>
          <p:nvPr/>
        </p:nvSpPr>
        <p:spPr bwMode="auto">
          <a:xfrm flipV="1">
            <a:off x="2209800" y="3795713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16" name="Line 20"/>
          <p:cNvSpPr>
            <a:spLocks noChangeShapeType="1"/>
          </p:cNvSpPr>
          <p:nvPr/>
        </p:nvSpPr>
        <p:spPr bwMode="auto">
          <a:xfrm>
            <a:off x="3352800" y="4100513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17" name="Line 21"/>
          <p:cNvSpPr>
            <a:spLocks noChangeShapeType="1"/>
          </p:cNvSpPr>
          <p:nvPr/>
        </p:nvSpPr>
        <p:spPr bwMode="auto">
          <a:xfrm flipV="1">
            <a:off x="1905000" y="4710113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18" name="Line 22"/>
          <p:cNvSpPr>
            <a:spLocks noChangeShapeType="1"/>
          </p:cNvSpPr>
          <p:nvPr/>
        </p:nvSpPr>
        <p:spPr bwMode="auto">
          <a:xfrm flipV="1">
            <a:off x="4038600" y="1814513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19" name="Line 23"/>
          <p:cNvSpPr>
            <a:spLocks noChangeShapeType="1"/>
          </p:cNvSpPr>
          <p:nvPr/>
        </p:nvSpPr>
        <p:spPr bwMode="auto">
          <a:xfrm>
            <a:off x="4038600" y="1814513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20" name="Text Box 24"/>
          <p:cNvSpPr txBox="1">
            <a:spLocks noChangeArrowheads="1"/>
          </p:cNvSpPr>
          <p:nvPr/>
        </p:nvSpPr>
        <p:spPr bwMode="auto">
          <a:xfrm>
            <a:off x="6324600" y="1890713"/>
            <a:ext cx="1295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219</a:t>
            </a:r>
            <a:r>
              <a:rPr lang="en-US">
                <a:latin typeface="Arial" charset="0"/>
              </a:rPr>
              <a:t>Rn </a:t>
            </a:r>
            <a:r>
              <a:rPr lang="en-US" sz="1000">
                <a:latin typeface="Arial" charset="0"/>
              </a:rPr>
              <a:t>(3.9 s)</a:t>
            </a:r>
          </a:p>
        </p:txBody>
      </p:sp>
      <p:sp>
        <p:nvSpPr>
          <p:cNvPr id="208921" name="Line 25"/>
          <p:cNvSpPr>
            <a:spLocks noChangeShapeType="1"/>
          </p:cNvSpPr>
          <p:nvPr/>
        </p:nvSpPr>
        <p:spPr bwMode="auto">
          <a:xfrm flipV="1">
            <a:off x="3581400" y="2119313"/>
            <a:ext cx="2819400" cy="2286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22" name="Line 26"/>
          <p:cNvSpPr>
            <a:spLocks noChangeShapeType="1"/>
          </p:cNvSpPr>
          <p:nvPr/>
        </p:nvSpPr>
        <p:spPr bwMode="auto">
          <a:xfrm>
            <a:off x="4800600" y="19669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23" name="Line 27"/>
          <p:cNvSpPr>
            <a:spLocks noChangeShapeType="1"/>
          </p:cNvSpPr>
          <p:nvPr/>
        </p:nvSpPr>
        <p:spPr bwMode="auto">
          <a:xfrm>
            <a:off x="6629400" y="2271713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24" name="Text Box 28"/>
          <p:cNvSpPr txBox="1">
            <a:spLocks noChangeArrowheads="1"/>
          </p:cNvSpPr>
          <p:nvPr/>
        </p:nvSpPr>
        <p:spPr bwMode="auto">
          <a:xfrm>
            <a:off x="7239000" y="2271713"/>
            <a:ext cx="1219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215</a:t>
            </a:r>
            <a:r>
              <a:rPr lang="en-US">
                <a:latin typeface="Arial" charset="0"/>
              </a:rPr>
              <a:t>At (</a:t>
            </a:r>
            <a:r>
              <a:rPr lang="en-US" sz="1000">
                <a:latin typeface="Arial" charset="0"/>
              </a:rPr>
              <a:t>10</a:t>
            </a:r>
            <a:r>
              <a:rPr lang="en-US" sz="1000" baseline="30000">
                <a:latin typeface="Arial" charset="0"/>
              </a:rPr>
              <a:t>-4</a:t>
            </a:r>
            <a:r>
              <a:rPr lang="en-US" sz="1000">
                <a:latin typeface="Arial" charset="0"/>
              </a:rPr>
              <a:t> s</a:t>
            </a:r>
            <a:r>
              <a:rPr lang="en-US">
                <a:latin typeface="Arial" charset="0"/>
              </a:rPr>
              <a:t>)</a:t>
            </a:r>
          </a:p>
        </p:txBody>
      </p:sp>
      <p:sp>
        <p:nvSpPr>
          <p:cNvPr id="208925" name="Line 29"/>
          <p:cNvSpPr>
            <a:spLocks noChangeShapeType="1"/>
          </p:cNvSpPr>
          <p:nvPr/>
        </p:nvSpPr>
        <p:spPr bwMode="auto">
          <a:xfrm flipV="1">
            <a:off x="6781800" y="2500313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26" name="Text Box 30"/>
          <p:cNvSpPr txBox="1">
            <a:spLocks noChangeArrowheads="1"/>
          </p:cNvSpPr>
          <p:nvPr/>
        </p:nvSpPr>
        <p:spPr bwMode="auto">
          <a:xfrm>
            <a:off x="5867400" y="3325813"/>
            <a:ext cx="1447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211</a:t>
            </a:r>
            <a:r>
              <a:rPr lang="en-US">
                <a:latin typeface="Arial" charset="0"/>
              </a:rPr>
              <a:t>Pb </a:t>
            </a:r>
            <a:r>
              <a:rPr lang="en-US" sz="1000">
                <a:latin typeface="Arial" charset="0"/>
              </a:rPr>
              <a:t>(36.1 mo)</a:t>
            </a:r>
          </a:p>
        </p:txBody>
      </p:sp>
      <p:sp>
        <p:nvSpPr>
          <p:cNvPr id="208927" name="Text Box 31"/>
          <p:cNvSpPr txBox="1">
            <a:spLocks noChangeArrowheads="1"/>
          </p:cNvSpPr>
          <p:nvPr/>
        </p:nvSpPr>
        <p:spPr bwMode="auto">
          <a:xfrm>
            <a:off x="7150100" y="2906713"/>
            <a:ext cx="1295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211</a:t>
            </a:r>
            <a:r>
              <a:rPr lang="en-US">
                <a:latin typeface="Arial" charset="0"/>
              </a:rPr>
              <a:t>Bi </a:t>
            </a:r>
            <a:r>
              <a:rPr lang="en-US" sz="1000">
                <a:latin typeface="Arial" charset="0"/>
              </a:rPr>
              <a:t>(2.15 mo)</a:t>
            </a:r>
          </a:p>
        </p:txBody>
      </p:sp>
      <p:sp>
        <p:nvSpPr>
          <p:cNvPr id="208928" name="Line 32"/>
          <p:cNvSpPr>
            <a:spLocks noChangeShapeType="1"/>
          </p:cNvSpPr>
          <p:nvPr/>
        </p:nvSpPr>
        <p:spPr bwMode="auto">
          <a:xfrm>
            <a:off x="6400800" y="3033713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29" name="Line 33"/>
          <p:cNvSpPr>
            <a:spLocks noChangeShapeType="1"/>
          </p:cNvSpPr>
          <p:nvPr/>
        </p:nvSpPr>
        <p:spPr bwMode="auto">
          <a:xfrm>
            <a:off x="7620000" y="26527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30" name="Line 34"/>
          <p:cNvSpPr>
            <a:spLocks noChangeShapeType="1"/>
          </p:cNvSpPr>
          <p:nvPr/>
        </p:nvSpPr>
        <p:spPr bwMode="auto">
          <a:xfrm flipV="1">
            <a:off x="6934200" y="3186113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31" name="Text Box 35"/>
          <p:cNvSpPr txBox="1">
            <a:spLocks noChangeArrowheads="1"/>
          </p:cNvSpPr>
          <p:nvPr/>
        </p:nvSpPr>
        <p:spPr bwMode="auto">
          <a:xfrm>
            <a:off x="5448300" y="4329113"/>
            <a:ext cx="1371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207</a:t>
            </a:r>
            <a:r>
              <a:rPr lang="en-US">
                <a:latin typeface="Arial" charset="0"/>
              </a:rPr>
              <a:t>Tl </a:t>
            </a:r>
            <a:r>
              <a:rPr lang="en-US" sz="1000">
                <a:latin typeface="Arial" charset="0"/>
              </a:rPr>
              <a:t>(4.79 mo)</a:t>
            </a:r>
          </a:p>
        </p:txBody>
      </p:sp>
      <p:sp>
        <p:nvSpPr>
          <p:cNvPr id="208932" name="Text Box 36"/>
          <p:cNvSpPr txBox="1">
            <a:spLocks noChangeArrowheads="1"/>
          </p:cNvSpPr>
          <p:nvPr/>
        </p:nvSpPr>
        <p:spPr bwMode="auto">
          <a:xfrm>
            <a:off x="6477000" y="5167313"/>
            <a:ext cx="1752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207</a:t>
            </a:r>
            <a:r>
              <a:rPr lang="en-US">
                <a:latin typeface="Arial" charset="0"/>
              </a:rPr>
              <a:t>Pb (stable)</a:t>
            </a:r>
          </a:p>
        </p:txBody>
      </p:sp>
      <p:sp>
        <p:nvSpPr>
          <p:cNvPr id="208933" name="Line 37"/>
          <p:cNvSpPr>
            <a:spLocks noChangeShapeType="1"/>
          </p:cNvSpPr>
          <p:nvPr/>
        </p:nvSpPr>
        <p:spPr bwMode="auto">
          <a:xfrm>
            <a:off x="7543800" y="3338513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34" name="Line 38"/>
          <p:cNvSpPr>
            <a:spLocks noChangeShapeType="1"/>
          </p:cNvSpPr>
          <p:nvPr/>
        </p:nvSpPr>
        <p:spPr bwMode="auto">
          <a:xfrm flipH="1">
            <a:off x="7162800" y="4710113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35" name="Line 39"/>
          <p:cNvSpPr>
            <a:spLocks noChangeShapeType="1"/>
          </p:cNvSpPr>
          <p:nvPr/>
        </p:nvSpPr>
        <p:spPr bwMode="auto">
          <a:xfrm flipH="1">
            <a:off x="6477000" y="3338513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36" name="Line 40"/>
          <p:cNvSpPr>
            <a:spLocks noChangeShapeType="1"/>
          </p:cNvSpPr>
          <p:nvPr/>
        </p:nvSpPr>
        <p:spPr bwMode="auto">
          <a:xfrm>
            <a:off x="5867400" y="4710113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37" name="Text Box 41"/>
          <p:cNvSpPr txBox="1">
            <a:spLocks noChangeArrowheads="1"/>
          </p:cNvSpPr>
          <p:nvPr/>
        </p:nvSpPr>
        <p:spPr bwMode="auto">
          <a:xfrm>
            <a:off x="1676400" y="23479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38" name="Text Box 42"/>
          <p:cNvSpPr txBox="1">
            <a:spLocks noChangeArrowheads="1"/>
          </p:cNvSpPr>
          <p:nvPr/>
        </p:nvSpPr>
        <p:spPr bwMode="auto">
          <a:xfrm>
            <a:off x="1600200" y="37195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39" name="Text Box 43"/>
          <p:cNvSpPr txBox="1">
            <a:spLocks noChangeArrowheads="1"/>
          </p:cNvSpPr>
          <p:nvPr/>
        </p:nvSpPr>
        <p:spPr bwMode="auto">
          <a:xfrm>
            <a:off x="1676400" y="30337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40" name="Text Box 44"/>
          <p:cNvSpPr txBox="1">
            <a:spLocks noChangeArrowheads="1"/>
          </p:cNvSpPr>
          <p:nvPr/>
        </p:nvSpPr>
        <p:spPr bwMode="auto">
          <a:xfrm>
            <a:off x="2362200" y="37195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41" name="Text Box 45"/>
          <p:cNvSpPr txBox="1">
            <a:spLocks noChangeArrowheads="1"/>
          </p:cNvSpPr>
          <p:nvPr/>
        </p:nvSpPr>
        <p:spPr bwMode="auto">
          <a:xfrm>
            <a:off x="1066800" y="45577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42" name="Text Box 46"/>
          <p:cNvSpPr txBox="1">
            <a:spLocks noChangeArrowheads="1"/>
          </p:cNvSpPr>
          <p:nvPr/>
        </p:nvSpPr>
        <p:spPr bwMode="auto">
          <a:xfrm>
            <a:off x="1981200" y="46482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43" name="Text Box 47"/>
          <p:cNvSpPr txBox="1">
            <a:spLocks noChangeArrowheads="1"/>
          </p:cNvSpPr>
          <p:nvPr/>
        </p:nvSpPr>
        <p:spPr bwMode="auto">
          <a:xfrm>
            <a:off x="2971800" y="40243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44" name="Text Box 48"/>
          <p:cNvSpPr txBox="1">
            <a:spLocks noChangeArrowheads="1"/>
          </p:cNvSpPr>
          <p:nvPr/>
        </p:nvSpPr>
        <p:spPr bwMode="auto">
          <a:xfrm>
            <a:off x="4267200" y="37957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45" name="Text Box 49"/>
          <p:cNvSpPr txBox="1">
            <a:spLocks noChangeArrowheads="1"/>
          </p:cNvSpPr>
          <p:nvPr/>
        </p:nvSpPr>
        <p:spPr bwMode="auto">
          <a:xfrm>
            <a:off x="3657600" y="21955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46" name="Line 50"/>
          <p:cNvSpPr>
            <a:spLocks noChangeShapeType="1"/>
          </p:cNvSpPr>
          <p:nvPr/>
        </p:nvSpPr>
        <p:spPr bwMode="auto">
          <a:xfrm>
            <a:off x="2286000" y="5167313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47" name="Text Box 51"/>
          <p:cNvSpPr txBox="1">
            <a:spLocks noChangeArrowheads="1"/>
          </p:cNvSpPr>
          <p:nvPr/>
        </p:nvSpPr>
        <p:spPr bwMode="auto">
          <a:xfrm>
            <a:off x="4953000" y="18907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48" name="Line 52"/>
          <p:cNvSpPr>
            <a:spLocks noChangeShapeType="1"/>
          </p:cNvSpPr>
          <p:nvPr/>
        </p:nvSpPr>
        <p:spPr bwMode="auto">
          <a:xfrm>
            <a:off x="5562600" y="2500313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49" name="Text Box 53"/>
          <p:cNvSpPr txBox="1">
            <a:spLocks noChangeArrowheads="1"/>
          </p:cNvSpPr>
          <p:nvPr/>
        </p:nvSpPr>
        <p:spPr bwMode="auto">
          <a:xfrm>
            <a:off x="5562600" y="21955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50" name="Text Box 54"/>
          <p:cNvSpPr txBox="1">
            <a:spLocks noChangeArrowheads="1"/>
          </p:cNvSpPr>
          <p:nvPr/>
        </p:nvSpPr>
        <p:spPr bwMode="auto">
          <a:xfrm>
            <a:off x="6858000" y="21955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51" name="Text Box 55"/>
          <p:cNvSpPr txBox="1">
            <a:spLocks noChangeArrowheads="1"/>
          </p:cNvSpPr>
          <p:nvPr/>
        </p:nvSpPr>
        <p:spPr bwMode="auto">
          <a:xfrm>
            <a:off x="6324600" y="21955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52" name="Text Box 56"/>
          <p:cNvSpPr txBox="1">
            <a:spLocks noChangeArrowheads="1"/>
          </p:cNvSpPr>
          <p:nvPr/>
        </p:nvSpPr>
        <p:spPr bwMode="auto">
          <a:xfrm>
            <a:off x="5943600" y="29575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53" name="Text Box 57"/>
          <p:cNvSpPr txBox="1">
            <a:spLocks noChangeArrowheads="1"/>
          </p:cNvSpPr>
          <p:nvPr/>
        </p:nvSpPr>
        <p:spPr bwMode="auto">
          <a:xfrm>
            <a:off x="6781800" y="29575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54" name="Text Box 58"/>
          <p:cNvSpPr txBox="1">
            <a:spLocks noChangeArrowheads="1"/>
          </p:cNvSpPr>
          <p:nvPr/>
        </p:nvSpPr>
        <p:spPr bwMode="auto">
          <a:xfrm>
            <a:off x="7772400" y="25765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55" name="Text Box 59"/>
          <p:cNvSpPr txBox="1">
            <a:spLocks noChangeArrowheads="1"/>
          </p:cNvSpPr>
          <p:nvPr/>
        </p:nvSpPr>
        <p:spPr bwMode="auto">
          <a:xfrm>
            <a:off x="7772400" y="34147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56" name="Text Box 60"/>
          <p:cNvSpPr txBox="1">
            <a:spLocks noChangeArrowheads="1"/>
          </p:cNvSpPr>
          <p:nvPr/>
        </p:nvSpPr>
        <p:spPr bwMode="auto">
          <a:xfrm>
            <a:off x="7543800" y="47863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57" name="Text Box 61"/>
          <p:cNvSpPr txBox="1">
            <a:spLocks noChangeArrowheads="1"/>
          </p:cNvSpPr>
          <p:nvPr/>
        </p:nvSpPr>
        <p:spPr bwMode="auto">
          <a:xfrm>
            <a:off x="6172200" y="47101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58" name="Text Box 62"/>
          <p:cNvSpPr txBox="1">
            <a:spLocks noChangeArrowheads="1"/>
          </p:cNvSpPr>
          <p:nvPr/>
        </p:nvSpPr>
        <p:spPr bwMode="auto">
          <a:xfrm>
            <a:off x="6324600" y="37957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62" name="Footer Placeholder 6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1" name="Slide Number Placeholder 6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78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09800" y="4572000"/>
            <a:ext cx="4741333" cy="1774825"/>
          </a:xfrm>
          <a:effectLst>
            <a:outerShdw dist="63500" dir="3187806" algn="ctr" rotWithShape="0">
              <a:schemeClr val="bg2"/>
            </a:outerShdw>
          </a:effectLst>
        </p:spPr>
        <p:txBody>
          <a:bodyPr>
            <a:normAutofit/>
          </a:bodyPr>
          <a:lstStyle/>
          <a:p>
            <a:pPr defTabSz="912813">
              <a:defRPr/>
            </a:pPr>
            <a:r>
              <a:rPr lang="en-US" sz="47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Impact" pitchFamily="34" charset="0"/>
              </a:rPr>
              <a:t>Fission &amp; Fusion</a:t>
            </a:r>
            <a:endParaRPr lang="en-US" sz="4000" b="1" dirty="0" smtClean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79</a:t>
            </a:fld>
            <a:endParaRPr lang="en-US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-228600"/>
            <a:ext cx="7789333" cy="2359025"/>
          </a:xfrm>
          <a:effectLst>
            <a:outerShdw dist="71842" dir="2700000" algn="ctr" rotWithShape="0">
              <a:srgbClr val="000000"/>
            </a:outerShdw>
          </a:effectLst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US" sz="6400" dirty="0" smtClean="0">
                <a:solidFill>
                  <a:schemeClr val="accent2"/>
                </a:solidFill>
                <a:effectLst/>
                <a:latin typeface="Westminster" pitchFamily="82" charset="0"/>
              </a:rPr>
              <a:t>		   </a:t>
            </a:r>
            <a:r>
              <a:rPr lang="en-US" sz="6400" dirty="0" smtClean="0">
                <a:solidFill>
                  <a:schemeClr val="accent1"/>
                </a:solidFill>
                <a:effectLst/>
                <a:latin typeface="Westminster" pitchFamily="82" charset="0"/>
              </a:rPr>
              <a:t/>
            </a:r>
            <a:br>
              <a:rPr lang="en-US" sz="6400" dirty="0" smtClean="0">
                <a:solidFill>
                  <a:schemeClr val="accent1"/>
                </a:solidFill>
                <a:effectLst/>
                <a:latin typeface="Westminster" pitchFamily="82" charset="0"/>
              </a:rPr>
            </a:br>
            <a:r>
              <a:rPr lang="en-US" sz="2000" dirty="0" smtClean="0">
                <a:solidFill>
                  <a:schemeClr val="accent1"/>
                </a:solidFill>
                <a:effectLst/>
                <a:latin typeface="Westminster" pitchFamily="82" charset="0"/>
              </a:rPr>
              <a:t/>
            </a:r>
            <a:br>
              <a:rPr lang="en-US" sz="2000" dirty="0" smtClean="0">
                <a:solidFill>
                  <a:schemeClr val="accent1"/>
                </a:solidFill>
                <a:effectLst/>
                <a:latin typeface="Westminster" pitchFamily="82" charset="0"/>
              </a:rPr>
            </a:br>
            <a:r>
              <a:rPr lang="en-US" sz="2000" dirty="0" smtClean="0">
                <a:solidFill>
                  <a:schemeClr val="accent1"/>
                </a:solidFill>
                <a:effectLst/>
                <a:latin typeface="Westminster" pitchFamily="82" charset="0"/>
              </a:rPr>
              <a:t>	</a:t>
            </a:r>
            <a:r>
              <a:rPr lang="en-US" sz="9200" dirty="0" smtClean="0">
                <a:solidFill>
                  <a:schemeClr val="accent1"/>
                </a:solidFill>
                <a:effectLst/>
                <a:latin typeface="Westminster" pitchFamily="82" charset="0"/>
              </a:rPr>
              <a:t> </a:t>
            </a:r>
            <a:r>
              <a:rPr lang="en-US" sz="9200" dirty="0" smtClean="0">
                <a:solidFill>
                  <a:srgbClr val="FF0000"/>
                </a:solidFill>
                <a:effectLst/>
                <a:latin typeface="Westminster" pitchFamily="82" charset="0"/>
              </a:rPr>
              <a:t>Nuclear</a:t>
            </a:r>
            <a:br>
              <a:rPr lang="en-US" sz="9200" dirty="0" smtClean="0">
                <a:solidFill>
                  <a:srgbClr val="FF0000"/>
                </a:solidFill>
                <a:effectLst/>
                <a:latin typeface="Westminster" pitchFamily="82" charset="0"/>
              </a:rPr>
            </a:br>
            <a:r>
              <a:rPr lang="en-US" sz="9200" dirty="0" smtClean="0">
                <a:solidFill>
                  <a:srgbClr val="FF0000"/>
                </a:solidFill>
                <a:effectLst/>
                <a:latin typeface="Westminster" pitchFamily="82" charset="0"/>
              </a:rPr>
              <a:t>			 Chemistry</a:t>
            </a:r>
          </a:p>
        </p:txBody>
      </p:sp>
    </p:spTree>
  </p:cSld>
  <p:clrMapOvr>
    <a:masterClrMapping/>
  </p:clrMapOvr>
  <p:transition spd="slow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F</a:t>
            </a:r>
            <a:r>
              <a:rPr lang="en-US" sz="800" smtClean="0"/>
              <a:t> </a:t>
            </a:r>
            <a:r>
              <a:rPr lang="en-US" smtClean="0"/>
              <a:t>ission</a:t>
            </a:r>
          </a:p>
        </p:txBody>
      </p:sp>
      <p:sp>
        <p:nvSpPr>
          <p:cNvPr id="205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737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363133" y="1828800"/>
            <a:ext cx="7615767" cy="3217863"/>
          </a:xfrm>
        </p:spPr>
        <p:txBody>
          <a:bodyPr/>
          <a:lstStyle/>
          <a:p>
            <a:r>
              <a:rPr lang="en-US" smtClean="0"/>
              <a:t>splitting a nucleus into two or more smaller nuclei</a:t>
            </a:r>
          </a:p>
          <a:p>
            <a:r>
              <a:rPr lang="en-US" smtClean="0"/>
              <a:t>1 g of </a:t>
            </a:r>
            <a:r>
              <a:rPr lang="en-US" baseline="30000" smtClean="0"/>
              <a:t>235</a:t>
            </a:r>
            <a:r>
              <a:rPr lang="en-US" smtClean="0"/>
              <a:t>U = </a:t>
            </a:r>
            <a:br>
              <a:rPr lang="en-US" smtClean="0"/>
            </a:br>
            <a:r>
              <a:rPr lang="en-US" smtClean="0"/>
              <a:t>3 tons of  coal</a:t>
            </a:r>
          </a:p>
        </p:txBody>
      </p:sp>
      <p:graphicFrame>
        <p:nvGraphicFramePr>
          <p:cNvPr id="73732" name="Object 4"/>
          <p:cNvGraphicFramePr>
            <a:graphicFrameLocks noChangeAspect="1"/>
          </p:cNvGraphicFramePr>
          <p:nvPr/>
        </p:nvGraphicFramePr>
        <p:xfrm>
          <a:off x="4570590" y="2949576"/>
          <a:ext cx="4175477" cy="359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18" name="Photo Editor Photo" r:id="rId3" imgW="2752381" imgH="2104762" progId="">
                  <p:embed/>
                </p:oleObj>
              </mc:Choice>
              <mc:Fallback>
                <p:oleObj name="Photo Editor Photo" r:id="rId3" imgW="2752381" imgH="2104762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0590" y="2949576"/>
                        <a:ext cx="4175477" cy="35909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281767" y="4694238"/>
            <a:ext cx="1377244" cy="1193800"/>
            <a:chOff x="4888" y="1280"/>
            <a:chExt cx="976" cy="752"/>
          </a:xfrm>
        </p:grpSpPr>
        <p:sp>
          <p:nvSpPr>
            <p:cNvPr id="73734" name="AutoShape 6"/>
            <p:cNvSpPr>
              <a:spLocks noChangeArrowheads="1"/>
            </p:cNvSpPr>
            <p:nvPr/>
          </p:nvSpPr>
          <p:spPr bwMode="auto">
            <a:xfrm>
              <a:off x="4888" y="1280"/>
              <a:ext cx="976" cy="752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hlink"/>
                </a:gs>
                <a:gs pos="50000">
                  <a:schemeClr val="hlink">
                    <a:gamma/>
                    <a:tint val="0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aphicFrame>
          <p:nvGraphicFramePr>
            <p:cNvPr id="2051" name="Object 7"/>
            <p:cNvGraphicFramePr>
              <a:graphicFrameLocks noChangeAspect="1"/>
            </p:cNvGraphicFramePr>
            <p:nvPr/>
          </p:nvGraphicFramePr>
          <p:xfrm>
            <a:off x="4993" y="1365"/>
            <a:ext cx="767" cy="5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619" name="Equation" r:id="rId5" imgW="317160" imgH="241200" progId="Equation.3">
                    <p:embed/>
                  </p:oleObj>
                </mc:Choice>
                <mc:Fallback>
                  <p:oleObj name="Equation" r:id="rId5" imgW="317160" imgH="2412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3" y="1365"/>
                          <a:ext cx="767" cy="5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build="p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F</a:t>
            </a:r>
            <a:r>
              <a:rPr lang="en-US" sz="800" smtClean="0"/>
              <a:t> </a:t>
            </a:r>
            <a:r>
              <a:rPr lang="en-US" smtClean="0"/>
              <a:t>ission</a:t>
            </a:r>
          </a:p>
        </p:txBody>
      </p:sp>
      <p:sp>
        <p:nvSpPr>
          <p:cNvPr id="512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81</a:t>
            </a:fld>
            <a:endParaRPr lang="en-US"/>
          </a:p>
        </p:txBody>
      </p:sp>
      <p:sp>
        <p:nvSpPr>
          <p:cNvPr id="512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1"/>
            <a:ext cx="8686801" cy="1287463"/>
          </a:xfrm>
        </p:spPr>
        <p:txBody>
          <a:bodyPr>
            <a:noAutofit/>
          </a:bodyPr>
          <a:lstStyle/>
          <a:p>
            <a:r>
              <a:rPr lang="en-US" sz="2400" u="sng" dirty="0" smtClean="0"/>
              <a:t>chain reaction</a:t>
            </a:r>
            <a:r>
              <a:rPr lang="en-US" sz="2400" dirty="0" smtClean="0"/>
              <a:t> - self-propagating reaction</a:t>
            </a:r>
          </a:p>
          <a:p>
            <a:r>
              <a:rPr lang="en-US" sz="2400" u="sng" dirty="0" smtClean="0"/>
              <a:t>critical mass</a:t>
            </a:r>
            <a:r>
              <a:rPr lang="en-US" sz="2400" dirty="0" smtClean="0"/>
              <a:t> - </a:t>
            </a:r>
            <a:br>
              <a:rPr lang="en-US" sz="2400" dirty="0" smtClean="0"/>
            </a:br>
            <a:r>
              <a:rPr lang="en-US" sz="2400" dirty="0" smtClean="0"/>
              <a:t>mass required  to sustain a </a:t>
            </a:r>
            <a:br>
              <a:rPr lang="en-US" sz="2400" dirty="0" smtClean="0"/>
            </a:br>
            <a:r>
              <a:rPr lang="en-US" sz="2400" dirty="0" smtClean="0"/>
              <a:t>chain reaction</a:t>
            </a:r>
          </a:p>
        </p:txBody>
      </p:sp>
      <p:pic>
        <p:nvPicPr>
          <p:cNvPr id="5125" name="Picture 4" descr="fission - chain react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34089" y="2293939"/>
            <a:ext cx="4110567" cy="4359275"/>
          </a:xfrm>
          <a:prstGeom prst="rect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B. Fusion</a:t>
            </a:r>
          </a:p>
        </p:txBody>
      </p:sp>
      <p:sp>
        <p:nvSpPr>
          <p:cNvPr id="3075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82</a:t>
            </a:fld>
            <a:endParaRPr lang="en-US"/>
          </a:p>
        </p:txBody>
      </p:sp>
      <p:sp>
        <p:nvSpPr>
          <p:cNvPr id="757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467556" y="1600200"/>
            <a:ext cx="7382933" cy="19431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90000"/>
              </a:lnSpc>
            </a:pPr>
            <a:r>
              <a:rPr lang="en-US" smtClean="0"/>
              <a:t>combining of two nuclei to form one nucleus of larger mass</a:t>
            </a:r>
          </a:p>
          <a:p>
            <a:pPr>
              <a:lnSpc>
                <a:spcPct val="90000"/>
              </a:lnSpc>
            </a:pPr>
            <a:r>
              <a:rPr lang="en-US" smtClean="0"/>
              <a:t>thermonuclear reaction – requires temp of 40,000,000 K to sustain</a:t>
            </a:r>
          </a:p>
          <a:p>
            <a:pPr>
              <a:lnSpc>
                <a:spcPct val="90000"/>
              </a:lnSpc>
            </a:pPr>
            <a:r>
              <a:rPr lang="en-US" smtClean="0"/>
              <a:t>1 g of fusion fuel = </a:t>
            </a:r>
            <a:br>
              <a:rPr lang="en-US" smtClean="0"/>
            </a:br>
            <a:r>
              <a:rPr lang="en-US" smtClean="0"/>
              <a:t>20 tons of coal</a:t>
            </a:r>
          </a:p>
          <a:p>
            <a:pPr>
              <a:lnSpc>
                <a:spcPct val="90000"/>
              </a:lnSpc>
            </a:pPr>
            <a:r>
              <a:rPr lang="en-US" smtClean="0"/>
              <a:t>occurs naturally in </a:t>
            </a:r>
            <a:br>
              <a:rPr lang="en-US" smtClean="0"/>
            </a:br>
            <a:r>
              <a:rPr lang="en-US" smtClean="0"/>
              <a:t>stars</a:t>
            </a:r>
          </a:p>
        </p:txBody>
      </p:sp>
      <p:pic>
        <p:nvPicPr>
          <p:cNvPr id="75780" name="Picture 4" descr="fusion reaction"/>
          <p:cNvPicPr>
            <a:picLocks noChangeAspect="1" noChangeArrowheads="1"/>
          </p:cNvPicPr>
          <p:nvPr/>
        </p:nvPicPr>
        <p:blipFill>
          <a:blip r:embed="rId3"/>
          <a:srcRect l="3461" t="12975" b="7671"/>
          <a:stretch>
            <a:fillRect/>
          </a:stretch>
        </p:blipFill>
        <p:spPr bwMode="auto">
          <a:xfrm>
            <a:off x="5754512" y="3740150"/>
            <a:ext cx="2616200" cy="2884488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</p:spPr>
      </p:pic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213100" y="5378450"/>
            <a:ext cx="1930400" cy="1193800"/>
            <a:chOff x="2200" y="3328"/>
            <a:chExt cx="1368" cy="752"/>
          </a:xfrm>
        </p:grpSpPr>
        <p:sp>
          <p:nvSpPr>
            <p:cNvPr id="75782" name="AutoShape 6"/>
            <p:cNvSpPr>
              <a:spLocks noChangeArrowheads="1"/>
            </p:cNvSpPr>
            <p:nvPr/>
          </p:nvSpPr>
          <p:spPr bwMode="auto">
            <a:xfrm>
              <a:off x="2200" y="3328"/>
              <a:ext cx="1368" cy="752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hlink"/>
                </a:gs>
                <a:gs pos="50000">
                  <a:schemeClr val="hlink">
                    <a:gamma/>
                    <a:tint val="0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aphicFrame>
          <p:nvGraphicFramePr>
            <p:cNvPr id="3074" name="Object 7"/>
            <p:cNvGraphicFramePr>
              <a:graphicFrameLocks noChangeAspect="1"/>
            </p:cNvGraphicFramePr>
            <p:nvPr/>
          </p:nvGraphicFramePr>
          <p:xfrm>
            <a:off x="2268" y="3426"/>
            <a:ext cx="1233" cy="5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638" name="Equation" r:id="rId4" imgW="507960" imgH="228600" progId="Equation.3">
                    <p:embed/>
                  </p:oleObj>
                </mc:Choice>
                <mc:Fallback>
                  <p:oleObj name="Equation" r:id="rId4" imgW="507960" imgH="2286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8" y="3426"/>
                          <a:ext cx="1233" cy="5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build="p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b="1">
                <a:solidFill>
                  <a:srgbClr val="FF0000"/>
                </a:solidFill>
                <a:latin typeface="Comic Sans MS" pitchFamily="66" charset="0"/>
              </a:rPr>
              <a:t>Nuclear Fission</a:t>
            </a:r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83</a:t>
            </a:fld>
            <a:endParaRPr lang="en-US"/>
          </a:p>
        </p:txBody>
      </p:sp>
      <p:sp>
        <p:nvSpPr>
          <p:cNvPr id="62469" name="Rectangle 5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62470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1447800"/>
            <a:ext cx="8940800" cy="406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2471" name="Line 7"/>
          <p:cNvSpPr>
            <a:spLocks noChangeShapeType="1"/>
          </p:cNvSpPr>
          <p:nvPr/>
        </p:nvSpPr>
        <p:spPr bwMode="auto">
          <a:xfrm>
            <a:off x="584200" y="1219200"/>
            <a:ext cx="77978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b="1">
                <a:solidFill>
                  <a:srgbClr val="FF0000"/>
                </a:solidFill>
                <a:latin typeface="Comic Sans MS" pitchFamily="66" charset="0"/>
              </a:rPr>
              <a:t>Nuclear Fission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84</a:t>
            </a:fld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990600"/>
            <a:ext cx="8534400" cy="5562600"/>
          </a:xfrm>
        </p:spPr>
        <p:txBody>
          <a:bodyPr/>
          <a:lstStyle/>
          <a:p>
            <a:pPr algn="ctr">
              <a:lnSpc>
                <a:spcPct val="135000"/>
              </a:lnSpc>
              <a:buFontTx/>
              <a:buNone/>
            </a:pPr>
            <a:r>
              <a:rPr lang="en-US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Fission is the splitting of atoms</a:t>
            </a:r>
          </a:p>
          <a:p>
            <a:pPr algn="ctr">
              <a:lnSpc>
                <a:spcPct val="135000"/>
              </a:lnSpc>
              <a:buFontTx/>
              <a:buNone/>
            </a:pPr>
            <a:r>
              <a:rPr lang="en-US" altLang="en-US" sz="24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These are usually very large, so that they are not as stable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Fission chain has three general steps: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1.	  Initiation.  Reaction of a single atom starts the chain (e.g., </a:t>
            </a:r>
            <a:r>
              <a:rPr lang="en-US" altLang="en-US" sz="2800" b="1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235</a:t>
            </a:r>
            <a:r>
              <a:rPr lang="en-US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 + neutron)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2.	  Propagation.  </a:t>
            </a:r>
            <a:r>
              <a:rPr lang="en-US" altLang="en-US" sz="2800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236</a:t>
            </a:r>
            <a:r>
              <a:rPr lang="en-US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U fission releases neutrons that initiate other fissions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3.   </a:t>
            </a:r>
            <a:r>
              <a:rPr lang="en-US" altLang="en-US" sz="2800" b="1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___________ </a:t>
            </a:r>
            <a:r>
              <a:rPr lang="en-US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  </a:t>
            </a:r>
          </a:p>
        </p:txBody>
      </p:sp>
      <p:sp>
        <p:nvSpPr>
          <p:cNvPr id="66565" name="Line 5"/>
          <p:cNvSpPr>
            <a:spLocks noChangeShapeType="1"/>
          </p:cNvSpPr>
          <p:nvPr/>
        </p:nvSpPr>
        <p:spPr bwMode="auto">
          <a:xfrm>
            <a:off x="584200" y="1219200"/>
            <a:ext cx="77978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85</a:t>
            </a:fld>
            <a:endParaRPr lang="en-US"/>
          </a:p>
        </p:txBody>
      </p:sp>
      <p:sp>
        <p:nvSpPr>
          <p:cNvPr id="2140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304800"/>
            <a:ext cx="7772400" cy="5791200"/>
          </a:xfrm>
        </p:spPr>
        <p:txBody>
          <a:bodyPr/>
          <a:lstStyle/>
          <a:p>
            <a:r>
              <a:rPr lang="en-US"/>
              <a:t>Involves the splitting of the nucleus into two nuclei of roughly equal mass.</a:t>
            </a:r>
          </a:p>
          <a:p>
            <a:r>
              <a:rPr lang="en-US"/>
              <a:t>For example   U</a:t>
            </a:r>
          </a:p>
          <a:p>
            <a:endParaRPr lang="en-US"/>
          </a:p>
        </p:txBody>
      </p:sp>
      <p:sp>
        <p:nvSpPr>
          <p:cNvPr id="214020" name="Text Box 4"/>
          <p:cNvSpPr txBox="1">
            <a:spLocks noChangeArrowheads="1"/>
          </p:cNvSpPr>
          <p:nvPr/>
        </p:nvSpPr>
        <p:spPr bwMode="auto">
          <a:xfrm>
            <a:off x="3003550" y="12573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235</a:t>
            </a:r>
          </a:p>
        </p:txBody>
      </p:sp>
      <p:sp>
        <p:nvSpPr>
          <p:cNvPr id="214021" name="Text Box 5"/>
          <p:cNvSpPr txBox="1">
            <a:spLocks noChangeArrowheads="1"/>
          </p:cNvSpPr>
          <p:nvPr/>
        </p:nvSpPr>
        <p:spPr bwMode="auto">
          <a:xfrm>
            <a:off x="3130550" y="1663700"/>
            <a:ext cx="508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92</a:t>
            </a:r>
          </a:p>
        </p:txBody>
      </p:sp>
      <p:sp>
        <p:nvSpPr>
          <p:cNvPr id="214022" name="Text Box 6"/>
          <p:cNvSpPr txBox="1">
            <a:spLocks noChangeArrowheads="1"/>
          </p:cNvSpPr>
          <p:nvPr/>
        </p:nvSpPr>
        <p:spPr bwMode="auto">
          <a:xfrm>
            <a:off x="1981200" y="1981200"/>
            <a:ext cx="609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>
                <a:latin typeface="Arial" charset="0"/>
              </a:rPr>
              <a:t>   U</a:t>
            </a:r>
          </a:p>
        </p:txBody>
      </p:sp>
      <p:sp>
        <p:nvSpPr>
          <p:cNvPr id="214023" name="Text Box 7"/>
          <p:cNvSpPr txBox="1">
            <a:spLocks noChangeArrowheads="1"/>
          </p:cNvSpPr>
          <p:nvPr/>
        </p:nvSpPr>
        <p:spPr bwMode="auto">
          <a:xfrm>
            <a:off x="1600200" y="26670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>
                <a:latin typeface="Arial" charset="0"/>
              </a:rPr>
              <a:t>92</a:t>
            </a:r>
          </a:p>
        </p:txBody>
      </p:sp>
      <p:sp>
        <p:nvSpPr>
          <p:cNvPr id="214024" name="Text Box 8"/>
          <p:cNvSpPr txBox="1">
            <a:spLocks noChangeArrowheads="1"/>
          </p:cNvSpPr>
          <p:nvPr/>
        </p:nvSpPr>
        <p:spPr bwMode="auto">
          <a:xfrm>
            <a:off x="1447800" y="21336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>
                <a:latin typeface="Arial" charset="0"/>
              </a:rPr>
              <a:t>235</a:t>
            </a:r>
          </a:p>
        </p:txBody>
      </p:sp>
      <p:sp>
        <p:nvSpPr>
          <p:cNvPr id="214025" name="Text Box 9"/>
          <p:cNvSpPr txBox="1">
            <a:spLocks noChangeArrowheads="1"/>
          </p:cNvSpPr>
          <p:nvPr/>
        </p:nvSpPr>
        <p:spPr bwMode="auto">
          <a:xfrm>
            <a:off x="2686050" y="2362200"/>
            <a:ext cx="4705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>
                <a:latin typeface="Arial" charset="0"/>
              </a:rPr>
              <a:t>Undergo a spontaneous fission </a:t>
            </a:r>
          </a:p>
        </p:txBody>
      </p:sp>
      <p:sp>
        <p:nvSpPr>
          <p:cNvPr id="214026" name="Text Box 10"/>
          <p:cNvSpPr txBox="1">
            <a:spLocks noChangeArrowheads="1"/>
          </p:cNvSpPr>
          <p:nvPr/>
        </p:nvSpPr>
        <p:spPr bwMode="auto">
          <a:xfrm>
            <a:off x="933450" y="3124200"/>
            <a:ext cx="731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>
                <a:latin typeface="Arial" charset="0"/>
              </a:rPr>
              <a:t>Here neutrons may be absorbed by  U</a:t>
            </a:r>
          </a:p>
        </p:txBody>
      </p:sp>
      <p:sp>
        <p:nvSpPr>
          <p:cNvPr id="214027" name="Text Box 11"/>
          <p:cNvSpPr txBox="1">
            <a:spLocks noChangeArrowheads="1"/>
          </p:cNvSpPr>
          <p:nvPr/>
        </p:nvSpPr>
        <p:spPr bwMode="auto">
          <a:xfrm>
            <a:off x="882650" y="3886200"/>
            <a:ext cx="73152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>
                <a:latin typeface="Arial" charset="0"/>
              </a:rPr>
              <a:t>Initially neutrons originates from the spontaneous fission of uranium or from cosmic rays.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1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1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1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1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1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1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1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14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14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14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0" grpId="0"/>
      <p:bldP spid="214021" grpId="0"/>
      <p:bldP spid="214021" grpId="1"/>
      <p:bldP spid="214022" grpId="0"/>
      <p:bldP spid="214023" grpId="0"/>
      <p:bldP spid="214024" grpId="0"/>
      <p:bldP spid="214025" grpId="0"/>
      <p:bldP spid="214026" grpId="0"/>
      <p:bldP spid="214027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4" name="Text Box 14"/>
          <p:cNvSpPr txBox="1">
            <a:spLocks noChangeArrowheads="1"/>
          </p:cNvSpPr>
          <p:nvPr/>
        </p:nvSpPr>
        <p:spPr bwMode="auto">
          <a:xfrm>
            <a:off x="3619500" y="1893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56</a:t>
            </a:r>
          </a:p>
        </p:txBody>
      </p:sp>
      <p:sp>
        <p:nvSpPr>
          <p:cNvPr id="215055" name="Text Box 15"/>
          <p:cNvSpPr txBox="1">
            <a:spLocks noChangeArrowheads="1"/>
          </p:cNvSpPr>
          <p:nvPr/>
        </p:nvSpPr>
        <p:spPr bwMode="auto">
          <a:xfrm>
            <a:off x="812800" y="1919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92</a:t>
            </a:r>
          </a:p>
        </p:txBody>
      </p:sp>
      <p:sp>
        <p:nvSpPr>
          <p:cNvPr id="215056" name="Text Box 16"/>
          <p:cNvSpPr txBox="1">
            <a:spLocks noChangeArrowheads="1"/>
          </p:cNvSpPr>
          <p:nvPr/>
        </p:nvSpPr>
        <p:spPr bwMode="auto">
          <a:xfrm>
            <a:off x="1968500" y="15890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</a:t>
            </a:r>
          </a:p>
        </p:txBody>
      </p:sp>
      <p:sp>
        <p:nvSpPr>
          <p:cNvPr id="215057" name="Text Box 17"/>
          <p:cNvSpPr txBox="1">
            <a:spLocks noChangeArrowheads="1"/>
          </p:cNvSpPr>
          <p:nvPr/>
        </p:nvSpPr>
        <p:spPr bwMode="auto">
          <a:xfrm>
            <a:off x="1968500" y="18938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0</a:t>
            </a:r>
          </a:p>
        </p:txBody>
      </p:sp>
      <p:sp>
        <p:nvSpPr>
          <p:cNvPr id="215058" name="Text Box 18"/>
          <p:cNvSpPr txBox="1">
            <a:spLocks noChangeArrowheads="1"/>
          </p:cNvSpPr>
          <p:nvPr/>
        </p:nvSpPr>
        <p:spPr bwMode="auto">
          <a:xfrm>
            <a:off x="3492500" y="1474788"/>
            <a:ext cx="609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139</a:t>
            </a:r>
          </a:p>
        </p:txBody>
      </p:sp>
      <p:sp>
        <p:nvSpPr>
          <p:cNvPr id="215059" name="Text Box 19"/>
          <p:cNvSpPr txBox="1">
            <a:spLocks noChangeArrowheads="1"/>
          </p:cNvSpPr>
          <p:nvPr/>
        </p:nvSpPr>
        <p:spPr bwMode="auto">
          <a:xfrm>
            <a:off x="5245100" y="14747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95</a:t>
            </a:r>
          </a:p>
        </p:txBody>
      </p:sp>
      <p:sp>
        <p:nvSpPr>
          <p:cNvPr id="215060" name="Text Box 20"/>
          <p:cNvSpPr txBox="1">
            <a:spLocks noChangeArrowheads="1"/>
          </p:cNvSpPr>
          <p:nvPr/>
        </p:nvSpPr>
        <p:spPr bwMode="auto">
          <a:xfrm>
            <a:off x="7239000" y="15001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</a:t>
            </a:r>
          </a:p>
        </p:txBody>
      </p:sp>
      <p:sp>
        <p:nvSpPr>
          <p:cNvPr id="215061" name="Text Box 21"/>
          <p:cNvSpPr txBox="1">
            <a:spLocks noChangeArrowheads="1"/>
          </p:cNvSpPr>
          <p:nvPr/>
        </p:nvSpPr>
        <p:spPr bwMode="auto">
          <a:xfrm>
            <a:off x="5245100" y="1893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36</a:t>
            </a:r>
          </a:p>
        </p:txBody>
      </p:sp>
      <p:sp>
        <p:nvSpPr>
          <p:cNvPr id="215062" name="Text Box 22"/>
          <p:cNvSpPr txBox="1">
            <a:spLocks noChangeArrowheads="1"/>
          </p:cNvSpPr>
          <p:nvPr/>
        </p:nvSpPr>
        <p:spPr bwMode="auto">
          <a:xfrm>
            <a:off x="7302500" y="18938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0</a:t>
            </a:r>
          </a:p>
        </p:txBody>
      </p:sp>
      <p:sp>
        <p:nvSpPr>
          <p:cNvPr id="215063" name="Line 23"/>
          <p:cNvSpPr>
            <a:spLocks noChangeShapeType="1"/>
          </p:cNvSpPr>
          <p:nvPr/>
        </p:nvSpPr>
        <p:spPr bwMode="auto">
          <a:xfrm>
            <a:off x="2730500" y="19700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15064" name="Text Box 24"/>
          <p:cNvSpPr txBox="1">
            <a:spLocks noChangeArrowheads="1"/>
          </p:cNvSpPr>
          <p:nvPr/>
        </p:nvSpPr>
        <p:spPr bwMode="auto">
          <a:xfrm>
            <a:off x="1358900" y="29845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U</a:t>
            </a:r>
          </a:p>
        </p:txBody>
      </p:sp>
      <p:sp>
        <p:nvSpPr>
          <p:cNvPr id="215065" name="Text Box 25"/>
          <p:cNvSpPr txBox="1">
            <a:spLocks noChangeArrowheads="1"/>
          </p:cNvSpPr>
          <p:nvPr/>
        </p:nvSpPr>
        <p:spPr bwMode="auto">
          <a:xfrm>
            <a:off x="762000" y="1524000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235</a:t>
            </a:r>
          </a:p>
        </p:txBody>
      </p:sp>
      <p:sp>
        <p:nvSpPr>
          <p:cNvPr id="215066" name="Text Box 26"/>
          <p:cNvSpPr txBox="1">
            <a:spLocks noChangeArrowheads="1"/>
          </p:cNvSpPr>
          <p:nvPr/>
        </p:nvSpPr>
        <p:spPr bwMode="auto">
          <a:xfrm>
            <a:off x="1219200" y="17526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U</a:t>
            </a:r>
          </a:p>
        </p:txBody>
      </p:sp>
      <p:sp>
        <p:nvSpPr>
          <p:cNvPr id="215067" name="Text Box 27"/>
          <p:cNvSpPr txBox="1">
            <a:spLocks noChangeArrowheads="1"/>
          </p:cNvSpPr>
          <p:nvPr/>
        </p:nvSpPr>
        <p:spPr bwMode="auto">
          <a:xfrm>
            <a:off x="1524000" y="17526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+</a:t>
            </a:r>
          </a:p>
        </p:txBody>
      </p:sp>
      <p:sp>
        <p:nvSpPr>
          <p:cNvPr id="215068" name="Text Box 28"/>
          <p:cNvSpPr txBox="1">
            <a:spLocks noChangeArrowheads="1"/>
          </p:cNvSpPr>
          <p:nvPr/>
        </p:nvSpPr>
        <p:spPr bwMode="auto">
          <a:xfrm>
            <a:off x="2209800" y="17526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215069" name="Text Box 29"/>
          <p:cNvSpPr txBox="1">
            <a:spLocks noChangeArrowheads="1"/>
          </p:cNvSpPr>
          <p:nvPr/>
        </p:nvSpPr>
        <p:spPr bwMode="auto">
          <a:xfrm>
            <a:off x="3898900" y="1689100"/>
            <a:ext cx="533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Ba</a:t>
            </a:r>
          </a:p>
        </p:txBody>
      </p:sp>
      <p:sp>
        <p:nvSpPr>
          <p:cNvPr id="215070" name="Text Box 30"/>
          <p:cNvSpPr txBox="1">
            <a:spLocks noChangeArrowheads="1"/>
          </p:cNvSpPr>
          <p:nvPr/>
        </p:nvSpPr>
        <p:spPr bwMode="auto">
          <a:xfrm>
            <a:off x="5638800" y="16764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x</a:t>
            </a:r>
          </a:p>
        </p:txBody>
      </p:sp>
      <p:sp>
        <p:nvSpPr>
          <p:cNvPr id="215071" name="Text Box 31"/>
          <p:cNvSpPr txBox="1">
            <a:spLocks noChangeArrowheads="1"/>
          </p:cNvSpPr>
          <p:nvPr/>
        </p:nvSpPr>
        <p:spPr bwMode="auto">
          <a:xfrm>
            <a:off x="7467600" y="16764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215072" name="Text Box 32"/>
          <p:cNvSpPr txBox="1">
            <a:spLocks noChangeArrowheads="1"/>
          </p:cNvSpPr>
          <p:nvPr/>
        </p:nvSpPr>
        <p:spPr bwMode="auto">
          <a:xfrm>
            <a:off x="4495800" y="16764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+</a:t>
            </a:r>
          </a:p>
        </p:txBody>
      </p:sp>
      <p:sp>
        <p:nvSpPr>
          <p:cNvPr id="215073" name="Text Box 33"/>
          <p:cNvSpPr txBox="1">
            <a:spLocks noChangeArrowheads="1"/>
          </p:cNvSpPr>
          <p:nvPr/>
        </p:nvSpPr>
        <p:spPr bwMode="auto">
          <a:xfrm>
            <a:off x="6324600" y="16764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+</a:t>
            </a:r>
          </a:p>
        </p:txBody>
      </p:sp>
      <p:sp>
        <p:nvSpPr>
          <p:cNvPr id="215074" name="Text Box 34"/>
          <p:cNvSpPr txBox="1">
            <a:spLocks noChangeArrowheads="1"/>
          </p:cNvSpPr>
          <p:nvPr/>
        </p:nvSpPr>
        <p:spPr bwMode="auto">
          <a:xfrm>
            <a:off x="7112000" y="17145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2</a:t>
            </a:r>
          </a:p>
        </p:txBody>
      </p:sp>
      <p:sp>
        <p:nvSpPr>
          <p:cNvPr id="215075" name="Text Box 35"/>
          <p:cNvSpPr txBox="1">
            <a:spLocks noChangeArrowheads="1"/>
          </p:cNvSpPr>
          <p:nvPr/>
        </p:nvSpPr>
        <p:spPr bwMode="auto">
          <a:xfrm>
            <a:off x="990600" y="27432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235</a:t>
            </a:r>
          </a:p>
        </p:txBody>
      </p:sp>
      <p:sp>
        <p:nvSpPr>
          <p:cNvPr id="215076" name="Text Box 36"/>
          <p:cNvSpPr txBox="1">
            <a:spLocks noChangeArrowheads="1"/>
          </p:cNvSpPr>
          <p:nvPr/>
        </p:nvSpPr>
        <p:spPr bwMode="auto">
          <a:xfrm>
            <a:off x="1117600" y="3200400"/>
            <a:ext cx="508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92</a:t>
            </a:r>
          </a:p>
        </p:txBody>
      </p:sp>
      <p:sp>
        <p:nvSpPr>
          <p:cNvPr id="215077" name="Text Box 37"/>
          <p:cNvSpPr txBox="1">
            <a:spLocks noChangeArrowheads="1"/>
          </p:cNvSpPr>
          <p:nvPr/>
        </p:nvSpPr>
        <p:spPr bwMode="auto">
          <a:xfrm>
            <a:off x="1752600" y="29718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+</a:t>
            </a:r>
          </a:p>
        </p:txBody>
      </p:sp>
      <p:sp>
        <p:nvSpPr>
          <p:cNvPr id="215078" name="Text Box 38"/>
          <p:cNvSpPr txBox="1">
            <a:spLocks noChangeArrowheads="1"/>
          </p:cNvSpPr>
          <p:nvPr/>
        </p:nvSpPr>
        <p:spPr bwMode="auto">
          <a:xfrm>
            <a:off x="2209800" y="27686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</a:t>
            </a:r>
          </a:p>
        </p:txBody>
      </p:sp>
      <p:sp>
        <p:nvSpPr>
          <p:cNvPr id="215079" name="Text Box 39"/>
          <p:cNvSpPr txBox="1">
            <a:spLocks noChangeArrowheads="1"/>
          </p:cNvSpPr>
          <p:nvPr/>
        </p:nvSpPr>
        <p:spPr bwMode="auto">
          <a:xfrm>
            <a:off x="2209800" y="31496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0</a:t>
            </a:r>
          </a:p>
        </p:txBody>
      </p:sp>
      <p:sp>
        <p:nvSpPr>
          <p:cNvPr id="215080" name="Text Box 40"/>
          <p:cNvSpPr txBox="1">
            <a:spLocks noChangeArrowheads="1"/>
          </p:cNvSpPr>
          <p:nvPr/>
        </p:nvSpPr>
        <p:spPr bwMode="auto">
          <a:xfrm>
            <a:off x="2438400" y="29718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215081" name="Text Box 41"/>
          <p:cNvSpPr txBox="1">
            <a:spLocks noChangeArrowheads="1"/>
          </p:cNvSpPr>
          <p:nvPr/>
        </p:nvSpPr>
        <p:spPr bwMode="auto">
          <a:xfrm>
            <a:off x="3657600" y="3124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56</a:t>
            </a:r>
          </a:p>
        </p:txBody>
      </p:sp>
      <p:sp>
        <p:nvSpPr>
          <p:cNvPr id="215082" name="Text Box 42"/>
          <p:cNvSpPr txBox="1">
            <a:spLocks noChangeArrowheads="1"/>
          </p:cNvSpPr>
          <p:nvPr/>
        </p:nvSpPr>
        <p:spPr bwMode="auto">
          <a:xfrm>
            <a:off x="3556000" y="2717800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139</a:t>
            </a:r>
          </a:p>
        </p:txBody>
      </p:sp>
      <p:sp>
        <p:nvSpPr>
          <p:cNvPr id="215083" name="Text Box 43"/>
          <p:cNvSpPr txBox="1">
            <a:spLocks noChangeArrowheads="1"/>
          </p:cNvSpPr>
          <p:nvPr/>
        </p:nvSpPr>
        <p:spPr bwMode="auto">
          <a:xfrm>
            <a:off x="4038600" y="2895600"/>
            <a:ext cx="533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Ba</a:t>
            </a:r>
          </a:p>
        </p:txBody>
      </p:sp>
      <p:sp>
        <p:nvSpPr>
          <p:cNvPr id="215084" name="Text Box 44"/>
          <p:cNvSpPr txBox="1">
            <a:spLocks noChangeArrowheads="1"/>
          </p:cNvSpPr>
          <p:nvPr/>
        </p:nvSpPr>
        <p:spPr bwMode="auto">
          <a:xfrm>
            <a:off x="5410200" y="2895600"/>
            <a:ext cx="533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x</a:t>
            </a:r>
          </a:p>
        </p:txBody>
      </p:sp>
      <p:sp>
        <p:nvSpPr>
          <p:cNvPr id="215085" name="Text Box 45"/>
          <p:cNvSpPr txBox="1">
            <a:spLocks noChangeArrowheads="1"/>
          </p:cNvSpPr>
          <p:nvPr/>
        </p:nvSpPr>
        <p:spPr bwMode="auto">
          <a:xfrm>
            <a:off x="6553200" y="2882900"/>
            <a:ext cx="533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215086" name="Text Box 46"/>
          <p:cNvSpPr txBox="1">
            <a:spLocks noChangeArrowheads="1"/>
          </p:cNvSpPr>
          <p:nvPr/>
        </p:nvSpPr>
        <p:spPr bwMode="auto">
          <a:xfrm>
            <a:off x="7340600" y="2870200"/>
            <a:ext cx="1219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energy</a:t>
            </a:r>
          </a:p>
        </p:txBody>
      </p:sp>
      <p:sp>
        <p:nvSpPr>
          <p:cNvPr id="215087" name="Text Box 47"/>
          <p:cNvSpPr txBox="1">
            <a:spLocks noChangeArrowheads="1"/>
          </p:cNvSpPr>
          <p:nvPr/>
        </p:nvSpPr>
        <p:spPr bwMode="auto">
          <a:xfrm>
            <a:off x="6959600" y="2882900"/>
            <a:ext cx="533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+</a:t>
            </a:r>
          </a:p>
        </p:txBody>
      </p:sp>
      <p:sp>
        <p:nvSpPr>
          <p:cNvPr id="215088" name="Text Box 48"/>
          <p:cNvSpPr txBox="1">
            <a:spLocks noChangeArrowheads="1"/>
          </p:cNvSpPr>
          <p:nvPr/>
        </p:nvSpPr>
        <p:spPr bwMode="auto">
          <a:xfrm>
            <a:off x="6019800" y="2895600"/>
            <a:ext cx="533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+</a:t>
            </a:r>
          </a:p>
        </p:txBody>
      </p:sp>
      <p:sp>
        <p:nvSpPr>
          <p:cNvPr id="215089" name="Text Box 49"/>
          <p:cNvSpPr txBox="1">
            <a:spLocks noChangeArrowheads="1"/>
          </p:cNvSpPr>
          <p:nvPr/>
        </p:nvSpPr>
        <p:spPr bwMode="auto">
          <a:xfrm>
            <a:off x="4724400" y="2895600"/>
            <a:ext cx="533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+</a:t>
            </a:r>
          </a:p>
        </p:txBody>
      </p:sp>
      <p:sp>
        <p:nvSpPr>
          <p:cNvPr id="215090" name="Text Box 50"/>
          <p:cNvSpPr txBox="1">
            <a:spLocks noChangeArrowheads="1"/>
          </p:cNvSpPr>
          <p:nvPr/>
        </p:nvSpPr>
        <p:spPr bwMode="auto">
          <a:xfrm>
            <a:off x="6248400" y="2895600"/>
            <a:ext cx="533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3</a:t>
            </a:r>
          </a:p>
        </p:txBody>
      </p:sp>
      <p:sp>
        <p:nvSpPr>
          <p:cNvPr id="215091" name="Text Box 51"/>
          <p:cNvSpPr txBox="1">
            <a:spLocks noChangeArrowheads="1"/>
          </p:cNvSpPr>
          <p:nvPr/>
        </p:nvSpPr>
        <p:spPr bwMode="auto">
          <a:xfrm>
            <a:off x="5181600" y="3124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36</a:t>
            </a:r>
          </a:p>
        </p:txBody>
      </p:sp>
      <p:sp>
        <p:nvSpPr>
          <p:cNvPr id="215092" name="Text Box 52"/>
          <p:cNvSpPr txBox="1">
            <a:spLocks noChangeArrowheads="1"/>
          </p:cNvSpPr>
          <p:nvPr/>
        </p:nvSpPr>
        <p:spPr bwMode="auto">
          <a:xfrm>
            <a:off x="5168900" y="27051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94</a:t>
            </a:r>
          </a:p>
        </p:txBody>
      </p:sp>
      <p:sp>
        <p:nvSpPr>
          <p:cNvPr id="215093" name="Text Box 53"/>
          <p:cNvSpPr txBox="1">
            <a:spLocks noChangeArrowheads="1"/>
          </p:cNvSpPr>
          <p:nvPr/>
        </p:nvSpPr>
        <p:spPr bwMode="auto">
          <a:xfrm>
            <a:off x="6400800" y="3124200"/>
            <a:ext cx="533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0</a:t>
            </a:r>
          </a:p>
        </p:txBody>
      </p:sp>
      <p:sp>
        <p:nvSpPr>
          <p:cNvPr id="215094" name="Text Box 54"/>
          <p:cNvSpPr txBox="1">
            <a:spLocks noChangeArrowheads="1"/>
          </p:cNvSpPr>
          <p:nvPr/>
        </p:nvSpPr>
        <p:spPr bwMode="auto">
          <a:xfrm>
            <a:off x="6400800" y="2743200"/>
            <a:ext cx="533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</a:t>
            </a:r>
          </a:p>
        </p:txBody>
      </p:sp>
      <p:sp>
        <p:nvSpPr>
          <p:cNvPr id="215095" name="Line 55"/>
          <p:cNvSpPr>
            <a:spLocks noChangeShapeType="1"/>
          </p:cNvSpPr>
          <p:nvPr/>
        </p:nvSpPr>
        <p:spPr bwMode="auto">
          <a:xfrm>
            <a:off x="2895600" y="3124200"/>
            <a:ext cx="533400" cy="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15096" name="Line 56"/>
          <p:cNvSpPr>
            <a:spLocks noChangeShapeType="1"/>
          </p:cNvSpPr>
          <p:nvPr/>
        </p:nvSpPr>
        <p:spPr bwMode="auto">
          <a:xfrm>
            <a:off x="2895600" y="3124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15097" name="Oval 57"/>
          <p:cNvSpPr>
            <a:spLocks noChangeArrowheads="1"/>
          </p:cNvSpPr>
          <p:nvPr/>
        </p:nvSpPr>
        <p:spPr bwMode="auto">
          <a:xfrm>
            <a:off x="21336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098" name="Oval 58"/>
          <p:cNvSpPr>
            <a:spLocks noChangeArrowheads="1"/>
          </p:cNvSpPr>
          <p:nvPr/>
        </p:nvSpPr>
        <p:spPr bwMode="auto">
          <a:xfrm>
            <a:off x="3657600" y="4343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099" name="Oval 59"/>
          <p:cNvSpPr>
            <a:spLocks noChangeArrowheads="1"/>
          </p:cNvSpPr>
          <p:nvPr/>
        </p:nvSpPr>
        <p:spPr bwMode="auto">
          <a:xfrm>
            <a:off x="3657600" y="5181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00" name="Text Box 60"/>
          <p:cNvSpPr txBox="1">
            <a:spLocks noChangeArrowheads="1"/>
          </p:cNvSpPr>
          <p:nvPr/>
        </p:nvSpPr>
        <p:spPr bwMode="auto">
          <a:xfrm>
            <a:off x="4648200" y="4800600"/>
            <a:ext cx="533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+</a:t>
            </a:r>
          </a:p>
        </p:txBody>
      </p:sp>
      <p:sp>
        <p:nvSpPr>
          <p:cNvPr id="215101" name="Text Box 61"/>
          <p:cNvSpPr txBox="1">
            <a:spLocks noChangeArrowheads="1"/>
          </p:cNvSpPr>
          <p:nvPr/>
        </p:nvSpPr>
        <p:spPr bwMode="auto">
          <a:xfrm>
            <a:off x="5257800" y="4800600"/>
            <a:ext cx="1219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neutrons</a:t>
            </a:r>
          </a:p>
        </p:txBody>
      </p:sp>
      <p:sp>
        <p:nvSpPr>
          <p:cNvPr id="215102" name="Text Box 62"/>
          <p:cNvSpPr txBox="1">
            <a:spLocks noChangeArrowheads="1"/>
          </p:cNvSpPr>
          <p:nvPr/>
        </p:nvSpPr>
        <p:spPr bwMode="auto">
          <a:xfrm>
            <a:off x="6781800" y="4775200"/>
            <a:ext cx="1219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energy</a:t>
            </a:r>
          </a:p>
        </p:txBody>
      </p:sp>
      <p:sp>
        <p:nvSpPr>
          <p:cNvPr id="215103" name="Text Box 63"/>
          <p:cNvSpPr txBox="1">
            <a:spLocks noChangeArrowheads="1"/>
          </p:cNvSpPr>
          <p:nvPr/>
        </p:nvSpPr>
        <p:spPr bwMode="auto">
          <a:xfrm>
            <a:off x="6464300" y="4787900"/>
            <a:ext cx="533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+</a:t>
            </a:r>
          </a:p>
        </p:txBody>
      </p:sp>
      <p:sp>
        <p:nvSpPr>
          <p:cNvPr id="215104" name="Line 64"/>
          <p:cNvSpPr>
            <a:spLocks noChangeShapeType="1"/>
          </p:cNvSpPr>
          <p:nvPr/>
        </p:nvSpPr>
        <p:spPr bwMode="auto">
          <a:xfrm>
            <a:off x="4648200" y="5638800"/>
            <a:ext cx="762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15105" name="Line 65"/>
          <p:cNvSpPr>
            <a:spLocks noChangeShapeType="1"/>
          </p:cNvSpPr>
          <p:nvPr/>
        </p:nvSpPr>
        <p:spPr bwMode="auto">
          <a:xfrm flipV="1">
            <a:off x="4572000" y="4038600"/>
            <a:ext cx="838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15106" name="Text Box 66"/>
          <p:cNvSpPr txBox="1">
            <a:spLocks noChangeArrowheads="1"/>
          </p:cNvSpPr>
          <p:nvPr/>
        </p:nvSpPr>
        <p:spPr bwMode="auto">
          <a:xfrm>
            <a:off x="5562600" y="5867400"/>
            <a:ext cx="1600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More fission</a:t>
            </a:r>
          </a:p>
        </p:txBody>
      </p:sp>
      <p:sp>
        <p:nvSpPr>
          <p:cNvPr id="215107" name="Text Box 67"/>
          <p:cNvSpPr txBox="1">
            <a:spLocks noChangeArrowheads="1"/>
          </p:cNvSpPr>
          <p:nvPr/>
        </p:nvSpPr>
        <p:spPr bwMode="auto">
          <a:xfrm>
            <a:off x="5638800" y="3733800"/>
            <a:ext cx="1600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More fission</a:t>
            </a:r>
          </a:p>
        </p:txBody>
      </p:sp>
      <p:sp>
        <p:nvSpPr>
          <p:cNvPr id="215108" name="Text Box 68"/>
          <p:cNvSpPr txBox="1">
            <a:spLocks noChangeArrowheads="1"/>
          </p:cNvSpPr>
          <p:nvPr/>
        </p:nvSpPr>
        <p:spPr bwMode="auto">
          <a:xfrm>
            <a:off x="304800" y="5181600"/>
            <a:ext cx="1600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neutrons</a:t>
            </a:r>
          </a:p>
        </p:txBody>
      </p:sp>
      <p:sp>
        <p:nvSpPr>
          <p:cNvPr id="215109" name="Line 69"/>
          <p:cNvSpPr>
            <a:spLocks noChangeShapeType="1"/>
          </p:cNvSpPr>
          <p:nvPr/>
        </p:nvSpPr>
        <p:spPr bwMode="auto">
          <a:xfrm flipV="1">
            <a:off x="1447800" y="5105400"/>
            <a:ext cx="609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15110" name="Line 70"/>
          <p:cNvSpPr>
            <a:spLocks noChangeShapeType="1"/>
          </p:cNvSpPr>
          <p:nvPr/>
        </p:nvSpPr>
        <p:spPr bwMode="auto">
          <a:xfrm>
            <a:off x="2971800" y="5029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15133" name="Text Box 93"/>
          <p:cNvSpPr txBox="1">
            <a:spLocks noChangeArrowheads="1"/>
          </p:cNvSpPr>
          <p:nvPr/>
        </p:nvSpPr>
        <p:spPr bwMode="auto">
          <a:xfrm>
            <a:off x="3771900" y="750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54</a:t>
            </a:r>
          </a:p>
        </p:txBody>
      </p:sp>
      <p:sp>
        <p:nvSpPr>
          <p:cNvPr id="215134" name="Text Box 94"/>
          <p:cNvSpPr txBox="1">
            <a:spLocks noChangeArrowheads="1"/>
          </p:cNvSpPr>
          <p:nvPr/>
        </p:nvSpPr>
        <p:spPr bwMode="auto">
          <a:xfrm>
            <a:off x="965200" y="776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92</a:t>
            </a:r>
          </a:p>
        </p:txBody>
      </p:sp>
      <p:sp>
        <p:nvSpPr>
          <p:cNvPr id="215135" name="Text Box 95"/>
          <p:cNvSpPr txBox="1">
            <a:spLocks noChangeArrowheads="1"/>
          </p:cNvSpPr>
          <p:nvPr/>
        </p:nvSpPr>
        <p:spPr bwMode="auto">
          <a:xfrm>
            <a:off x="2120900" y="4460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</a:t>
            </a:r>
          </a:p>
        </p:txBody>
      </p:sp>
      <p:sp>
        <p:nvSpPr>
          <p:cNvPr id="215136" name="Text Box 96"/>
          <p:cNvSpPr txBox="1">
            <a:spLocks noChangeArrowheads="1"/>
          </p:cNvSpPr>
          <p:nvPr/>
        </p:nvSpPr>
        <p:spPr bwMode="auto">
          <a:xfrm>
            <a:off x="2120900" y="7508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0</a:t>
            </a:r>
          </a:p>
        </p:txBody>
      </p:sp>
      <p:sp>
        <p:nvSpPr>
          <p:cNvPr id="215137" name="Text Box 97"/>
          <p:cNvSpPr txBox="1">
            <a:spLocks noChangeArrowheads="1"/>
          </p:cNvSpPr>
          <p:nvPr/>
        </p:nvSpPr>
        <p:spPr bwMode="auto">
          <a:xfrm>
            <a:off x="3644900" y="331788"/>
            <a:ext cx="609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139</a:t>
            </a:r>
          </a:p>
        </p:txBody>
      </p:sp>
      <p:sp>
        <p:nvSpPr>
          <p:cNvPr id="215138" name="Text Box 98"/>
          <p:cNvSpPr txBox="1">
            <a:spLocks noChangeArrowheads="1"/>
          </p:cNvSpPr>
          <p:nvPr/>
        </p:nvSpPr>
        <p:spPr bwMode="auto">
          <a:xfrm>
            <a:off x="5397500" y="3317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95</a:t>
            </a:r>
          </a:p>
        </p:txBody>
      </p:sp>
      <p:sp>
        <p:nvSpPr>
          <p:cNvPr id="215139" name="Text Box 99"/>
          <p:cNvSpPr txBox="1">
            <a:spLocks noChangeArrowheads="1"/>
          </p:cNvSpPr>
          <p:nvPr/>
        </p:nvSpPr>
        <p:spPr bwMode="auto">
          <a:xfrm>
            <a:off x="7391400" y="3571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</a:t>
            </a:r>
          </a:p>
        </p:txBody>
      </p:sp>
      <p:sp>
        <p:nvSpPr>
          <p:cNvPr id="215140" name="Text Box 100"/>
          <p:cNvSpPr txBox="1">
            <a:spLocks noChangeArrowheads="1"/>
          </p:cNvSpPr>
          <p:nvPr/>
        </p:nvSpPr>
        <p:spPr bwMode="auto">
          <a:xfrm>
            <a:off x="5397500" y="750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38</a:t>
            </a:r>
          </a:p>
        </p:txBody>
      </p:sp>
      <p:sp>
        <p:nvSpPr>
          <p:cNvPr id="215141" name="Text Box 101"/>
          <p:cNvSpPr txBox="1">
            <a:spLocks noChangeArrowheads="1"/>
          </p:cNvSpPr>
          <p:nvPr/>
        </p:nvSpPr>
        <p:spPr bwMode="auto">
          <a:xfrm>
            <a:off x="7454900" y="7508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0</a:t>
            </a:r>
          </a:p>
        </p:txBody>
      </p:sp>
      <p:sp>
        <p:nvSpPr>
          <p:cNvPr id="215142" name="Line 102"/>
          <p:cNvSpPr>
            <a:spLocks noChangeShapeType="1"/>
          </p:cNvSpPr>
          <p:nvPr/>
        </p:nvSpPr>
        <p:spPr bwMode="auto">
          <a:xfrm>
            <a:off x="2882900" y="8270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15143" name="Text Box 103"/>
          <p:cNvSpPr txBox="1">
            <a:spLocks noChangeArrowheads="1"/>
          </p:cNvSpPr>
          <p:nvPr/>
        </p:nvSpPr>
        <p:spPr bwMode="auto">
          <a:xfrm>
            <a:off x="914400" y="381000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235</a:t>
            </a:r>
          </a:p>
        </p:txBody>
      </p:sp>
      <p:sp>
        <p:nvSpPr>
          <p:cNvPr id="215144" name="Text Box 104"/>
          <p:cNvSpPr txBox="1">
            <a:spLocks noChangeArrowheads="1"/>
          </p:cNvSpPr>
          <p:nvPr/>
        </p:nvSpPr>
        <p:spPr bwMode="auto">
          <a:xfrm>
            <a:off x="1371600" y="6096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U</a:t>
            </a:r>
          </a:p>
        </p:txBody>
      </p:sp>
      <p:sp>
        <p:nvSpPr>
          <p:cNvPr id="215145" name="Text Box 105"/>
          <p:cNvSpPr txBox="1">
            <a:spLocks noChangeArrowheads="1"/>
          </p:cNvSpPr>
          <p:nvPr/>
        </p:nvSpPr>
        <p:spPr bwMode="auto">
          <a:xfrm>
            <a:off x="1676400" y="6096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+</a:t>
            </a:r>
          </a:p>
        </p:txBody>
      </p:sp>
      <p:sp>
        <p:nvSpPr>
          <p:cNvPr id="215146" name="Text Box 106"/>
          <p:cNvSpPr txBox="1">
            <a:spLocks noChangeArrowheads="1"/>
          </p:cNvSpPr>
          <p:nvPr/>
        </p:nvSpPr>
        <p:spPr bwMode="auto">
          <a:xfrm>
            <a:off x="2362200" y="6096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215147" name="Text Box 107"/>
          <p:cNvSpPr txBox="1">
            <a:spLocks noChangeArrowheads="1"/>
          </p:cNvSpPr>
          <p:nvPr/>
        </p:nvSpPr>
        <p:spPr bwMode="auto">
          <a:xfrm>
            <a:off x="4114800" y="533400"/>
            <a:ext cx="533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Xe</a:t>
            </a:r>
          </a:p>
        </p:txBody>
      </p:sp>
      <p:sp>
        <p:nvSpPr>
          <p:cNvPr id="215148" name="Text Box 108"/>
          <p:cNvSpPr txBox="1">
            <a:spLocks noChangeArrowheads="1"/>
          </p:cNvSpPr>
          <p:nvPr/>
        </p:nvSpPr>
        <p:spPr bwMode="auto">
          <a:xfrm>
            <a:off x="5791200" y="5334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Kr</a:t>
            </a:r>
          </a:p>
        </p:txBody>
      </p:sp>
      <p:sp>
        <p:nvSpPr>
          <p:cNvPr id="215149" name="Text Box 109"/>
          <p:cNvSpPr txBox="1">
            <a:spLocks noChangeArrowheads="1"/>
          </p:cNvSpPr>
          <p:nvPr/>
        </p:nvSpPr>
        <p:spPr bwMode="auto">
          <a:xfrm>
            <a:off x="7620000" y="5334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215150" name="Text Box 110"/>
          <p:cNvSpPr txBox="1">
            <a:spLocks noChangeArrowheads="1"/>
          </p:cNvSpPr>
          <p:nvPr/>
        </p:nvSpPr>
        <p:spPr bwMode="auto">
          <a:xfrm>
            <a:off x="4648200" y="5334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+</a:t>
            </a:r>
          </a:p>
        </p:txBody>
      </p:sp>
      <p:sp>
        <p:nvSpPr>
          <p:cNvPr id="215151" name="Text Box 111"/>
          <p:cNvSpPr txBox="1">
            <a:spLocks noChangeArrowheads="1"/>
          </p:cNvSpPr>
          <p:nvPr/>
        </p:nvSpPr>
        <p:spPr bwMode="auto">
          <a:xfrm>
            <a:off x="6477000" y="5334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+</a:t>
            </a:r>
          </a:p>
        </p:txBody>
      </p:sp>
      <p:sp>
        <p:nvSpPr>
          <p:cNvPr id="215152" name="Text Box 112"/>
          <p:cNvSpPr txBox="1">
            <a:spLocks noChangeArrowheads="1"/>
          </p:cNvSpPr>
          <p:nvPr/>
        </p:nvSpPr>
        <p:spPr bwMode="auto">
          <a:xfrm>
            <a:off x="7264400" y="5715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2</a:t>
            </a:r>
          </a:p>
        </p:txBody>
      </p:sp>
      <p:sp>
        <p:nvSpPr>
          <p:cNvPr id="80" name="Footer Placeholder 7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79" name="Slide Number Placeholder 7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86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1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1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1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1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1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1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1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1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1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1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1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1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215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215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21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21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215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215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215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215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215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215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500"/>
                                        <p:tgtEl>
                                          <p:spTgt spid="215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1" dur="500"/>
                                        <p:tgtEl>
                                          <p:spTgt spid="21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4" dur="500"/>
                                        <p:tgtEl>
                                          <p:spTgt spid="21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21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0" dur="500"/>
                                        <p:tgtEl>
                                          <p:spTgt spid="21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21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6" dur="500"/>
                                        <p:tgtEl>
                                          <p:spTgt spid="21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9" dur="500"/>
                                        <p:tgtEl>
                                          <p:spTgt spid="21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2" dur="500"/>
                                        <p:tgtEl>
                                          <p:spTgt spid="21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5" dur="500"/>
                                        <p:tgtEl>
                                          <p:spTgt spid="21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8" dur="500"/>
                                        <p:tgtEl>
                                          <p:spTgt spid="21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1" dur="500"/>
                                        <p:tgtEl>
                                          <p:spTgt spid="21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4" dur="500"/>
                                        <p:tgtEl>
                                          <p:spTgt spid="21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7" dur="500"/>
                                        <p:tgtEl>
                                          <p:spTgt spid="21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0" dur="500"/>
                                        <p:tgtEl>
                                          <p:spTgt spid="215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3" dur="500"/>
                                        <p:tgtEl>
                                          <p:spTgt spid="21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6" dur="500"/>
                                        <p:tgtEl>
                                          <p:spTgt spid="215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1" dur="500"/>
                                        <p:tgtEl>
                                          <p:spTgt spid="21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4" dur="500"/>
                                        <p:tgtEl>
                                          <p:spTgt spid="215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7" dur="500"/>
                                        <p:tgtEl>
                                          <p:spTgt spid="21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0" dur="500"/>
                                        <p:tgtEl>
                                          <p:spTgt spid="21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3" dur="500"/>
                                        <p:tgtEl>
                                          <p:spTgt spid="215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6" dur="500"/>
                                        <p:tgtEl>
                                          <p:spTgt spid="215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9" dur="500"/>
                                        <p:tgtEl>
                                          <p:spTgt spid="215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2" dur="500"/>
                                        <p:tgtEl>
                                          <p:spTgt spid="215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5" dur="500"/>
                                        <p:tgtEl>
                                          <p:spTgt spid="215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8" dur="500"/>
                                        <p:tgtEl>
                                          <p:spTgt spid="215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1" dur="500"/>
                                        <p:tgtEl>
                                          <p:spTgt spid="215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4" dur="500"/>
                                        <p:tgtEl>
                                          <p:spTgt spid="215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7" dur="500"/>
                                        <p:tgtEl>
                                          <p:spTgt spid="21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0" dur="500"/>
                                        <p:tgtEl>
                                          <p:spTgt spid="215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3" dur="500"/>
                                        <p:tgtEl>
                                          <p:spTgt spid="215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6" dur="500"/>
                                        <p:tgtEl>
                                          <p:spTgt spid="215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9" dur="500"/>
                                        <p:tgtEl>
                                          <p:spTgt spid="21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2" dur="500"/>
                                        <p:tgtEl>
                                          <p:spTgt spid="215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5" dur="500"/>
                                        <p:tgtEl>
                                          <p:spTgt spid="215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8" dur="500"/>
                                        <p:tgtEl>
                                          <p:spTgt spid="215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1" dur="500"/>
                                        <p:tgtEl>
                                          <p:spTgt spid="215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5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4" dur="500"/>
                                        <p:tgtEl>
                                          <p:spTgt spid="215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7" dur="500"/>
                                        <p:tgtEl>
                                          <p:spTgt spid="215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2" dur="500"/>
                                        <p:tgtEl>
                                          <p:spTgt spid="21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5" dur="500"/>
                                        <p:tgtEl>
                                          <p:spTgt spid="21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8" dur="500"/>
                                        <p:tgtEl>
                                          <p:spTgt spid="215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1" dur="500"/>
                                        <p:tgtEl>
                                          <p:spTgt spid="215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4" dur="500"/>
                                        <p:tgtEl>
                                          <p:spTgt spid="215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7" dur="500"/>
                                        <p:tgtEl>
                                          <p:spTgt spid="215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5" presetClass="entr" presetSubtype="1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0" dur="500"/>
                                        <p:tgtEl>
                                          <p:spTgt spid="215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3" dur="500"/>
                                        <p:tgtEl>
                                          <p:spTgt spid="215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6" dur="500"/>
                                        <p:tgtEl>
                                          <p:spTgt spid="215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9" dur="500"/>
                                        <p:tgtEl>
                                          <p:spTgt spid="215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2" dur="500"/>
                                        <p:tgtEl>
                                          <p:spTgt spid="215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5" dur="500"/>
                                        <p:tgtEl>
                                          <p:spTgt spid="215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8" dur="500"/>
                                        <p:tgtEl>
                                          <p:spTgt spid="215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1" dur="500"/>
                                        <p:tgtEl>
                                          <p:spTgt spid="215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4" dur="500"/>
                                        <p:tgtEl>
                                          <p:spTgt spid="215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7" dur="500"/>
                                        <p:tgtEl>
                                          <p:spTgt spid="215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0" dur="500"/>
                                        <p:tgtEl>
                                          <p:spTgt spid="215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3" dur="500"/>
                                        <p:tgtEl>
                                          <p:spTgt spid="21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6" dur="500"/>
                                        <p:tgtEl>
                                          <p:spTgt spid="21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9" dur="500"/>
                                        <p:tgtEl>
                                          <p:spTgt spid="21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2" dur="500"/>
                                        <p:tgtEl>
                                          <p:spTgt spid="215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5" dur="500"/>
                                        <p:tgtEl>
                                          <p:spTgt spid="21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54" grpId="0"/>
      <p:bldP spid="215055" grpId="0"/>
      <p:bldP spid="215056" grpId="0"/>
      <p:bldP spid="215057" grpId="0"/>
      <p:bldP spid="215058" grpId="0"/>
      <p:bldP spid="215059" grpId="0"/>
      <p:bldP spid="215060" grpId="0"/>
      <p:bldP spid="215061" grpId="0"/>
      <p:bldP spid="215062" grpId="0"/>
      <p:bldP spid="215063" grpId="0" animBg="1"/>
      <p:bldP spid="215064" grpId="0"/>
      <p:bldP spid="215064" grpId="1"/>
      <p:bldP spid="215065" grpId="0"/>
      <p:bldP spid="215066" grpId="0"/>
      <p:bldP spid="215067" grpId="0"/>
      <p:bldP spid="215068" grpId="0"/>
      <p:bldP spid="215069" grpId="0"/>
      <p:bldP spid="215070" grpId="0"/>
      <p:bldP spid="215071" grpId="0"/>
      <p:bldP spid="215072" grpId="0"/>
      <p:bldP spid="215073" grpId="0"/>
      <p:bldP spid="215074" grpId="0"/>
      <p:bldP spid="215075" grpId="0"/>
      <p:bldP spid="215076" grpId="0"/>
      <p:bldP spid="215076" grpId="1"/>
      <p:bldP spid="215077" grpId="0"/>
      <p:bldP spid="215078" grpId="0"/>
      <p:bldP spid="215079" grpId="0"/>
      <p:bldP spid="215079" grpId="1"/>
      <p:bldP spid="215080" grpId="0"/>
      <p:bldP spid="215081" grpId="0"/>
      <p:bldP spid="215081" grpId="1"/>
      <p:bldP spid="215082" grpId="0"/>
      <p:bldP spid="215083" grpId="0"/>
      <p:bldP spid="215084" grpId="0"/>
      <p:bldP spid="215085" grpId="0"/>
      <p:bldP spid="215086" grpId="0"/>
      <p:bldP spid="215087" grpId="0"/>
      <p:bldP spid="215088" grpId="0"/>
      <p:bldP spid="215089" grpId="0"/>
      <p:bldP spid="215090" grpId="0"/>
      <p:bldP spid="215091" grpId="0"/>
      <p:bldP spid="215091" grpId="1"/>
      <p:bldP spid="215092" grpId="0"/>
      <p:bldP spid="215093" grpId="0"/>
      <p:bldP spid="215093" grpId="1"/>
      <p:bldP spid="215094" grpId="0"/>
      <p:bldP spid="215095" grpId="0" animBg="1"/>
      <p:bldP spid="215095" grpId="1" animBg="1"/>
      <p:bldP spid="215096" grpId="0" animBg="1"/>
      <p:bldP spid="215096" grpId="1" animBg="1"/>
      <p:bldP spid="215097" grpId="0" animBg="1"/>
      <p:bldP spid="215098" grpId="0" animBg="1"/>
      <p:bldP spid="215099" grpId="0" animBg="1"/>
      <p:bldP spid="215100" grpId="0"/>
      <p:bldP spid="215101" grpId="0"/>
      <p:bldP spid="215102" grpId="0"/>
      <p:bldP spid="215103" grpId="0"/>
      <p:bldP spid="215104" grpId="0" animBg="1"/>
      <p:bldP spid="215105" grpId="0" animBg="1"/>
      <p:bldP spid="215106" grpId="0"/>
      <p:bldP spid="215107" grpId="0"/>
      <p:bldP spid="215108" grpId="0"/>
      <p:bldP spid="215109" grpId="0" animBg="1"/>
      <p:bldP spid="215110" grpId="0" animBg="1"/>
      <p:bldP spid="215133" grpId="0"/>
      <p:bldP spid="215134" grpId="0"/>
      <p:bldP spid="215135" grpId="0"/>
      <p:bldP spid="215136" grpId="0"/>
      <p:bldP spid="215137" grpId="0"/>
      <p:bldP spid="215138" grpId="0"/>
      <p:bldP spid="215139" grpId="0"/>
      <p:bldP spid="215140" grpId="0"/>
      <p:bldP spid="215141" grpId="0"/>
      <p:bldP spid="215142" grpId="0" animBg="1"/>
      <p:bldP spid="215143" grpId="0"/>
      <p:bldP spid="215144" grpId="0"/>
      <p:bldP spid="215145" grpId="0"/>
      <p:bldP spid="215146" grpId="0"/>
      <p:bldP spid="215147" grpId="0"/>
      <p:bldP spid="215148" grpId="0"/>
      <p:bldP spid="215149" grpId="0"/>
      <p:bldP spid="215150" grpId="0"/>
      <p:bldP spid="215151" grpId="0"/>
      <p:bldP spid="215152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847725" y="628650"/>
            <a:ext cx="3070225" cy="43815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b="1" dirty="0">
                <a:solidFill>
                  <a:srgbClr val="FF0000"/>
                </a:solidFill>
                <a:latin typeface="Comic Sans MS" pitchFamily="66" charset="0"/>
              </a:rPr>
              <a:t>Stability of Nuclei</a:t>
            </a:r>
            <a:endParaRPr lang="en-US" alt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87</a:t>
            </a:fld>
            <a:endParaRPr lang="en-US"/>
          </a:p>
        </p:txBody>
      </p:sp>
      <p:pic>
        <p:nvPicPr>
          <p:cNvPr id="471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42063" y="0"/>
            <a:ext cx="2801937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685800" y="2362200"/>
            <a:ext cx="777240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rgbClr val="FF0000"/>
              </a:buClr>
              <a:buFontTx/>
              <a:buChar char="•"/>
            </a:pPr>
            <a:r>
              <a:rPr lang="en-US" altLang="en-US" sz="2400" b="1">
                <a:latin typeface="Times"/>
              </a:rPr>
              <a:t>  Out of &gt; 300 stable isotopes:</a:t>
            </a:r>
            <a:endParaRPr lang="en-US" altLang="en-US" sz="2000" b="1">
              <a:latin typeface="Times"/>
            </a:endParaRPr>
          </a:p>
        </p:txBody>
      </p:sp>
      <p:sp>
        <p:nvSpPr>
          <p:cNvPr id="47109" name="Line 5"/>
          <p:cNvSpPr>
            <a:spLocks noChangeShapeType="1"/>
          </p:cNvSpPr>
          <p:nvPr/>
        </p:nvSpPr>
        <p:spPr bwMode="auto">
          <a:xfrm>
            <a:off x="1219200" y="3733800"/>
            <a:ext cx="4648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110" name="Line 6"/>
          <p:cNvSpPr>
            <a:spLocks noChangeShapeType="1"/>
          </p:cNvSpPr>
          <p:nvPr/>
        </p:nvSpPr>
        <p:spPr bwMode="auto">
          <a:xfrm>
            <a:off x="2209800" y="3048000"/>
            <a:ext cx="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111" name="Line 7"/>
          <p:cNvSpPr>
            <a:spLocks noChangeShapeType="1"/>
          </p:cNvSpPr>
          <p:nvPr/>
        </p:nvSpPr>
        <p:spPr bwMode="auto">
          <a:xfrm>
            <a:off x="1371600" y="3124200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112" name="Text Box 8"/>
          <p:cNvSpPr txBox="1">
            <a:spLocks noChangeArrowheads="1"/>
          </p:cNvSpPr>
          <p:nvPr/>
        </p:nvSpPr>
        <p:spPr bwMode="auto">
          <a:xfrm>
            <a:off x="2422525" y="3108325"/>
            <a:ext cx="809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Even</a:t>
            </a:r>
          </a:p>
        </p:txBody>
      </p:sp>
      <p:sp>
        <p:nvSpPr>
          <p:cNvPr id="47113" name="Text Box 9"/>
          <p:cNvSpPr txBox="1">
            <a:spLocks noChangeArrowheads="1"/>
          </p:cNvSpPr>
          <p:nvPr/>
        </p:nvSpPr>
        <p:spPr bwMode="auto">
          <a:xfrm>
            <a:off x="3762375" y="3124200"/>
            <a:ext cx="709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Odd</a:t>
            </a:r>
          </a:p>
        </p:txBody>
      </p:sp>
      <p:sp>
        <p:nvSpPr>
          <p:cNvPr id="47115" name="Text Box 11"/>
          <p:cNvSpPr txBox="1">
            <a:spLocks noChangeArrowheads="1"/>
          </p:cNvSpPr>
          <p:nvPr/>
        </p:nvSpPr>
        <p:spPr bwMode="auto">
          <a:xfrm>
            <a:off x="1219200" y="4800600"/>
            <a:ext cx="709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Odd</a:t>
            </a:r>
          </a:p>
        </p:txBody>
      </p:sp>
      <p:sp>
        <p:nvSpPr>
          <p:cNvPr id="47116" name="Text Box 12"/>
          <p:cNvSpPr txBox="1">
            <a:spLocks noChangeArrowheads="1"/>
          </p:cNvSpPr>
          <p:nvPr/>
        </p:nvSpPr>
        <p:spPr bwMode="auto">
          <a:xfrm>
            <a:off x="1219200" y="4038600"/>
            <a:ext cx="809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Even</a:t>
            </a:r>
          </a:p>
        </p:txBody>
      </p:sp>
      <p:sp>
        <p:nvSpPr>
          <p:cNvPr id="47117" name="Text Box 13"/>
          <p:cNvSpPr txBox="1">
            <a:spLocks noChangeArrowheads="1"/>
          </p:cNvSpPr>
          <p:nvPr/>
        </p:nvSpPr>
        <p:spPr bwMode="auto">
          <a:xfrm>
            <a:off x="1306513" y="3276600"/>
            <a:ext cx="3698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Z</a:t>
            </a:r>
          </a:p>
        </p:txBody>
      </p:sp>
      <p:sp>
        <p:nvSpPr>
          <p:cNvPr id="47118" name="Text Box 14"/>
          <p:cNvSpPr txBox="1">
            <a:spLocks noChangeArrowheads="1"/>
          </p:cNvSpPr>
          <p:nvPr/>
        </p:nvSpPr>
        <p:spPr bwMode="auto">
          <a:xfrm>
            <a:off x="1804988" y="3048000"/>
            <a:ext cx="404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N</a:t>
            </a:r>
          </a:p>
        </p:txBody>
      </p:sp>
      <p:sp>
        <p:nvSpPr>
          <p:cNvPr id="47119" name="Text Box 15"/>
          <p:cNvSpPr txBox="1">
            <a:spLocks noChangeArrowheads="1"/>
          </p:cNvSpPr>
          <p:nvPr/>
        </p:nvSpPr>
        <p:spPr bwMode="auto">
          <a:xfrm>
            <a:off x="2498725" y="3962400"/>
            <a:ext cx="641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157</a:t>
            </a:r>
          </a:p>
        </p:txBody>
      </p:sp>
      <p:sp>
        <p:nvSpPr>
          <p:cNvPr id="47120" name="Text Box 16"/>
          <p:cNvSpPr txBox="1">
            <a:spLocks noChangeArrowheads="1"/>
          </p:cNvSpPr>
          <p:nvPr/>
        </p:nvSpPr>
        <p:spPr bwMode="auto">
          <a:xfrm>
            <a:off x="3733800" y="3962400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52</a:t>
            </a:r>
            <a:endParaRPr lang="en-US" altLang="en-US" sz="2400">
              <a:effectLst>
                <a:outerShdw blurRad="38100" dist="38100" dir="2700000" algn="tl">
                  <a:srgbClr val="C0C0C0"/>
                </a:outerShdw>
              </a:effectLst>
              <a:latin typeface="Times"/>
            </a:endParaRPr>
          </a:p>
        </p:txBody>
      </p:sp>
      <p:sp>
        <p:nvSpPr>
          <p:cNvPr id="47121" name="Text Box 17"/>
          <p:cNvSpPr txBox="1">
            <a:spLocks noChangeArrowheads="1"/>
          </p:cNvSpPr>
          <p:nvPr/>
        </p:nvSpPr>
        <p:spPr bwMode="auto">
          <a:xfrm>
            <a:off x="2590800" y="4800600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50</a:t>
            </a:r>
            <a:endParaRPr lang="en-US" altLang="en-US" sz="2400">
              <a:effectLst>
                <a:outerShdw blurRad="38100" dist="38100" dir="2700000" algn="tl">
                  <a:srgbClr val="C0C0C0"/>
                </a:outerShdw>
              </a:effectLst>
              <a:latin typeface="Times"/>
            </a:endParaRPr>
          </a:p>
        </p:txBody>
      </p:sp>
      <p:sp>
        <p:nvSpPr>
          <p:cNvPr id="47122" name="Text Box 18"/>
          <p:cNvSpPr txBox="1">
            <a:spLocks noChangeArrowheads="1"/>
          </p:cNvSpPr>
          <p:nvPr/>
        </p:nvSpPr>
        <p:spPr bwMode="auto">
          <a:xfrm>
            <a:off x="3810000" y="48006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5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4419600" y="3946525"/>
            <a:ext cx="1887538" cy="457200"/>
            <a:chOff x="2784" y="2486"/>
            <a:chExt cx="1189" cy="288"/>
          </a:xfrm>
        </p:grpSpPr>
        <p:sp>
          <p:nvSpPr>
            <p:cNvPr id="47123" name="Line 19"/>
            <p:cNvSpPr>
              <a:spLocks noChangeShapeType="1"/>
            </p:cNvSpPr>
            <p:nvPr/>
          </p:nvSpPr>
          <p:spPr bwMode="auto">
            <a:xfrm>
              <a:off x="2784" y="264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24" name="Text Box 20"/>
            <p:cNvSpPr txBox="1">
              <a:spLocks noChangeArrowheads="1"/>
            </p:cNvSpPr>
            <p:nvPr/>
          </p:nvSpPr>
          <p:spPr bwMode="auto">
            <a:xfrm>
              <a:off x="3494" y="2486"/>
              <a:ext cx="47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2400" baseline="300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31</a:t>
              </a:r>
              <a:r>
                <a:rPr lang="en-US" altLang="en-US" sz="2400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15</a:t>
              </a:r>
              <a:r>
                <a:rPr lang="en-US" altLang="en-US" sz="24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P</a:t>
              </a:r>
            </a:p>
          </p:txBody>
        </p:sp>
      </p:grp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2438400" y="5257800"/>
            <a:ext cx="658813" cy="898525"/>
            <a:chOff x="1536" y="3312"/>
            <a:chExt cx="415" cy="566"/>
          </a:xfrm>
        </p:grpSpPr>
        <p:sp>
          <p:nvSpPr>
            <p:cNvPr id="47126" name="Line 22"/>
            <p:cNvSpPr>
              <a:spLocks noChangeShapeType="1"/>
            </p:cNvSpPr>
            <p:nvPr/>
          </p:nvSpPr>
          <p:spPr bwMode="auto">
            <a:xfrm>
              <a:off x="1776" y="331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27" name="Text Box 23"/>
            <p:cNvSpPr txBox="1">
              <a:spLocks noChangeArrowheads="1"/>
            </p:cNvSpPr>
            <p:nvPr/>
          </p:nvSpPr>
          <p:spPr bwMode="auto">
            <a:xfrm>
              <a:off x="1536" y="3590"/>
              <a:ext cx="41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2400" baseline="3000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19</a:t>
              </a:r>
              <a:r>
                <a:rPr lang="en-US" altLang="en-US" sz="2400" baseline="-2500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9</a:t>
              </a:r>
              <a:r>
                <a:rPr lang="en-US" altLang="en-US" sz="240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F</a:t>
              </a:r>
              <a:endPara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endParaRPr>
            </a:p>
          </p:txBody>
        </p: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4191000" y="5181600"/>
            <a:ext cx="3533775" cy="914400"/>
            <a:chOff x="2640" y="3264"/>
            <a:chExt cx="2226" cy="576"/>
          </a:xfrm>
        </p:grpSpPr>
        <p:sp>
          <p:nvSpPr>
            <p:cNvPr id="47129" name="Line 25"/>
            <p:cNvSpPr>
              <a:spLocks noChangeShapeType="1"/>
            </p:cNvSpPr>
            <p:nvPr/>
          </p:nvSpPr>
          <p:spPr bwMode="auto">
            <a:xfrm>
              <a:off x="2688" y="3264"/>
              <a:ext cx="43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30" name="Text Box 26"/>
            <p:cNvSpPr txBox="1">
              <a:spLocks noChangeArrowheads="1"/>
            </p:cNvSpPr>
            <p:nvPr/>
          </p:nvSpPr>
          <p:spPr bwMode="auto">
            <a:xfrm>
              <a:off x="2640" y="3552"/>
              <a:ext cx="222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2400" baseline="300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2</a:t>
              </a:r>
              <a:r>
                <a:rPr lang="en-US" altLang="en-US" sz="2000" baseline="-250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1</a:t>
              </a:r>
              <a:r>
                <a:rPr lang="en-US" altLang="en-US" sz="24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H, </a:t>
              </a:r>
              <a:r>
                <a:rPr lang="en-US" altLang="en-US" sz="2400" baseline="300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6</a:t>
              </a:r>
              <a:r>
                <a:rPr lang="en-US" altLang="en-US" sz="2400" baseline="-250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3</a:t>
              </a:r>
              <a:r>
                <a:rPr lang="en-US" altLang="en-US" sz="24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Li, </a:t>
              </a:r>
              <a:r>
                <a:rPr lang="en-US" altLang="en-US" sz="2400" baseline="300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10</a:t>
              </a:r>
              <a:r>
                <a:rPr lang="en-US" altLang="en-US" sz="2400" baseline="-250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5</a:t>
              </a:r>
              <a:r>
                <a:rPr lang="en-US" altLang="en-US" sz="24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B, </a:t>
              </a:r>
              <a:r>
                <a:rPr lang="en-US" altLang="en-US" sz="2400" baseline="300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14</a:t>
              </a:r>
              <a:r>
                <a:rPr lang="en-US" altLang="en-US" sz="2400" baseline="-250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7</a:t>
              </a:r>
              <a:r>
                <a:rPr lang="en-US" altLang="en-US" sz="24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N, </a:t>
              </a:r>
              <a:r>
                <a:rPr lang="en-US" altLang="en-US" sz="2400" baseline="300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180</a:t>
              </a:r>
              <a:r>
                <a:rPr lang="en-US" altLang="en-US" sz="2400" baseline="-250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73</a:t>
              </a:r>
              <a:r>
                <a:rPr lang="en-US" altLang="en-US" sz="24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Ta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00400" y="0"/>
            <a:ext cx="5118100" cy="668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3581400" cy="2057400"/>
          </a:xfrm>
        </p:spPr>
        <p:txBody>
          <a:bodyPr/>
          <a:lstStyle/>
          <a:p>
            <a:pPr algn="l"/>
            <a:r>
              <a:rPr lang="en-US" altLang="en-US" sz="2800" b="1">
                <a:solidFill>
                  <a:srgbClr val="FF0000"/>
                </a:solidFill>
                <a:latin typeface="Comic Sans MS" pitchFamily="66" charset="0"/>
              </a:rPr>
              <a:t>Band of Stability and Radioactive Decay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88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382000" cy="1143000"/>
          </a:xfrm>
        </p:spPr>
        <p:txBody>
          <a:bodyPr/>
          <a:lstStyle/>
          <a:p>
            <a:r>
              <a:rPr lang="en-US" sz="3200" b="1">
                <a:solidFill>
                  <a:srgbClr val="000066"/>
                </a:solidFill>
              </a:rPr>
              <a:t>Representation of a fission process.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89</a:t>
            </a:fld>
            <a:endParaRPr lang="en-US"/>
          </a:p>
        </p:txBody>
      </p:sp>
      <p:pic>
        <p:nvPicPr>
          <p:cNvPr id="82947" name="Picture 3" descr="Zumdahl19_0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1149350"/>
            <a:ext cx="5638800" cy="5251450"/>
          </a:xfrm>
          <a:prstGeom prst="rect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b="1">
                <a:solidFill>
                  <a:srgbClr val="FF0000"/>
                </a:solidFill>
                <a:latin typeface="Comic Sans MS" pitchFamily="66" charset="0"/>
              </a:rPr>
              <a:t>Nuclear Fission &amp; POWER</a:t>
            </a:r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90</a:t>
            </a:fld>
            <a:endParaRPr lang="en-US"/>
          </a:p>
        </p:txBody>
      </p:sp>
      <p:sp>
        <p:nvSpPr>
          <p:cNvPr id="686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95400"/>
            <a:ext cx="4800600" cy="4800600"/>
          </a:xfrm>
        </p:spPr>
        <p:txBody>
          <a:bodyPr/>
          <a:lstStyle/>
          <a:p>
            <a:pPr>
              <a:lnSpc>
                <a:spcPct val="135000"/>
              </a:lnSpc>
            </a:pPr>
            <a:r>
              <a:rPr lang="en-US" altLang="en-US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Currently about 103 nuclear power plants in the U.S. and about 435 worldwide.</a:t>
            </a:r>
          </a:p>
          <a:p>
            <a:pPr>
              <a:lnSpc>
                <a:spcPct val="135000"/>
              </a:lnSpc>
            </a:pPr>
            <a:r>
              <a:rPr lang="en-US" altLang="en-US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17% of the world’s energy comes from nuclear.</a:t>
            </a:r>
          </a:p>
        </p:txBody>
      </p:sp>
      <p:pic>
        <p:nvPicPr>
          <p:cNvPr id="6861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0" y="1219200"/>
            <a:ext cx="33401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8613" name="Line 5"/>
          <p:cNvSpPr>
            <a:spLocks noChangeShapeType="1"/>
          </p:cNvSpPr>
          <p:nvPr/>
        </p:nvSpPr>
        <p:spPr bwMode="auto">
          <a:xfrm>
            <a:off x="584200" y="1219200"/>
            <a:ext cx="77978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1143000"/>
          </a:xfrm>
        </p:spPr>
        <p:txBody>
          <a:bodyPr/>
          <a:lstStyle/>
          <a:p>
            <a:r>
              <a:rPr lang="en-US" sz="2800" b="1">
                <a:solidFill>
                  <a:srgbClr val="000066"/>
                </a:solidFill>
              </a:rPr>
              <a:t>Figure 19.6:</a:t>
            </a:r>
            <a:r>
              <a:rPr lang="en-US" sz="2800">
                <a:solidFill>
                  <a:srgbClr val="000066"/>
                </a:solidFill>
              </a:rPr>
              <a:t> Diagram of a nuclear power plant.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91</a:t>
            </a:fld>
            <a:endParaRPr lang="en-US"/>
          </a:p>
        </p:txBody>
      </p:sp>
      <p:pic>
        <p:nvPicPr>
          <p:cNvPr id="83971" name="Picture 3" descr="Zumdahl19_0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914400"/>
            <a:ext cx="7162800" cy="5487988"/>
          </a:xfrm>
          <a:prstGeom prst="rect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AutoShape 2"/>
          <p:cNvSpPr>
            <a:spLocks noChangeArrowheads="1"/>
          </p:cNvSpPr>
          <p:nvPr/>
        </p:nvSpPr>
        <p:spPr bwMode="auto">
          <a:xfrm>
            <a:off x="6248400" y="2590800"/>
            <a:ext cx="2895600" cy="2209800"/>
          </a:xfrm>
          <a:prstGeom prst="irregularSeal2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title"/>
          </p:nvPr>
        </p:nvSpPr>
        <p:spPr>
          <a:ln w="28575">
            <a:solidFill>
              <a:schemeClr val="hlink"/>
            </a:solidFill>
          </a:ln>
        </p:spPr>
        <p:txBody>
          <a:bodyPr/>
          <a:lstStyle/>
          <a:p>
            <a:r>
              <a:rPr lang="en-US" sz="4000" b="1">
                <a:solidFill>
                  <a:srgbClr val="FF0000"/>
                </a:solidFill>
                <a:latin typeface="Comic Sans MS" pitchFamily="66" charset="0"/>
              </a:rPr>
              <a:t>Nuclear Fusion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92</a:t>
            </a:fld>
            <a:endParaRPr lang="en-US"/>
          </a:p>
        </p:txBody>
      </p:sp>
      <p:sp>
        <p:nvSpPr>
          <p:cNvPr id="99332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381000" y="1981200"/>
            <a:ext cx="83820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sz="4400" b="1"/>
              <a:t>Fusion </a:t>
            </a:r>
          </a:p>
          <a:p>
            <a:pPr>
              <a:buFontTx/>
              <a:buNone/>
            </a:pPr>
            <a:r>
              <a:rPr lang="en-US" sz="3000" b="1"/>
              <a:t>	</a:t>
            </a:r>
            <a:r>
              <a:rPr lang="en-US" sz="3000"/>
              <a:t>small nuclei combine</a:t>
            </a:r>
          </a:p>
          <a:p>
            <a:pPr>
              <a:buFontTx/>
              <a:buNone/>
            </a:pPr>
            <a:endParaRPr lang="en-US" sz="3000"/>
          </a:p>
          <a:p>
            <a:pPr>
              <a:buFontTx/>
              <a:buNone/>
            </a:pPr>
            <a:r>
              <a:rPr lang="en-US" sz="3000" b="1"/>
              <a:t>	</a:t>
            </a:r>
            <a:r>
              <a:rPr lang="en-US" sz="3000" b="1" baseline="30000"/>
              <a:t>2</a:t>
            </a:r>
            <a:r>
              <a:rPr lang="en-US" sz="3000" b="1"/>
              <a:t>H    +     </a:t>
            </a:r>
            <a:r>
              <a:rPr lang="en-US" sz="3000" b="1" baseline="30000"/>
              <a:t>3</a:t>
            </a:r>
            <a:r>
              <a:rPr lang="en-US" sz="3000" b="1"/>
              <a:t>H             </a:t>
            </a:r>
            <a:r>
              <a:rPr lang="en-US" sz="3000" b="1" baseline="30000"/>
              <a:t>4</a:t>
            </a:r>
            <a:r>
              <a:rPr lang="en-US" sz="3000" b="1"/>
              <a:t>He    +  </a:t>
            </a:r>
            <a:r>
              <a:rPr lang="en-US" sz="3000" b="1" baseline="30000"/>
              <a:t>1</a:t>
            </a:r>
            <a:r>
              <a:rPr lang="en-US" sz="3000" b="1"/>
              <a:t>n  +</a:t>
            </a:r>
          </a:p>
          <a:p>
            <a:pPr>
              <a:buFontTx/>
              <a:buNone/>
            </a:pPr>
            <a:r>
              <a:rPr lang="en-US" sz="3000" b="1"/>
              <a:t>   </a:t>
            </a:r>
            <a:r>
              <a:rPr lang="en-US" sz="3000" b="1" baseline="30000"/>
              <a:t>1                      1                         2                    0</a:t>
            </a:r>
          </a:p>
          <a:p>
            <a:pPr>
              <a:buFontTx/>
              <a:buNone/>
            </a:pPr>
            <a:endParaRPr lang="en-US" sz="3000" b="1" baseline="30000"/>
          </a:p>
          <a:p>
            <a:pPr>
              <a:buFontTx/>
              <a:buNone/>
            </a:pPr>
            <a:r>
              <a:rPr lang="en-US" sz="3000" b="1"/>
              <a:t>	Occurs in the sun and other stars</a:t>
            </a:r>
          </a:p>
          <a:p>
            <a:pPr>
              <a:buFontTx/>
              <a:buNone/>
            </a:pPr>
            <a:endParaRPr lang="en-US" sz="3000" b="1"/>
          </a:p>
        </p:txBody>
      </p:sp>
      <p:sp>
        <p:nvSpPr>
          <p:cNvPr id="99333" name="AutoShape 5"/>
          <p:cNvSpPr>
            <a:spLocks noChangeArrowheads="1"/>
          </p:cNvSpPr>
          <p:nvPr/>
        </p:nvSpPr>
        <p:spPr bwMode="auto">
          <a:xfrm>
            <a:off x="7391400" y="2362200"/>
            <a:ext cx="1524000" cy="3124200"/>
          </a:xfrm>
          <a:prstGeom prst="irregularSeal2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bg2"/>
                </a:solidFill>
                <a:latin typeface="Arial" charset="0"/>
              </a:rPr>
              <a:t>Energy</a:t>
            </a:r>
          </a:p>
        </p:txBody>
      </p:sp>
      <p:sp>
        <p:nvSpPr>
          <p:cNvPr id="99334" name="Line 6"/>
          <p:cNvSpPr>
            <a:spLocks noChangeShapeType="1"/>
          </p:cNvSpPr>
          <p:nvPr/>
        </p:nvSpPr>
        <p:spPr bwMode="auto">
          <a:xfrm>
            <a:off x="2895600" y="4343400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type="title"/>
          </p:nvPr>
        </p:nvSpPr>
        <p:spPr>
          <a:ln w="28575">
            <a:solidFill>
              <a:schemeClr val="hlink"/>
            </a:solidFill>
          </a:ln>
        </p:spPr>
        <p:txBody>
          <a:bodyPr/>
          <a:lstStyle/>
          <a:p>
            <a:r>
              <a:rPr lang="en-US" sz="4000" b="1">
                <a:solidFill>
                  <a:srgbClr val="FF0000"/>
                </a:solidFill>
                <a:latin typeface="Comic Sans MS" pitchFamily="66" charset="0"/>
              </a:rPr>
              <a:t>Nuclear Fusion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93</a:t>
            </a:fld>
            <a:endParaRPr lang="en-US"/>
          </a:p>
        </p:txBody>
      </p:sp>
      <p:sp>
        <p:nvSpPr>
          <p:cNvPr id="100356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381000" y="1981200"/>
            <a:ext cx="83820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sz="4000" b="1">
                <a:solidFill>
                  <a:srgbClr val="000066"/>
                </a:solidFill>
              </a:rPr>
              <a:t>Fusion </a:t>
            </a:r>
          </a:p>
          <a:p>
            <a:r>
              <a:rPr lang="en-US" sz="4000" b="1">
                <a:solidFill>
                  <a:srgbClr val="000066"/>
                </a:solidFill>
              </a:rPr>
              <a:t>Excessive heat can not be contained</a:t>
            </a:r>
          </a:p>
          <a:p>
            <a:r>
              <a:rPr lang="en-US" sz="4000" b="1">
                <a:solidFill>
                  <a:srgbClr val="000066"/>
                </a:solidFill>
              </a:rPr>
              <a:t>Attempts at “cold” fusion have FAILED.</a:t>
            </a:r>
          </a:p>
          <a:p>
            <a:r>
              <a:rPr lang="en-US" sz="4000" b="1">
                <a:solidFill>
                  <a:srgbClr val="000066"/>
                </a:solidFill>
              </a:rPr>
              <a:t>“Hot” fusion is difficult to contain</a:t>
            </a:r>
          </a:p>
          <a:p>
            <a:pPr>
              <a:buFontTx/>
              <a:buNone/>
            </a:pPr>
            <a:r>
              <a:rPr lang="en-US" sz="3000" b="1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C. Fission vs. Fusion</a:t>
            </a:r>
          </a:p>
        </p:txBody>
      </p:sp>
      <p:sp>
        <p:nvSpPr>
          <p:cNvPr id="614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94</a:t>
            </a:fld>
            <a:endParaRPr lang="en-US"/>
          </a:p>
        </p:txBody>
      </p:sp>
      <p:sp>
        <p:nvSpPr>
          <p:cNvPr id="768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467556" y="4502150"/>
            <a:ext cx="3623733" cy="2330450"/>
          </a:xfrm>
        </p:spPr>
        <p:txBody>
          <a:bodyPr/>
          <a:lstStyle/>
          <a:p>
            <a:r>
              <a:rPr lang="en-US" baseline="30000" smtClean="0"/>
              <a:t>235</a:t>
            </a:r>
            <a:r>
              <a:rPr lang="en-US" smtClean="0"/>
              <a:t>U is limited</a:t>
            </a:r>
          </a:p>
          <a:p>
            <a:r>
              <a:rPr lang="en-US" smtClean="0"/>
              <a:t>danger of meltdown</a:t>
            </a:r>
          </a:p>
          <a:p>
            <a:r>
              <a:rPr lang="en-US" smtClean="0"/>
              <a:t>toxic waste</a:t>
            </a:r>
          </a:p>
          <a:p>
            <a:r>
              <a:rPr lang="en-US" smtClean="0"/>
              <a:t>thermal pollution</a:t>
            </a:r>
            <a:endParaRPr lang="en-US" baseline="30000" smtClean="0"/>
          </a:p>
        </p:txBody>
      </p:sp>
      <p:sp>
        <p:nvSpPr>
          <p:cNvPr id="76804" name="Rectangle 4"/>
          <p:cNvSpPr>
            <a:spLocks noGrp="1" noChangeArrowheads="1"/>
          </p:cNvSpPr>
          <p:nvPr>
            <p:ph sz="quarter" idx="2"/>
          </p:nvPr>
        </p:nvSpPr>
        <p:spPr>
          <a:xfrm>
            <a:off x="5099756" y="4502150"/>
            <a:ext cx="4044244" cy="2355850"/>
          </a:xfrm>
        </p:spPr>
        <p:txBody>
          <a:bodyPr/>
          <a:lstStyle/>
          <a:p>
            <a:r>
              <a:rPr lang="en-US" smtClean="0"/>
              <a:t>fuel is abundant</a:t>
            </a:r>
          </a:p>
          <a:p>
            <a:r>
              <a:rPr lang="en-US" smtClean="0"/>
              <a:t>no danger of meltdown</a:t>
            </a:r>
          </a:p>
          <a:p>
            <a:r>
              <a:rPr lang="en-US" smtClean="0"/>
              <a:t>no toxic waste</a:t>
            </a:r>
          </a:p>
          <a:p>
            <a:r>
              <a:rPr lang="en-US" smtClean="0"/>
              <a:t>not yet sustainable</a:t>
            </a:r>
          </a:p>
        </p:txBody>
      </p:sp>
      <p:pic>
        <p:nvPicPr>
          <p:cNvPr id="6150" name="Picture 5" descr="fission &amp; fus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09523" y="1620839"/>
            <a:ext cx="4476044" cy="278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51" name="Text Box 6"/>
          <p:cNvSpPr txBox="1">
            <a:spLocks noChangeArrowheads="1"/>
          </p:cNvSpPr>
          <p:nvPr/>
        </p:nvSpPr>
        <p:spPr bwMode="auto">
          <a:xfrm>
            <a:off x="2456745" y="1689100"/>
            <a:ext cx="292100" cy="2031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Impact" pitchFamily="34" charset="0"/>
              </a:rPr>
              <a:t>FISSION</a:t>
            </a:r>
          </a:p>
        </p:txBody>
      </p:sp>
      <p:sp>
        <p:nvSpPr>
          <p:cNvPr id="6152" name="Text Box 7"/>
          <p:cNvSpPr txBox="1">
            <a:spLocks noChangeArrowheads="1"/>
          </p:cNvSpPr>
          <p:nvPr/>
        </p:nvSpPr>
        <p:spPr bwMode="auto">
          <a:xfrm>
            <a:off x="7347656" y="1870076"/>
            <a:ext cx="292100" cy="175432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Impact" pitchFamily="34" charset="0"/>
              </a:rPr>
              <a:t>FUSION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6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68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68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68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build="p" autoUpdateAnimBg="0"/>
      <p:bldP spid="76804" grpId="0" build="p" autoUpdateAnimBg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ChangeArrowheads="1"/>
          </p:cNvSpPr>
          <p:nvPr>
            <p:ph type="title"/>
          </p:nvPr>
        </p:nvSpPr>
        <p:spPr>
          <a:xfrm>
            <a:off x="76200" y="609600"/>
            <a:ext cx="8991600" cy="838200"/>
          </a:xfrm>
          <a:noFill/>
          <a:ln/>
        </p:spPr>
        <p:txBody>
          <a:bodyPr lIns="90487" tIns="44450" rIns="90487" bIns="44450" anchor="ctr">
            <a:normAutofit fontScale="90000"/>
          </a:bodyPr>
          <a:lstStyle/>
          <a:p>
            <a:r>
              <a:rPr lang="en-US" altLang="en-US" sz="5400" b="1">
                <a:solidFill>
                  <a:srgbClr val="FF0000"/>
                </a:solidFill>
                <a:latin typeface="Comic Sans MS" pitchFamily="66" charset="0"/>
              </a:rPr>
              <a:t>Half-Life</a:t>
            </a:r>
            <a:endParaRPr lang="en-US" altLang="en-US" sz="3200" i="1">
              <a:solidFill>
                <a:schemeClr val="hlin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95</a:t>
            </a:fld>
            <a:endParaRPr lang="en-US"/>
          </a:p>
        </p:txBody>
      </p:sp>
      <p:sp>
        <p:nvSpPr>
          <p:cNvPr id="55300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457200" y="2209800"/>
            <a:ext cx="8229600" cy="3048000"/>
          </a:xfrm>
          <a:noFill/>
          <a:ln/>
        </p:spPr>
        <p:txBody>
          <a:bodyPr lIns="90487" tIns="44450" rIns="90487" bIns="44450"/>
          <a:lstStyle/>
          <a:p>
            <a:r>
              <a:rPr lang="en-US" altLang="en-US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HALF-LIFE</a:t>
            </a:r>
            <a:r>
              <a:rPr lang="en-US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 is the time that it takes for 1/2 a sample to decompose.</a:t>
            </a:r>
          </a:p>
          <a:p>
            <a:r>
              <a:rPr lang="en-US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The rate of a nuclear transformation depends only on the “reactant” concentration.</a:t>
            </a:r>
          </a:p>
        </p:txBody>
      </p:sp>
      <p:sp>
        <p:nvSpPr>
          <p:cNvPr id="55301" name="Line 5"/>
          <p:cNvSpPr>
            <a:spLocks noChangeShapeType="1"/>
          </p:cNvSpPr>
          <p:nvPr/>
        </p:nvSpPr>
        <p:spPr bwMode="auto">
          <a:xfrm>
            <a:off x="431800" y="1981200"/>
            <a:ext cx="77978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0" grpId="0" build="p" autoUpdateAnimBg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type="title"/>
          </p:nvPr>
        </p:nvSpPr>
        <p:spPr>
          <a:xfrm>
            <a:off x="76200" y="609600"/>
            <a:ext cx="8991600" cy="838200"/>
          </a:xfrm>
          <a:noFill/>
          <a:ln/>
        </p:spPr>
        <p:txBody>
          <a:bodyPr lIns="90487" tIns="44450" rIns="90487" bIns="44450" anchor="ctr">
            <a:normAutofit fontScale="90000"/>
          </a:bodyPr>
          <a:lstStyle/>
          <a:p>
            <a:r>
              <a:rPr lang="en-US" altLang="en-US" sz="5400" b="1">
                <a:solidFill>
                  <a:srgbClr val="FF0000"/>
                </a:solidFill>
                <a:latin typeface="Comic Sans MS" pitchFamily="66" charset="0"/>
              </a:rPr>
              <a:t>Half-Life</a:t>
            </a:r>
            <a:r>
              <a:rPr lang="en-US" altLang="en-US" sz="4000" b="1">
                <a:solidFill>
                  <a:srgbClr val="FF0000"/>
                </a:solidFill>
                <a:latin typeface="Comic Sans MS" pitchFamily="66" charset="0"/>
              </a:rPr>
              <a:t/>
            </a:r>
            <a:br>
              <a:rPr lang="en-US" altLang="en-US" sz="4000" b="1">
                <a:solidFill>
                  <a:srgbClr val="FF0000"/>
                </a:solidFill>
                <a:latin typeface="Comic Sans MS" pitchFamily="66" charset="0"/>
              </a:rPr>
            </a:br>
            <a:endParaRPr lang="en-US" altLang="en-US" sz="3200" i="1">
              <a:solidFill>
                <a:schemeClr val="hlin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96</a:t>
            </a:fld>
            <a:endParaRPr lang="en-US"/>
          </a:p>
        </p:txBody>
      </p:sp>
      <p:pic>
        <p:nvPicPr>
          <p:cNvPr id="5632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7550" y="1409700"/>
            <a:ext cx="7708900" cy="40386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</p:pic>
      <p:sp>
        <p:nvSpPr>
          <p:cNvPr id="56325" name="Text Box 5"/>
          <p:cNvSpPr txBox="1">
            <a:spLocks noChangeArrowheads="1"/>
          </p:cNvSpPr>
          <p:nvPr/>
        </p:nvSpPr>
        <p:spPr bwMode="auto">
          <a:xfrm>
            <a:off x="746125" y="5775325"/>
            <a:ext cx="78644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Decay of 20.0 mg of </a:t>
            </a:r>
            <a:r>
              <a:rPr lang="en-US" altLang="en-US" sz="2400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15</a:t>
            </a:r>
            <a:r>
              <a:rPr lang="en-US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O. What remains after 3 half-lives? After 5 half-lives?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sz="4000" b="1">
                <a:solidFill>
                  <a:srgbClr val="FF0000"/>
                </a:solidFill>
                <a:latin typeface="Comic Sans MS" pitchFamily="66" charset="0"/>
              </a:rPr>
              <a:t>Kinetics of Radioactive Decay</a:t>
            </a: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97</a:t>
            </a:fld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295400"/>
            <a:ext cx="8001000" cy="21336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30000"/>
              </a:lnSpc>
              <a:buFontTx/>
              <a:buNone/>
            </a:pPr>
            <a:r>
              <a:rPr lang="en-US" altLang="en-US" sz="2800" b="1">
                <a:solidFill>
                  <a:srgbClr val="000066"/>
                </a:solidFill>
              </a:rPr>
              <a:t>For each duration (half-life), one half of the substance decomposes.</a:t>
            </a: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 sz="2800" b="1">
                <a:solidFill>
                  <a:srgbClr val="000066"/>
                </a:solidFill>
              </a:rPr>
              <a:t>For example:  Ra-234 has a half-life of 3.6 days</a:t>
            </a:r>
            <a:br>
              <a:rPr lang="en-US" altLang="en-US" sz="2800" b="1">
                <a:solidFill>
                  <a:srgbClr val="000066"/>
                </a:solidFill>
              </a:rPr>
            </a:br>
            <a:r>
              <a:rPr lang="en-US" altLang="en-US" b="1"/>
              <a:t>If you start with 50 grams of Ra-234</a:t>
            </a:r>
          </a:p>
          <a:p>
            <a:pPr>
              <a:lnSpc>
                <a:spcPct val="130000"/>
              </a:lnSpc>
              <a:buFontTx/>
              <a:buNone/>
            </a:pPr>
            <a:endParaRPr lang="en-US" altLang="en-US" sz="2800" b="1">
              <a:solidFill>
                <a:srgbClr val="000066"/>
              </a:solidFill>
            </a:endParaRPr>
          </a:p>
          <a:p>
            <a:pPr>
              <a:lnSpc>
                <a:spcPct val="130000"/>
              </a:lnSpc>
              <a:buFontTx/>
              <a:buNone/>
            </a:pPr>
            <a:endParaRPr lang="en-US" altLang="en-US" sz="2800" b="1">
              <a:solidFill>
                <a:srgbClr val="000066"/>
              </a:solidFill>
            </a:endParaRPr>
          </a:p>
        </p:txBody>
      </p:sp>
      <p:sp>
        <p:nvSpPr>
          <p:cNvPr id="58374" name="Line 6"/>
          <p:cNvSpPr>
            <a:spLocks noChangeShapeType="1"/>
          </p:cNvSpPr>
          <p:nvPr/>
        </p:nvSpPr>
        <p:spPr bwMode="auto">
          <a:xfrm>
            <a:off x="584200" y="1219200"/>
            <a:ext cx="77978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58375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76800" y="3744913"/>
            <a:ext cx="3727450" cy="26543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</p:pic>
      <p:sp>
        <p:nvSpPr>
          <p:cNvPr id="58376" name="Text Box 8"/>
          <p:cNvSpPr txBox="1">
            <a:spLocks noChangeArrowheads="1"/>
          </p:cNvSpPr>
          <p:nvPr/>
        </p:nvSpPr>
        <p:spPr bwMode="auto">
          <a:xfrm>
            <a:off x="228600" y="3886200"/>
            <a:ext cx="4572000" cy="180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After 3.6 days &gt; 25 grams</a:t>
            </a:r>
          </a:p>
          <a:p>
            <a:pPr>
              <a:spcBef>
                <a:spcPct val="50000"/>
              </a:spcBef>
            </a:pPr>
            <a:r>
              <a:rPr lang="en-US" sz="28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After 7.2 days &gt; 12.5 grams</a:t>
            </a:r>
          </a:p>
          <a:p>
            <a:pPr>
              <a:spcBef>
                <a:spcPct val="50000"/>
              </a:spcBef>
            </a:pPr>
            <a:r>
              <a:rPr lang="en-US" sz="28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After 10.8 days &gt; 6.25 grams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8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83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83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 autoUpdateAnimBg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98</a:t>
            </a:fld>
            <a:endParaRPr lang="en-US"/>
          </a:p>
        </p:txBody>
      </p:sp>
      <p:sp>
        <p:nvSpPr>
          <p:cNvPr id="10752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4000" dirty="0"/>
              <a:t>  </a:t>
            </a:r>
            <a:r>
              <a:rPr lang="en-US" sz="3000" b="1" dirty="0"/>
              <a:t>The half life of </a:t>
            </a:r>
            <a:r>
              <a:rPr lang="en-US" sz="3000" b="1" baseline="30000" dirty="0" smtClean="0"/>
              <a:t>123</a:t>
            </a:r>
            <a:r>
              <a:rPr lang="en-US" sz="3000" b="1" dirty="0" smtClean="0"/>
              <a:t>I </a:t>
            </a:r>
            <a:r>
              <a:rPr lang="en-US" sz="3000" b="1" dirty="0"/>
              <a:t>is 13 hr.  How much of a 64 mg sample of </a:t>
            </a:r>
            <a:r>
              <a:rPr lang="en-US" sz="3000" b="1" baseline="30000" dirty="0" smtClean="0"/>
              <a:t>123</a:t>
            </a:r>
            <a:r>
              <a:rPr lang="en-US" sz="3000" b="1" dirty="0" smtClean="0"/>
              <a:t>I </a:t>
            </a:r>
            <a:r>
              <a:rPr lang="en-US" sz="3000" b="1" dirty="0"/>
              <a:t>is left after 39 hours?  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anchor="ctr"/>
          <a:lstStyle/>
          <a:p>
            <a:r>
              <a:rPr lang="en-US"/>
              <a:t>Radioactive Decay Law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99</a:t>
            </a:fld>
            <a:endParaRPr lang="en-US"/>
          </a:p>
        </p:txBody>
      </p:sp>
      <p:sp>
        <p:nvSpPr>
          <p:cNvPr id="2099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981200"/>
            <a:ext cx="77724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>
                <a:solidFill>
                  <a:srgbClr val="000066"/>
                </a:solidFill>
              </a:rPr>
              <a:t>Radioactive transformation occurs due to instability of a nucleus that results from an unbalanced neutron.</a:t>
            </a:r>
          </a:p>
          <a:p>
            <a:pPr>
              <a:lnSpc>
                <a:spcPct val="90000"/>
              </a:lnSpc>
            </a:pPr>
            <a:r>
              <a:rPr lang="en-US" sz="2800"/>
              <a:t>Usually </a:t>
            </a:r>
            <a:r>
              <a:rPr lang="en-US" sz="2800">
                <a:sym typeface="Symbol" pitchFamily="18" charset="2"/>
              </a:rPr>
              <a:t> and  particles emitted in the process.</a:t>
            </a:r>
          </a:p>
          <a:p>
            <a:pPr>
              <a:lnSpc>
                <a:spcPct val="90000"/>
              </a:lnSpc>
            </a:pPr>
            <a:r>
              <a:rPr lang="en-US" sz="2800">
                <a:solidFill>
                  <a:srgbClr val="00FF00"/>
                </a:solidFill>
                <a:sym typeface="Symbol" pitchFamily="18" charset="2"/>
              </a:rPr>
              <a:t>An excited nucleus also tends to stabilize itself by decay to its ground state where the excess energy is emitted in the form of gamma () rays.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099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09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09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4" grpId="0" animBg="1"/>
      <p:bldP spid="209923" grpId="0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100</a:t>
            </a:fld>
            <a:endParaRPr lang="en-US"/>
          </a:p>
        </p:txBody>
      </p:sp>
      <p:sp>
        <p:nvSpPr>
          <p:cNvPr id="2488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  <a:sym typeface="Symbol" pitchFamily="18" charset="2"/>
              </a:rPr>
              <a:t>This decay or disintegration is a random process and its behaviour is described by the radioactive law. </a:t>
            </a: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101</a:t>
            </a:fld>
            <a:endParaRPr lang="en-US"/>
          </a:p>
        </p:txBody>
      </p:sp>
      <p:sp>
        <p:nvSpPr>
          <p:cNvPr id="2109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304800"/>
            <a:ext cx="7772400" cy="5791200"/>
          </a:xfrm>
        </p:spPr>
        <p:txBody>
          <a:bodyPr/>
          <a:lstStyle/>
          <a:p>
            <a:r>
              <a:rPr lang="en-US" sz="2800">
                <a:solidFill>
                  <a:srgbClr val="FF0000"/>
                </a:solidFill>
              </a:rPr>
              <a:t>A</a:t>
            </a:r>
            <a:r>
              <a:rPr lang="en-US" sz="2800" baseline="-25000">
                <a:solidFill>
                  <a:srgbClr val="FF0000"/>
                </a:solidFill>
              </a:rPr>
              <a:t>t</a:t>
            </a:r>
            <a:r>
              <a:rPr lang="en-US" sz="2800">
                <a:solidFill>
                  <a:srgbClr val="FF0000"/>
                </a:solidFill>
              </a:rPr>
              <a:t> = A</a:t>
            </a:r>
            <a:r>
              <a:rPr lang="en-US" sz="2800" baseline="-25000">
                <a:solidFill>
                  <a:srgbClr val="FF0000"/>
                </a:solidFill>
              </a:rPr>
              <a:t>o</a:t>
            </a:r>
            <a:r>
              <a:rPr lang="en-US" sz="2800">
                <a:solidFill>
                  <a:srgbClr val="FF0000"/>
                </a:solidFill>
              </a:rPr>
              <a:t> e</a:t>
            </a:r>
            <a:r>
              <a:rPr lang="en-US" sz="2800" baseline="30000">
                <a:solidFill>
                  <a:srgbClr val="FF0000"/>
                </a:solidFill>
              </a:rPr>
              <a:t>-</a:t>
            </a:r>
            <a:r>
              <a:rPr lang="en-US" sz="2800" baseline="30000">
                <a:solidFill>
                  <a:srgbClr val="FF0000"/>
                </a:solidFill>
                <a:sym typeface="Symbol" pitchFamily="18" charset="2"/>
              </a:rPr>
              <a:t>t</a:t>
            </a:r>
          </a:p>
          <a:p>
            <a:pPr lvl="2"/>
            <a:r>
              <a:rPr lang="en-US" sz="2000">
                <a:sym typeface="Symbol" pitchFamily="18" charset="2"/>
              </a:rPr>
              <a:t>Where</a:t>
            </a:r>
            <a:r>
              <a:rPr lang="en-US" sz="2000" baseline="30000">
                <a:sym typeface="Symbol" pitchFamily="18" charset="2"/>
              </a:rPr>
              <a:t> </a:t>
            </a:r>
          </a:p>
          <a:p>
            <a:pPr lvl="3"/>
            <a:r>
              <a:rPr lang="en-US" sz="1800"/>
              <a:t>A</a:t>
            </a:r>
            <a:r>
              <a:rPr lang="en-US" sz="1800" baseline="-25000"/>
              <a:t>o</a:t>
            </a:r>
            <a:r>
              <a:rPr lang="en-US" sz="1800"/>
              <a:t>=</a:t>
            </a:r>
            <a:r>
              <a:rPr lang="en-US" sz="1800" baseline="-25000"/>
              <a:t> </a:t>
            </a:r>
            <a:r>
              <a:rPr lang="en-US" sz="1800"/>
              <a:t>radioactivity present initially in a sample.</a:t>
            </a:r>
          </a:p>
          <a:p>
            <a:pPr lvl="3"/>
            <a:r>
              <a:rPr lang="en-US" sz="1800"/>
              <a:t>A</a:t>
            </a:r>
            <a:r>
              <a:rPr lang="en-US" sz="1800" baseline="-25000"/>
              <a:t>t </a:t>
            </a:r>
            <a:r>
              <a:rPr lang="en-US" sz="1800"/>
              <a:t>=</a:t>
            </a:r>
            <a:r>
              <a:rPr lang="en-US" sz="1800" baseline="-25000"/>
              <a:t> </a:t>
            </a:r>
            <a:r>
              <a:rPr lang="en-US" sz="1800"/>
              <a:t>radioactivity after time t</a:t>
            </a:r>
          </a:p>
          <a:p>
            <a:pPr lvl="3"/>
            <a:r>
              <a:rPr lang="en-US" sz="1800">
                <a:sym typeface="Symbol" pitchFamily="18" charset="2"/>
              </a:rPr>
              <a:t> = disintegration constant or decay constant and is the   	  </a:t>
            </a:r>
          </a:p>
          <a:p>
            <a:pPr lvl="3">
              <a:buFontTx/>
              <a:buNone/>
            </a:pPr>
            <a:r>
              <a:rPr lang="en-US" sz="1800">
                <a:sym typeface="Symbol" pitchFamily="18" charset="2"/>
              </a:rPr>
              <a:t>      	fraction of decay / unit time.</a:t>
            </a:r>
            <a:endParaRPr lang="en-US" sz="1800"/>
          </a:p>
          <a:p>
            <a:pPr lvl="3"/>
            <a:endParaRPr lang="en-US" sz="1800">
              <a:sym typeface="Symbol" pitchFamily="18" charset="2"/>
            </a:endParaRPr>
          </a:p>
          <a:p>
            <a:r>
              <a:rPr lang="en-US" sz="2800">
                <a:solidFill>
                  <a:srgbClr val="FF0000"/>
                </a:solidFill>
                <a:sym typeface="Symbol" pitchFamily="18" charset="2"/>
              </a:rPr>
              <a:t>The value of  is characteristic of a given radioactive decay process.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0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10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10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10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10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10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10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7" grpId="0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102</a:t>
            </a:fld>
            <a:endParaRPr lang="en-US"/>
          </a:p>
        </p:txBody>
      </p:sp>
      <p:sp>
        <p:nvSpPr>
          <p:cNvPr id="24985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>
                <a:sym typeface="Symbol" pitchFamily="18" charset="2"/>
              </a:rPr>
              <a:t>Activity is proportional to number of atoms (N)</a:t>
            </a:r>
          </a:p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N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N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o</a:t>
            </a:r>
            <a:r>
              <a:rPr lang="en-US">
                <a:solidFill>
                  <a:schemeClr val="hlink"/>
                </a:solidFill>
              </a:rPr>
              <a:t>e</a:t>
            </a:r>
            <a:r>
              <a:rPr lang="en-US" baseline="30000">
                <a:solidFill>
                  <a:schemeClr val="hlink"/>
                </a:solidFill>
              </a:rPr>
              <a:t>-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t</a:t>
            </a:r>
          </a:p>
          <a:p>
            <a:pPr lvl="2"/>
            <a:r>
              <a:rPr lang="en-US">
                <a:sym typeface="Symbol" pitchFamily="18" charset="2"/>
              </a:rPr>
              <a:t>Where</a:t>
            </a:r>
            <a:r>
              <a:rPr lang="en-US" baseline="30000">
                <a:sym typeface="Symbol" pitchFamily="18" charset="2"/>
              </a:rPr>
              <a:t> </a:t>
            </a:r>
          </a:p>
          <a:p>
            <a:pPr lvl="3"/>
            <a:r>
              <a:rPr lang="en-US"/>
              <a:t>N</a:t>
            </a:r>
            <a:r>
              <a:rPr lang="en-US" baseline="-25000"/>
              <a:t>o</a:t>
            </a:r>
            <a:r>
              <a:rPr lang="en-US"/>
              <a:t>=</a:t>
            </a:r>
            <a:r>
              <a:rPr lang="en-US" baseline="-25000"/>
              <a:t> </a:t>
            </a:r>
            <a:r>
              <a:rPr lang="en-US"/>
              <a:t>number of atoms initially.</a:t>
            </a:r>
          </a:p>
          <a:p>
            <a:pPr lvl="3"/>
            <a:r>
              <a:rPr lang="en-US"/>
              <a:t>N</a:t>
            </a:r>
            <a:r>
              <a:rPr lang="en-US" baseline="-25000"/>
              <a:t>t </a:t>
            </a:r>
            <a:r>
              <a:rPr lang="en-US"/>
              <a:t>=</a:t>
            </a:r>
            <a:r>
              <a:rPr lang="en-US" baseline="-25000"/>
              <a:t> </a:t>
            </a:r>
            <a:r>
              <a:rPr lang="en-US"/>
              <a:t>number of atoms at time t</a:t>
            </a:r>
            <a:endParaRPr lang="en-US">
              <a:sym typeface="Symbol" pitchFamily="18" charset="2"/>
            </a:endParaRP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1143000"/>
          </a:xfrm>
        </p:spPr>
        <p:txBody>
          <a:bodyPr/>
          <a:lstStyle/>
          <a:p>
            <a:r>
              <a:rPr lang="en-US"/>
              <a:t>The rate of decay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103</a:t>
            </a:fld>
            <a:endParaRPr lang="en-US"/>
          </a:p>
        </p:txBody>
      </p:sp>
      <p:sp>
        <p:nvSpPr>
          <p:cNvPr id="1402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143000"/>
            <a:ext cx="8610600" cy="5334000"/>
          </a:xfrm>
        </p:spPr>
        <p:txBody>
          <a:bodyPr/>
          <a:lstStyle/>
          <a:p>
            <a:r>
              <a:rPr lang="en-US"/>
              <a:t>The decay of a radioactive element is a random process</a:t>
            </a:r>
          </a:p>
          <a:p>
            <a:r>
              <a:rPr lang="en-US"/>
              <a:t>Not influenced by external factors such as temperature changes.</a:t>
            </a:r>
          </a:p>
          <a:p>
            <a:r>
              <a:rPr lang="en-US"/>
              <a:t>The rate of decay is directly proportional to the number of atoms present.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0" grpId="0"/>
      <p:bldP spid="140291" grpId="0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104</a:t>
            </a:fld>
            <a:endParaRPr lang="en-US"/>
          </a:p>
        </p:txBody>
      </p:sp>
      <p:sp>
        <p:nvSpPr>
          <p:cNvPr id="2508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The rate of decay decreasing with time.</a:t>
            </a:r>
          </a:p>
          <a:p>
            <a:r>
              <a:rPr lang="en-US"/>
              <a:t>Kinetically the process is a first order reaction and can be expressed by the equation:- 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0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50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3" grpId="0" build="p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317" name="Object 5"/>
          <p:cNvGraphicFramePr>
            <a:graphicFrameLocks noChangeAspect="1"/>
          </p:cNvGraphicFramePr>
          <p:nvPr/>
        </p:nvGraphicFramePr>
        <p:xfrm>
          <a:off x="1524000" y="304800"/>
          <a:ext cx="2428875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8" name="Equation" r:id="rId3" imgW="748975" imgH="393529" progId="Equation.3">
                  <p:embed/>
                </p:oleObj>
              </mc:Choice>
              <mc:Fallback>
                <p:oleObj name="Equation" r:id="rId3" imgW="748975" imgH="393529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04800"/>
                        <a:ext cx="2428875" cy="1093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16" name="Object 4"/>
          <p:cNvGraphicFramePr>
            <a:graphicFrameLocks noChangeAspect="1"/>
          </p:cNvGraphicFramePr>
          <p:nvPr/>
        </p:nvGraphicFramePr>
        <p:xfrm>
          <a:off x="1600200" y="2438400"/>
          <a:ext cx="25908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9" name="Equation" r:id="rId5" imgW="952087" imgH="393529" progId="Equation.3">
                  <p:embed/>
                </p:oleObj>
              </mc:Choice>
              <mc:Fallback>
                <p:oleObj name="Equation" r:id="rId5" imgW="952087" imgH="393529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438400"/>
                        <a:ext cx="2590800" cy="1062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9" name="Rectangle 7"/>
          <p:cNvSpPr>
            <a:spLocks noChangeArrowheads="1"/>
          </p:cNvSpPr>
          <p:nvPr/>
        </p:nvSpPr>
        <p:spPr bwMode="auto">
          <a:xfrm>
            <a:off x="381000" y="1676400"/>
            <a:ext cx="87630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sz="2800">
                <a:latin typeface="Times"/>
                <a:cs typeface="Times New Roman" pitchFamily="18" charset="0"/>
              </a:rPr>
              <a:t>Rearrangement of equation followed by integration gives:</a:t>
            </a:r>
            <a:endParaRPr lang="en-US" sz="2800">
              <a:latin typeface="Times"/>
            </a:endParaRPr>
          </a:p>
          <a:p>
            <a:endParaRPr lang="en-US" sz="2800">
              <a:latin typeface="Times"/>
            </a:endParaRPr>
          </a:p>
        </p:txBody>
      </p:sp>
      <p:sp>
        <p:nvSpPr>
          <p:cNvPr id="141320" name="Text Box 8"/>
          <p:cNvSpPr txBox="1">
            <a:spLocks noChangeArrowheads="1"/>
          </p:cNvSpPr>
          <p:nvPr/>
        </p:nvSpPr>
        <p:spPr bwMode="auto">
          <a:xfrm>
            <a:off x="1524000" y="3657600"/>
            <a:ext cx="3352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-</a:t>
            </a: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ln N = </a:t>
            </a: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  <a:sym typeface="Symbol" pitchFamily="18" charset="2"/>
              </a:rPr>
              <a:t> t + const.</a:t>
            </a:r>
          </a:p>
        </p:txBody>
      </p:sp>
      <p:sp>
        <p:nvSpPr>
          <p:cNvPr id="141321" name="Rectangle 9"/>
          <p:cNvSpPr>
            <a:spLocks noChangeArrowheads="1"/>
          </p:cNvSpPr>
          <p:nvPr/>
        </p:nvSpPr>
        <p:spPr bwMode="auto">
          <a:xfrm>
            <a:off x="304800" y="4495800"/>
            <a:ext cx="87630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sz="2800">
                <a:latin typeface="Times"/>
                <a:cs typeface="Times New Roman" pitchFamily="18" charset="0"/>
              </a:rPr>
              <a:t>If the number of radioactive atoms present at time t = 0 is N</a:t>
            </a:r>
            <a:r>
              <a:rPr lang="en-US" sz="2800" baseline="-25000">
                <a:latin typeface="Times"/>
                <a:cs typeface="Times New Roman" pitchFamily="18" charset="0"/>
              </a:rPr>
              <a:t>0</a:t>
            </a:r>
            <a:r>
              <a:rPr lang="en-US" sz="2800">
                <a:latin typeface="Times"/>
                <a:cs typeface="Times New Roman" pitchFamily="18" charset="0"/>
              </a:rPr>
              <a:t>, then</a:t>
            </a:r>
            <a:endParaRPr lang="en-US" sz="2800">
              <a:latin typeface="Times"/>
            </a:endParaRPr>
          </a:p>
        </p:txBody>
      </p:sp>
      <p:sp>
        <p:nvSpPr>
          <p:cNvPr id="141322" name="Text Box 10"/>
          <p:cNvSpPr txBox="1">
            <a:spLocks noChangeArrowheads="1"/>
          </p:cNvSpPr>
          <p:nvPr/>
        </p:nvSpPr>
        <p:spPr bwMode="auto">
          <a:xfrm>
            <a:off x="1905000" y="5257800"/>
            <a:ext cx="3352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-</a:t>
            </a: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ln N</a:t>
            </a:r>
            <a:r>
              <a:rPr lang="en-US" sz="3200" baseline="-25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0</a:t>
            </a: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 = </a:t>
            </a: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  <a:sym typeface="Symbol" pitchFamily="18" charset="2"/>
              </a:rPr>
              <a:t>const.</a:t>
            </a:r>
          </a:p>
        </p:txBody>
      </p:sp>
      <p:sp>
        <p:nvSpPr>
          <p:cNvPr id="141323" name="Text Box 11"/>
          <p:cNvSpPr txBox="1">
            <a:spLocks noChangeArrowheads="1"/>
          </p:cNvSpPr>
          <p:nvPr/>
        </p:nvSpPr>
        <p:spPr bwMode="auto">
          <a:xfrm>
            <a:off x="990600" y="6019800"/>
            <a:ext cx="3352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-</a:t>
            </a: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ln N = </a:t>
            </a: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  <a:sym typeface="Symbol" pitchFamily="18" charset="2"/>
              </a:rPr>
              <a:t> t - </a:t>
            </a: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ln N0 </a:t>
            </a:r>
          </a:p>
        </p:txBody>
      </p:sp>
      <p:sp>
        <p:nvSpPr>
          <p:cNvPr id="141324" name="Text Box 12"/>
          <p:cNvSpPr txBox="1">
            <a:spLocks noChangeArrowheads="1"/>
          </p:cNvSpPr>
          <p:nvPr/>
        </p:nvSpPr>
        <p:spPr bwMode="auto">
          <a:xfrm>
            <a:off x="5410200" y="6019800"/>
            <a:ext cx="3352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ln (N</a:t>
            </a:r>
            <a:r>
              <a:rPr lang="en-US" sz="3200" baseline="-25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0</a:t>
            </a: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/N) = </a:t>
            </a: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  <a:sym typeface="Symbol" pitchFamily="18" charset="2"/>
              </a:rPr>
              <a:t> t</a:t>
            </a:r>
            <a:endParaRPr lang="en-US" sz="280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"/>
            </a:endParaRPr>
          </a:p>
        </p:txBody>
      </p:sp>
      <p:sp>
        <p:nvSpPr>
          <p:cNvPr id="141325" name="Text Box 13"/>
          <p:cNvSpPr txBox="1">
            <a:spLocks noChangeArrowheads="1"/>
          </p:cNvSpPr>
          <p:nvPr/>
        </p:nvSpPr>
        <p:spPr bwMode="auto">
          <a:xfrm>
            <a:off x="4419600" y="6019800"/>
            <a:ext cx="762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or</a:t>
            </a: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105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4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4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4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4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9" grpId="0"/>
      <p:bldP spid="141320" grpId="0"/>
      <p:bldP spid="141321" grpId="0"/>
      <p:bldP spid="141322" grpId="0"/>
      <p:bldP spid="141323" grpId="0"/>
      <p:bldP spid="141324" grpId="0"/>
      <p:bldP spid="141325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106</a:t>
            </a:fld>
            <a:endParaRPr lang="en-US"/>
          </a:p>
        </p:txBody>
      </p:sp>
      <p:sp>
        <p:nvSpPr>
          <p:cNvPr id="1423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381000"/>
            <a:ext cx="7772400" cy="5715000"/>
          </a:xfrm>
        </p:spPr>
        <p:txBody>
          <a:bodyPr/>
          <a:lstStyle/>
          <a:p>
            <a:r>
              <a:rPr lang="en-US"/>
              <a:t>2.303 log (N</a:t>
            </a:r>
            <a:r>
              <a:rPr lang="en-US" baseline="-25000"/>
              <a:t>0</a:t>
            </a:r>
            <a:r>
              <a:rPr lang="en-US"/>
              <a:t>/N) = </a:t>
            </a:r>
            <a:r>
              <a:rPr lang="en-US">
                <a:sym typeface="Symbol" pitchFamily="18" charset="2"/>
              </a:rPr>
              <a:t>t</a:t>
            </a:r>
          </a:p>
          <a:p>
            <a:r>
              <a:rPr lang="en-US">
                <a:sym typeface="Symbol" pitchFamily="18" charset="2"/>
              </a:rPr>
              <a:t>Let t</a:t>
            </a:r>
            <a:r>
              <a:rPr lang="en-US" baseline="-25000">
                <a:sym typeface="Symbol" pitchFamily="18" charset="2"/>
              </a:rPr>
              <a:t>½ </a:t>
            </a:r>
            <a:r>
              <a:rPr lang="en-US">
                <a:sym typeface="Symbol" pitchFamily="18" charset="2"/>
              </a:rPr>
              <a:t>represent the time needed for the original activity to decrease a half, i.e N</a:t>
            </a:r>
            <a:r>
              <a:rPr lang="en-US" baseline="-25000">
                <a:sym typeface="Symbol" pitchFamily="18" charset="2"/>
              </a:rPr>
              <a:t>0</a:t>
            </a:r>
            <a:r>
              <a:rPr lang="en-US">
                <a:sym typeface="Symbol" pitchFamily="18" charset="2"/>
              </a:rPr>
              <a:t> = 2N , then</a:t>
            </a:r>
          </a:p>
          <a:p>
            <a:r>
              <a:rPr lang="en-US">
                <a:sym typeface="Symbol" pitchFamily="18" charset="2"/>
              </a:rPr>
              <a:t>2.303 log (N</a:t>
            </a:r>
            <a:r>
              <a:rPr lang="en-US" baseline="-25000">
                <a:sym typeface="Symbol" pitchFamily="18" charset="2"/>
              </a:rPr>
              <a:t>0</a:t>
            </a:r>
            <a:r>
              <a:rPr lang="en-US">
                <a:sym typeface="Symbol" pitchFamily="18" charset="2"/>
              </a:rPr>
              <a:t>/½N</a:t>
            </a:r>
            <a:r>
              <a:rPr lang="en-US" baseline="-25000">
                <a:sym typeface="Symbol" pitchFamily="18" charset="2"/>
              </a:rPr>
              <a:t>0</a:t>
            </a:r>
            <a:r>
              <a:rPr lang="en-US">
                <a:sym typeface="Symbol" pitchFamily="18" charset="2"/>
              </a:rPr>
              <a:t>) = 2.303 log 2 = t</a:t>
            </a:r>
            <a:r>
              <a:rPr lang="en-US" baseline="-25000">
                <a:sym typeface="Symbol" pitchFamily="18" charset="2"/>
              </a:rPr>
              <a:t>½</a:t>
            </a:r>
            <a:endParaRPr lang="en-US">
              <a:sym typeface="Symbol" pitchFamily="18" charset="2"/>
            </a:endParaRPr>
          </a:p>
          <a:p>
            <a:r>
              <a:rPr lang="en-US">
                <a:sym typeface="Symbol" pitchFamily="18" charset="2"/>
              </a:rPr>
              <a:t>0.693 = t</a:t>
            </a:r>
            <a:r>
              <a:rPr lang="en-US" baseline="-25000">
                <a:sym typeface="Symbol" pitchFamily="18" charset="2"/>
              </a:rPr>
              <a:t>½</a:t>
            </a:r>
          </a:p>
          <a:p>
            <a:r>
              <a:rPr lang="en-US">
                <a:sym typeface="Symbol" pitchFamily="18" charset="2"/>
              </a:rPr>
              <a:t>t</a:t>
            </a:r>
            <a:r>
              <a:rPr lang="en-US" baseline="-25000">
                <a:sym typeface="Symbol" pitchFamily="18" charset="2"/>
              </a:rPr>
              <a:t>½ </a:t>
            </a:r>
            <a:r>
              <a:rPr lang="en-US">
                <a:sym typeface="Symbol" pitchFamily="18" charset="2"/>
              </a:rPr>
              <a:t>= 0.693/ 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Radioactive Equilibrium Law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107</a:t>
            </a:fld>
            <a:endParaRPr lang="en-US"/>
          </a:p>
        </p:txBody>
      </p:sp>
      <p:sp>
        <p:nvSpPr>
          <p:cNvPr id="2119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800"/>
              <a:t>Consider a parent </a:t>
            </a:r>
            <a:r>
              <a:rPr lang="en-US" sz="2800">
                <a:sym typeface="Symbol" pitchFamily="18" charset="2"/>
              </a:rPr>
              <a:t> emitter of very long half life decaying to a daughter  emitter of very short half life.</a:t>
            </a:r>
          </a:p>
          <a:p>
            <a:pPr>
              <a:lnSpc>
                <a:spcPct val="80000"/>
              </a:lnSpc>
            </a:pPr>
            <a:r>
              <a:rPr lang="en-US" sz="2800">
                <a:solidFill>
                  <a:srgbClr val="FF0000"/>
                </a:solidFill>
                <a:sym typeface="Symbol" pitchFamily="18" charset="2"/>
              </a:rPr>
              <a:t>Initially, the parent fraction will continue its  activity but will for the moment be free of  radiation associated with the daughter. </a:t>
            </a:r>
          </a:p>
          <a:p>
            <a:pPr>
              <a:lnSpc>
                <a:spcPct val="80000"/>
              </a:lnSpc>
            </a:pPr>
            <a:r>
              <a:rPr lang="en-US" sz="2800">
                <a:sym typeface="Symbol" pitchFamily="18" charset="2"/>
              </a:rPr>
              <a:t>However, in time new daughters will be formed and the daughter activity in the parent fraction will return to its initial value, with a time scale corresponding to the rate of decay of the isolated daughter fraction.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11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11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11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0" grpId="0"/>
      <p:bldP spid="211971" grpId="0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108</a:t>
            </a:fld>
            <a:endParaRPr lang="en-US"/>
          </a:p>
        </p:txBody>
      </p:sp>
      <p:sp>
        <p:nvSpPr>
          <p:cNvPr id="2129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381000"/>
            <a:ext cx="7772400" cy="5715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In an undisturbed sample containing N</a:t>
            </a:r>
            <a:r>
              <a:rPr lang="en-US" sz="2400" baseline="-25000"/>
              <a:t>1</a:t>
            </a:r>
            <a:r>
              <a:rPr lang="en-US" sz="2400"/>
              <a:t> atoms of the parent a steady state will be reached in which the rate of formation of formation of daughters N</a:t>
            </a:r>
            <a:r>
              <a:rPr lang="en-US" sz="2400" baseline="-25000"/>
              <a:t>2</a:t>
            </a:r>
            <a:r>
              <a:rPr lang="en-US" sz="2400"/>
              <a:t> is just equal to their rate of decay.</a:t>
            </a:r>
          </a:p>
          <a:p>
            <a:pPr>
              <a:lnSpc>
                <a:spcPct val="90000"/>
              </a:lnSpc>
            </a:pPr>
            <a:r>
              <a:rPr lang="en-US" sz="2400"/>
              <a:t>i.e. the rate of formation of the daughter atoms is just the rate of decay of the parent atoms.</a:t>
            </a:r>
          </a:p>
          <a:p>
            <a:pPr>
              <a:lnSpc>
                <a:spcPct val="90000"/>
              </a:lnSpc>
            </a:pPr>
            <a:r>
              <a:rPr lang="en-US" sz="2400"/>
              <a:t>Therefore, -dN</a:t>
            </a:r>
            <a:r>
              <a:rPr lang="en-US" sz="2400" baseline="-25000"/>
              <a:t>1</a:t>
            </a:r>
            <a:r>
              <a:rPr lang="en-US" sz="2400"/>
              <a:t>/dt  = </a:t>
            </a:r>
            <a:r>
              <a:rPr lang="en-US" sz="2400">
                <a:sym typeface="Symbol" pitchFamily="18" charset="2"/>
              </a:rPr>
              <a:t></a:t>
            </a:r>
            <a:r>
              <a:rPr lang="en-US" sz="2400" baseline="-25000">
                <a:sym typeface="Symbol" pitchFamily="18" charset="2"/>
              </a:rPr>
              <a:t>2</a:t>
            </a:r>
            <a:r>
              <a:rPr lang="en-US" sz="2400">
                <a:sym typeface="Symbol" pitchFamily="18" charset="2"/>
              </a:rPr>
              <a:t>N</a:t>
            </a:r>
            <a:r>
              <a:rPr lang="en-US" sz="2400" baseline="-25000">
                <a:sym typeface="Symbol" pitchFamily="18" charset="2"/>
              </a:rPr>
              <a:t>2</a:t>
            </a:r>
          </a:p>
          <a:p>
            <a:pPr>
              <a:lnSpc>
                <a:spcPct val="90000"/>
              </a:lnSpc>
            </a:pPr>
            <a:r>
              <a:rPr lang="en-US" sz="2400">
                <a:sym typeface="Symbol" pitchFamily="18" charset="2"/>
              </a:rPr>
              <a:t>Then, </a:t>
            </a:r>
            <a:r>
              <a:rPr lang="en-US" sz="2400" baseline="-25000">
                <a:sym typeface="Symbol" pitchFamily="18" charset="2"/>
              </a:rPr>
              <a:t>1</a:t>
            </a:r>
            <a:r>
              <a:rPr lang="en-US" sz="2400">
                <a:sym typeface="Symbol" pitchFamily="18" charset="2"/>
              </a:rPr>
              <a:t>N</a:t>
            </a:r>
            <a:r>
              <a:rPr lang="en-US" sz="2400" baseline="-25000">
                <a:sym typeface="Symbol" pitchFamily="18" charset="2"/>
              </a:rPr>
              <a:t>1 </a:t>
            </a:r>
            <a:r>
              <a:rPr lang="en-US" sz="2400">
                <a:sym typeface="Symbol" pitchFamily="18" charset="2"/>
              </a:rPr>
              <a:t>=</a:t>
            </a:r>
            <a:r>
              <a:rPr lang="en-US" sz="2400" baseline="-25000">
                <a:sym typeface="Symbol" pitchFamily="18" charset="2"/>
              </a:rPr>
              <a:t> </a:t>
            </a:r>
            <a:r>
              <a:rPr lang="en-US" sz="2400">
                <a:sym typeface="Symbol" pitchFamily="18" charset="2"/>
              </a:rPr>
              <a:t></a:t>
            </a:r>
            <a:r>
              <a:rPr lang="en-US" sz="2400" baseline="-25000">
                <a:sym typeface="Symbol" pitchFamily="18" charset="2"/>
              </a:rPr>
              <a:t>2</a:t>
            </a:r>
            <a:r>
              <a:rPr lang="en-US" sz="2400">
                <a:sym typeface="Symbol" pitchFamily="18" charset="2"/>
              </a:rPr>
              <a:t>N</a:t>
            </a:r>
            <a:r>
              <a:rPr lang="en-US" sz="2400" baseline="-25000">
                <a:sym typeface="Symbol" pitchFamily="18" charset="2"/>
              </a:rPr>
              <a:t>2 </a:t>
            </a:r>
            <a:r>
              <a:rPr lang="en-US" sz="2400">
                <a:sym typeface="Symbol" pitchFamily="18" charset="2"/>
              </a:rPr>
              <a:t>is known as the radioactive  Equilibrium law.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5" grpId="0" build="p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109</a:t>
            </a:fld>
            <a:endParaRPr lang="en-US"/>
          </a:p>
        </p:txBody>
      </p:sp>
      <p:sp>
        <p:nvSpPr>
          <p:cNvPr id="25190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sym typeface="Symbol" pitchFamily="18" charset="2"/>
              </a:rPr>
              <a:t>No account is taken for decrease of N</a:t>
            </a:r>
            <a:r>
              <a:rPr lang="en-US" baseline="-25000">
                <a:sym typeface="Symbol" pitchFamily="18" charset="2"/>
              </a:rPr>
              <a:t>1 </a:t>
            </a:r>
            <a:r>
              <a:rPr lang="en-US">
                <a:sym typeface="Symbol" pitchFamily="18" charset="2"/>
              </a:rPr>
              <a:t>with time as the fraction of parent atoms transformed is negligible.</a:t>
            </a:r>
          </a:p>
          <a:p>
            <a:pPr>
              <a:lnSpc>
                <a:spcPct val="90000"/>
              </a:lnSpc>
            </a:pPr>
            <a:r>
              <a:rPr lang="en-US">
                <a:sym typeface="Symbol" pitchFamily="18" charset="2"/>
              </a:rPr>
              <a:t>i.e for successive decays, </a:t>
            </a:r>
            <a:r>
              <a:rPr lang="en-US" baseline="-25000">
                <a:sym typeface="Symbol" pitchFamily="18" charset="2"/>
              </a:rPr>
              <a:t>1</a:t>
            </a:r>
            <a:r>
              <a:rPr lang="en-US">
                <a:sym typeface="Symbol" pitchFamily="18" charset="2"/>
              </a:rPr>
              <a:t>&lt;&lt;&lt; </a:t>
            </a:r>
            <a:r>
              <a:rPr lang="en-US" baseline="-25000">
                <a:sym typeface="Symbol" pitchFamily="18" charset="2"/>
              </a:rPr>
              <a:t>2</a:t>
            </a:r>
            <a:r>
              <a:rPr lang="en-US">
                <a:sym typeface="Symbol" pitchFamily="18" charset="2"/>
              </a:rPr>
              <a:t> &lt;&lt; </a:t>
            </a:r>
            <a:r>
              <a:rPr lang="en-US" baseline="-25000">
                <a:sym typeface="Symbol" pitchFamily="18" charset="2"/>
              </a:rPr>
              <a:t>3</a:t>
            </a:r>
            <a:r>
              <a:rPr lang="en-US">
                <a:sym typeface="Symbol" pitchFamily="18" charset="2"/>
              </a:rPr>
              <a:t>  etc.</a:t>
            </a:r>
          </a:p>
          <a:p>
            <a:pPr>
              <a:lnSpc>
                <a:spcPct val="90000"/>
              </a:lnSpc>
            </a:pPr>
            <a:r>
              <a:rPr lang="en-US">
                <a:sym typeface="Symbol" pitchFamily="18" charset="2"/>
              </a:rPr>
              <a:t>Note: The radioactive equilibrium law applies whenever a short lived daughter is formed from the decay of a very long lived parent.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4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  <a:noFill/>
          <a:ln/>
        </p:spPr>
        <p:txBody>
          <a:bodyPr anchor="ctr"/>
          <a:lstStyle/>
          <a:p>
            <a:r>
              <a:rPr lang="en-US" altLang="en-US" b="1" dirty="0"/>
              <a:t>Effects of Radiation</a:t>
            </a:r>
          </a:p>
        </p:txBody>
      </p:sp>
      <p:graphicFrame>
        <p:nvGraphicFramePr>
          <p:cNvPr id="138289" name="Group 49"/>
          <p:cNvGraphicFramePr>
            <a:graphicFrameLocks noGrp="1"/>
          </p:cNvGraphicFramePr>
          <p:nvPr>
            <p:ph sz="half" idx="2"/>
          </p:nvPr>
        </p:nvGraphicFramePr>
        <p:xfrm>
          <a:off x="762000" y="1447800"/>
          <a:ext cx="7848600" cy="5745480"/>
        </p:xfrm>
        <a:graphic>
          <a:graphicData uri="http://schemas.openxmlformats.org/drawingml/2006/table">
            <a:tbl>
              <a:tblPr/>
              <a:tblGrid>
                <a:gridCol w="1905000"/>
                <a:gridCol w="594360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Dose (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rem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)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effect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00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 – 25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26 – 50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51 – 100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              101 –200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201 –500                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&gt; 500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No effect observed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Small decrease in white blood cell count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Significant decrease in white blood cell count, lesions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Loss of hair, nausea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Hemorrhaging, ulcers, death in 50 % of population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death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A2868-95E2-4694-90E9-225F7A2B1EA5}" type="slidenum">
              <a:rPr lang="en-US" smtClean="0"/>
              <a:pPr>
                <a:defRPr/>
              </a:pPr>
              <a:t>110</a:t>
            </a:fld>
            <a:endParaRPr lang="en-US"/>
          </a:p>
        </p:txBody>
      </p:sp>
      <p:sp>
        <p:nvSpPr>
          <p:cNvPr id="138287" name="Text Box 47"/>
          <p:cNvSpPr txBox="1">
            <a:spLocks noChangeArrowheads="1"/>
          </p:cNvSpPr>
          <p:nvPr/>
        </p:nvSpPr>
        <p:spPr bwMode="auto">
          <a:xfrm>
            <a:off x="609600" y="762000"/>
            <a:ext cx="8001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Effect of a single dose of radiation.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8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8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4" grpId="0" animBg="1" autoUpdateAnimBg="0"/>
      <p:bldP spid="138287" grpId="0" autoUpdateAnimBg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/>
              <a:t>Detection of Radiation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111</a:t>
            </a:fld>
            <a:endParaRPr lang="en-US"/>
          </a:p>
        </p:txBody>
      </p:sp>
      <p:sp>
        <p:nvSpPr>
          <p:cNvPr id="1290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219200"/>
            <a:ext cx="7772400" cy="4876800"/>
          </a:xfrm>
        </p:spPr>
        <p:txBody>
          <a:bodyPr/>
          <a:lstStyle/>
          <a:p>
            <a:r>
              <a:rPr lang="en-US"/>
              <a:t>The detection of radiation associated with radioactivity depends on the detection of charged particles.</a:t>
            </a:r>
          </a:p>
          <a:p>
            <a:r>
              <a:rPr lang="en-US"/>
              <a:t>The types of detectors are:</a:t>
            </a:r>
          </a:p>
          <a:p>
            <a:r>
              <a:rPr lang="en-US">
                <a:solidFill>
                  <a:srgbClr val="CC3399"/>
                </a:solidFill>
              </a:rPr>
              <a:t>1.	The cloud chamber</a:t>
            </a:r>
            <a:r>
              <a:rPr lang="en-US"/>
              <a:t>.</a:t>
            </a:r>
          </a:p>
          <a:p>
            <a:r>
              <a:rPr lang="en-US"/>
              <a:t>2.	The bubble chamber.</a:t>
            </a:r>
          </a:p>
          <a:p>
            <a:r>
              <a:rPr lang="en-US">
                <a:solidFill>
                  <a:srgbClr val="008000"/>
                </a:solidFill>
              </a:rPr>
              <a:t>3.	The Geiger Muller tube / counter.</a:t>
            </a:r>
          </a:p>
          <a:p>
            <a:r>
              <a:rPr lang="en-US"/>
              <a:t>4.	Photographic emulsion.</a:t>
            </a: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9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9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9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9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9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6" grpId="0"/>
      <p:bldP spid="129027" grpId="0" build="p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>
                <a:solidFill>
                  <a:srgbClr val="CC3399"/>
                </a:solidFill>
              </a:rPr>
              <a:t>1.	The cloud chamber</a:t>
            </a:r>
            <a:r>
              <a:rPr lang="en-US"/>
              <a:t>.</a:t>
            </a:r>
          </a:p>
        </p:txBody>
      </p:sp>
      <p:sp>
        <p:nvSpPr>
          <p:cNvPr id="43" name="Footer Placeholder 4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2" name="Slide Number Placeholder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112</a:t>
            </a:fld>
            <a:endParaRPr lang="en-US"/>
          </a:p>
        </p:txBody>
      </p:sp>
      <p:sp>
        <p:nvSpPr>
          <p:cNvPr id="1300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447800"/>
            <a:ext cx="7772400" cy="5105400"/>
          </a:xfrm>
        </p:spPr>
        <p:txBody>
          <a:bodyPr/>
          <a:lstStyle/>
          <a:p>
            <a:r>
              <a:rPr lang="en-US"/>
              <a:t>The device consists of a chamber into which is introduced dust-free air saturated with water vapour.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30052" name="Line 4"/>
          <p:cNvSpPr>
            <a:spLocks noChangeShapeType="1"/>
          </p:cNvSpPr>
          <p:nvPr/>
        </p:nvSpPr>
        <p:spPr bwMode="auto">
          <a:xfrm>
            <a:off x="2209800" y="41148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53" name="Line 5"/>
          <p:cNvSpPr>
            <a:spLocks noChangeShapeType="1"/>
          </p:cNvSpPr>
          <p:nvPr/>
        </p:nvSpPr>
        <p:spPr bwMode="auto">
          <a:xfrm>
            <a:off x="2209800" y="53340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54" name="Line 6"/>
          <p:cNvSpPr>
            <a:spLocks noChangeShapeType="1"/>
          </p:cNvSpPr>
          <p:nvPr/>
        </p:nvSpPr>
        <p:spPr bwMode="auto">
          <a:xfrm>
            <a:off x="3200400" y="5334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55" name="Line 7"/>
          <p:cNvSpPr>
            <a:spLocks noChangeShapeType="1"/>
          </p:cNvSpPr>
          <p:nvPr/>
        </p:nvSpPr>
        <p:spPr bwMode="auto">
          <a:xfrm>
            <a:off x="3886200" y="5334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56" name="Line 8"/>
          <p:cNvSpPr>
            <a:spLocks noChangeShapeType="1"/>
          </p:cNvSpPr>
          <p:nvPr/>
        </p:nvSpPr>
        <p:spPr bwMode="auto">
          <a:xfrm>
            <a:off x="3886200" y="53340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57" name="Line 9"/>
          <p:cNvSpPr>
            <a:spLocks noChangeShapeType="1"/>
          </p:cNvSpPr>
          <p:nvPr/>
        </p:nvSpPr>
        <p:spPr bwMode="auto">
          <a:xfrm>
            <a:off x="4876800" y="41148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58" name="Line 10"/>
          <p:cNvSpPr>
            <a:spLocks noChangeShapeType="1"/>
          </p:cNvSpPr>
          <p:nvPr/>
        </p:nvSpPr>
        <p:spPr bwMode="auto">
          <a:xfrm>
            <a:off x="2743200" y="5181600"/>
            <a:ext cx="16764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62" name="Line 14"/>
          <p:cNvSpPr>
            <a:spLocks noChangeShapeType="1"/>
          </p:cNvSpPr>
          <p:nvPr/>
        </p:nvSpPr>
        <p:spPr bwMode="auto">
          <a:xfrm flipV="1">
            <a:off x="3448050" y="5638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63" name="Line 15"/>
          <p:cNvSpPr>
            <a:spLocks noChangeShapeType="1"/>
          </p:cNvSpPr>
          <p:nvPr/>
        </p:nvSpPr>
        <p:spPr bwMode="auto">
          <a:xfrm flipV="1">
            <a:off x="3600450" y="5638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65" name="Line 17"/>
          <p:cNvSpPr>
            <a:spLocks noChangeShapeType="1"/>
          </p:cNvSpPr>
          <p:nvPr/>
        </p:nvSpPr>
        <p:spPr bwMode="auto">
          <a:xfrm flipH="1">
            <a:off x="3200400" y="5638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66" name="Line 18"/>
          <p:cNvSpPr>
            <a:spLocks noChangeShapeType="1"/>
          </p:cNvSpPr>
          <p:nvPr/>
        </p:nvSpPr>
        <p:spPr bwMode="auto">
          <a:xfrm>
            <a:off x="3581400" y="5638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68" name="Line 20"/>
          <p:cNvSpPr>
            <a:spLocks noChangeShapeType="1"/>
          </p:cNvSpPr>
          <p:nvPr/>
        </p:nvSpPr>
        <p:spPr bwMode="auto">
          <a:xfrm>
            <a:off x="4114800" y="5943600"/>
            <a:ext cx="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69" name="Line 21"/>
          <p:cNvSpPr>
            <a:spLocks noChangeShapeType="1"/>
          </p:cNvSpPr>
          <p:nvPr/>
        </p:nvSpPr>
        <p:spPr bwMode="auto">
          <a:xfrm>
            <a:off x="3200400" y="5486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70" name="Line 22"/>
          <p:cNvSpPr>
            <a:spLocks noChangeShapeType="1"/>
          </p:cNvSpPr>
          <p:nvPr/>
        </p:nvSpPr>
        <p:spPr bwMode="auto">
          <a:xfrm>
            <a:off x="2114550" y="41148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73" name="Line 25"/>
          <p:cNvSpPr>
            <a:spLocks noChangeShapeType="1"/>
          </p:cNvSpPr>
          <p:nvPr/>
        </p:nvSpPr>
        <p:spPr bwMode="auto">
          <a:xfrm flipV="1">
            <a:off x="4648200" y="44577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74" name="Line 26"/>
          <p:cNvSpPr>
            <a:spLocks noChangeShapeType="1"/>
          </p:cNvSpPr>
          <p:nvPr/>
        </p:nvSpPr>
        <p:spPr bwMode="auto">
          <a:xfrm>
            <a:off x="4648200" y="4457700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75" name="Line 27"/>
          <p:cNvSpPr>
            <a:spLocks noChangeShapeType="1"/>
          </p:cNvSpPr>
          <p:nvPr/>
        </p:nvSpPr>
        <p:spPr bwMode="auto">
          <a:xfrm>
            <a:off x="4648200" y="4762500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76" name="Line 28"/>
          <p:cNvSpPr>
            <a:spLocks noChangeShapeType="1"/>
          </p:cNvSpPr>
          <p:nvPr/>
        </p:nvSpPr>
        <p:spPr bwMode="auto">
          <a:xfrm flipV="1">
            <a:off x="4724400" y="46101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77" name="Line 29"/>
          <p:cNvSpPr>
            <a:spLocks noChangeShapeType="1"/>
          </p:cNvSpPr>
          <p:nvPr/>
        </p:nvSpPr>
        <p:spPr bwMode="auto">
          <a:xfrm>
            <a:off x="4724400" y="44577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79" name="Line 31"/>
          <p:cNvSpPr>
            <a:spLocks noChangeShapeType="1"/>
          </p:cNvSpPr>
          <p:nvPr/>
        </p:nvSpPr>
        <p:spPr bwMode="auto">
          <a:xfrm>
            <a:off x="4724400" y="466725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80" name="Line 32"/>
          <p:cNvSpPr>
            <a:spLocks noChangeShapeType="1"/>
          </p:cNvSpPr>
          <p:nvPr/>
        </p:nvSpPr>
        <p:spPr bwMode="auto">
          <a:xfrm>
            <a:off x="4724400" y="4572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81" name="Line 33"/>
          <p:cNvSpPr>
            <a:spLocks noChangeShapeType="1"/>
          </p:cNvSpPr>
          <p:nvPr/>
        </p:nvSpPr>
        <p:spPr bwMode="auto">
          <a:xfrm flipH="1">
            <a:off x="3733800" y="4629150"/>
            <a:ext cx="914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82" name="Line 34"/>
          <p:cNvSpPr>
            <a:spLocks noChangeShapeType="1"/>
          </p:cNvSpPr>
          <p:nvPr/>
        </p:nvSpPr>
        <p:spPr bwMode="auto">
          <a:xfrm flipH="1">
            <a:off x="4038600" y="4648200"/>
            <a:ext cx="609600" cy="381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83" name="Line 35"/>
          <p:cNvSpPr>
            <a:spLocks noChangeShapeType="1"/>
          </p:cNvSpPr>
          <p:nvPr/>
        </p:nvSpPr>
        <p:spPr bwMode="auto">
          <a:xfrm flipH="1" flipV="1">
            <a:off x="4038600" y="4267200"/>
            <a:ext cx="60960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84" name="Line 36"/>
          <p:cNvSpPr>
            <a:spLocks noChangeShapeType="1"/>
          </p:cNvSpPr>
          <p:nvPr/>
        </p:nvSpPr>
        <p:spPr bwMode="auto">
          <a:xfrm>
            <a:off x="1295400" y="4800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85" name="Line 37"/>
          <p:cNvSpPr>
            <a:spLocks noChangeShapeType="1"/>
          </p:cNvSpPr>
          <p:nvPr/>
        </p:nvSpPr>
        <p:spPr bwMode="auto">
          <a:xfrm flipV="1">
            <a:off x="1600200" y="51816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86" name="Line 38"/>
          <p:cNvSpPr>
            <a:spLocks noChangeShapeType="1"/>
          </p:cNvSpPr>
          <p:nvPr/>
        </p:nvSpPr>
        <p:spPr bwMode="auto">
          <a:xfrm flipH="1">
            <a:off x="3581400" y="5715000"/>
            <a:ext cx="1447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87" name="Line 39"/>
          <p:cNvSpPr>
            <a:spLocks noChangeShapeType="1"/>
          </p:cNvSpPr>
          <p:nvPr/>
        </p:nvSpPr>
        <p:spPr bwMode="auto">
          <a:xfrm flipH="1" flipV="1">
            <a:off x="4495800" y="5181600"/>
            <a:ext cx="2514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88" name="Line 40"/>
          <p:cNvSpPr>
            <a:spLocks noChangeShapeType="1"/>
          </p:cNvSpPr>
          <p:nvPr/>
        </p:nvSpPr>
        <p:spPr bwMode="auto">
          <a:xfrm flipH="1">
            <a:off x="4876800" y="4267200"/>
            <a:ext cx="1219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89" name="Freeform 41"/>
          <p:cNvSpPr>
            <a:spLocks/>
          </p:cNvSpPr>
          <p:nvPr/>
        </p:nvSpPr>
        <p:spPr bwMode="auto">
          <a:xfrm>
            <a:off x="4495800" y="3492500"/>
            <a:ext cx="1828800" cy="622300"/>
          </a:xfrm>
          <a:custGeom>
            <a:avLst/>
            <a:gdLst/>
            <a:ahLst/>
            <a:cxnLst>
              <a:cxn ang="0">
                <a:pos x="1152" y="56"/>
              </a:cxn>
              <a:cxn ang="0">
                <a:pos x="240" y="56"/>
              </a:cxn>
              <a:cxn ang="0">
                <a:pos x="0" y="392"/>
              </a:cxn>
            </a:cxnLst>
            <a:rect l="0" t="0" r="r" b="b"/>
            <a:pathLst>
              <a:path w="1152" h="392">
                <a:moveTo>
                  <a:pt x="1152" y="56"/>
                </a:moveTo>
                <a:cubicBezTo>
                  <a:pt x="792" y="28"/>
                  <a:pt x="432" y="0"/>
                  <a:pt x="240" y="56"/>
                </a:cubicBezTo>
                <a:cubicBezTo>
                  <a:pt x="48" y="112"/>
                  <a:pt x="32" y="336"/>
                  <a:pt x="0" y="39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90" name="Line 42"/>
          <p:cNvSpPr>
            <a:spLocks noChangeShapeType="1"/>
          </p:cNvSpPr>
          <p:nvPr/>
        </p:nvSpPr>
        <p:spPr bwMode="auto">
          <a:xfrm>
            <a:off x="3505200" y="3657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91" name="Text Box 43"/>
          <p:cNvSpPr txBox="1">
            <a:spLocks noChangeArrowheads="1"/>
          </p:cNvSpPr>
          <p:nvPr/>
        </p:nvSpPr>
        <p:spPr bwMode="auto">
          <a:xfrm>
            <a:off x="7086600" y="4953000"/>
            <a:ext cx="15240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Dark screen</a:t>
            </a:r>
          </a:p>
        </p:txBody>
      </p:sp>
      <p:sp>
        <p:nvSpPr>
          <p:cNvPr id="130092" name="Text Box 44"/>
          <p:cNvSpPr txBox="1">
            <a:spLocks noChangeArrowheads="1"/>
          </p:cNvSpPr>
          <p:nvPr/>
        </p:nvSpPr>
        <p:spPr bwMode="auto">
          <a:xfrm>
            <a:off x="2838450" y="3238500"/>
            <a:ext cx="1524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Camera</a:t>
            </a:r>
          </a:p>
        </p:txBody>
      </p:sp>
      <p:sp>
        <p:nvSpPr>
          <p:cNvPr id="130093" name="Text Box 45"/>
          <p:cNvSpPr txBox="1">
            <a:spLocks noChangeArrowheads="1"/>
          </p:cNvSpPr>
          <p:nvPr/>
        </p:nvSpPr>
        <p:spPr bwMode="auto">
          <a:xfrm>
            <a:off x="6324600" y="3200400"/>
            <a:ext cx="1524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Glass top</a:t>
            </a:r>
          </a:p>
        </p:txBody>
      </p:sp>
      <p:sp>
        <p:nvSpPr>
          <p:cNvPr id="130094" name="Text Box 46"/>
          <p:cNvSpPr txBox="1">
            <a:spLocks noChangeArrowheads="1"/>
          </p:cNvSpPr>
          <p:nvPr/>
        </p:nvSpPr>
        <p:spPr bwMode="auto">
          <a:xfrm>
            <a:off x="6172200" y="3962400"/>
            <a:ext cx="24384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Radioactive source</a:t>
            </a:r>
          </a:p>
        </p:txBody>
      </p:sp>
      <p:sp>
        <p:nvSpPr>
          <p:cNvPr id="130095" name="Text Box 47"/>
          <p:cNvSpPr txBox="1">
            <a:spLocks noChangeArrowheads="1"/>
          </p:cNvSpPr>
          <p:nvPr/>
        </p:nvSpPr>
        <p:spPr bwMode="auto">
          <a:xfrm>
            <a:off x="5105400" y="5334000"/>
            <a:ext cx="1524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piston</a:t>
            </a:r>
          </a:p>
        </p:txBody>
      </p:sp>
      <p:sp>
        <p:nvSpPr>
          <p:cNvPr id="130096" name="Text Box 48"/>
          <p:cNvSpPr txBox="1">
            <a:spLocks noChangeArrowheads="1"/>
          </p:cNvSpPr>
          <p:nvPr/>
        </p:nvSpPr>
        <p:spPr bwMode="auto">
          <a:xfrm>
            <a:off x="304800" y="4495800"/>
            <a:ext cx="990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light</a:t>
            </a:r>
          </a:p>
        </p:txBody>
      </p:sp>
      <p:sp>
        <p:nvSpPr>
          <p:cNvPr id="130097" name="Text Box 49"/>
          <p:cNvSpPr txBox="1">
            <a:spLocks noChangeArrowheads="1"/>
          </p:cNvSpPr>
          <p:nvPr/>
        </p:nvSpPr>
        <p:spPr bwMode="auto">
          <a:xfrm>
            <a:off x="228600" y="5638800"/>
            <a:ext cx="1676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Chamber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2000"/>
                                        <p:tgtEl>
                                          <p:spTgt spid="130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1" dur="2000"/>
                                        <p:tgtEl>
                                          <p:spTgt spid="13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20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2000"/>
                                        <p:tgtEl>
                                          <p:spTgt spid="13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0" dur="2000"/>
                                        <p:tgtEl>
                                          <p:spTgt spid="13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2000"/>
                                        <p:tgtEl>
                                          <p:spTgt spid="130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6" dur="2000"/>
                                        <p:tgtEl>
                                          <p:spTgt spid="130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9" dur="2000"/>
                                        <p:tgtEl>
                                          <p:spTgt spid="130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2" dur="2000"/>
                                        <p:tgtEl>
                                          <p:spTgt spid="130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5" dur="2000"/>
                                        <p:tgtEl>
                                          <p:spTgt spid="130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8" dur="2000"/>
                                        <p:tgtEl>
                                          <p:spTgt spid="130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1" dur="2000"/>
                                        <p:tgtEl>
                                          <p:spTgt spid="130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4" dur="2000"/>
                                        <p:tgtEl>
                                          <p:spTgt spid="130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7" dur="2000"/>
                                        <p:tgtEl>
                                          <p:spTgt spid="130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0" dur="2000"/>
                                        <p:tgtEl>
                                          <p:spTgt spid="130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3" dur="2000"/>
                                        <p:tgtEl>
                                          <p:spTgt spid="130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6" dur="2000"/>
                                        <p:tgtEl>
                                          <p:spTgt spid="130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9" dur="2000"/>
                                        <p:tgtEl>
                                          <p:spTgt spid="130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2" dur="2000"/>
                                        <p:tgtEl>
                                          <p:spTgt spid="130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5" dur="2000"/>
                                        <p:tgtEl>
                                          <p:spTgt spid="130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8" dur="2000"/>
                                        <p:tgtEl>
                                          <p:spTgt spid="130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81" dur="2000"/>
                                        <p:tgtEl>
                                          <p:spTgt spid="130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84" dur="2000"/>
                                        <p:tgtEl>
                                          <p:spTgt spid="130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87" dur="2000"/>
                                        <p:tgtEl>
                                          <p:spTgt spid="130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90" dur="2000"/>
                                        <p:tgtEl>
                                          <p:spTgt spid="13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93" dur="2000"/>
                                        <p:tgtEl>
                                          <p:spTgt spid="130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96" dur="2000"/>
                                        <p:tgtEl>
                                          <p:spTgt spid="130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99" dur="2000"/>
                                        <p:tgtEl>
                                          <p:spTgt spid="130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2" dur="2000"/>
                                        <p:tgtEl>
                                          <p:spTgt spid="130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5" dur="2000"/>
                                        <p:tgtEl>
                                          <p:spTgt spid="130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8" dur="2000"/>
                                        <p:tgtEl>
                                          <p:spTgt spid="130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1" dur="2000"/>
                                        <p:tgtEl>
                                          <p:spTgt spid="130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4" dur="2000"/>
                                        <p:tgtEl>
                                          <p:spTgt spid="130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7" dur="2000"/>
                                        <p:tgtEl>
                                          <p:spTgt spid="130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0" dur="2000"/>
                                        <p:tgtEl>
                                          <p:spTgt spid="130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3" dur="2000"/>
                                        <p:tgtEl>
                                          <p:spTgt spid="130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6" dur="2000"/>
                                        <p:tgtEl>
                                          <p:spTgt spid="130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9" dur="2000"/>
                                        <p:tgtEl>
                                          <p:spTgt spid="130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0" grpId="0"/>
      <p:bldP spid="130052" grpId="0" animBg="1"/>
      <p:bldP spid="130053" grpId="0" animBg="1"/>
      <p:bldP spid="130054" grpId="0" animBg="1"/>
      <p:bldP spid="130055" grpId="0" animBg="1"/>
      <p:bldP spid="130056" grpId="0" animBg="1"/>
      <p:bldP spid="130057" grpId="0" animBg="1"/>
      <p:bldP spid="130058" grpId="0" animBg="1"/>
      <p:bldP spid="130062" grpId="0" animBg="1"/>
      <p:bldP spid="130063" grpId="0" animBg="1"/>
      <p:bldP spid="130065" grpId="0" animBg="1"/>
      <p:bldP spid="130066" grpId="0" animBg="1"/>
      <p:bldP spid="130068" grpId="0" animBg="1"/>
      <p:bldP spid="130069" grpId="0" animBg="1"/>
      <p:bldP spid="130070" grpId="0" animBg="1"/>
      <p:bldP spid="130073" grpId="0" animBg="1"/>
      <p:bldP spid="130074" grpId="0" animBg="1"/>
      <p:bldP spid="130075" grpId="0" animBg="1"/>
      <p:bldP spid="130076" grpId="0" animBg="1"/>
      <p:bldP spid="130077" grpId="0" animBg="1"/>
      <p:bldP spid="130079" grpId="0" animBg="1"/>
      <p:bldP spid="130080" grpId="0" animBg="1"/>
      <p:bldP spid="130081" grpId="0" animBg="1"/>
      <p:bldP spid="130082" grpId="0" animBg="1"/>
      <p:bldP spid="130083" grpId="0" animBg="1"/>
      <p:bldP spid="130084" grpId="0" animBg="1"/>
      <p:bldP spid="130085" grpId="0" animBg="1"/>
      <p:bldP spid="130086" grpId="0" animBg="1"/>
      <p:bldP spid="130087" grpId="0" animBg="1"/>
      <p:bldP spid="130088" grpId="0" animBg="1"/>
      <p:bldP spid="130089" grpId="0" animBg="1"/>
      <p:bldP spid="130090" grpId="0" animBg="1"/>
      <p:bldP spid="130091" grpId="0"/>
      <p:bldP spid="130092" grpId="0"/>
      <p:bldP spid="130093" grpId="0"/>
      <p:bldP spid="130094" grpId="0"/>
      <p:bldP spid="130095" grpId="0"/>
      <p:bldP spid="130096" grpId="0"/>
      <p:bldP spid="130097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113</a:t>
            </a:fld>
            <a:endParaRPr lang="en-US"/>
          </a:p>
        </p:txBody>
      </p:sp>
      <p:sp>
        <p:nvSpPr>
          <p:cNvPr id="1310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533400"/>
            <a:ext cx="7772400" cy="5562600"/>
          </a:xfrm>
        </p:spPr>
        <p:txBody>
          <a:bodyPr/>
          <a:lstStyle/>
          <a:p>
            <a:r>
              <a:rPr lang="en-US"/>
              <a:t>Rapid expansion of the damp air, obtained by movement of the piston, causes a drop in temperature, and the air becomes supersaturated with the water vapour.</a:t>
            </a:r>
          </a:p>
          <a:p>
            <a:r>
              <a:rPr lang="en-US"/>
              <a:t>Any ions that happen to pass through the chamber act as nuclei onto which tiny droplets of water condense.</a:t>
            </a:r>
          </a:p>
          <a:p>
            <a:r>
              <a:rPr lang="en-US"/>
              <a:t>The trucks of these ions become visible and may be photographed.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5" grpId="0" build="p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114</a:t>
            </a:fld>
            <a:endParaRPr lang="en-US"/>
          </a:p>
        </p:txBody>
      </p:sp>
      <p:sp>
        <p:nvSpPr>
          <p:cNvPr id="2529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/>
              <a:t>The chamber contains a supersaturated vapor (e.g. methylated spirits), which condenses into droplets when disturbed and ionized by the passage of a particle.</a:t>
            </a:r>
          </a:p>
          <a:p>
            <a:pPr>
              <a:buClr>
                <a:schemeClr val="tx2"/>
              </a:buClr>
              <a:buFont typeface="Wingdings" pitchFamily="2" charset="2"/>
              <a:buChar char="Ø"/>
            </a:pPr>
            <a:endParaRPr lang="en-US" sz="2800"/>
          </a:p>
          <a:p>
            <a:pPr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/>
              <a:t>There are two types of cloud chambers:</a:t>
            </a:r>
          </a:p>
          <a:p>
            <a:pPr>
              <a:buClr>
                <a:schemeClr val="tx2"/>
              </a:buClr>
              <a:buFont typeface="Wingdings" pitchFamily="2" charset="2"/>
              <a:buNone/>
            </a:pPr>
            <a:r>
              <a:rPr lang="en-US" sz="2800"/>
              <a:t>           the "expansion" type &amp; the "diffusion"  type.</a:t>
            </a:r>
          </a:p>
          <a:p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2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52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52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1" grpId="0" build="p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/>
              <a:t>2.	The bubble chamber.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115</a:t>
            </a:fld>
            <a:endParaRPr lang="en-US"/>
          </a:p>
        </p:txBody>
      </p:sp>
      <p:sp>
        <p:nvSpPr>
          <p:cNvPr id="1320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066800"/>
            <a:ext cx="7772400" cy="502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The apparatus involves the boiling of a liquid under pressure and then the sudden release of pressure in order to obtain a superheated liquid. i.e the absence of the usual gaseous phase.</a:t>
            </a:r>
          </a:p>
          <a:p>
            <a:pPr>
              <a:lnSpc>
                <a:spcPct val="90000"/>
              </a:lnSpc>
            </a:pPr>
            <a:r>
              <a:rPr lang="en-US"/>
              <a:t>When ions pass through this superheated liquid they act as nuclei on which bubbles form and rapidly grow in size.</a:t>
            </a:r>
          </a:p>
          <a:p>
            <a:pPr>
              <a:lnSpc>
                <a:spcPct val="90000"/>
              </a:lnSpc>
            </a:pPr>
            <a:r>
              <a:rPr lang="en-US"/>
              <a:t>The tracks of any ions are made visible and are photographed.</a:t>
            </a:r>
          </a:p>
          <a:p>
            <a:pPr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2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8" grpId="0"/>
      <p:bldP spid="132099" grpId="0" build="p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116</a:t>
            </a:fld>
            <a:endParaRPr 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533400"/>
            <a:ext cx="7772400" cy="5562600"/>
          </a:xfrm>
        </p:spPr>
        <p:txBody>
          <a:bodyPr/>
          <a:lstStyle/>
          <a:p>
            <a:r>
              <a:rPr lang="en-US" u="sng"/>
              <a:t>Note</a:t>
            </a:r>
            <a:r>
              <a:rPr lang="en-US"/>
              <a:t>: The bubble chamber is superior to the cloud chamber since the tracks are much denser. </a:t>
            </a:r>
          </a:p>
          <a:p>
            <a:r>
              <a:rPr lang="en-US"/>
              <a:t>Liquid hydrogen has been used in such chambers as the working fluid.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3" grpId="0" build="p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-76200"/>
            <a:ext cx="7772400" cy="1143000"/>
          </a:xfrm>
        </p:spPr>
        <p:txBody>
          <a:bodyPr/>
          <a:lstStyle/>
          <a:p>
            <a:r>
              <a:rPr lang="en-US" b="1">
                <a:solidFill>
                  <a:srgbClr val="FF0000"/>
                </a:solidFill>
                <a:latin typeface="Comic Sans MS" pitchFamily="66" charset="0"/>
              </a:rPr>
              <a:t>Geiger Counter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066800"/>
            <a:ext cx="7467600" cy="533400"/>
          </a:xfrm>
        </p:spPr>
        <p:txBody>
          <a:bodyPr/>
          <a:lstStyle/>
          <a:p>
            <a:r>
              <a:rPr lang="en-US" sz="2800" b="1">
                <a:solidFill>
                  <a:srgbClr val="000066"/>
                </a:solidFill>
              </a:rPr>
              <a:t>Used to detect radioactive substances</a:t>
            </a:r>
          </a:p>
        </p:txBody>
      </p:sp>
      <p:pic>
        <p:nvPicPr>
          <p:cNvPr id="110599" name="geigercounter.mov">
            <a:hlinkClick r:id="" action="ppaction://media"/>
          </p:cNvPr>
          <p:cNvPicPr>
            <a:picLocks noGrp="1" noRot="1" noChangeAspect="1" noChangeArrowheads="1"/>
          </p:cNvPicPr>
          <p:nvPr>
            <p:ph sz="quarter" idx="2"/>
            <a:videoFile r:link="rId1"/>
          </p:nvPr>
        </p:nvPicPr>
        <p:blipFill>
          <a:blip r:embed="rId3"/>
          <a:srcRect/>
          <a:stretch>
            <a:fillRect/>
          </a:stretch>
        </p:blipFill>
        <p:spPr>
          <a:xfrm>
            <a:off x="304800" y="2286000"/>
            <a:ext cx="3530600" cy="2647950"/>
          </a:xfrm>
          <a:ln/>
        </p:spPr>
      </p:pic>
      <p:sp>
        <p:nvSpPr>
          <p:cNvPr id="45" name="Footer Placeholder 4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4" name="Slide Number Placeholder 4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1A052-8AFF-4866-A49B-52206F0EAFF6}" type="slidenum">
              <a:rPr lang="en-US" smtClean="0"/>
              <a:pPr/>
              <a:t>117</a:t>
            </a:fld>
            <a:endParaRPr lang="en-US"/>
          </a:p>
        </p:txBody>
      </p:sp>
      <p:sp>
        <p:nvSpPr>
          <p:cNvPr id="110605" name="Line 13"/>
          <p:cNvSpPr>
            <a:spLocks noChangeShapeType="1"/>
          </p:cNvSpPr>
          <p:nvPr/>
        </p:nvSpPr>
        <p:spPr bwMode="auto">
          <a:xfrm>
            <a:off x="5257800" y="4114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06" name="Line 14"/>
          <p:cNvSpPr>
            <a:spLocks noChangeShapeType="1"/>
          </p:cNvSpPr>
          <p:nvPr/>
        </p:nvSpPr>
        <p:spPr bwMode="auto">
          <a:xfrm>
            <a:off x="5257800" y="4876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07" name="Line 15"/>
          <p:cNvSpPr>
            <a:spLocks noChangeShapeType="1"/>
          </p:cNvSpPr>
          <p:nvPr/>
        </p:nvSpPr>
        <p:spPr bwMode="auto">
          <a:xfrm>
            <a:off x="6324600" y="4114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08" name="Line 16"/>
          <p:cNvSpPr>
            <a:spLocks noChangeShapeType="1"/>
          </p:cNvSpPr>
          <p:nvPr/>
        </p:nvSpPr>
        <p:spPr bwMode="auto">
          <a:xfrm>
            <a:off x="5238750" y="39624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09" name="Line 17"/>
          <p:cNvSpPr>
            <a:spLocks noChangeShapeType="1"/>
          </p:cNvSpPr>
          <p:nvPr/>
        </p:nvSpPr>
        <p:spPr bwMode="auto">
          <a:xfrm>
            <a:off x="4800600" y="4495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10" name="Line 18"/>
          <p:cNvSpPr>
            <a:spLocks noChangeShapeType="1"/>
          </p:cNvSpPr>
          <p:nvPr/>
        </p:nvSpPr>
        <p:spPr bwMode="auto">
          <a:xfrm>
            <a:off x="5638800" y="4495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11" name="Line 19"/>
          <p:cNvSpPr>
            <a:spLocks noChangeShapeType="1"/>
          </p:cNvSpPr>
          <p:nvPr/>
        </p:nvSpPr>
        <p:spPr bwMode="auto">
          <a:xfrm>
            <a:off x="6324600" y="4495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12" name="Line 20"/>
          <p:cNvSpPr>
            <a:spLocks noChangeShapeType="1"/>
          </p:cNvSpPr>
          <p:nvPr/>
        </p:nvSpPr>
        <p:spPr bwMode="auto">
          <a:xfrm>
            <a:off x="7239000" y="4495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13" name="Line 21"/>
          <p:cNvSpPr>
            <a:spLocks noChangeShapeType="1"/>
          </p:cNvSpPr>
          <p:nvPr/>
        </p:nvSpPr>
        <p:spPr bwMode="auto">
          <a:xfrm>
            <a:off x="8001000" y="4495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14" name="Line 22"/>
          <p:cNvSpPr>
            <a:spLocks noChangeShapeType="1"/>
          </p:cNvSpPr>
          <p:nvPr/>
        </p:nvSpPr>
        <p:spPr bwMode="auto">
          <a:xfrm>
            <a:off x="8382000" y="4495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15" name="Line 23"/>
          <p:cNvSpPr>
            <a:spLocks noChangeShapeType="1"/>
          </p:cNvSpPr>
          <p:nvPr/>
        </p:nvSpPr>
        <p:spPr bwMode="auto">
          <a:xfrm>
            <a:off x="6096000" y="487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16" name="Line 24"/>
          <p:cNvSpPr>
            <a:spLocks noChangeShapeType="1"/>
          </p:cNvSpPr>
          <p:nvPr/>
        </p:nvSpPr>
        <p:spPr bwMode="auto">
          <a:xfrm>
            <a:off x="6096000" y="5562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20" name="Line 28"/>
          <p:cNvSpPr>
            <a:spLocks noChangeShapeType="1"/>
          </p:cNvSpPr>
          <p:nvPr/>
        </p:nvSpPr>
        <p:spPr bwMode="auto">
          <a:xfrm>
            <a:off x="6610350" y="5486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21" name="Line 29"/>
          <p:cNvSpPr>
            <a:spLocks noChangeShapeType="1"/>
          </p:cNvSpPr>
          <p:nvPr/>
        </p:nvSpPr>
        <p:spPr bwMode="auto">
          <a:xfrm flipV="1">
            <a:off x="6686550" y="5372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22" name="Line 30"/>
          <p:cNvSpPr>
            <a:spLocks noChangeShapeType="1"/>
          </p:cNvSpPr>
          <p:nvPr/>
        </p:nvSpPr>
        <p:spPr bwMode="auto">
          <a:xfrm>
            <a:off x="7581900" y="550545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23" name="Line 31"/>
          <p:cNvSpPr>
            <a:spLocks noChangeShapeType="1"/>
          </p:cNvSpPr>
          <p:nvPr/>
        </p:nvSpPr>
        <p:spPr bwMode="auto">
          <a:xfrm flipV="1">
            <a:off x="7658100" y="539115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24" name="Line 32"/>
          <p:cNvSpPr>
            <a:spLocks noChangeShapeType="1"/>
          </p:cNvSpPr>
          <p:nvPr/>
        </p:nvSpPr>
        <p:spPr bwMode="auto">
          <a:xfrm>
            <a:off x="7620000" y="5562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25" name="Line 33"/>
          <p:cNvSpPr>
            <a:spLocks noChangeShapeType="1"/>
          </p:cNvSpPr>
          <p:nvPr/>
        </p:nvSpPr>
        <p:spPr bwMode="auto">
          <a:xfrm>
            <a:off x="6705600" y="5562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26" name="Line 34"/>
          <p:cNvSpPr>
            <a:spLocks noChangeShapeType="1"/>
          </p:cNvSpPr>
          <p:nvPr/>
        </p:nvSpPr>
        <p:spPr bwMode="auto">
          <a:xfrm>
            <a:off x="6096000" y="5562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27" name="Line 35"/>
          <p:cNvSpPr>
            <a:spLocks noChangeShapeType="1"/>
          </p:cNvSpPr>
          <p:nvPr/>
        </p:nvSpPr>
        <p:spPr bwMode="auto">
          <a:xfrm>
            <a:off x="5867400" y="6019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28" name="Line 36"/>
          <p:cNvSpPr>
            <a:spLocks noChangeShapeType="1"/>
          </p:cNvSpPr>
          <p:nvPr/>
        </p:nvSpPr>
        <p:spPr bwMode="auto">
          <a:xfrm>
            <a:off x="5943600" y="6096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29" name="Line 37"/>
          <p:cNvSpPr>
            <a:spLocks noChangeShapeType="1"/>
          </p:cNvSpPr>
          <p:nvPr/>
        </p:nvSpPr>
        <p:spPr bwMode="auto">
          <a:xfrm>
            <a:off x="6019800" y="6172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33" name="Freeform 41"/>
          <p:cNvSpPr>
            <a:spLocks/>
          </p:cNvSpPr>
          <p:nvPr/>
        </p:nvSpPr>
        <p:spPr bwMode="auto">
          <a:xfrm>
            <a:off x="7543800" y="4343400"/>
            <a:ext cx="457200" cy="304800"/>
          </a:xfrm>
          <a:custGeom>
            <a:avLst/>
            <a:gdLst/>
            <a:ahLst/>
            <a:cxnLst>
              <a:cxn ang="0">
                <a:pos x="0" y="104"/>
              </a:cxn>
              <a:cxn ang="0">
                <a:pos x="96" y="8"/>
              </a:cxn>
              <a:cxn ang="0">
                <a:pos x="192" y="152"/>
              </a:cxn>
              <a:cxn ang="0">
                <a:pos x="288" y="8"/>
              </a:cxn>
              <a:cxn ang="0">
                <a:pos x="384" y="152"/>
              </a:cxn>
              <a:cxn ang="0">
                <a:pos x="432" y="56"/>
              </a:cxn>
            </a:cxnLst>
            <a:rect l="0" t="0" r="r" b="b"/>
            <a:pathLst>
              <a:path w="432" h="160">
                <a:moveTo>
                  <a:pt x="0" y="104"/>
                </a:moveTo>
                <a:cubicBezTo>
                  <a:pt x="32" y="52"/>
                  <a:pt x="64" y="0"/>
                  <a:pt x="96" y="8"/>
                </a:cubicBezTo>
                <a:cubicBezTo>
                  <a:pt x="128" y="16"/>
                  <a:pt x="160" y="152"/>
                  <a:pt x="192" y="152"/>
                </a:cubicBezTo>
                <a:cubicBezTo>
                  <a:pt x="224" y="152"/>
                  <a:pt x="256" y="8"/>
                  <a:pt x="288" y="8"/>
                </a:cubicBezTo>
                <a:cubicBezTo>
                  <a:pt x="320" y="8"/>
                  <a:pt x="360" y="144"/>
                  <a:pt x="384" y="152"/>
                </a:cubicBezTo>
                <a:cubicBezTo>
                  <a:pt x="408" y="160"/>
                  <a:pt x="424" y="72"/>
                  <a:pt x="432" y="5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34" name="Line 42"/>
          <p:cNvSpPr>
            <a:spLocks noChangeShapeType="1"/>
          </p:cNvSpPr>
          <p:nvPr/>
        </p:nvSpPr>
        <p:spPr bwMode="auto">
          <a:xfrm flipV="1">
            <a:off x="6781800" y="3886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35" name="Line 43"/>
          <p:cNvSpPr>
            <a:spLocks noChangeShapeType="1"/>
          </p:cNvSpPr>
          <p:nvPr/>
        </p:nvSpPr>
        <p:spPr bwMode="auto">
          <a:xfrm>
            <a:off x="6629400" y="3886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36" name="Line 44"/>
          <p:cNvSpPr>
            <a:spLocks noChangeShapeType="1"/>
          </p:cNvSpPr>
          <p:nvPr/>
        </p:nvSpPr>
        <p:spPr bwMode="auto">
          <a:xfrm>
            <a:off x="6629400" y="3733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38" name="Line 46"/>
          <p:cNvSpPr>
            <a:spLocks noChangeShapeType="1"/>
          </p:cNvSpPr>
          <p:nvPr/>
        </p:nvSpPr>
        <p:spPr bwMode="auto">
          <a:xfrm flipV="1">
            <a:off x="6781800" y="3352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39" name="Line 47"/>
          <p:cNvSpPr>
            <a:spLocks noChangeShapeType="1"/>
          </p:cNvSpPr>
          <p:nvPr/>
        </p:nvSpPr>
        <p:spPr bwMode="auto">
          <a:xfrm>
            <a:off x="6781800" y="33528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40" name="Text Box 48"/>
          <p:cNvSpPr txBox="1">
            <a:spLocks noChangeArrowheads="1"/>
          </p:cNvSpPr>
          <p:nvPr/>
        </p:nvSpPr>
        <p:spPr bwMode="auto">
          <a:xfrm>
            <a:off x="7315200" y="2743200"/>
            <a:ext cx="1828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To counter</a:t>
            </a:r>
          </a:p>
        </p:txBody>
      </p:sp>
      <p:sp>
        <p:nvSpPr>
          <p:cNvPr id="110641" name="Text Box 49"/>
          <p:cNvSpPr txBox="1">
            <a:spLocks noChangeArrowheads="1"/>
          </p:cNvSpPr>
          <p:nvPr/>
        </p:nvSpPr>
        <p:spPr bwMode="auto">
          <a:xfrm>
            <a:off x="7010400" y="3581400"/>
            <a:ext cx="1828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Condenser</a:t>
            </a:r>
          </a:p>
        </p:txBody>
      </p:sp>
      <p:sp>
        <p:nvSpPr>
          <p:cNvPr id="110642" name="Text Box 50"/>
          <p:cNvSpPr txBox="1">
            <a:spLocks noChangeArrowheads="1"/>
          </p:cNvSpPr>
          <p:nvPr/>
        </p:nvSpPr>
        <p:spPr bwMode="auto">
          <a:xfrm>
            <a:off x="7010400" y="4457700"/>
            <a:ext cx="1295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resistor</a:t>
            </a:r>
          </a:p>
        </p:txBody>
      </p:sp>
      <p:sp>
        <p:nvSpPr>
          <p:cNvPr id="110643" name="Text Box 51"/>
          <p:cNvSpPr txBox="1">
            <a:spLocks noChangeArrowheads="1"/>
          </p:cNvSpPr>
          <p:nvPr/>
        </p:nvSpPr>
        <p:spPr bwMode="auto">
          <a:xfrm>
            <a:off x="6705600" y="5638800"/>
            <a:ext cx="1143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400 V</a:t>
            </a:r>
          </a:p>
        </p:txBody>
      </p:sp>
      <p:sp>
        <p:nvSpPr>
          <p:cNvPr id="110644" name="Line 52"/>
          <p:cNvSpPr>
            <a:spLocks noChangeShapeType="1"/>
          </p:cNvSpPr>
          <p:nvPr/>
        </p:nvSpPr>
        <p:spPr bwMode="auto">
          <a:xfrm flipV="1">
            <a:off x="4800600" y="4876800"/>
            <a:ext cx="8382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45" name="Text Box 53"/>
          <p:cNvSpPr txBox="1">
            <a:spLocks noChangeArrowheads="1"/>
          </p:cNvSpPr>
          <p:nvPr/>
        </p:nvSpPr>
        <p:spPr bwMode="auto">
          <a:xfrm>
            <a:off x="4038600" y="6096000"/>
            <a:ext cx="1676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cathode</a:t>
            </a:r>
          </a:p>
        </p:txBody>
      </p:sp>
      <p:sp>
        <p:nvSpPr>
          <p:cNvPr id="110646" name="Text Box 54"/>
          <p:cNvSpPr txBox="1">
            <a:spLocks noChangeArrowheads="1"/>
          </p:cNvSpPr>
          <p:nvPr/>
        </p:nvSpPr>
        <p:spPr bwMode="auto">
          <a:xfrm>
            <a:off x="5410200" y="2667000"/>
            <a:ext cx="11430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Wire anode</a:t>
            </a:r>
          </a:p>
        </p:txBody>
      </p:sp>
      <p:sp>
        <p:nvSpPr>
          <p:cNvPr id="110648" name="Freeform 56"/>
          <p:cNvSpPr>
            <a:spLocks/>
          </p:cNvSpPr>
          <p:nvPr/>
        </p:nvSpPr>
        <p:spPr bwMode="auto">
          <a:xfrm>
            <a:off x="5638800" y="3581400"/>
            <a:ext cx="304800" cy="914400"/>
          </a:xfrm>
          <a:custGeom>
            <a:avLst/>
            <a:gdLst/>
            <a:ahLst/>
            <a:cxnLst>
              <a:cxn ang="0">
                <a:pos x="192" y="0"/>
              </a:cxn>
              <a:cxn ang="0">
                <a:pos x="0" y="240"/>
              </a:cxn>
              <a:cxn ang="0">
                <a:pos x="192" y="576"/>
              </a:cxn>
            </a:cxnLst>
            <a:rect l="0" t="0" r="r" b="b"/>
            <a:pathLst>
              <a:path w="192" h="576">
                <a:moveTo>
                  <a:pt x="192" y="0"/>
                </a:moveTo>
                <a:cubicBezTo>
                  <a:pt x="96" y="72"/>
                  <a:pt x="0" y="144"/>
                  <a:pt x="0" y="240"/>
                </a:cubicBezTo>
                <a:cubicBezTo>
                  <a:pt x="0" y="336"/>
                  <a:pt x="160" y="520"/>
                  <a:pt x="192" y="57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49" name="Text Box 57"/>
          <p:cNvSpPr txBox="1">
            <a:spLocks noChangeArrowheads="1"/>
          </p:cNvSpPr>
          <p:nvPr/>
        </p:nvSpPr>
        <p:spPr bwMode="auto">
          <a:xfrm>
            <a:off x="4038600" y="1828800"/>
            <a:ext cx="19050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Thin mica window</a:t>
            </a:r>
          </a:p>
        </p:txBody>
      </p:sp>
      <p:sp>
        <p:nvSpPr>
          <p:cNvPr id="110651" name="Text Box 59"/>
          <p:cNvSpPr txBox="1">
            <a:spLocks noChangeArrowheads="1"/>
          </p:cNvSpPr>
          <p:nvPr/>
        </p:nvSpPr>
        <p:spPr bwMode="auto">
          <a:xfrm>
            <a:off x="3886200" y="3962400"/>
            <a:ext cx="9144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radiation</a:t>
            </a:r>
          </a:p>
        </p:txBody>
      </p:sp>
      <p:sp>
        <p:nvSpPr>
          <p:cNvPr id="110652" name="Freeform 60"/>
          <p:cNvSpPr>
            <a:spLocks/>
          </p:cNvSpPr>
          <p:nvPr/>
        </p:nvSpPr>
        <p:spPr bwMode="auto">
          <a:xfrm>
            <a:off x="4343400" y="2743200"/>
            <a:ext cx="914400" cy="1600200"/>
          </a:xfrm>
          <a:custGeom>
            <a:avLst/>
            <a:gdLst/>
            <a:ahLst/>
            <a:cxnLst>
              <a:cxn ang="0">
                <a:pos x="288" y="0"/>
              </a:cxn>
              <a:cxn ang="0">
                <a:pos x="48" y="528"/>
              </a:cxn>
              <a:cxn ang="0">
                <a:pos x="576" y="1008"/>
              </a:cxn>
            </a:cxnLst>
            <a:rect l="0" t="0" r="r" b="b"/>
            <a:pathLst>
              <a:path w="576" h="1008">
                <a:moveTo>
                  <a:pt x="288" y="0"/>
                </a:moveTo>
                <a:cubicBezTo>
                  <a:pt x="144" y="180"/>
                  <a:pt x="0" y="360"/>
                  <a:pt x="48" y="528"/>
                </a:cubicBezTo>
                <a:cubicBezTo>
                  <a:pt x="96" y="696"/>
                  <a:pt x="488" y="928"/>
                  <a:pt x="576" y="100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0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1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10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10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10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10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10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10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10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10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10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10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10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10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10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10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110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10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110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110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110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110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110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110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110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1" dur="500"/>
                                        <p:tgtEl>
                                          <p:spTgt spid="110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4" dur="500"/>
                                        <p:tgtEl>
                                          <p:spTgt spid="110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7" dur="500"/>
                                        <p:tgtEl>
                                          <p:spTgt spid="110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0" dur="500"/>
                                        <p:tgtEl>
                                          <p:spTgt spid="110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3" dur="500"/>
                                        <p:tgtEl>
                                          <p:spTgt spid="110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6" dur="500"/>
                                        <p:tgtEl>
                                          <p:spTgt spid="110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9" dur="500"/>
                                        <p:tgtEl>
                                          <p:spTgt spid="110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2" dur="500"/>
                                        <p:tgtEl>
                                          <p:spTgt spid="110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5" dur="500"/>
                                        <p:tgtEl>
                                          <p:spTgt spid="110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8" dur="500"/>
                                        <p:tgtEl>
                                          <p:spTgt spid="110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1" dur="500"/>
                                        <p:tgtEl>
                                          <p:spTgt spid="110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4" dur="500"/>
                                        <p:tgtEl>
                                          <p:spTgt spid="110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7" dur="500"/>
                                        <p:tgtEl>
                                          <p:spTgt spid="11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0" dur="500"/>
                                        <p:tgtEl>
                                          <p:spTgt spid="110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3" dur="500"/>
                                        <p:tgtEl>
                                          <p:spTgt spid="110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6" dur="500"/>
                                        <p:tgtEl>
                                          <p:spTgt spid="110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1105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1" dur="1" fill="hold"/>
                                        <p:tgtEl>
                                          <p:spTgt spid="11059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"/>
                  </p:tgtEl>
                </p:cond>
              </p:nextCondLst>
            </p:seq>
            <p:video>
              <p:cMediaNode>
                <p:cTn id="14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10599"/>
                </p:tgtEl>
              </p:cMediaNode>
            </p:video>
          </p:childTnLst>
        </p:cTn>
      </p:par>
    </p:tnLst>
    <p:bldLst>
      <p:bldP spid="110594" grpId="0"/>
      <p:bldP spid="110595" grpId="0" build="p"/>
      <p:bldP spid="110605" grpId="0" animBg="1"/>
      <p:bldP spid="110606" grpId="0" animBg="1"/>
      <p:bldP spid="110607" grpId="0" animBg="1"/>
      <p:bldP spid="110608" grpId="0" animBg="1"/>
      <p:bldP spid="110609" grpId="0" animBg="1"/>
      <p:bldP spid="110610" grpId="0" animBg="1"/>
      <p:bldP spid="110611" grpId="0" animBg="1"/>
      <p:bldP spid="110612" grpId="0" animBg="1"/>
      <p:bldP spid="110613" grpId="0" animBg="1"/>
      <p:bldP spid="110614" grpId="0" animBg="1"/>
      <p:bldP spid="110615" grpId="0" animBg="1"/>
      <p:bldP spid="110616" grpId="0" animBg="1"/>
      <p:bldP spid="110620" grpId="0" animBg="1"/>
      <p:bldP spid="110621" grpId="0" animBg="1"/>
      <p:bldP spid="110622" grpId="0" animBg="1"/>
      <p:bldP spid="110623" grpId="0" animBg="1"/>
      <p:bldP spid="110624" grpId="0" animBg="1"/>
      <p:bldP spid="110625" grpId="0" animBg="1"/>
      <p:bldP spid="110626" grpId="0" animBg="1"/>
      <p:bldP spid="110627" grpId="0" animBg="1"/>
      <p:bldP spid="110628" grpId="0" animBg="1"/>
      <p:bldP spid="110629" grpId="0" animBg="1"/>
      <p:bldP spid="110633" grpId="0" animBg="1"/>
      <p:bldP spid="110634" grpId="0" animBg="1"/>
      <p:bldP spid="110635" grpId="0" animBg="1"/>
      <p:bldP spid="110636" grpId="0" animBg="1"/>
      <p:bldP spid="110638" grpId="0" animBg="1"/>
      <p:bldP spid="110639" grpId="0" animBg="1"/>
      <p:bldP spid="110640" grpId="0"/>
      <p:bldP spid="110641" grpId="0"/>
      <p:bldP spid="110642" grpId="0"/>
      <p:bldP spid="110643" grpId="0"/>
      <p:bldP spid="110644" grpId="0" animBg="1"/>
      <p:bldP spid="110645" grpId="0"/>
      <p:bldP spid="110646" grpId="0"/>
      <p:bldP spid="110648" grpId="0" animBg="1"/>
      <p:bldP spid="110649" grpId="0"/>
      <p:bldP spid="110651" grpId="0"/>
      <p:bldP spid="110652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118</a:t>
            </a:fld>
            <a:endParaRPr lang="en-US"/>
          </a:p>
        </p:txBody>
      </p:sp>
      <p:sp>
        <p:nvSpPr>
          <p:cNvPr id="1351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457200"/>
            <a:ext cx="7772400" cy="5638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GM tube consists of a metallized glass tube cathode sealed at one end by a thin mica window.</a:t>
            </a:r>
          </a:p>
          <a:p>
            <a:pPr>
              <a:lnSpc>
                <a:spcPct val="90000"/>
              </a:lnSpc>
            </a:pPr>
            <a:r>
              <a:rPr lang="en-US"/>
              <a:t>Anode is a tungsten wire.</a:t>
            </a:r>
          </a:p>
          <a:p>
            <a:pPr>
              <a:lnSpc>
                <a:spcPct val="90000"/>
              </a:lnSpc>
            </a:pPr>
            <a:r>
              <a:rPr lang="en-US"/>
              <a:t>The tube may be filled with a variety of gases at low pressure.</a:t>
            </a:r>
          </a:p>
          <a:p>
            <a:pPr>
              <a:lnSpc>
                <a:spcPct val="90000"/>
              </a:lnSpc>
            </a:pPr>
            <a:r>
              <a:rPr lang="en-US"/>
              <a:t>Gases are argon bromine vapour (mixture)</a:t>
            </a:r>
          </a:p>
          <a:p>
            <a:pPr>
              <a:lnSpc>
                <a:spcPct val="90000"/>
              </a:lnSpc>
            </a:pPr>
            <a:r>
              <a:rPr lang="en-US"/>
              <a:t>A potential difference of about 400 v is applied across the anode and cathode.</a:t>
            </a:r>
          </a:p>
          <a:p>
            <a:pPr>
              <a:lnSpc>
                <a:spcPct val="90000"/>
              </a:lnSpc>
            </a:pPr>
            <a:r>
              <a:rPr lang="en-US"/>
              <a:t>The absence of ionizing radiation the tube is a nonconductor of electricity.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5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1" grpId="0" build="p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119</a:t>
            </a:fld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381000"/>
            <a:ext cx="7772400" cy="5715000"/>
          </a:xfrm>
        </p:spPr>
        <p:txBody>
          <a:bodyPr/>
          <a:lstStyle/>
          <a:p>
            <a:r>
              <a:rPr lang="en-US"/>
              <a:t>When an ionising particle enters the tube, the gas inside is ionised to give positive ions and electrons.</a:t>
            </a:r>
          </a:p>
          <a:p>
            <a:r>
              <a:rPr lang="en-US"/>
              <a:t>Electrons  travel to their respective electrodes. --&gt; current flows.</a:t>
            </a:r>
          </a:p>
          <a:p>
            <a:r>
              <a:rPr lang="en-US"/>
              <a:t>This current produces a potential differences across the resistor, which is then amplified and recorded.</a:t>
            </a:r>
          </a:p>
          <a:p>
            <a:r>
              <a:rPr lang="en-US"/>
              <a:t>Modern GM tubes are capable of recording up to 10</a:t>
            </a:r>
            <a:r>
              <a:rPr lang="en-US" baseline="30000"/>
              <a:t>5</a:t>
            </a:r>
            <a:r>
              <a:rPr lang="en-US"/>
              <a:t> counts per second.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5" grpId="0" build="p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Photographic emulsion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120</a:t>
            </a:fld>
            <a:endParaRPr lang="en-US"/>
          </a:p>
        </p:txBody>
      </p:sp>
      <p:sp>
        <p:nvSpPr>
          <p:cNvPr id="1372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Ionizing radiation causes the blackening of photographic film.</a:t>
            </a:r>
          </a:p>
          <a:p>
            <a:r>
              <a:rPr lang="en-US"/>
              <a:t>In view of the rather high density of photographic emulsion the tracks produced by ionizing radiation are very short range.</a:t>
            </a:r>
          </a:p>
          <a:p>
            <a:r>
              <a:rPr lang="en-US"/>
              <a:t>Views under high magnification.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8" grpId="0"/>
      <p:bldP spid="137219" grpId="0" build="p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6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9150" y="6350"/>
            <a:ext cx="7505700" cy="684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05000" y="4648200"/>
            <a:ext cx="5792611" cy="1774825"/>
          </a:xfrm>
          <a:effectLst>
            <a:outerShdw dist="63500" dir="3187806" algn="ctr" rotWithShape="0">
              <a:schemeClr val="bg2"/>
            </a:outerShdw>
          </a:effectLst>
        </p:spPr>
        <p:txBody>
          <a:bodyPr/>
          <a:lstStyle/>
          <a:p>
            <a:pPr defTabSz="912813">
              <a:defRPr/>
            </a:pPr>
            <a:r>
              <a:rPr lang="en-US" sz="47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Impact" pitchFamily="34" charset="0"/>
              </a:rPr>
              <a:t>Applications</a:t>
            </a:r>
            <a:endParaRPr lang="en-US" sz="4000" b="1" dirty="0" smtClean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122</a:t>
            </a:fld>
            <a:endParaRPr lang="en-US"/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838200"/>
            <a:ext cx="7789333" cy="2359025"/>
          </a:xfrm>
          <a:effectLst>
            <a:outerShdw dist="71842" dir="2700000" algn="ctr" rotWithShape="0">
              <a:srgbClr val="000000"/>
            </a:outerShdw>
          </a:effectLst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US" sz="6400" dirty="0" smtClean="0">
                <a:solidFill>
                  <a:schemeClr val="accent2"/>
                </a:solidFill>
                <a:effectLst/>
                <a:latin typeface="Westminster" pitchFamily="82" charset="0"/>
              </a:rPr>
              <a:t>		   </a:t>
            </a:r>
            <a:r>
              <a:rPr lang="en-US" sz="2000" dirty="0" smtClean="0">
                <a:solidFill>
                  <a:schemeClr val="accent1"/>
                </a:solidFill>
                <a:effectLst/>
                <a:latin typeface="Westminster" pitchFamily="82" charset="0"/>
              </a:rPr>
              <a:t/>
            </a:r>
            <a:br>
              <a:rPr lang="en-US" sz="2000" dirty="0" smtClean="0">
                <a:solidFill>
                  <a:schemeClr val="accent1"/>
                </a:solidFill>
                <a:effectLst/>
                <a:latin typeface="Westminster" pitchFamily="82" charset="0"/>
              </a:rPr>
            </a:br>
            <a:r>
              <a:rPr lang="en-US" sz="2000" dirty="0" smtClean="0">
                <a:solidFill>
                  <a:schemeClr val="accent1"/>
                </a:solidFill>
                <a:effectLst/>
                <a:latin typeface="Westminster" pitchFamily="82" charset="0"/>
              </a:rPr>
              <a:t>	</a:t>
            </a:r>
            <a:r>
              <a:rPr lang="en-US" sz="9200" dirty="0" smtClean="0">
                <a:solidFill>
                  <a:schemeClr val="accent1"/>
                </a:solidFill>
                <a:effectLst/>
                <a:latin typeface="Westminster" pitchFamily="82" charset="0"/>
              </a:rPr>
              <a:t> </a:t>
            </a:r>
            <a:r>
              <a:rPr lang="en-US" sz="9200" dirty="0" smtClean="0">
                <a:solidFill>
                  <a:srgbClr val="002060"/>
                </a:solidFill>
                <a:effectLst/>
                <a:latin typeface="Westminster" pitchFamily="82" charset="0"/>
              </a:rPr>
              <a:t>Nuclear</a:t>
            </a:r>
            <a:br>
              <a:rPr lang="en-US" sz="9200" dirty="0" smtClean="0">
                <a:solidFill>
                  <a:srgbClr val="002060"/>
                </a:solidFill>
                <a:effectLst/>
                <a:latin typeface="Westminster" pitchFamily="82" charset="0"/>
              </a:rPr>
            </a:br>
            <a:r>
              <a:rPr lang="en-US" sz="9200" dirty="0" smtClean="0">
                <a:solidFill>
                  <a:srgbClr val="002060"/>
                </a:solidFill>
                <a:effectLst/>
                <a:latin typeface="Westminster" pitchFamily="82" charset="0"/>
              </a:rPr>
              <a:t>			 Chemistry</a:t>
            </a:r>
          </a:p>
        </p:txBody>
      </p:sp>
    </p:spTree>
  </p:cSld>
  <p:clrMapOvr>
    <a:masterClrMapping/>
  </p:clrMapOvr>
  <p:transition spd="slow"/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81000"/>
            <a:ext cx="7772400" cy="838200"/>
          </a:xfrm>
        </p:spPr>
        <p:txBody>
          <a:bodyPr>
            <a:normAutofit fontScale="90000"/>
          </a:bodyPr>
          <a:lstStyle/>
          <a:p>
            <a:r>
              <a:rPr lang="en-US" altLang="en-US" sz="5400" b="1">
                <a:solidFill>
                  <a:srgbClr val="FF0000"/>
                </a:solidFill>
                <a:latin typeface="Comic Sans MS" pitchFamily="66" charset="0"/>
              </a:rPr>
              <a:t>Nuclear Chemistry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123</a:t>
            </a:fld>
            <a:endParaRPr lang="en-US"/>
          </a:p>
        </p:txBody>
      </p:sp>
      <p:pic>
        <p:nvPicPr>
          <p:cNvPr id="12697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7000" y="1376363"/>
            <a:ext cx="8864600" cy="5024437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</p:pic>
      <p:pic>
        <p:nvPicPr>
          <p:cNvPr id="126980" name="Picture 4">
            <a:hlinkClick r:id="" action="ppaction://media"/>
          </p:cNvPr>
          <p:cNvPicPr>
            <a:picLocks noRot="1" noChangeAspect="1" noChangeArrowheads="1"/>
          </p:cNvPicPr>
          <p:nvPr>
            <a:wavAudioFile r:embed="rId1" name="bomb.wav"/>
          </p:nvPr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152400" cy="152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22" fill="hold"/>
                                        <p:tgtEl>
                                          <p:spTgt spid="12698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6980"/>
                </p:tgtEl>
              </p:cMediaNode>
            </p:audio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b="1">
                <a:solidFill>
                  <a:srgbClr val="FF0000"/>
                </a:solidFill>
                <a:latin typeface="Comic Sans MS" pitchFamily="66" charset="0"/>
              </a:rPr>
              <a:t>Radiocarbon Dating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124</a:t>
            </a:fld>
            <a:endParaRPr lang="en-US"/>
          </a:p>
        </p:txBody>
      </p:sp>
      <p:sp>
        <p:nvSpPr>
          <p:cNvPr id="593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33400" y="1371600"/>
            <a:ext cx="8153400" cy="47244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Radioactive C-14 is formed in the upper atmosphere by nuclear reactions initiated by neutrons in cosmic radiation</a:t>
            </a:r>
          </a:p>
          <a:p>
            <a:pPr algn="ctr">
              <a:buFontTx/>
              <a:buNone/>
            </a:pPr>
            <a:r>
              <a:rPr lang="en-US" altLang="en-US" sz="2800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14</a:t>
            </a:r>
            <a:r>
              <a:rPr lang="en-US" altLang="en-US" sz="28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7</a:t>
            </a: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N  +  </a:t>
            </a:r>
            <a:r>
              <a:rPr lang="en-US" altLang="en-US" sz="2800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en-US" sz="28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o</a:t>
            </a: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n  ---&gt; </a:t>
            </a:r>
            <a:r>
              <a:rPr lang="en-US" altLang="en-US" sz="2800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14</a:t>
            </a:r>
            <a:r>
              <a:rPr lang="en-US" altLang="en-US" sz="28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6</a:t>
            </a: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C  +  </a:t>
            </a:r>
            <a:r>
              <a:rPr lang="en-US" altLang="en-US" sz="2800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en-US" sz="28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H</a:t>
            </a:r>
          </a:p>
          <a:p>
            <a:pPr>
              <a:buFontTx/>
              <a:buNone/>
            </a:pPr>
            <a:r>
              <a:rPr lang="en-US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The C-14 is oxidized to CO</a:t>
            </a:r>
            <a:r>
              <a:rPr lang="en-US" altLang="en-US" sz="28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which circulates through the biosphere.</a:t>
            </a:r>
            <a:endParaRPr lang="en-US" altLang="en-US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Tx/>
              <a:buNone/>
            </a:pP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When a plant dies, the C-14 is not replenished.</a:t>
            </a:r>
          </a:p>
          <a:p>
            <a:pPr>
              <a:buFontTx/>
              <a:buNone/>
            </a:pPr>
            <a:r>
              <a:rPr lang="en-US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But the C-14 continues to decay with t</a:t>
            </a:r>
            <a:r>
              <a:rPr lang="en-US" altLang="en-US" sz="28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1/2</a:t>
            </a:r>
            <a:r>
              <a:rPr lang="en-US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= 5730 years.</a:t>
            </a:r>
            <a:endParaRPr lang="en-US" altLang="en-US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Tx/>
              <a:buNone/>
            </a:pP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Activity of a sample can be used to date the sample.</a:t>
            </a:r>
          </a:p>
        </p:txBody>
      </p:sp>
      <p:sp>
        <p:nvSpPr>
          <p:cNvPr id="59397" name="Line 5"/>
          <p:cNvSpPr>
            <a:spLocks noChangeShapeType="1"/>
          </p:cNvSpPr>
          <p:nvPr/>
        </p:nvSpPr>
        <p:spPr bwMode="auto">
          <a:xfrm>
            <a:off x="584200" y="1219200"/>
            <a:ext cx="77978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 autoUpdateAnimBg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4" name="Rectangle 4"/>
          <p:cNvSpPr>
            <a:spLocks noChangeArrowheads="1"/>
          </p:cNvSpPr>
          <p:nvPr/>
        </p:nvSpPr>
        <p:spPr bwMode="auto">
          <a:xfrm>
            <a:off x="1676400" y="1447800"/>
            <a:ext cx="365760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46" name="Oval 6"/>
          <p:cNvSpPr>
            <a:spLocks noChangeArrowheads="1"/>
          </p:cNvSpPr>
          <p:nvPr/>
        </p:nvSpPr>
        <p:spPr bwMode="auto">
          <a:xfrm>
            <a:off x="2495550" y="27622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47" name="Oval 7"/>
          <p:cNvSpPr>
            <a:spLocks noChangeArrowheads="1"/>
          </p:cNvSpPr>
          <p:nvPr/>
        </p:nvSpPr>
        <p:spPr bwMode="auto">
          <a:xfrm>
            <a:off x="2495550" y="24765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48" name="Oval 8"/>
          <p:cNvSpPr>
            <a:spLocks noChangeArrowheads="1"/>
          </p:cNvSpPr>
          <p:nvPr/>
        </p:nvSpPr>
        <p:spPr bwMode="auto">
          <a:xfrm>
            <a:off x="2495550" y="21907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49" name="Oval 9"/>
          <p:cNvSpPr>
            <a:spLocks noChangeArrowheads="1"/>
          </p:cNvSpPr>
          <p:nvPr/>
        </p:nvSpPr>
        <p:spPr bwMode="auto">
          <a:xfrm>
            <a:off x="2514600" y="18859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50" name="Oval 10"/>
          <p:cNvSpPr>
            <a:spLocks noChangeArrowheads="1"/>
          </p:cNvSpPr>
          <p:nvPr/>
        </p:nvSpPr>
        <p:spPr bwMode="auto">
          <a:xfrm>
            <a:off x="2514600" y="1600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51" name="Oval 11"/>
          <p:cNvSpPr>
            <a:spLocks noChangeArrowheads="1"/>
          </p:cNvSpPr>
          <p:nvPr/>
        </p:nvSpPr>
        <p:spPr bwMode="auto">
          <a:xfrm>
            <a:off x="2838450" y="27622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52" name="Oval 12"/>
          <p:cNvSpPr>
            <a:spLocks noChangeArrowheads="1"/>
          </p:cNvSpPr>
          <p:nvPr/>
        </p:nvSpPr>
        <p:spPr bwMode="auto">
          <a:xfrm>
            <a:off x="2838450" y="24765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53" name="Oval 13"/>
          <p:cNvSpPr>
            <a:spLocks noChangeArrowheads="1"/>
          </p:cNvSpPr>
          <p:nvPr/>
        </p:nvSpPr>
        <p:spPr bwMode="auto">
          <a:xfrm>
            <a:off x="2838450" y="21907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54" name="Oval 14"/>
          <p:cNvSpPr>
            <a:spLocks noChangeArrowheads="1"/>
          </p:cNvSpPr>
          <p:nvPr/>
        </p:nvSpPr>
        <p:spPr bwMode="auto">
          <a:xfrm>
            <a:off x="2857500" y="18859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55" name="Oval 15"/>
          <p:cNvSpPr>
            <a:spLocks noChangeArrowheads="1"/>
          </p:cNvSpPr>
          <p:nvPr/>
        </p:nvSpPr>
        <p:spPr bwMode="auto">
          <a:xfrm>
            <a:off x="2857500" y="1600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56" name="Oval 16"/>
          <p:cNvSpPr>
            <a:spLocks noChangeArrowheads="1"/>
          </p:cNvSpPr>
          <p:nvPr/>
        </p:nvSpPr>
        <p:spPr bwMode="auto">
          <a:xfrm>
            <a:off x="3162300" y="27622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57" name="Oval 17"/>
          <p:cNvSpPr>
            <a:spLocks noChangeArrowheads="1"/>
          </p:cNvSpPr>
          <p:nvPr/>
        </p:nvSpPr>
        <p:spPr bwMode="auto">
          <a:xfrm>
            <a:off x="3162300" y="24765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58" name="Oval 18"/>
          <p:cNvSpPr>
            <a:spLocks noChangeArrowheads="1"/>
          </p:cNvSpPr>
          <p:nvPr/>
        </p:nvSpPr>
        <p:spPr bwMode="auto">
          <a:xfrm>
            <a:off x="3162300" y="21907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59" name="Oval 19"/>
          <p:cNvSpPr>
            <a:spLocks noChangeArrowheads="1"/>
          </p:cNvSpPr>
          <p:nvPr/>
        </p:nvSpPr>
        <p:spPr bwMode="auto">
          <a:xfrm>
            <a:off x="3181350" y="18859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60" name="Oval 20"/>
          <p:cNvSpPr>
            <a:spLocks noChangeArrowheads="1"/>
          </p:cNvSpPr>
          <p:nvPr/>
        </p:nvSpPr>
        <p:spPr bwMode="auto">
          <a:xfrm>
            <a:off x="3181350" y="1600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61" name="Oval 21"/>
          <p:cNvSpPr>
            <a:spLocks noChangeArrowheads="1"/>
          </p:cNvSpPr>
          <p:nvPr/>
        </p:nvSpPr>
        <p:spPr bwMode="auto">
          <a:xfrm>
            <a:off x="3505200" y="27622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62" name="Oval 22"/>
          <p:cNvSpPr>
            <a:spLocks noChangeArrowheads="1"/>
          </p:cNvSpPr>
          <p:nvPr/>
        </p:nvSpPr>
        <p:spPr bwMode="auto">
          <a:xfrm>
            <a:off x="3505200" y="24765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63" name="Oval 23"/>
          <p:cNvSpPr>
            <a:spLocks noChangeArrowheads="1"/>
          </p:cNvSpPr>
          <p:nvPr/>
        </p:nvSpPr>
        <p:spPr bwMode="auto">
          <a:xfrm>
            <a:off x="3505200" y="21907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64" name="Oval 24"/>
          <p:cNvSpPr>
            <a:spLocks noChangeArrowheads="1"/>
          </p:cNvSpPr>
          <p:nvPr/>
        </p:nvSpPr>
        <p:spPr bwMode="auto">
          <a:xfrm>
            <a:off x="3524250" y="18859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65" name="Oval 25"/>
          <p:cNvSpPr>
            <a:spLocks noChangeArrowheads="1"/>
          </p:cNvSpPr>
          <p:nvPr/>
        </p:nvSpPr>
        <p:spPr bwMode="auto">
          <a:xfrm>
            <a:off x="3524250" y="1600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66" name="Oval 26"/>
          <p:cNvSpPr>
            <a:spLocks noChangeArrowheads="1"/>
          </p:cNvSpPr>
          <p:nvPr/>
        </p:nvSpPr>
        <p:spPr bwMode="auto">
          <a:xfrm>
            <a:off x="1828800" y="2743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67" name="Oval 27"/>
          <p:cNvSpPr>
            <a:spLocks noChangeArrowheads="1"/>
          </p:cNvSpPr>
          <p:nvPr/>
        </p:nvSpPr>
        <p:spPr bwMode="auto">
          <a:xfrm>
            <a:off x="1828800" y="24574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68" name="Oval 28"/>
          <p:cNvSpPr>
            <a:spLocks noChangeArrowheads="1"/>
          </p:cNvSpPr>
          <p:nvPr/>
        </p:nvSpPr>
        <p:spPr bwMode="auto">
          <a:xfrm>
            <a:off x="1828800" y="21717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69" name="Oval 29"/>
          <p:cNvSpPr>
            <a:spLocks noChangeArrowheads="1"/>
          </p:cNvSpPr>
          <p:nvPr/>
        </p:nvSpPr>
        <p:spPr bwMode="auto">
          <a:xfrm>
            <a:off x="1847850" y="18669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70" name="Oval 30"/>
          <p:cNvSpPr>
            <a:spLocks noChangeArrowheads="1"/>
          </p:cNvSpPr>
          <p:nvPr/>
        </p:nvSpPr>
        <p:spPr bwMode="auto">
          <a:xfrm>
            <a:off x="1847850" y="15811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71" name="Oval 31"/>
          <p:cNvSpPr>
            <a:spLocks noChangeArrowheads="1"/>
          </p:cNvSpPr>
          <p:nvPr/>
        </p:nvSpPr>
        <p:spPr bwMode="auto">
          <a:xfrm>
            <a:off x="2171700" y="2743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72" name="Oval 32"/>
          <p:cNvSpPr>
            <a:spLocks noChangeArrowheads="1"/>
          </p:cNvSpPr>
          <p:nvPr/>
        </p:nvSpPr>
        <p:spPr bwMode="auto">
          <a:xfrm>
            <a:off x="2171700" y="24574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73" name="Oval 33"/>
          <p:cNvSpPr>
            <a:spLocks noChangeArrowheads="1"/>
          </p:cNvSpPr>
          <p:nvPr/>
        </p:nvSpPr>
        <p:spPr bwMode="auto">
          <a:xfrm>
            <a:off x="2171700" y="21717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74" name="Oval 34"/>
          <p:cNvSpPr>
            <a:spLocks noChangeArrowheads="1"/>
          </p:cNvSpPr>
          <p:nvPr/>
        </p:nvSpPr>
        <p:spPr bwMode="auto">
          <a:xfrm>
            <a:off x="2190750" y="18669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75" name="Oval 35"/>
          <p:cNvSpPr>
            <a:spLocks noChangeArrowheads="1"/>
          </p:cNvSpPr>
          <p:nvPr/>
        </p:nvSpPr>
        <p:spPr bwMode="auto">
          <a:xfrm>
            <a:off x="2190750" y="15811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76" name="Oval 36"/>
          <p:cNvSpPr>
            <a:spLocks noChangeArrowheads="1"/>
          </p:cNvSpPr>
          <p:nvPr/>
        </p:nvSpPr>
        <p:spPr bwMode="auto">
          <a:xfrm>
            <a:off x="4857750" y="27813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77" name="Oval 37"/>
          <p:cNvSpPr>
            <a:spLocks noChangeArrowheads="1"/>
          </p:cNvSpPr>
          <p:nvPr/>
        </p:nvSpPr>
        <p:spPr bwMode="auto">
          <a:xfrm>
            <a:off x="4857750" y="249555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78" name="Oval 38"/>
          <p:cNvSpPr>
            <a:spLocks noChangeArrowheads="1"/>
          </p:cNvSpPr>
          <p:nvPr/>
        </p:nvSpPr>
        <p:spPr bwMode="auto">
          <a:xfrm>
            <a:off x="4857750" y="22098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79" name="Oval 39"/>
          <p:cNvSpPr>
            <a:spLocks noChangeArrowheads="1"/>
          </p:cNvSpPr>
          <p:nvPr/>
        </p:nvSpPr>
        <p:spPr bwMode="auto">
          <a:xfrm>
            <a:off x="4876800" y="19050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80" name="Oval 40"/>
          <p:cNvSpPr>
            <a:spLocks noChangeArrowheads="1"/>
          </p:cNvSpPr>
          <p:nvPr/>
        </p:nvSpPr>
        <p:spPr bwMode="auto">
          <a:xfrm>
            <a:off x="4876800" y="161925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81" name="Oval 41"/>
          <p:cNvSpPr>
            <a:spLocks noChangeArrowheads="1"/>
          </p:cNvSpPr>
          <p:nvPr/>
        </p:nvSpPr>
        <p:spPr bwMode="auto">
          <a:xfrm>
            <a:off x="4191000" y="276225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82" name="Oval 42"/>
          <p:cNvSpPr>
            <a:spLocks noChangeArrowheads="1"/>
          </p:cNvSpPr>
          <p:nvPr/>
        </p:nvSpPr>
        <p:spPr bwMode="auto">
          <a:xfrm>
            <a:off x="4191000" y="24765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83" name="Oval 43"/>
          <p:cNvSpPr>
            <a:spLocks noChangeArrowheads="1"/>
          </p:cNvSpPr>
          <p:nvPr/>
        </p:nvSpPr>
        <p:spPr bwMode="auto">
          <a:xfrm>
            <a:off x="4191000" y="219075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84" name="Oval 44"/>
          <p:cNvSpPr>
            <a:spLocks noChangeArrowheads="1"/>
          </p:cNvSpPr>
          <p:nvPr/>
        </p:nvSpPr>
        <p:spPr bwMode="auto">
          <a:xfrm>
            <a:off x="4210050" y="188595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85" name="Oval 45"/>
          <p:cNvSpPr>
            <a:spLocks noChangeArrowheads="1"/>
          </p:cNvSpPr>
          <p:nvPr/>
        </p:nvSpPr>
        <p:spPr bwMode="auto">
          <a:xfrm>
            <a:off x="4210050" y="16002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86" name="Oval 46"/>
          <p:cNvSpPr>
            <a:spLocks noChangeArrowheads="1"/>
          </p:cNvSpPr>
          <p:nvPr/>
        </p:nvSpPr>
        <p:spPr bwMode="auto">
          <a:xfrm>
            <a:off x="4533900" y="276225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87" name="Oval 47"/>
          <p:cNvSpPr>
            <a:spLocks noChangeArrowheads="1"/>
          </p:cNvSpPr>
          <p:nvPr/>
        </p:nvSpPr>
        <p:spPr bwMode="auto">
          <a:xfrm>
            <a:off x="4533900" y="24765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88" name="Oval 48"/>
          <p:cNvSpPr>
            <a:spLocks noChangeArrowheads="1"/>
          </p:cNvSpPr>
          <p:nvPr/>
        </p:nvSpPr>
        <p:spPr bwMode="auto">
          <a:xfrm>
            <a:off x="4533900" y="219075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89" name="Oval 49"/>
          <p:cNvSpPr>
            <a:spLocks noChangeArrowheads="1"/>
          </p:cNvSpPr>
          <p:nvPr/>
        </p:nvSpPr>
        <p:spPr bwMode="auto">
          <a:xfrm>
            <a:off x="4552950" y="188595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90" name="Oval 50"/>
          <p:cNvSpPr>
            <a:spLocks noChangeArrowheads="1"/>
          </p:cNvSpPr>
          <p:nvPr/>
        </p:nvSpPr>
        <p:spPr bwMode="auto">
          <a:xfrm>
            <a:off x="4552950" y="16002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91" name="Rectangle 51"/>
          <p:cNvSpPr>
            <a:spLocks noChangeArrowheads="1"/>
          </p:cNvSpPr>
          <p:nvPr/>
        </p:nvSpPr>
        <p:spPr bwMode="auto">
          <a:xfrm>
            <a:off x="1676400" y="4343400"/>
            <a:ext cx="365760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92" name="Oval 52"/>
          <p:cNvSpPr>
            <a:spLocks noChangeArrowheads="1"/>
          </p:cNvSpPr>
          <p:nvPr/>
        </p:nvSpPr>
        <p:spPr bwMode="auto">
          <a:xfrm>
            <a:off x="2495550" y="56578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93" name="Oval 53"/>
          <p:cNvSpPr>
            <a:spLocks noChangeArrowheads="1"/>
          </p:cNvSpPr>
          <p:nvPr/>
        </p:nvSpPr>
        <p:spPr bwMode="auto">
          <a:xfrm>
            <a:off x="2495550" y="53721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94" name="Oval 54"/>
          <p:cNvSpPr>
            <a:spLocks noChangeArrowheads="1"/>
          </p:cNvSpPr>
          <p:nvPr/>
        </p:nvSpPr>
        <p:spPr bwMode="auto">
          <a:xfrm>
            <a:off x="2495550" y="50863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95" name="Oval 55"/>
          <p:cNvSpPr>
            <a:spLocks noChangeArrowheads="1"/>
          </p:cNvSpPr>
          <p:nvPr/>
        </p:nvSpPr>
        <p:spPr bwMode="auto">
          <a:xfrm>
            <a:off x="2514600" y="47815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96" name="Oval 56"/>
          <p:cNvSpPr>
            <a:spLocks noChangeArrowheads="1"/>
          </p:cNvSpPr>
          <p:nvPr/>
        </p:nvSpPr>
        <p:spPr bwMode="auto">
          <a:xfrm>
            <a:off x="2514600" y="4495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97" name="Oval 57"/>
          <p:cNvSpPr>
            <a:spLocks noChangeArrowheads="1"/>
          </p:cNvSpPr>
          <p:nvPr/>
        </p:nvSpPr>
        <p:spPr bwMode="auto">
          <a:xfrm>
            <a:off x="2838450" y="56578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98" name="Oval 58"/>
          <p:cNvSpPr>
            <a:spLocks noChangeArrowheads="1"/>
          </p:cNvSpPr>
          <p:nvPr/>
        </p:nvSpPr>
        <p:spPr bwMode="auto">
          <a:xfrm>
            <a:off x="2838450" y="53721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99" name="Oval 59"/>
          <p:cNvSpPr>
            <a:spLocks noChangeArrowheads="1"/>
          </p:cNvSpPr>
          <p:nvPr/>
        </p:nvSpPr>
        <p:spPr bwMode="auto">
          <a:xfrm>
            <a:off x="2838450" y="50863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00" name="Oval 60"/>
          <p:cNvSpPr>
            <a:spLocks noChangeArrowheads="1"/>
          </p:cNvSpPr>
          <p:nvPr/>
        </p:nvSpPr>
        <p:spPr bwMode="auto">
          <a:xfrm>
            <a:off x="2857500" y="47815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01" name="Oval 61"/>
          <p:cNvSpPr>
            <a:spLocks noChangeArrowheads="1"/>
          </p:cNvSpPr>
          <p:nvPr/>
        </p:nvSpPr>
        <p:spPr bwMode="auto">
          <a:xfrm>
            <a:off x="2857500" y="4495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02" name="Oval 62"/>
          <p:cNvSpPr>
            <a:spLocks noChangeArrowheads="1"/>
          </p:cNvSpPr>
          <p:nvPr/>
        </p:nvSpPr>
        <p:spPr bwMode="auto">
          <a:xfrm>
            <a:off x="3162300" y="56578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03" name="Oval 63"/>
          <p:cNvSpPr>
            <a:spLocks noChangeArrowheads="1"/>
          </p:cNvSpPr>
          <p:nvPr/>
        </p:nvSpPr>
        <p:spPr bwMode="auto">
          <a:xfrm>
            <a:off x="3162300" y="53721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04" name="Oval 64"/>
          <p:cNvSpPr>
            <a:spLocks noChangeArrowheads="1"/>
          </p:cNvSpPr>
          <p:nvPr/>
        </p:nvSpPr>
        <p:spPr bwMode="auto">
          <a:xfrm>
            <a:off x="3162300" y="50863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05" name="Oval 65"/>
          <p:cNvSpPr>
            <a:spLocks noChangeArrowheads="1"/>
          </p:cNvSpPr>
          <p:nvPr/>
        </p:nvSpPr>
        <p:spPr bwMode="auto">
          <a:xfrm>
            <a:off x="3181350" y="47815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06" name="Oval 66"/>
          <p:cNvSpPr>
            <a:spLocks noChangeArrowheads="1"/>
          </p:cNvSpPr>
          <p:nvPr/>
        </p:nvSpPr>
        <p:spPr bwMode="auto">
          <a:xfrm>
            <a:off x="3181350" y="4495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07" name="Oval 67"/>
          <p:cNvSpPr>
            <a:spLocks noChangeArrowheads="1"/>
          </p:cNvSpPr>
          <p:nvPr/>
        </p:nvSpPr>
        <p:spPr bwMode="auto">
          <a:xfrm>
            <a:off x="3505200" y="56578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08" name="Oval 68"/>
          <p:cNvSpPr>
            <a:spLocks noChangeArrowheads="1"/>
          </p:cNvSpPr>
          <p:nvPr/>
        </p:nvSpPr>
        <p:spPr bwMode="auto">
          <a:xfrm>
            <a:off x="3505200" y="53721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09" name="Oval 69"/>
          <p:cNvSpPr>
            <a:spLocks noChangeArrowheads="1"/>
          </p:cNvSpPr>
          <p:nvPr/>
        </p:nvSpPr>
        <p:spPr bwMode="auto">
          <a:xfrm>
            <a:off x="3505200" y="50863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10" name="Oval 70"/>
          <p:cNvSpPr>
            <a:spLocks noChangeArrowheads="1"/>
          </p:cNvSpPr>
          <p:nvPr/>
        </p:nvSpPr>
        <p:spPr bwMode="auto">
          <a:xfrm>
            <a:off x="3524250" y="47815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11" name="Oval 71"/>
          <p:cNvSpPr>
            <a:spLocks noChangeArrowheads="1"/>
          </p:cNvSpPr>
          <p:nvPr/>
        </p:nvSpPr>
        <p:spPr bwMode="auto">
          <a:xfrm>
            <a:off x="3524250" y="4495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12" name="Oval 72"/>
          <p:cNvSpPr>
            <a:spLocks noChangeArrowheads="1"/>
          </p:cNvSpPr>
          <p:nvPr/>
        </p:nvSpPr>
        <p:spPr bwMode="auto">
          <a:xfrm>
            <a:off x="1828800" y="5638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13" name="Oval 73"/>
          <p:cNvSpPr>
            <a:spLocks noChangeArrowheads="1"/>
          </p:cNvSpPr>
          <p:nvPr/>
        </p:nvSpPr>
        <p:spPr bwMode="auto">
          <a:xfrm>
            <a:off x="1828800" y="53530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14" name="Oval 74"/>
          <p:cNvSpPr>
            <a:spLocks noChangeArrowheads="1"/>
          </p:cNvSpPr>
          <p:nvPr/>
        </p:nvSpPr>
        <p:spPr bwMode="auto">
          <a:xfrm>
            <a:off x="1828800" y="50673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15" name="Oval 75"/>
          <p:cNvSpPr>
            <a:spLocks noChangeArrowheads="1"/>
          </p:cNvSpPr>
          <p:nvPr/>
        </p:nvSpPr>
        <p:spPr bwMode="auto">
          <a:xfrm>
            <a:off x="1847850" y="47625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16" name="Oval 76"/>
          <p:cNvSpPr>
            <a:spLocks noChangeArrowheads="1"/>
          </p:cNvSpPr>
          <p:nvPr/>
        </p:nvSpPr>
        <p:spPr bwMode="auto">
          <a:xfrm>
            <a:off x="1847850" y="44767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17" name="Oval 77"/>
          <p:cNvSpPr>
            <a:spLocks noChangeArrowheads="1"/>
          </p:cNvSpPr>
          <p:nvPr/>
        </p:nvSpPr>
        <p:spPr bwMode="auto">
          <a:xfrm>
            <a:off x="2171700" y="5638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18" name="Oval 78"/>
          <p:cNvSpPr>
            <a:spLocks noChangeArrowheads="1"/>
          </p:cNvSpPr>
          <p:nvPr/>
        </p:nvSpPr>
        <p:spPr bwMode="auto">
          <a:xfrm>
            <a:off x="2171700" y="53530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19" name="Oval 79"/>
          <p:cNvSpPr>
            <a:spLocks noChangeArrowheads="1"/>
          </p:cNvSpPr>
          <p:nvPr/>
        </p:nvSpPr>
        <p:spPr bwMode="auto">
          <a:xfrm>
            <a:off x="2171700" y="50673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20" name="Oval 80"/>
          <p:cNvSpPr>
            <a:spLocks noChangeArrowheads="1"/>
          </p:cNvSpPr>
          <p:nvPr/>
        </p:nvSpPr>
        <p:spPr bwMode="auto">
          <a:xfrm>
            <a:off x="2190750" y="47625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21" name="Oval 81"/>
          <p:cNvSpPr>
            <a:spLocks noChangeArrowheads="1"/>
          </p:cNvSpPr>
          <p:nvPr/>
        </p:nvSpPr>
        <p:spPr bwMode="auto">
          <a:xfrm>
            <a:off x="2190750" y="44767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26" name="Oval 86"/>
          <p:cNvSpPr>
            <a:spLocks noChangeArrowheads="1"/>
          </p:cNvSpPr>
          <p:nvPr/>
        </p:nvSpPr>
        <p:spPr bwMode="auto">
          <a:xfrm>
            <a:off x="4876800" y="451485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27" name="Oval 87"/>
          <p:cNvSpPr>
            <a:spLocks noChangeArrowheads="1"/>
          </p:cNvSpPr>
          <p:nvPr/>
        </p:nvSpPr>
        <p:spPr bwMode="auto">
          <a:xfrm>
            <a:off x="4191000" y="565785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28" name="Oval 88"/>
          <p:cNvSpPr>
            <a:spLocks noChangeArrowheads="1"/>
          </p:cNvSpPr>
          <p:nvPr/>
        </p:nvSpPr>
        <p:spPr bwMode="auto">
          <a:xfrm>
            <a:off x="4191000" y="53721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29" name="Oval 89"/>
          <p:cNvSpPr>
            <a:spLocks noChangeArrowheads="1"/>
          </p:cNvSpPr>
          <p:nvPr/>
        </p:nvSpPr>
        <p:spPr bwMode="auto">
          <a:xfrm>
            <a:off x="4191000" y="508635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30" name="Oval 90"/>
          <p:cNvSpPr>
            <a:spLocks noChangeArrowheads="1"/>
          </p:cNvSpPr>
          <p:nvPr/>
        </p:nvSpPr>
        <p:spPr bwMode="auto">
          <a:xfrm>
            <a:off x="4210050" y="478155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31" name="Oval 91"/>
          <p:cNvSpPr>
            <a:spLocks noChangeArrowheads="1"/>
          </p:cNvSpPr>
          <p:nvPr/>
        </p:nvSpPr>
        <p:spPr bwMode="auto">
          <a:xfrm>
            <a:off x="4210050" y="44958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36" name="Oval 96"/>
          <p:cNvSpPr>
            <a:spLocks noChangeArrowheads="1"/>
          </p:cNvSpPr>
          <p:nvPr/>
        </p:nvSpPr>
        <p:spPr bwMode="auto">
          <a:xfrm>
            <a:off x="4552950" y="44958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37" name="Line 97"/>
          <p:cNvSpPr>
            <a:spLocks noChangeShapeType="1"/>
          </p:cNvSpPr>
          <p:nvPr/>
        </p:nvSpPr>
        <p:spPr bwMode="auto">
          <a:xfrm>
            <a:off x="3276600" y="32004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938" name="Text Box 98"/>
          <p:cNvSpPr txBox="1">
            <a:spLocks noChangeArrowheads="1"/>
          </p:cNvSpPr>
          <p:nvPr/>
        </p:nvSpPr>
        <p:spPr bwMode="auto">
          <a:xfrm>
            <a:off x="3505200" y="3352800"/>
            <a:ext cx="838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dies</a:t>
            </a:r>
          </a:p>
        </p:txBody>
      </p:sp>
      <p:sp>
        <p:nvSpPr>
          <p:cNvPr id="163939" name="Text Box 99"/>
          <p:cNvSpPr txBox="1">
            <a:spLocks noChangeArrowheads="1"/>
          </p:cNvSpPr>
          <p:nvPr/>
        </p:nvSpPr>
        <p:spPr bwMode="auto">
          <a:xfrm>
            <a:off x="5791200" y="1600200"/>
            <a:ext cx="2895600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Ratio of </a:t>
            </a:r>
            <a:r>
              <a:rPr lang="en-US" sz="2800" baseline="30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12</a:t>
            </a:r>
            <a:r>
              <a:rPr lang="en-US" sz="2800" baseline="-25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6</a:t>
            </a: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 to </a:t>
            </a:r>
            <a:r>
              <a:rPr lang="en-US" sz="2800" baseline="30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14</a:t>
            </a:r>
            <a:r>
              <a:rPr lang="en-US" sz="2800" baseline="-25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6</a:t>
            </a: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 is 2 to 1 and is kept constant</a:t>
            </a:r>
          </a:p>
        </p:txBody>
      </p:sp>
      <p:sp>
        <p:nvSpPr>
          <p:cNvPr id="163940" name="Text Box 100"/>
          <p:cNvSpPr txBox="1">
            <a:spLocks noChangeArrowheads="1"/>
          </p:cNvSpPr>
          <p:nvPr/>
        </p:nvSpPr>
        <p:spPr bwMode="auto">
          <a:xfrm>
            <a:off x="0" y="1905000"/>
            <a:ext cx="16764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Living material</a:t>
            </a:r>
          </a:p>
        </p:txBody>
      </p:sp>
      <p:sp>
        <p:nvSpPr>
          <p:cNvPr id="163941" name="Text Box 101"/>
          <p:cNvSpPr txBox="1">
            <a:spLocks noChangeArrowheads="1"/>
          </p:cNvSpPr>
          <p:nvPr/>
        </p:nvSpPr>
        <p:spPr bwMode="auto">
          <a:xfrm>
            <a:off x="0" y="4724400"/>
            <a:ext cx="16764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Dead material</a:t>
            </a:r>
          </a:p>
        </p:txBody>
      </p:sp>
      <p:sp>
        <p:nvSpPr>
          <p:cNvPr id="163942" name="Text Box 102"/>
          <p:cNvSpPr txBox="1">
            <a:spLocks noChangeArrowheads="1"/>
          </p:cNvSpPr>
          <p:nvPr/>
        </p:nvSpPr>
        <p:spPr bwMode="auto">
          <a:xfrm>
            <a:off x="5867400" y="4495800"/>
            <a:ext cx="2895600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Ratio of </a:t>
            </a:r>
            <a:r>
              <a:rPr lang="en-US" sz="2800" baseline="30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12</a:t>
            </a:r>
            <a:r>
              <a:rPr lang="en-US" sz="2800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6</a:t>
            </a:r>
            <a:r>
              <a:rPr 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 to </a:t>
            </a:r>
            <a:r>
              <a:rPr lang="en-US" sz="2800" baseline="30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14</a:t>
            </a:r>
            <a:r>
              <a:rPr lang="en-US" sz="2800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6</a:t>
            </a:r>
            <a:r>
              <a:rPr 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 is 4 to 1 and gradually changes</a:t>
            </a:r>
          </a:p>
        </p:txBody>
      </p:sp>
      <p:sp>
        <p:nvSpPr>
          <p:cNvPr id="163943" name="Line 103"/>
          <p:cNvSpPr>
            <a:spLocks noChangeShapeType="1"/>
          </p:cNvSpPr>
          <p:nvPr/>
        </p:nvSpPr>
        <p:spPr bwMode="auto">
          <a:xfrm>
            <a:off x="1905000" y="838200"/>
            <a:ext cx="533400" cy="60960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944" name="Text Box 104"/>
          <p:cNvSpPr txBox="1">
            <a:spLocks noChangeArrowheads="1"/>
          </p:cNvSpPr>
          <p:nvPr/>
        </p:nvSpPr>
        <p:spPr bwMode="auto">
          <a:xfrm>
            <a:off x="381000" y="304800"/>
            <a:ext cx="2743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aseline="30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12</a:t>
            </a:r>
            <a:r>
              <a:rPr lang="en-US" sz="2800" baseline="-25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6</a:t>
            </a: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 from </a:t>
            </a:r>
            <a:r>
              <a:rPr lang="en-US" sz="2800" baseline="30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12</a:t>
            </a:r>
            <a:r>
              <a:rPr lang="en-US" sz="2800" baseline="-25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6</a:t>
            </a: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CO</a:t>
            </a:r>
            <a:r>
              <a:rPr lang="en-US" sz="2800" baseline="-25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2</a:t>
            </a:r>
          </a:p>
        </p:txBody>
      </p:sp>
      <p:sp>
        <p:nvSpPr>
          <p:cNvPr id="163945" name="Text Box 105"/>
          <p:cNvSpPr txBox="1">
            <a:spLocks noChangeArrowheads="1"/>
          </p:cNvSpPr>
          <p:nvPr/>
        </p:nvSpPr>
        <p:spPr bwMode="auto">
          <a:xfrm>
            <a:off x="5181600" y="304800"/>
            <a:ext cx="2743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aseline="30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14</a:t>
            </a:r>
            <a:r>
              <a:rPr lang="en-US" sz="2800" baseline="-25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6</a:t>
            </a: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 from </a:t>
            </a:r>
            <a:r>
              <a:rPr lang="en-US" sz="2800" baseline="30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14</a:t>
            </a:r>
            <a:r>
              <a:rPr lang="en-US" sz="2800" baseline="-25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6</a:t>
            </a: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CO</a:t>
            </a:r>
            <a:r>
              <a:rPr lang="en-US" sz="2800" baseline="-25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2</a:t>
            </a:r>
          </a:p>
        </p:txBody>
      </p:sp>
      <p:sp>
        <p:nvSpPr>
          <p:cNvPr id="163946" name="Line 106"/>
          <p:cNvSpPr>
            <a:spLocks noChangeShapeType="1"/>
          </p:cNvSpPr>
          <p:nvPr/>
        </p:nvSpPr>
        <p:spPr bwMode="auto">
          <a:xfrm flipH="1">
            <a:off x="4876800" y="9906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7" name="Footer Placeholder 9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96" name="Slide Number Placeholder 9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6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6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63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63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63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63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63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63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63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63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63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63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63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63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63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63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63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63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163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63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163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163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163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163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163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163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163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1" dur="500"/>
                                        <p:tgtEl>
                                          <p:spTgt spid="163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4" dur="500"/>
                                        <p:tgtEl>
                                          <p:spTgt spid="163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7" dur="500"/>
                                        <p:tgtEl>
                                          <p:spTgt spid="163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0" dur="500"/>
                                        <p:tgtEl>
                                          <p:spTgt spid="16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3" dur="500"/>
                                        <p:tgtEl>
                                          <p:spTgt spid="163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6" dur="500"/>
                                        <p:tgtEl>
                                          <p:spTgt spid="163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9" dur="500"/>
                                        <p:tgtEl>
                                          <p:spTgt spid="163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2" dur="500"/>
                                        <p:tgtEl>
                                          <p:spTgt spid="163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5" dur="500"/>
                                        <p:tgtEl>
                                          <p:spTgt spid="163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8" dur="500"/>
                                        <p:tgtEl>
                                          <p:spTgt spid="163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1" dur="500"/>
                                        <p:tgtEl>
                                          <p:spTgt spid="163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4" dur="500"/>
                                        <p:tgtEl>
                                          <p:spTgt spid="163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7" dur="500"/>
                                        <p:tgtEl>
                                          <p:spTgt spid="163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0" dur="500"/>
                                        <p:tgtEl>
                                          <p:spTgt spid="163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3" dur="500"/>
                                        <p:tgtEl>
                                          <p:spTgt spid="163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6" dur="500"/>
                                        <p:tgtEl>
                                          <p:spTgt spid="163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9" dur="500"/>
                                        <p:tgtEl>
                                          <p:spTgt spid="163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2" dur="500"/>
                                        <p:tgtEl>
                                          <p:spTgt spid="163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7" dur="500"/>
                                        <p:tgtEl>
                                          <p:spTgt spid="163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2" dur="500"/>
                                        <p:tgtEl>
                                          <p:spTgt spid="163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7" dur="500"/>
                                        <p:tgtEl>
                                          <p:spTgt spid="163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2" dur="500"/>
                                        <p:tgtEl>
                                          <p:spTgt spid="163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7" dur="500"/>
                                        <p:tgtEl>
                                          <p:spTgt spid="163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2" dur="500"/>
                                        <p:tgtEl>
                                          <p:spTgt spid="163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7" dur="500"/>
                                        <p:tgtEl>
                                          <p:spTgt spid="163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2" dur="500"/>
                                        <p:tgtEl>
                                          <p:spTgt spid="163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7" dur="500"/>
                                        <p:tgtEl>
                                          <p:spTgt spid="163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0" dur="500"/>
                                        <p:tgtEl>
                                          <p:spTgt spid="16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3" dur="500"/>
                                        <p:tgtEl>
                                          <p:spTgt spid="16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6" dur="500"/>
                                        <p:tgtEl>
                                          <p:spTgt spid="163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9" dur="500"/>
                                        <p:tgtEl>
                                          <p:spTgt spid="163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2" dur="500"/>
                                        <p:tgtEl>
                                          <p:spTgt spid="16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5" dur="500"/>
                                        <p:tgtEl>
                                          <p:spTgt spid="163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8" dur="500"/>
                                        <p:tgtEl>
                                          <p:spTgt spid="163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1" dur="500"/>
                                        <p:tgtEl>
                                          <p:spTgt spid="163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4" dur="500"/>
                                        <p:tgtEl>
                                          <p:spTgt spid="163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7" dur="500"/>
                                        <p:tgtEl>
                                          <p:spTgt spid="163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0" dur="500"/>
                                        <p:tgtEl>
                                          <p:spTgt spid="163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3" dur="500"/>
                                        <p:tgtEl>
                                          <p:spTgt spid="163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6" dur="500"/>
                                        <p:tgtEl>
                                          <p:spTgt spid="163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9" dur="500"/>
                                        <p:tgtEl>
                                          <p:spTgt spid="163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2" dur="500"/>
                                        <p:tgtEl>
                                          <p:spTgt spid="16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5" dur="500"/>
                                        <p:tgtEl>
                                          <p:spTgt spid="16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8" dur="500"/>
                                        <p:tgtEl>
                                          <p:spTgt spid="16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1" dur="500"/>
                                        <p:tgtEl>
                                          <p:spTgt spid="16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4" dur="500"/>
                                        <p:tgtEl>
                                          <p:spTgt spid="16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7" dur="500"/>
                                        <p:tgtEl>
                                          <p:spTgt spid="16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0" dur="500"/>
                                        <p:tgtEl>
                                          <p:spTgt spid="163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3" dur="500"/>
                                        <p:tgtEl>
                                          <p:spTgt spid="163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6" dur="500"/>
                                        <p:tgtEl>
                                          <p:spTgt spid="163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9" dur="500"/>
                                        <p:tgtEl>
                                          <p:spTgt spid="163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2" dur="500"/>
                                        <p:tgtEl>
                                          <p:spTgt spid="163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5" dur="500"/>
                                        <p:tgtEl>
                                          <p:spTgt spid="163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8" dur="500"/>
                                        <p:tgtEl>
                                          <p:spTgt spid="163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1" dur="500"/>
                                        <p:tgtEl>
                                          <p:spTgt spid="163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4" dur="500"/>
                                        <p:tgtEl>
                                          <p:spTgt spid="163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7" dur="500"/>
                                        <p:tgtEl>
                                          <p:spTgt spid="163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0" dur="500"/>
                                        <p:tgtEl>
                                          <p:spTgt spid="163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3" dur="500"/>
                                        <p:tgtEl>
                                          <p:spTgt spid="163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6" dur="500"/>
                                        <p:tgtEl>
                                          <p:spTgt spid="163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9" dur="500"/>
                                        <p:tgtEl>
                                          <p:spTgt spid="163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2" dur="500"/>
                                        <p:tgtEl>
                                          <p:spTgt spid="163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5" dur="500"/>
                                        <p:tgtEl>
                                          <p:spTgt spid="163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8" dur="500"/>
                                        <p:tgtEl>
                                          <p:spTgt spid="163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3" dur="500"/>
                                        <p:tgtEl>
                                          <p:spTgt spid="163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8" dur="500"/>
                                        <p:tgtEl>
                                          <p:spTgt spid="163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4" grpId="0" animBg="1"/>
      <p:bldP spid="163846" grpId="0" animBg="1"/>
      <p:bldP spid="163847" grpId="0" animBg="1"/>
      <p:bldP spid="163848" grpId="0" animBg="1"/>
      <p:bldP spid="163849" grpId="0" animBg="1"/>
      <p:bldP spid="163850" grpId="0" animBg="1"/>
      <p:bldP spid="163851" grpId="0" animBg="1"/>
      <p:bldP spid="163852" grpId="0" animBg="1"/>
      <p:bldP spid="163853" grpId="0" animBg="1"/>
      <p:bldP spid="163854" grpId="0" animBg="1"/>
      <p:bldP spid="163855" grpId="0" animBg="1"/>
      <p:bldP spid="163856" grpId="0" animBg="1"/>
      <p:bldP spid="163857" grpId="0" animBg="1"/>
      <p:bldP spid="163858" grpId="0" animBg="1"/>
      <p:bldP spid="163859" grpId="0" animBg="1"/>
      <p:bldP spid="163860" grpId="0" animBg="1"/>
      <p:bldP spid="163861" grpId="0" animBg="1"/>
      <p:bldP spid="163862" grpId="0" animBg="1"/>
      <p:bldP spid="163863" grpId="0" animBg="1"/>
      <p:bldP spid="163864" grpId="0" animBg="1"/>
      <p:bldP spid="163865" grpId="0" animBg="1"/>
      <p:bldP spid="163866" grpId="0" animBg="1"/>
      <p:bldP spid="163867" grpId="0" animBg="1"/>
      <p:bldP spid="163868" grpId="0" animBg="1"/>
      <p:bldP spid="163869" grpId="0" animBg="1"/>
      <p:bldP spid="163870" grpId="0" animBg="1"/>
      <p:bldP spid="163871" grpId="0" animBg="1"/>
      <p:bldP spid="163872" grpId="0" animBg="1"/>
      <p:bldP spid="163873" grpId="0" animBg="1"/>
      <p:bldP spid="163874" grpId="0" animBg="1"/>
      <p:bldP spid="163875" grpId="0" animBg="1"/>
      <p:bldP spid="163876" grpId="0" animBg="1"/>
      <p:bldP spid="163877" grpId="0" animBg="1"/>
      <p:bldP spid="163878" grpId="0" animBg="1"/>
      <p:bldP spid="163879" grpId="0" animBg="1"/>
      <p:bldP spid="163880" grpId="0" animBg="1"/>
      <p:bldP spid="163881" grpId="0" animBg="1"/>
      <p:bldP spid="163882" grpId="0" animBg="1"/>
      <p:bldP spid="163883" grpId="0" animBg="1"/>
      <p:bldP spid="163884" grpId="0" animBg="1"/>
      <p:bldP spid="163885" grpId="0" animBg="1"/>
      <p:bldP spid="163886" grpId="0" animBg="1"/>
      <p:bldP spid="163887" grpId="0" animBg="1"/>
      <p:bldP spid="163888" grpId="0" animBg="1"/>
      <p:bldP spid="163889" grpId="0" animBg="1"/>
      <p:bldP spid="163890" grpId="0" animBg="1"/>
      <p:bldP spid="163891" grpId="0" animBg="1"/>
      <p:bldP spid="163892" grpId="0" animBg="1"/>
      <p:bldP spid="163893" grpId="0" animBg="1"/>
      <p:bldP spid="163894" grpId="0" animBg="1"/>
      <p:bldP spid="163895" grpId="0" animBg="1"/>
      <p:bldP spid="163896" grpId="0" animBg="1"/>
      <p:bldP spid="163897" grpId="0" animBg="1"/>
      <p:bldP spid="163898" grpId="0" animBg="1"/>
      <p:bldP spid="163899" grpId="0" animBg="1"/>
      <p:bldP spid="163900" grpId="0" animBg="1"/>
      <p:bldP spid="163901" grpId="0" animBg="1"/>
      <p:bldP spid="163902" grpId="0" animBg="1"/>
      <p:bldP spid="163903" grpId="0" animBg="1"/>
      <p:bldP spid="163904" grpId="0" animBg="1"/>
      <p:bldP spid="163905" grpId="0" animBg="1"/>
      <p:bldP spid="163906" grpId="0" animBg="1"/>
      <p:bldP spid="163907" grpId="0" animBg="1"/>
      <p:bldP spid="163908" grpId="0" animBg="1"/>
      <p:bldP spid="163909" grpId="0" animBg="1"/>
      <p:bldP spid="163910" grpId="0" animBg="1"/>
      <p:bldP spid="163911" grpId="0" animBg="1"/>
      <p:bldP spid="163912" grpId="0" animBg="1"/>
      <p:bldP spid="163913" grpId="0" animBg="1"/>
      <p:bldP spid="163914" grpId="0" animBg="1"/>
      <p:bldP spid="163915" grpId="0" animBg="1"/>
      <p:bldP spid="163916" grpId="0" animBg="1"/>
      <p:bldP spid="163917" grpId="0" animBg="1"/>
      <p:bldP spid="163918" grpId="0" animBg="1"/>
      <p:bldP spid="163919" grpId="0" animBg="1"/>
      <p:bldP spid="163920" grpId="0" animBg="1"/>
      <p:bldP spid="163921" grpId="0" animBg="1"/>
      <p:bldP spid="163926" grpId="0" animBg="1"/>
      <p:bldP spid="163927" grpId="0" animBg="1"/>
      <p:bldP spid="163928" grpId="0" animBg="1"/>
      <p:bldP spid="163929" grpId="0" animBg="1"/>
      <p:bldP spid="163930" grpId="0" animBg="1"/>
      <p:bldP spid="163931" grpId="0" animBg="1"/>
      <p:bldP spid="163936" grpId="0" animBg="1"/>
      <p:bldP spid="163937" grpId="0" animBg="1"/>
      <p:bldP spid="163938" grpId="0"/>
      <p:bldP spid="163939" grpId="0"/>
      <p:bldP spid="163940" grpId="0"/>
      <p:bldP spid="163941" grpId="0"/>
      <p:bldP spid="163942" grpId="0"/>
      <p:bldP spid="163943" grpId="0" animBg="1"/>
      <p:bldP spid="163944" grpId="0"/>
      <p:bldP spid="163945" grpId="0"/>
      <p:bldP spid="163946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126</a:t>
            </a:fld>
            <a:endParaRPr lang="en-US"/>
          </a:p>
        </p:txBody>
      </p:sp>
      <p:sp>
        <p:nvSpPr>
          <p:cNvPr id="1648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609600"/>
            <a:ext cx="7772400" cy="5791200"/>
          </a:xfrm>
        </p:spPr>
        <p:txBody>
          <a:bodyPr/>
          <a:lstStyle/>
          <a:p>
            <a:r>
              <a:rPr lang="en-US" dirty="0"/>
              <a:t>The proportions of </a:t>
            </a:r>
            <a:r>
              <a:rPr lang="en-US" baseline="30000" dirty="0"/>
              <a:t>14</a:t>
            </a:r>
            <a:r>
              <a:rPr lang="en-US" baseline="-25000" dirty="0"/>
              <a:t>6</a:t>
            </a:r>
            <a:r>
              <a:rPr lang="en-US" dirty="0"/>
              <a:t>C in the dead material starts to decrease. </a:t>
            </a:r>
          </a:p>
          <a:p>
            <a:r>
              <a:rPr lang="en-US" dirty="0"/>
              <a:t>This is because if the decay of the </a:t>
            </a:r>
            <a:r>
              <a:rPr lang="en-US" baseline="30000" dirty="0"/>
              <a:t>14</a:t>
            </a:r>
            <a:r>
              <a:rPr lang="en-US" baseline="-25000" dirty="0"/>
              <a:t>6</a:t>
            </a:r>
            <a:r>
              <a:rPr lang="en-US" dirty="0"/>
              <a:t>C.</a:t>
            </a:r>
          </a:p>
          <a:p>
            <a:r>
              <a:rPr lang="en-US" baseline="30000" dirty="0"/>
              <a:t>14</a:t>
            </a:r>
            <a:r>
              <a:rPr lang="en-US" baseline="-25000" dirty="0"/>
              <a:t>6</a:t>
            </a:r>
            <a:r>
              <a:rPr lang="en-US" dirty="0"/>
              <a:t>C 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  </a:t>
            </a:r>
            <a:r>
              <a:rPr lang="en-US" baseline="30000" dirty="0"/>
              <a:t>14</a:t>
            </a:r>
            <a:r>
              <a:rPr lang="en-US" baseline="-25000" dirty="0"/>
              <a:t>7</a:t>
            </a:r>
            <a:r>
              <a:rPr lang="en-US" dirty="0"/>
              <a:t>N  +  </a:t>
            </a:r>
            <a:r>
              <a:rPr lang="en-US" baseline="30000" dirty="0"/>
              <a:t>0</a:t>
            </a:r>
            <a:r>
              <a:rPr lang="en-US" baseline="-25000" dirty="0"/>
              <a:t>-1</a:t>
            </a:r>
            <a:r>
              <a:rPr lang="en-US" dirty="0"/>
              <a:t>e</a:t>
            </a:r>
          </a:p>
          <a:p>
            <a:r>
              <a:rPr lang="en-US" dirty="0"/>
              <a:t>As a result we can use the proportion of </a:t>
            </a:r>
            <a:r>
              <a:rPr lang="en-US" baseline="30000" dirty="0"/>
              <a:t>14</a:t>
            </a:r>
            <a:r>
              <a:rPr lang="en-US" baseline="-25000" dirty="0"/>
              <a:t>6</a:t>
            </a:r>
            <a:r>
              <a:rPr lang="en-US" dirty="0"/>
              <a:t>C as a measure of the age of the sample.</a:t>
            </a:r>
          </a:p>
          <a:p>
            <a:r>
              <a:rPr lang="en-US" u="sng" dirty="0"/>
              <a:t>Note</a:t>
            </a:r>
            <a:r>
              <a:rPr lang="en-US" dirty="0"/>
              <a:t>: the accuracy of carbon dating is upset by several factors.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7" grpId="0" build="p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127</a:t>
            </a:fld>
            <a:endParaRPr lang="en-US"/>
          </a:p>
        </p:txBody>
      </p:sp>
      <p:sp>
        <p:nvSpPr>
          <p:cNvPr id="1658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762000"/>
            <a:ext cx="7772400" cy="5334000"/>
          </a:xfrm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en-US" dirty="0"/>
              <a:t>Cosmic ray activity is not constant and is known to vary considerably over a periods.</a:t>
            </a:r>
          </a:p>
          <a:p>
            <a:pPr marL="609600" indent="-609600">
              <a:buFontTx/>
              <a:buAutoNum type="arabicPeriod"/>
            </a:pPr>
            <a:r>
              <a:rPr lang="en-US" dirty="0"/>
              <a:t>When fossil fuels such as coal and oil  are burnt in large quantities the </a:t>
            </a:r>
            <a:r>
              <a:rPr lang="en-US" baseline="30000" dirty="0"/>
              <a:t>14</a:t>
            </a:r>
            <a:r>
              <a:rPr lang="en-US" dirty="0"/>
              <a:t>C they contain is liberated into the atmosphere.</a:t>
            </a:r>
          </a:p>
          <a:p>
            <a:pPr marL="609600" indent="-609600">
              <a:buFontTx/>
              <a:buAutoNum type="arabicPeriod"/>
            </a:pPr>
            <a:r>
              <a:rPr lang="en-US" dirty="0"/>
              <a:t>The nuclear bomb tests release a great deal of radiation into the atmosphere. This increase of </a:t>
            </a:r>
            <a:r>
              <a:rPr lang="en-US" baseline="30000" dirty="0"/>
              <a:t>14</a:t>
            </a:r>
            <a:r>
              <a:rPr lang="en-US" dirty="0"/>
              <a:t>C in the atmosphere.</a:t>
            </a:r>
          </a:p>
          <a:p>
            <a:pPr marL="609600" indent="-609600">
              <a:buFontTx/>
              <a:buAutoNum type="arabicPeriod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1" grpId="0" build="p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Geological dating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29600" cy="4456113"/>
          </a:xfrm>
        </p:spPr>
        <p:txBody>
          <a:bodyPr/>
          <a:lstStyle/>
          <a:p>
            <a:r>
              <a:rPr lang="en-US" sz="2800"/>
              <a:t>Radioisotopes have been used to date rocks.</a:t>
            </a:r>
          </a:p>
          <a:p>
            <a:r>
              <a:rPr lang="en-US" sz="2800"/>
              <a:t>Decay of </a:t>
            </a:r>
            <a:r>
              <a:rPr lang="en-US" sz="2800" baseline="-25000"/>
              <a:t>40</a:t>
            </a:r>
            <a:r>
              <a:rPr lang="en-US" sz="2800"/>
              <a:t>K to </a:t>
            </a:r>
            <a:r>
              <a:rPr lang="en-US" sz="2800" baseline="-25000"/>
              <a:t>40</a:t>
            </a:r>
            <a:r>
              <a:rPr lang="en-US" sz="2800"/>
              <a:t>Ar by electron capture.</a:t>
            </a:r>
          </a:p>
          <a:p>
            <a:endParaRPr lang="en-US" sz="2800"/>
          </a:p>
        </p:txBody>
      </p:sp>
      <p:graphicFrame>
        <p:nvGraphicFramePr>
          <p:cNvPr id="144390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173288" y="2921000"/>
          <a:ext cx="3586162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8" name="Equation" r:id="rId3" imgW="939600" imgH="241200" progId="Equation.3">
                  <p:embed/>
                </p:oleObj>
              </mc:Choice>
              <mc:Fallback>
                <p:oleObj name="Equation" r:id="rId3" imgW="939600" imgH="241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288" y="2921000"/>
                        <a:ext cx="3586162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1A052-8AFF-4866-A49B-52206F0EAFF6}" type="slidenum">
              <a:rPr lang="en-US" smtClean="0"/>
              <a:pPr/>
              <a:t>128</a:t>
            </a:fld>
            <a:endParaRPr lang="en-US"/>
          </a:p>
        </p:txBody>
      </p:sp>
      <p:sp>
        <p:nvSpPr>
          <p:cNvPr id="144392" name="Text Box 8"/>
          <p:cNvSpPr txBox="1">
            <a:spLocks noChangeArrowheads="1"/>
          </p:cNvSpPr>
          <p:nvPr/>
        </p:nvSpPr>
        <p:spPr bwMode="auto">
          <a:xfrm>
            <a:off x="914400" y="4419600"/>
            <a:ext cx="76962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Any rocks containing K compounds will accumulate </a:t>
            </a:r>
            <a:r>
              <a:rPr lang="en-US" sz="28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Ar</a:t>
            </a:r>
            <a:r>
              <a:rPr lang="en-US" sz="28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 by the above process.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6" grpId="0"/>
      <p:bldP spid="144387" grpId="0" build="p"/>
      <p:bldP spid="144392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/>
              <a:t>Industrial uses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129</a:t>
            </a:fld>
            <a:endParaRPr lang="en-US"/>
          </a:p>
        </p:txBody>
      </p:sp>
      <p:sp>
        <p:nvSpPr>
          <p:cNvPr id="1474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295400"/>
            <a:ext cx="7772400" cy="4800600"/>
          </a:xfrm>
        </p:spPr>
        <p:txBody>
          <a:bodyPr/>
          <a:lstStyle/>
          <a:p>
            <a:r>
              <a:rPr lang="en-US"/>
              <a:t>The incorporation of a radioisotope of a meta into the piston rings of engines allows the accurate measurements of wear by friction.</a:t>
            </a:r>
          </a:p>
          <a:p>
            <a:r>
              <a:rPr lang="en-US"/>
              <a:t>The engine is run under test for a specified period and the amount of radioactivity in the lubricating oil determined.</a:t>
            </a:r>
          </a:p>
          <a:p>
            <a:r>
              <a:rPr lang="en-US"/>
              <a:t>This tests have been useful in the development of more efficient engine oils.</a:t>
            </a:r>
          </a:p>
          <a:p>
            <a:pPr>
              <a:buFontTx/>
              <a:buNone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7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8" grpId="0"/>
      <p:bldP spid="147459" grpId="0" build="p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130</a:t>
            </a:fld>
            <a:endParaRPr lang="en-US"/>
          </a:p>
        </p:txBody>
      </p:sp>
      <p:sp>
        <p:nvSpPr>
          <p:cNvPr id="1484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457200"/>
            <a:ext cx="7772400" cy="5638800"/>
          </a:xfrm>
        </p:spPr>
        <p:txBody>
          <a:bodyPr/>
          <a:lstStyle/>
          <a:p>
            <a:r>
              <a:rPr lang="en-US">
                <a:sym typeface="Symbol" pitchFamily="18" charset="2"/>
              </a:rPr>
              <a:t>-particle emitters can be used to measure the thickness of metal plate.</a:t>
            </a:r>
          </a:p>
          <a:p>
            <a:r>
              <a:rPr lang="en-US">
                <a:sym typeface="Symbol" pitchFamily="18" charset="2"/>
              </a:rPr>
              <a:t>The amount of radioactivity penetrating the metal being measured with a suitable detector which is calibrated in units of length.</a:t>
            </a:r>
          </a:p>
          <a:p>
            <a:endParaRPr lang="en-US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3" grpId="0" build="p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2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anchor="ctr"/>
          <a:lstStyle/>
          <a:p>
            <a:r>
              <a:rPr lang="en-US"/>
              <a:t>Detection of metal fatigue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131</a:t>
            </a:fld>
            <a:endParaRPr lang="en-US"/>
          </a:p>
        </p:txBody>
      </p:sp>
      <p:sp>
        <p:nvSpPr>
          <p:cNvPr id="155653" name="Rectangle 5"/>
          <p:cNvSpPr>
            <a:spLocks noGrp="1" noChangeArrowheads="1"/>
          </p:cNvSpPr>
          <p:nvPr>
            <p:ph sz="quarter" idx="1"/>
          </p:nvPr>
        </p:nvSpPr>
        <p:spPr>
          <a:noFill/>
          <a:ln/>
        </p:spPr>
        <p:txBody>
          <a:bodyPr/>
          <a:lstStyle/>
          <a:p>
            <a:r>
              <a:rPr lang="en-US" sz="2800"/>
              <a:t>There were many aircraft accidents were reported due to fatigue in metal surrounding the windows.</a:t>
            </a:r>
          </a:p>
          <a:p>
            <a:r>
              <a:rPr lang="en-US" sz="2800"/>
              <a:t>Checks for metal fatigue are now made regularly on air craft.</a:t>
            </a:r>
          </a:p>
          <a:p>
            <a:r>
              <a:rPr lang="en-US" sz="2800"/>
              <a:t>One way in which this is done is to use gamma rays from 60Co.</a:t>
            </a:r>
          </a:p>
          <a:p>
            <a:r>
              <a:rPr lang="en-US" sz="2800"/>
              <a:t>Where fatigue sets in the structure of the metal crystals changes.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1556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5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55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55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556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2" grpId="0" animBg="1"/>
      <p:bldP spid="155653" grpId="0" build="p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132</a:t>
            </a:fld>
            <a:endParaRPr lang="en-US"/>
          </a:p>
        </p:txBody>
      </p:sp>
      <p:sp>
        <p:nvSpPr>
          <p:cNvPr id="156676" name="Rectangle 4"/>
          <p:cNvSpPr>
            <a:spLocks noGrp="1" noChangeArrowheads="1"/>
          </p:cNvSpPr>
          <p:nvPr>
            <p:ph sz="quarter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>
                <a:sym typeface="Symbol" pitchFamily="18" charset="2"/>
              </a:rPr>
              <a:t>-rays do not pass equally well through both the good and bad areas.</a:t>
            </a:r>
          </a:p>
          <a:p>
            <a:pPr>
              <a:lnSpc>
                <a:spcPct val="90000"/>
              </a:lnSpc>
            </a:pPr>
            <a:r>
              <a:rPr lang="en-US" sz="2800">
                <a:sym typeface="Symbol" pitchFamily="18" charset="2"/>
              </a:rPr>
              <a:t>If the -rays fall on a photographic film after passing through the metal, any differences in structure show up.</a:t>
            </a:r>
          </a:p>
          <a:p>
            <a:pPr>
              <a:lnSpc>
                <a:spcPct val="90000"/>
              </a:lnSpc>
            </a:pPr>
            <a:r>
              <a:rPr lang="en-US" sz="2800">
                <a:sym typeface="Symbol" pitchFamily="18" charset="2"/>
              </a:rPr>
              <a:t>A similar technique can make use of neutrons rather than -rays.</a:t>
            </a:r>
          </a:p>
          <a:p>
            <a:pPr>
              <a:lnSpc>
                <a:spcPct val="90000"/>
              </a:lnSpc>
            </a:pPr>
            <a:r>
              <a:rPr lang="en-US" sz="2800">
                <a:sym typeface="Symbol" pitchFamily="18" charset="2"/>
              </a:rPr>
              <a:t>Note: tests for fatigue are essential in checking nuclear power stations.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156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2000"/>
                                        <p:tgtEl>
                                          <p:spTgt spid="156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2000"/>
                                        <p:tgtEl>
                                          <p:spTgt spid="156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2000"/>
                                        <p:tgtEl>
                                          <p:spTgt spid="156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6" grpId="0" build="p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Medical uses of radioactivity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133</a:t>
            </a:fld>
            <a:endParaRPr lang="en-US"/>
          </a:p>
        </p:txBody>
      </p:sp>
      <p:sp>
        <p:nvSpPr>
          <p:cNvPr id="1587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981200"/>
            <a:ext cx="7772400" cy="4419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The first use of radioactivity in medicine was the use of radium in the treatment of cancers.</a:t>
            </a:r>
          </a:p>
          <a:p>
            <a:pPr>
              <a:lnSpc>
                <a:spcPct val="90000"/>
              </a:lnSpc>
            </a:pPr>
            <a:r>
              <a:rPr lang="en-US"/>
              <a:t>Radiation is focused on the growth or tumour, and the energy that the particles carry is used to disrupt the malignant cells.</a:t>
            </a:r>
          </a:p>
          <a:p>
            <a:pPr>
              <a:lnSpc>
                <a:spcPct val="90000"/>
              </a:lnSpc>
            </a:pPr>
            <a:r>
              <a:rPr lang="en-US"/>
              <a:t>For example: sources for fast neutrons have been found to be very successful in treating cancers of the throat.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8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2" grpId="0"/>
      <p:bldP spid="158723" grpId="0" build="p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134</a:t>
            </a:fld>
            <a:endParaRPr 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533400"/>
            <a:ext cx="7772400" cy="5562600"/>
          </a:xfrm>
        </p:spPr>
        <p:txBody>
          <a:bodyPr/>
          <a:lstStyle/>
          <a:p>
            <a:r>
              <a:rPr lang="en-US"/>
              <a:t>However, it is vital that the radiation treatment is carried out with care.</a:t>
            </a:r>
          </a:p>
          <a:p>
            <a:r>
              <a:rPr lang="en-US"/>
              <a:t>Healthy tissue is just a liable to damage as that of the growth.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build="p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135</a:t>
            </a:fld>
            <a:endParaRPr lang="en-US"/>
          </a:p>
        </p:txBody>
      </p:sp>
      <p:sp>
        <p:nvSpPr>
          <p:cNvPr id="1433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381000"/>
            <a:ext cx="7772400" cy="5715000"/>
          </a:xfrm>
        </p:spPr>
        <p:txBody>
          <a:bodyPr/>
          <a:lstStyle/>
          <a:p>
            <a:r>
              <a:rPr lang="en-US"/>
              <a:t>Cobolt-60 , which is a </a:t>
            </a:r>
            <a:r>
              <a:rPr lang="en-US">
                <a:sym typeface="Symbol" pitchFamily="18" charset="2"/>
              </a:rPr>
              <a:t>-ray emitter has been used in carefully controlled situations to arrest the growth of cancerous cells.</a:t>
            </a:r>
          </a:p>
          <a:p>
            <a:r>
              <a:rPr lang="en-US">
                <a:sym typeface="Symbol" pitchFamily="18" charset="2"/>
              </a:rPr>
              <a:t>Abnormal circulation of the blood can be investigated by injecting the patient with a solution of NaCl, containing radioactive </a:t>
            </a:r>
            <a:r>
              <a:rPr lang="en-US" baseline="-25000">
                <a:sym typeface="Symbol" pitchFamily="18" charset="2"/>
              </a:rPr>
              <a:t>24</a:t>
            </a:r>
            <a:r>
              <a:rPr lang="en-US">
                <a:sym typeface="Symbol" pitchFamily="18" charset="2"/>
              </a:rPr>
              <a:t>Na.</a:t>
            </a:r>
          </a:p>
          <a:p>
            <a:r>
              <a:rPr lang="en-US">
                <a:sym typeface="Symbol" pitchFamily="18" charset="2"/>
              </a:rPr>
              <a:t>The radioactivity in the bloodstream can then be traced using a Geiger-Muller counter.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2000"/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2000"/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3" grpId="0" build="p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136</a:t>
            </a:fld>
            <a:endParaRPr lang="en-US"/>
          </a:p>
        </p:txBody>
      </p:sp>
      <p:sp>
        <p:nvSpPr>
          <p:cNvPr id="1607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304800"/>
            <a:ext cx="7772400" cy="5791200"/>
          </a:xfrm>
        </p:spPr>
        <p:txBody>
          <a:bodyPr/>
          <a:lstStyle/>
          <a:p>
            <a:r>
              <a:rPr lang="en-US"/>
              <a:t>Use isotopes as a way of studying the chemical reactions that take place in the body.</a:t>
            </a:r>
          </a:p>
          <a:p>
            <a:r>
              <a:rPr lang="en-US"/>
              <a:t>For example: iodine is an essential element for health.</a:t>
            </a:r>
          </a:p>
          <a:p>
            <a:r>
              <a:rPr lang="en-US"/>
              <a:t>Normally it collects in the thyroid gland in the neck.</a:t>
            </a:r>
          </a:p>
          <a:p>
            <a:r>
              <a:rPr lang="en-US"/>
              <a:t>A person suffering from a deficiency of iodine is liable to suffer from a huge growth in the neck.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build="p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137</a:t>
            </a:fld>
            <a:endParaRPr lang="en-US"/>
          </a:p>
        </p:txBody>
      </p:sp>
      <p:sp>
        <p:nvSpPr>
          <p:cNvPr id="1628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457200"/>
            <a:ext cx="7772400" cy="5867400"/>
          </a:xfrm>
        </p:spPr>
        <p:txBody>
          <a:bodyPr/>
          <a:lstStyle/>
          <a:p>
            <a:r>
              <a:rPr lang="en-US"/>
              <a:t>By feeding patient with radioactive iodine </a:t>
            </a:r>
            <a:r>
              <a:rPr lang="en-US" baseline="-25000"/>
              <a:t>131</a:t>
            </a:r>
            <a:r>
              <a:rPr lang="en-US"/>
              <a:t>I, it is possible to discover where the iodine collects in the body, or if it is not absorbed at all.</a:t>
            </a:r>
          </a:p>
          <a:p>
            <a:r>
              <a:rPr lang="en-US"/>
              <a:t>The presence of </a:t>
            </a:r>
            <a:r>
              <a:rPr lang="en-US" baseline="-25000"/>
              <a:t>131</a:t>
            </a:r>
            <a:r>
              <a:rPr lang="en-US"/>
              <a:t>I in the thyroid gland can be detected by a Geiger counter.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9" grpId="0" build="p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b="1">
                <a:solidFill>
                  <a:schemeClr val="accent2"/>
                </a:solidFill>
                <a:latin typeface="Comic Sans MS" pitchFamily="66" charset="0"/>
              </a:rPr>
              <a:t>Nuclear Medicine: Imaging</a:t>
            </a:r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138</a:t>
            </a:fld>
            <a:endParaRPr lang="en-US"/>
          </a:p>
        </p:txBody>
      </p:sp>
      <p:sp>
        <p:nvSpPr>
          <p:cNvPr id="161795" name="Line 3"/>
          <p:cNvSpPr>
            <a:spLocks noChangeShapeType="1"/>
          </p:cNvSpPr>
          <p:nvPr/>
        </p:nvSpPr>
        <p:spPr bwMode="auto">
          <a:xfrm>
            <a:off x="584200" y="1219200"/>
            <a:ext cx="7797800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6179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0" y="1576388"/>
            <a:ext cx="8496300" cy="3148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1797" name="Text Box 5"/>
          <p:cNvSpPr txBox="1">
            <a:spLocks noChangeArrowheads="1"/>
          </p:cNvSpPr>
          <p:nvPr/>
        </p:nvSpPr>
        <p:spPr bwMode="auto">
          <a:xfrm>
            <a:off x="1787525" y="4800600"/>
            <a:ext cx="55673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Thyroid imaging using Tc-99m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6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4" grpId="0"/>
      <p:bldP spid="161797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/>
              <a:t>Food preservations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139</a:t>
            </a:fld>
            <a:endParaRPr 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219200"/>
            <a:ext cx="7772400" cy="5257800"/>
          </a:xfrm>
        </p:spPr>
        <p:txBody>
          <a:bodyPr/>
          <a:lstStyle/>
          <a:p>
            <a:r>
              <a:rPr lang="en-US" sz="2800">
                <a:sym typeface="Symbol" pitchFamily="18" charset="2"/>
              </a:rPr>
              <a:t>-rays are especially good at passing through matter and very energetic.</a:t>
            </a:r>
          </a:p>
          <a:p>
            <a:r>
              <a:rPr lang="en-US" sz="2800">
                <a:sym typeface="Symbol" pitchFamily="18" charset="2"/>
              </a:rPr>
              <a:t>These properties of -rays have been used in food preservations.</a:t>
            </a:r>
          </a:p>
          <a:p>
            <a:r>
              <a:rPr lang="en-US" sz="2800">
                <a:sym typeface="Symbol" pitchFamily="18" charset="2"/>
              </a:rPr>
              <a:t>If foodstuffs are irradiated by a beam of -rays, bacteria that may be present are killed.</a:t>
            </a:r>
          </a:p>
          <a:p>
            <a:r>
              <a:rPr lang="en-US" sz="2800">
                <a:sym typeface="Symbol" pitchFamily="18" charset="2"/>
              </a:rPr>
              <a:t>Note: however, there has been many concern about use of -rays . </a:t>
            </a:r>
          </a:p>
          <a:p>
            <a:r>
              <a:rPr lang="en-US" sz="2800">
                <a:sym typeface="Symbol" pitchFamily="18" charset="2"/>
              </a:rPr>
              <a:t>Many people are worried in case the foodstuff itself is changed by the -rays  and that may be dangerous to eat.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2000" fill="hold"/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8" grpId="0"/>
      <p:bldP spid="157699" grpId="0" build="p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2706688" y="541338"/>
            <a:ext cx="5253037" cy="701675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b="1">
                <a:solidFill>
                  <a:srgbClr val="FF0000"/>
                </a:solidFill>
                <a:latin typeface="Comic Sans MS" pitchFamily="66" charset="0"/>
              </a:rPr>
              <a:t>Food Irradiation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140</a:t>
            </a:fld>
            <a:endParaRPr lang="en-US"/>
          </a:p>
        </p:txBody>
      </p:sp>
      <p:sp>
        <p:nvSpPr>
          <p:cNvPr id="75779" name="Text Box 3"/>
          <p:cNvSpPr txBox="1">
            <a:spLocks noChangeArrowheads="1"/>
          </p:cNvSpPr>
          <p:nvPr/>
        </p:nvSpPr>
        <p:spPr bwMode="auto">
          <a:xfrm>
            <a:off x="685800" y="2743200"/>
            <a:ext cx="7772400" cy="388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  <a:buFontTx/>
              <a:buChar char="•"/>
            </a:pPr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Food can be irradiated with </a:t>
            </a:r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g</a:t>
            </a:r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 rays from </a:t>
            </a:r>
            <a:r>
              <a:rPr lang="en-US" altLang="en-US" sz="3200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60</a:t>
            </a:r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Co or </a:t>
            </a:r>
            <a:r>
              <a:rPr lang="en-US" altLang="en-US" sz="3200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137</a:t>
            </a:r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Cs.</a:t>
            </a:r>
          </a:p>
          <a:p>
            <a:pPr>
              <a:lnSpc>
                <a:spcPct val="115000"/>
              </a:lnSpc>
              <a:buFontTx/>
              <a:buChar char="•"/>
            </a:pPr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Irradiated milk has a shelf life of 3 mo. without refrigeration.</a:t>
            </a:r>
          </a:p>
          <a:p>
            <a:pPr>
              <a:lnSpc>
                <a:spcPct val="115000"/>
              </a:lnSpc>
              <a:buFontTx/>
              <a:buChar char="•"/>
            </a:pPr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USDA has approved irradiation of meats and eggs.</a:t>
            </a:r>
            <a:endParaRPr lang="en-US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Times"/>
            </a:endParaRPr>
          </a:p>
          <a:p>
            <a:pPr>
              <a:buFontTx/>
              <a:buChar char="•"/>
            </a:pPr>
            <a:endParaRPr lang="en-US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Times"/>
            </a:endParaRPr>
          </a:p>
        </p:txBody>
      </p:sp>
      <p:pic>
        <p:nvPicPr>
          <p:cNvPr id="7578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81000"/>
            <a:ext cx="2374900" cy="219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build="p" autoUpdateAnimBg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3778250" y="87313"/>
            <a:ext cx="19954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The Nucleus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42963" y="617538"/>
            <a:ext cx="5530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宋体" pitchFamily="2" charset="-122"/>
              </a:rPr>
              <a:t>The atomic nucleus consists of protons and neutrons</a:t>
            </a:r>
          </a:p>
        </p:txBody>
      </p:sp>
      <p:pic>
        <p:nvPicPr>
          <p:cNvPr id="17412" name="Picture 4" descr="nucleu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50038" y="428625"/>
            <a:ext cx="754062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852488" y="1038225"/>
            <a:ext cx="539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宋体" pitchFamily="2" charset="-122"/>
              </a:rPr>
              <a:t>Protons and neutrons are generally called nucleons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858838" y="1627188"/>
            <a:ext cx="4333875" cy="1357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>
                <a:ea typeface="宋体" pitchFamily="2" charset="-122"/>
              </a:rPr>
              <a:t>A nucleus is characterized by: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zh-CN">
                <a:ea typeface="宋体" pitchFamily="2" charset="-122"/>
              </a:rPr>
              <a:t> </a:t>
            </a:r>
            <a:r>
              <a:rPr lang="en-US" altLang="zh-CN" i="1">
                <a:ea typeface="宋体" pitchFamily="2" charset="-122"/>
              </a:rPr>
              <a:t>A</a:t>
            </a:r>
            <a:r>
              <a:rPr lang="en-US" altLang="zh-CN">
                <a:ea typeface="宋体" pitchFamily="2" charset="-122"/>
              </a:rPr>
              <a:t>: Mass Number = number of nucleons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zh-CN">
                <a:ea typeface="宋体" pitchFamily="2" charset="-122"/>
              </a:rPr>
              <a:t> </a:t>
            </a:r>
            <a:r>
              <a:rPr lang="en-US" altLang="zh-CN" i="1">
                <a:ea typeface="宋体" pitchFamily="2" charset="-122"/>
              </a:rPr>
              <a:t>Z</a:t>
            </a:r>
            <a:r>
              <a:rPr lang="en-US" altLang="zh-CN">
                <a:ea typeface="宋体" pitchFamily="2" charset="-122"/>
              </a:rPr>
              <a:t>: Charge Number = number of protons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zh-CN">
                <a:ea typeface="宋体" pitchFamily="2" charset="-122"/>
              </a:rPr>
              <a:t> </a:t>
            </a:r>
            <a:r>
              <a:rPr lang="en-US" altLang="zh-CN" i="1">
                <a:ea typeface="宋体" pitchFamily="2" charset="-122"/>
              </a:rPr>
              <a:t>N</a:t>
            </a:r>
            <a:r>
              <a:rPr lang="en-US" altLang="zh-CN">
                <a:ea typeface="宋体" pitchFamily="2" charset="-122"/>
              </a:rPr>
              <a:t>: Neutron Number</a:t>
            </a: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858838" y="3146425"/>
            <a:ext cx="1962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>
                <a:ea typeface="宋体" pitchFamily="2" charset="-122"/>
              </a:rPr>
              <a:t>Of course </a:t>
            </a:r>
            <a:r>
              <a:rPr lang="en-US" altLang="zh-CN" i="1">
                <a:ea typeface="宋体" pitchFamily="2" charset="-122"/>
              </a:rPr>
              <a:t>A=Z+N</a:t>
            </a:r>
          </a:p>
        </p:txBody>
      </p:sp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5421313" y="2286000"/>
            <a:ext cx="2635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>
                <a:ea typeface="宋体" pitchFamily="2" charset="-122"/>
              </a:rPr>
              <a:t>Determines the Element</a:t>
            </a:r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3298825" y="2592388"/>
            <a:ext cx="2546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>
                <a:ea typeface="宋体" pitchFamily="2" charset="-122"/>
              </a:rPr>
              <a:t>Determines the Isotope</a:t>
            </a:r>
          </a:p>
        </p:txBody>
      </p:sp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876300" y="3752850"/>
            <a:ext cx="1771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宋体" pitchFamily="2" charset="-122"/>
              </a:rPr>
              <a:t>Usual notation: </a:t>
            </a:r>
          </a:p>
        </p:txBody>
      </p:sp>
      <p:sp>
        <p:nvSpPr>
          <p:cNvPr id="17419" name="Text Box 11"/>
          <p:cNvSpPr txBox="1">
            <a:spLocks noChangeArrowheads="1"/>
          </p:cNvSpPr>
          <p:nvPr/>
        </p:nvSpPr>
        <p:spPr bwMode="auto">
          <a:xfrm>
            <a:off x="4159250" y="4432300"/>
            <a:ext cx="8556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600" b="1" baseline="30000">
                <a:solidFill>
                  <a:schemeClr val="accent2"/>
                </a:solidFill>
                <a:ea typeface="宋体" pitchFamily="2" charset="-122"/>
              </a:rPr>
              <a:t>12</a:t>
            </a:r>
            <a:r>
              <a:rPr lang="en-US" altLang="zh-CN" sz="3600" b="1">
                <a:solidFill>
                  <a:srgbClr val="FF6600"/>
                </a:solidFill>
                <a:ea typeface="宋体" pitchFamily="2" charset="-122"/>
              </a:rPr>
              <a:t>C</a:t>
            </a:r>
          </a:p>
        </p:txBody>
      </p:sp>
      <p:sp>
        <p:nvSpPr>
          <p:cNvPr id="17420" name="Text Box 12"/>
          <p:cNvSpPr txBox="1">
            <a:spLocks noChangeArrowheads="1"/>
          </p:cNvSpPr>
          <p:nvPr/>
        </p:nvSpPr>
        <p:spPr bwMode="auto">
          <a:xfrm>
            <a:off x="2838450" y="5140325"/>
            <a:ext cx="50482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6600"/>
                </a:solidFill>
                <a:ea typeface="宋体" pitchFamily="2" charset="-122"/>
              </a:rPr>
              <a:t>Element symbol – defined by charge number</a:t>
            </a:r>
            <a:br>
              <a:rPr lang="en-US" altLang="zh-CN" b="1">
                <a:solidFill>
                  <a:srgbClr val="FF6600"/>
                </a:solidFill>
                <a:ea typeface="宋体" pitchFamily="2" charset="-122"/>
              </a:rPr>
            </a:br>
            <a:r>
              <a:rPr lang="en-US" altLang="zh-CN" b="1">
                <a:solidFill>
                  <a:srgbClr val="FF6600"/>
                </a:solidFill>
                <a:ea typeface="宋体" pitchFamily="2" charset="-122"/>
              </a:rPr>
              <a:t>C is Carbon and </a:t>
            </a:r>
            <a:r>
              <a:rPr lang="en-US" altLang="zh-CN" b="1" i="1">
                <a:solidFill>
                  <a:srgbClr val="FF6600"/>
                </a:solidFill>
                <a:ea typeface="宋体" pitchFamily="2" charset="-122"/>
              </a:rPr>
              <a:t>Z </a:t>
            </a:r>
            <a:r>
              <a:rPr lang="en-US" altLang="zh-CN" b="1">
                <a:solidFill>
                  <a:srgbClr val="FF6600"/>
                </a:solidFill>
                <a:ea typeface="宋体" pitchFamily="2" charset="-122"/>
              </a:rPr>
              <a:t>= 6</a:t>
            </a:r>
          </a:p>
        </p:txBody>
      </p:sp>
      <p:sp>
        <p:nvSpPr>
          <p:cNvPr id="17421" name="Text Box 13"/>
          <p:cNvSpPr txBox="1">
            <a:spLocks noChangeArrowheads="1"/>
          </p:cNvSpPr>
          <p:nvPr/>
        </p:nvSpPr>
        <p:spPr bwMode="auto">
          <a:xfrm>
            <a:off x="2195513" y="4225925"/>
            <a:ext cx="1885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accent2"/>
                </a:solidFill>
                <a:ea typeface="宋体" pitchFamily="2" charset="-122"/>
              </a:rPr>
              <a:t>Mass number </a:t>
            </a:r>
            <a:r>
              <a:rPr lang="en-US" altLang="zh-CN" b="1" i="1">
                <a:solidFill>
                  <a:schemeClr val="accent2"/>
                </a:solidFill>
                <a:ea typeface="宋体" pitchFamily="2" charset="-122"/>
              </a:rPr>
              <a:t>A</a:t>
            </a:r>
          </a:p>
        </p:txBody>
      </p:sp>
      <p:sp>
        <p:nvSpPr>
          <p:cNvPr id="17422" name="Line 14"/>
          <p:cNvSpPr>
            <a:spLocks noChangeShapeType="1"/>
          </p:cNvSpPr>
          <p:nvPr/>
        </p:nvSpPr>
        <p:spPr bwMode="auto">
          <a:xfrm>
            <a:off x="4787900" y="4883150"/>
            <a:ext cx="80963" cy="309563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 flipH="1" flipV="1">
            <a:off x="3684588" y="4519613"/>
            <a:ext cx="511175" cy="134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4" name="Text Box 16"/>
          <p:cNvSpPr txBox="1">
            <a:spLocks noChangeArrowheads="1"/>
          </p:cNvSpPr>
          <p:nvPr/>
        </p:nvSpPr>
        <p:spPr bwMode="auto">
          <a:xfrm>
            <a:off x="1562100" y="6037263"/>
            <a:ext cx="545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宋体" pitchFamily="2" charset="-122"/>
              </a:rPr>
              <a:t>So this nucleus is made of 6 protons and 6 neutrons</a:t>
            </a:r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141</a:t>
            </a:fld>
            <a:endParaRPr lang="en-US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Mass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142</a:t>
            </a:fld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79388" y="1600200"/>
            <a:ext cx="8640762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ea typeface="宋体" pitchFamily="2" charset="-122"/>
              </a:rPr>
              <a:t>Nuclear and atomic masses often given in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smtClean="0">
                <a:ea typeface="宋体" pitchFamily="2" charset="-122"/>
              </a:rPr>
              <a:t>   </a:t>
            </a:r>
            <a:r>
              <a:rPr lang="en-US" altLang="zh-CN" sz="2800" i="1" smtClean="0">
                <a:ea typeface="宋体" pitchFamily="2" charset="-122"/>
              </a:rPr>
              <a:t>u</a:t>
            </a:r>
            <a:r>
              <a:rPr lang="en-US" altLang="zh-CN" sz="2800" smtClean="0">
                <a:ea typeface="宋体" pitchFamily="2" charset="-122"/>
              </a:rPr>
              <a:t>: atomic mass unit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ea typeface="宋体" pitchFamily="2" charset="-122"/>
              </a:rPr>
              <a:t>12.000 </a:t>
            </a:r>
            <a:r>
              <a:rPr lang="en-US" altLang="zh-CN" sz="2800" i="1" smtClean="0">
                <a:ea typeface="宋体" pitchFamily="2" charset="-122"/>
              </a:rPr>
              <a:t>u</a:t>
            </a:r>
            <a:r>
              <a:rPr lang="en-US" altLang="zh-CN" sz="2800" smtClean="0">
                <a:ea typeface="宋体" pitchFamily="2" charset="-122"/>
              </a:rPr>
              <a:t> = 12 daltons mass of a neutral </a:t>
            </a:r>
            <a:r>
              <a:rPr lang="en-US" altLang="zh-CN" sz="2800" baseline="30000" smtClean="0">
                <a:ea typeface="宋体" pitchFamily="2" charset="-122"/>
              </a:rPr>
              <a:t>12</a:t>
            </a:r>
            <a:r>
              <a:rPr lang="en-US" altLang="zh-CN" sz="2800" smtClean="0">
                <a:ea typeface="宋体" pitchFamily="2" charset="-122"/>
              </a:rPr>
              <a:t>C atom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ea typeface="宋体" pitchFamily="2" charset="-122"/>
              </a:rPr>
              <a:t>1 </a:t>
            </a:r>
            <a:r>
              <a:rPr lang="en-US" altLang="zh-CN" sz="2800" i="1" smtClean="0">
                <a:ea typeface="宋体" pitchFamily="2" charset="-122"/>
              </a:rPr>
              <a:t>u</a:t>
            </a:r>
            <a:r>
              <a:rPr lang="en-US" altLang="zh-CN" sz="2800" smtClean="0">
                <a:ea typeface="宋体" pitchFamily="2" charset="-122"/>
              </a:rPr>
              <a:t> = 1.6605 x 10</a:t>
            </a:r>
            <a:r>
              <a:rPr lang="en-US" altLang="zh-CN" sz="2800" baseline="30000" smtClean="0">
                <a:ea typeface="宋体" pitchFamily="2" charset="-122"/>
              </a:rPr>
              <a:t>-27</a:t>
            </a:r>
            <a:r>
              <a:rPr lang="en-US" altLang="zh-CN" sz="2800" smtClean="0">
                <a:ea typeface="宋体" pitchFamily="2" charset="-122"/>
              </a:rPr>
              <a:t> kg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ea typeface="宋体" pitchFamily="2" charset="-122"/>
              </a:rPr>
              <a:t>Mass and energy are interchangeable –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smtClean="0">
                <a:ea typeface="宋体" pitchFamily="2" charset="-122"/>
              </a:rPr>
              <a:t>	</a:t>
            </a:r>
            <a:r>
              <a:rPr lang="en-US" altLang="zh-CN" sz="2800" i="1" smtClean="0">
                <a:ea typeface="宋体" pitchFamily="2" charset="-122"/>
              </a:rPr>
              <a:t>E</a:t>
            </a:r>
            <a:r>
              <a:rPr lang="en-US" altLang="zh-CN" sz="2800" smtClean="0">
                <a:ea typeface="宋体" pitchFamily="2" charset="-122"/>
              </a:rPr>
              <a:t> = </a:t>
            </a:r>
            <a:r>
              <a:rPr lang="en-US" altLang="zh-CN" sz="2800" i="1" smtClean="0">
                <a:ea typeface="宋体" pitchFamily="2" charset="-122"/>
              </a:rPr>
              <a:t>mc</a:t>
            </a:r>
            <a:r>
              <a:rPr lang="en-US" altLang="zh-CN" sz="2800" baseline="30000" smtClean="0">
                <a:ea typeface="宋体" pitchFamily="2" charset="-122"/>
              </a:rPr>
              <a:t>2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smtClean="0">
                <a:ea typeface="宋体" pitchFamily="2" charset="-122"/>
              </a:rPr>
              <a:t>   where energy usually expressed in MeV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ea typeface="宋体" pitchFamily="2" charset="-122"/>
              </a:rPr>
              <a:t>	1 MeV = 1.602 x 10</a:t>
            </a:r>
            <a:r>
              <a:rPr lang="en-US" altLang="zh-CN" sz="2800" baseline="30000" smtClean="0">
                <a:ea typeface="宋体" pitchFamily="2" charset="-122"/>
              </a:rPr>
              <a:t>-13</a:t>
            </a:r>
            <a:r>
              <a:rPr lang="en-US" altLang="zh-CN" sz="2800" smtClean="0">
                <a:ea typeface="宋体" pitchFamily="2" charset="-122"/>
              </a:rPr>
              <a:t> J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ea typeface="宋体" pitchFamily="2" charset="-122"/>
              </a:rPr>
              <a:t>	1 </a:t>
            </a:r>
            <a:r>
              <a:rPr lang="en-US" altLang="zh-CN" sz="2800" i="1" smtClean="0">
                <a:ea typeface="宋体" pitchFamily="2" charset="-122"/>
              </a:rPr>
              <a:t>u</a:t>
            </a:r>
            <a:r>
              <a:rPr lang="en-US" altLang="zh-CN" sz="2800" smtClean="0">
                <a:ea typeface="宋体" pitchFamily="2" charset="-122"/>
              </a:rPr>
              <a:t> = 931.5 MeV/c</a:t>
            </a:r>
            <a:r>
              <a:rPr lang="en-US" altLang="zh-CN" sz="2800" baseline="30000" smtClean="0">
                <a:ea typeface="宋体" pitchFamily="2" charset="-122"/>
              </a:rPr>
              <a:t>2</a:t>
            </a:r>
          </a:p>
          <a:p>
            <a:pPr eaLnBrk="1" hangingPunct="1">
              <a:lnSpc>
                <a:spcPct val="90000"/>
              </a:lnSpc>
            </a:pPr>
            <a:endParaRPr lang="zh-CN" altLang="en-US" sz="2800" smtClean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Text Box 4"/>
          <p:cNvSpPr txBox="1">
            <a:spLocks noChangeArrowheads="1"/>
          </p:cNvSpPr>
          <p:nvPr/>
        </p:nvSpPr>
        <p:spPr bwMode="auto">
          <a:xfrm>
            <a:off x="827088" y="306388"/>
            <a:ext cx="7123112" cy="155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b="1">
                <a:solidFill>
                  <a:srgbClr val="CC0000"/>
                </a:solidFill>
                <a:ea typeface="宋体" pitchFamily="2" charset="-122"/>
              </a:rPr>
              <a:t>Isotopes</a:t>
            </a:r>
            <a:r>
              <a:rPr lang="en-US" altLang="zh-CN" sz="1600" b="1">
                <a:ea typeface="宋体" pitchFamily="2" charset="-122"/>
              </a:rPr>
              <a:t>: same </a:t>
            </a:r>
            <a:r>
              <a:rPr lang="en-US" altLang="zh-CN" sz="1600" b="1" i="1">
                <a:ea typeface="宋体" pitchFamily="2" charset="-122"/>
              </a:rPr>
              <a:t>Z</a:t>
            </a:r>
            <a:r>
              <a:rPr lang="en-US" altLang="zh-CN" sz="1600" b="1">
                <a:ea typeface="宋体" pitchFamily="2" charset="-122"/>
              </a:rPr>
              <a:t>  </a:t>
            </a:r>
            <a:r>
              <a:rPr lang="en-US" altLang="zh-CN" sz="1600" b="1" baseline="30000">
                <a:ea typeface="宋体" pitchFamily="2" charset="-122"/>
              </a:rPr>
              <a:t>40</a:t>
            </a:r>
            <a:r>
              <a:rPr lang="en-US" altLang="zh-CN" sz="1600" b="1">
                <a:ea typeface="宋体" pitchFamily="2" charset="-122"/>
              </a:rPr>
              <a:t>Ca, </a:t>
            </a:r>
            <a:r>
              <a:rPr lang="en-US" altLang="zh-CN" sz="1600" b="1" baseline="30000">
                <a:ea typeface="宋体" pitchFamily="2" charset="-122"/>
              </a:rPr>
              <a:t>42</a:t>
            </a:r>
            <a:r>
              <a:rPr lang="en-US" altLang="zh-CN" sz="1600" b="1">
                <a:ea typeface="宋体" pitchFamily="2" charset="-122"/>
              </a:rPr>
              <a:t>Ca, </a:t>
            </a:r>
            <a:r>
              <a:rPr lang="en-US" altLang="zh-CN" sz="1600" b="1" baseline="30000">
                <a:ea typeface="宋体" pitchFamily="2" charset="-122"/>
              </a:rPr>
              <a:t>44</a:t>
            </a:r>
            <a:r>
              <a:rPr lang="en-US" altLang="zh-CN" sz="1600" b="1">
                <a:ea typeface="宋体" pitchFamily="2" charset="-122"/>
              </a:rPr>
              <a:t>Ca</a:t>
            </a:r>
          </a:p>
          <a:p>
            <a:r>
              <a:rPr lang="en-US" altLang="zh-CN" sz="1600" b="1">
                <a:ea typeface="宋体" pitchFamily="2" charset="-122"/>
              </a:rPr>
              <a:t>often, ‘isotope’ used instead of ‘nuclide’</a:t>
            </a:r>
          </a:p>
          <a:p>
            <a:r>
              <a:rPr lang="en-US" altLang="zh-CN" sz="1600" b="1">
                <a:ea typeface="宋体" pitchFamily="2" charset="-122"/>
              </a:rPr>
              <a:t>isotopes have same </a:t>
            </a:r>
            <a:r>
              <a:rPr lang="en-US" altLang="zh-CN" sz="1600" b="1" i="1">
                <a:ea typeface="宋体" pitchFamily="2" charset="-122"/>
              </a:rPr>
              <a:t>Z</a:t>
            </a:r>
            <a:r>
              <a:rPr lang="en-US" altLang="zh-CN" sz="1600" b="1">
                <a:ea typeface="宋体" pitchFamily="2" charset="-122"/>
              </a:rPr>
              <a:t>, so same number of electrons =&gt; same chemistry</a:t>
            </a:r>
          </a:p>
          <a:p>
            <a:r>
              <a:rPr lang="en-US" altLang="zh-CN" sz="1600" b="1">
                <a:ea typeface="宋体" pitchFamily="2" charset="-122"/>
              </a:rPr>
              <a:t>	use radioactive isotope in place of stable one – can monitor</a:t>
            </a:r>
          </a:p>
          <a:p>
            <a:r>
              <a:rPr lang="en-US" altLang="zh-CN" sz="1600" b="1">
                <a:ea typeface="宋体" pitchFamily="2" charset="-122"/>
              </a:rPr>
              <a:t>		decay for tracer studies</a:t>
            </a:r>
          </a:p>
          <a:p>
            <a:endParaRPr lang="zh-CN" altLang="en-US" sz="1600" b="1">
              <a:ea typeface="宋体" pitchFamily="2" charset="-122"/>
            </a:endParaRPr>
          </a:p>
        </p:txBody>
      </p:sp>
      <p:sp>
        <p:nvSpPr>
          <p:cNvPr id="1036" name="Text Box 7"/>
          <p:cNvSpPr txBox="1">
            <a:spLocks noChangeArrowheads="1"/>
          </p:cNvSpPr>
          <p:nvPr/>
        </p:nvSpPr>
        <p:spPr bwMode="auto">
          <a:xfrm>
            <a:off x="830263" y="1741488"/>
            <a:ext cx="4943475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b="1">
                <a:solidFill>
                  <a:srgbClr val="CC0000"/>
                </a:solidFill>
                <a:ea typeface="宋体" pitchFamily="2" charset="-122"/>
              </a:rPr>
              <a:t>Isotones</a:t>
            </a:r>
            <a:r>
              <a:rPr lang="en-US" altLang="zh-CN" sz="1600" b="1">
                <a:ea typeface="宋体" pitchFamily="2" charset="-122"/>
              </a:rPr>
              <a:t>: same </a:t>
            </a:r>
            <a:r>
              <a:rPr lang="en-US" altLang="zh-CN" sz="1600" b="1" i="1">
                <a:ea typeface="宋体" pitchFamily="2" charset="-122"/>
              </a:rPr>
              <a:t>N</a:t>
            </a:r>
            <a:r>
              <a:rPr lang="en-US" altLang="zh-CN" sz="1600" b="1">
                <a:ea typeface="宋体" pitchFamily="2" charset="-122"/>
              </a:rPr>
              <a:t> </a:t>
            </a:r>
            <a:r>
              <a:rPr lang="en-US" altLang="zh-CN" sz="1600" b="1" baseline="30000">
                <a:ea typeface="宋体" pitchFamily="2" charset="-122"/>
              </a:rPr>
              <a:t>40</a:t>
            </a:r>
            <a:r>
              <a:rPr lang="en-US" altLang="zh-CN" sz="1600" b="1">
                <a:ea typeface="宋体" pitchFamily="2" charset="-122"/>
              </a:rPr>
              <a:t>Ca, </a:t>
            </a:r>
            <a:r>
              <a:rPr lang="en-US" altLang="zh-CN" sz="1600" b="1" baseline="30000">
                <a:ea typeface="宋体" pitchFamily="2" charset="-122"/>
              </a:rPr>
              <a:t>42</a:t>
            </a:r>
            <a:r>
              <a:rPr lang="en-US" altLang="zh-CN" sz="1600" b="1">
                <a:ea typeface="宋体" pitchFamily="2" charset="-122"/>
              </a:rPr>
              <a:t>Ti, </a:t>
            </a:r>
            <a:r>
              <a:rPr lang="en-US" altLang="zh-CN" sz="1600" b="1" baseline="30000">
                <a:ea typeface="宋体" pitchFamily="2" charset="-122"/>
              </a:rPr>
              <a:t>44</a:t>
            </a:r>
            <a:r>
              <a:rPr lang="en-US" altLang="zh-CN" sz="1600" b="1">
                <a:ea typeface="宋体" pitchFamily="2" charset="-122"/>
              </a:rPr>
              <a:t>Cr </a:t>
            </a:r>
          </a:p>
          <a:p>
            <a:endParaRPr lang="en-US" altLang="zh-CN" sz="1600" b="1">
              <a:ea typeface="宋体" pitchFamily="2" charset="-122"/>
            </a:endParaRPr>
          </a:p>
          <a:p>
            <a:r>
              <a:rPr lang="en-US" altLang="zh-CN" sz="1600" b="1">
                <a:solidFill>
                  <a:srgbClr val="CC0000"/>
                </a:solidFill>
                <a:ea typeface="宋体" pitchFamily="2" charset="-122"/>
              </a:rPr>
              <a:t>Isobars</a:t>
            </a:r>
            <a:r>
              <a:rPr lang="en-US" altLang="zh-CN" sz="1600" b="1">
                <a:ea typeface="宋体" pitchFamily="2" charset="-122"/>
              </a:rPr>
              <a:t>: same </a:t>
            </a:r>
            <a:r>
              <a:rPr lang="en-US" altLang="zh-CN" sz="1600" b="1" i="1">
                <a:ea typeface="宋体" pitchFamily="2" charset="-122"/>
              </a:rPr>
              <a:t>A</a:t>
            </a:r>
            <a:r>
              <a:rPr lang="en-US" altLang="zh-CN" sz="1600" b="1">
                <a:ea typeface="宋体" pitchFamily="2" charset="-122"/>
              </a:rPr>
              <a:t> </a:t>
            </a:r>
            <a:r>
              <a:rPr lang="en-US" altLang="zh-CN" sz="1600" b="1" baseline="30000">
                <a:ea typeface="宋体" pitchFamily="2" charset="-122"/>
              </a:rPr>
              <a:t>42</a:t>
            </a:r>
            <a:r>
              <a:rPr lang="en-US" altLang="zh-CN" sz="1600" b="1">
                <a:ea typeface="宋体" pitchFamily="2" charset="-122"/>
              </a:rPr>
              <a:t>Ca, </a:t>
            </a:r>
            <a:r>
              <a:rPr lang="en-US" altLang="zh-CN" sz="1600" b="1" baseline="30000">
                <a:ea typeface="宋体" pitchFamily="2" charset="-122"/>
              </a:rPr>
              <a:t>42</a:t>
            </a:r>
            <a:r>
              <a:rPr lang="en-US" altLang="zh-CN" sz="1600" b="1">
                <a:ea typeface="宋体" pitchFamily="2" charset="-122"/>
              </a:rPr>
              <a:t>Ti, </a:t>
            </a:r>
            <a:r>
              <a:rPr lang="en-US" altLang="zh-CN" sz="1600" b="1" baseline="30000">
                <a:ea typeface="宋体" pitchFamily="2" charset="-122"/>
              </a:rPr>
              <a:t>42</a:t>
            </a:r>
            <a:r>
              <a:rPr lang="en-US" altLang="zh-CN" sz="1600" b="1">
                <a:ea typeface="宋体" pitchFamily="2" charset="-122"/>
              </a:rPr>
              <a:t>Cr</a:t>
            </a:r>
          </a:p>
          <a:p>
            <a:endParaRPr lang="en-US" altLang="zh-CN" sz="1600" b="1">
              <a:ea typeface="宋体" pitchFamily="2" charset="-122"/>
            </a:endParaRPr>
          </a:p>
          <a:p>
            <a:r>
              <a:rPr lang="en-US" altLang="zh-CN" sz="1600" b="1">
                <a:solidFill>
                  <a:srgbClr val="CC0000"/>
                </a:solidFill>
                <a:ea typeface="宋体" pitchFamily="2" charset="-122"/>
              </a:rPr>
              <a:t>Isodiaphors</a:t>
            </a:r>
            <a:r>
              <a:rPr lang="en-US" altLang="zh-CN" sz="1600" b="1">
                <a:ea typeface="宋体" pitchFamily="2" charset="-122"/>
              </a:rPr>
              <a:t>: same neutron excess </a:t>
            </a:r>
            <a:r>
              <a:rPr lang="en-US" altLang="zh-CN" sz="1600" b="1" baseline="30000">
                <a:ea typeface="宋体" pitchFamily="2" charset="-122"/>
              </a:rPr>
              <a:t>42</a:t>
            </a:r>
            <a:r>
              <a:rPr lang="en-US" altLang="zh-CN" sz="1600" b="1">
                <a:ea typeface="宋体" pitchFamily="2" charset="-122"/>
              </a:rPr>
              <a:t>Ca, </a:t>
            </a:r>
            <a:r>
              <a:rPr lang="en-US" altLang="zh-CN" sz="1600" b="1" baseline="30000">
                <a:ea typeface="宋体" pitchFamily="2" charset="-122"/>
              </a:rPr>
              <a:t>46</a:t>
            </a:r>
            <a:r>
              <a:rPr lang="en-US" altLang="zh-CN" sz="1600" b="1">
                <a:ea typeface="宋体" pitchFamily="2" charset="-122"/>
              </a:rPr>
              <a:t>Ti, </a:t>
            </a:r>
            <a:r>
              <a:rPr lang="en-US" altLang="zh-CN" sz="1600" b="1" baseline="30000">
                <a:ea typeface="宋体" pitchFamily="2" charset="-122"/>
              </a:rPr>
              <a:t>50</a:t>
            </a:r>
            <a:r>
              <a:rPr lang="en-US" altLang="zh-CN" sz="1600" b="1">
                <a:ea typeface="宋体" pitchFamily="2" charset="-122"/>
              </a:rPr>
              <a:t>Cr</a:t>
            </a:r>
          </a:p>
        </p:txBody>
      </p:sp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2195513" y="3214688"/>
            <a:ext cx="5113337" cy="3527425"/>
            <a:chOff x="1098" y="2192"/>
            <a:chExt cx="2650" cy="1488"/>
          </a:xfrm>
        </p:grpSpPr>
        <p:sp>
          <p:nvSpPr>
            <p:cNvPr id="1038" name="Text Box 11"/>
            <p:cNvSpPr txBox="1">
              <a:spLocks noChangeArrowheads="1"/>
            </p:cNvSpPr>
            <p:nvPr/>
          </p:nvSpPr>
          <p:spPr bwMode="auto">
            <a:xfrm>
              <a:off x="1204" y="3465"/>
              <a:ext cx="96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 altLang="zh-CN" sz="1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39" name="AutoShape 13"/>
            <p:cNvSpPr>
              <a:spLocks noChangeAspect="1" noChangeArrowheads="1"/>
            </p:cNvSpPr>
            <p:nvPr/>
          </p:nvSpPr>
          <p:spPr bwMode="auto">
            <a:xfrm>
              <a:off x="1732" y="2192"/>
              <a:ext cx="1890" cy="1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0" name="AutoShape 14"/>
            <p:cNvSpPr>
              <a:spLocks noChangeAspect="1" noChangeArrowheads="1" noTextEdit="1"/>
            </p:cNvSpPr>
            <p:nvPr/>
          </p:nvSpPr>
          <p:spPr bwMode="auto">
            <a:xfrm>
              <a:off x="1732" y="2192"/>
              <a:ext cx="1893" cy="1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1" name="Line 15"/>
            <p:cNvSpPr>
              <a:spLocks noChangeShapeType="1"/>
            </p:cNvSpPr>
            <p:nvPr/>
          </p:nvSpPr>
          <p:spPr bwMode="auto">
            <a:xfrm>
              <a:off x="1780" y="2313"/>
              <a:ext cx="1200" cy="8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2" name="Line 16"/>
            <p:cNvSpPr>
              <a:spLocks noChangeShapeType="1"/>
            </p:cNvSpPr>
            <p:nvPr/>
          </p:nvSpPr>
          <p:spPr bwMode="auto">
            <a:xfrm>
              <a:off x="2356" y="2265"/>
              <a:ext cx="0" cy="10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3" name="Line 17"/>
            <p:cNvSpPr>
              <a:spLocks noChangeShapeType="1"/>
            </p:cNvSpPr>
            <p:nvPr/>
          </p:nvSpPr>
          <p:spPr bwMode="auto">
            <a:xfrm flipV="1">
              <a:off x="1780" y="2313"/>
              <a:ext cx="1248" cy="9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4" name="Line 18"/>
            <p:cNvSpPr>
              <a:spLocks noChangeShapeType="1"/>
            </p:cNvSpPr>
            <p:nvPr/>
          </p:nvSpPr>
          <p:spPr bwMode="auto">
            <a:xfrm>
              <a:off x="1732" y="2793"/>
              <a:ext cx="13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5" name="Rectangle 19"/>
            <p:cNvSpPr>
              <a:spLocks noChangeArrowheads="1"/>
            </p:cNvSpPr>
            <p:nvPr/>
          </p:nvSpPr>
          <p:spPr bwMode="auto">
            <a:xfrm>
              <a:off x="1876" y="2409"/>
              <a:ext cx="336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CA"/>
            </a:p>
          </p:txBody>
        </p:sp>
        <p:graphicFrame>
          <p:nvGraphicFramePr>
            <p:cNvPr id="1026" name="Object 20"/>
            <p:cNvGraphicFramePr>
              <a:graphicFrameLocks noChangeAspect="1"/>
            </p:cNvGraphicFramePr>
            <p:nvPr/>
          </p:nvGraphicFramePr>
          <p:xfrm>
            <a:off x="1900" y="2457"/>
            <a:ext cx="30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2" name="Equation" r:id="rId3" imgW="482391" imgH="241195" progId="Equation.3">
                    <p:embed/>
                  </p:oleObj>
                </mc:Choice>
                <mc:Fallback>
                  <p:oleObj name="Equation" r:id="rId3" imgW="482391" imgH="241195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" y="2457"/>
                          <a:ext cx="304" cy="152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6" name="Rectangle 21"/>
            <p:cNvSpPr>
              <a:spLocks noChangeArrowheads="1"/>
            </p:cNvSpPr>
            <p:nvPr/>
          </p:nvSpPr>
          <p:spPr bwMode="auto">
            <a:xfrm>
              <a:off x="2212" y="2409"/>
              <a:ext cx="336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CA"/>
            </a:p>
          </p:txBody>
        </p:sp>
        <p:graphicFrame>
          <p:nvGraphicFramePr>
            <p:cNvPr id="1027" name="Object 22"/>
            <p:cNvGraphicFramePr>
              <a:graphicFrameLocks noChangeAspect="1"/>
            </p:cNvGraphicFramePr>
            <p:nvPr/>
          </p:nvGraphicFramePr>
          <p:xfrm>
            <a:off x="2264" y="2457"/>
            <a:ext cx="248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3" name="Equation" r:id="rId5" imgW="393529" imgH="241195" progId="Equation.3">
                    <p:embed/>
                  </p:oleObj>
                </mc:Choice>
                <mc:Fallback>
                  <p:oleObj name="Equation" r:id="rId5" imgW="393529" imgH="241195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4" y="2457"/>
                          <a:ext cx="248" cy="152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7" name="Rectangle 23"/>
            <p:cNvSpPr>
              <a:spLocks noChangeArrowheads="1"/>
            </p:cNvSpPr>
            <p:nvPr/>
          </p:nvSpPr>
          <p:spPr bwMode="auto">
            <a:xfrm>
              <a:off x="2548" y="2409"/>
              <a:ext cx="336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CA"/>
            </a:p>
          </p:txBody>
        </p:sp>
        <p:graphicFrame>
          <p:nvGraphicFramePr>
            <p:cNvPr id="1028" name="Object 24"/>
            <p:cNvGraphicFramePr>
              <a:graphicFrameLocks noChangeAspect="1"/>
            </p:cNvGraphicFramePr>
            <p:nvPr/>
          </p:nvGraphicFramePr>
          <p:xfrm>
            <a:off x="2572" y="2457"/>
            <a:ext cx="30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4" name="Equation" r:id="rId7" imgW="482391" imgH="241195" progId="Equation.3">
                    <p:embed/>
                  </p:oleObj>
                </mc:Choice>
                <mc:Fallback>
                  <p:oleObj name="Equation" r:id="rId7" imgW="482391" imgH="241195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2" y="2457"/>
                          <a:ext cx="304" cy="152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8" name="Rectangle 25"/>
            <p:cNvSpPr>
              <a:spLocks noChangeArrowheads="1"/>
            </p:cNvSpPr>
            <p:nvPr/>
          </p:nvSpPr>
          <p:spPr bwMode="auto">
            <a:xfrm>
              <a:off x="2548" y="2649"/>
              <a:ext cx="336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CA"/>
            </a:p>
          </p:txBody>
        </p:sp>
        <p:graphicFrame>
          <p:nvGraphicFramePr>
            <p:cNvPr id="1029" name="Object 26"/>
            <p:cNvGraphicFramePr>
              <a:graphicFrameLocks noChangeAspect="1"/>
            </p:cNvGraphicFramePr>
            <p:nvPr/>
          </p:nvGraphicFramePr>
          <p:xfrm>
            <a:off x="2588" y="2697"/>
            <a:ext cx="272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5" name="Equation" r:id="rId9" imgW="431613" imgH="241195" progId="Equation.3">
                    <p:embed/>
                  </p:oleObj>
                </mc:Choice>
                <mc:Fallback>
                  <p:oleObj name="Equation" r:id="rId9" imgW="431613" imgH="241195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8" y="2697"/>
                          <a:ext cx="272" cy="152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9" name="Rectangle 27"/>
            <p:cNvSpPr>
              <a:spLocks noChangeArrowheads="1"/>
            </p:cNvSpPr>
            <p:nvPr/>
          </p:nvSpPr>
          <p:spPr bwMode="auto">
            <a:xfrm>
              <a:off x="2212" y="2649"/>
              <a:ext cx="336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CA"/>
            </a:p>
          </p:txBody>
        </p:sp>
        <p:graphicFrame>
          <p:nvGraphicFramePr>
            <p:cNvPr id="1030" name="Object 28"/>
            <p:cNvGraphicFramePr>
              <a:graphicFrameLocks noChangeAspect="1"/>
            </p:cNvGraphicFramePr>
            <p:nvPr/>
          </p:nvGraphicFramePr>
          <p:xfrm>
            <a:off x="2308" y="2697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6" name="Equation" r:id="rId11" imgW="253890" imgH="241195" progId="Equation.3">
                    <p:embed/>
                  </p:oleObj>
                </mc:Choice>
                <mc:Fallback>
                  <p:oleObj name="Equation" r:id="rId11" imgW="253890" imgH="241195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8" y="2697"/>
                          <a:ext cx="160" cy="152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0" name="Rectangle 29"/>
            <p:cNvSpPr>
              <a:spLocks noChangeArrowheads="1"/>
            </p:cNvSpPr>
            <p:nvPr/>
          </p:nvSpPr>
          <p:spPr bwMode="auto">
            <a:xfrm>
              <a:off x="1876" y="2649"/>
              <a:ext cx="336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CA"/>
            </a:p>
          </p:txBody>
        </p:sp>
        <p:graphicFrame>
          <p:nvGraphicFramePr>
            <p:cNvPr id="1031" name="Object 30"/>
            <p:cNvGraphicFramePr>
              <a:graphicFrameLocks noChangeAspect="1"/>
            </p:cNvGraphicFramePr>
            <p:nvPr/>
          </p:nvGraphicFramePr>
          <p:xfrm>
            <a:off x="1916" y="2697"/>
            <a:ext cx="272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7" name="Equation" r:id="rId13" imgW="431613" imgH="241195" progId="Equation.3">
                    <p:embed/>
                  </p:oleObj>
                </mc:Choice>
                <mc:Fallback>
                  <p:oleObj name="Equation" r:id="rId13" imgW="431613" imgH="241195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6" y="2697"/>
                          <a:ext cx="272" cy="152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1" name="Rectangle 31"/>
            <p:cNvSpPr>
              <a:spLocks noChangeArrowheads="1"/>
            </p:cNvSpPr>
            <p:nvPr/>
          </p:nvSpPr>
          <p:spPr bwMode="auto">
            <a:xfrm>
              <a:off x="1876" y="2889"/>
              <a:ext cx="336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CA"/>
            </a:p>
          </p:txBody>
        </p:sp>
        <p:graphicFrame>
          <p:nvGraphicFramePr>
            <p:cNvPr id="1032" name="Object 32"/>
            <p:cNvGraphicFramePr>
              <a:graphicFrameLocks noChangeAspect="1"/>
            </p:cNvGraphicFramePr>
            <p:nvPr/>
          </p:nvGraphicFramePr>
          <p:xfrm>
            <a:off x="1892" y="2937"/>
            <a:ext cx="32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8" name="Equation" r:id="rId15" imgW="508000" imgH="241300" progId="Equation.3">
                    <p:embed/>
                  </p:oleObj>
                </mc:Choice>
                <mc:Fallback>
                  <p:oleObj name="Equation" r:id="rId15" imgW="508000" imgH="24130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2" y="2937"/>
                          <a:ext cx="320" cy="152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2" name="Rectangle 33"/>
            <p:cNvSpPr>
              <a:spLocks noChangeArrowheads="1"/>
            </p:cNvSpPr>
            <p:nvPr/>
          </p:nvSpPr>
          <p:spPr bwMode="auto">
            <a:xfrm>
              <a:off x="2212" y="2889"/>
              <a:ext cx="336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CA"/>
            </a:p>
          </p:txBody>
        </p:sp>
        <p:graphicFrame>
          <p:nvGraphicFramePr>
            <p:cNvPr id="1033" name="Object 34"/>
            <p:cNvGraphicFramePr>
              <a:graphicFrameLocks noChangeAspect="1"/>
            </p:cNvGraphicFramePr>
            <p:nvPr/>
          </p:nvGraphicFramePr>
          <p:xfrm>
            <a:off x="2256" y="2937"/>
            <a:ext cx="26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" name="Equation" r:id="rId17" imgW="418918" imgH="241195" progId="Equation.3">
                    <p:embed/>
                  </p:oleObj>
                </mc:Choice>
                <mc:Fallback>
                  <p:oleObj name="Equation" r:id="rId17" imgW="418918" imgH="241195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2937"/>
                          <a:ext cx="264" cy="152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3" name="Rectangle 35"/>
            <p:cNvSpPr>
              <a:spLocks noChangeArrowheads="1"/>
            </p:cNvSpPr>
            <p:nvPr/>
          </p:nvSpPr>
          <p:spPr bwMode="auto">
            <a:xfrm>
              <a:off x="2548" y="2889"/>
              <a:ext cx="336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CA"/>
            </a:p>
          </p:txBody>
        </p:sp>
        <p:graphicFrame>
          <p:nvGraphicFramePr>
            <p:cNvPr id="1034" name="Object 36"/>
            <p:cNvGraphicFramePr>
              <a:graphicFrameLocks noChangeAspect="1"/>
            </p:cNvGraphicFramePr>
            <p:nvPr/>
          </p:nvGraphicFramePr>
          <p:xfrm>
            <a:off x="2564" y="2937"/>
            <a:ext cx="32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0" name="Equation" r:id="rId19" imgW="508000" imgH="241300" progId="Equation.3">
                    <p:embed/>
                  </p:oleObj>
                </mc:Choice>
                <mc:Fallback>
                  <p:oleObj name="Equation" r:id="rId19" imgW="508000" imgH="241300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4" y="2937"/>
                          <a:ext cx="320" cy="152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4" name="Text Box 37"/>
            <p:cNvSpPr txBox="1">
              <a:spLocks noChangeArrowheads="1"/>
            </p:cNvSpPr>
            <p:nvPr/>
          </p:nvSpPr>
          <p:spPr bwMode="auto">
            <a:xfrm>
              <a:off x="3066" y="2192"/>
              <a:ext cx="68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isodiaphors</a:t>
              </a:r>
              <a:endParaRPr lang="en-US" altLang="zh-CN" sz="140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055" name="Text Box 38"/>
            <p:cNvSpPr txBox="1">
              <a:spLocks noChangeArrowheads="1"/>
            </p:cNvSpPr>
            <p:nvPr/>
          </p:nvSpPr>
          <p:spPr bwMode="auto">
            <a:xfrm>
              <a:off x="3076" y="2697"/>
              <a:ext cx="624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isotopes</a:t>
              </a:r>
              <a:endParaRPr lang="en-US" altLang="zh-CN" sz="140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056" name="Text Box 39"/>
            <p:cNvSpPr txBox="1">
              <a:spLocks noChangeArrowheads="1"/>
            </p:cNvSpPr>
            <p:nvPr/>
          </p:nvSpPr>
          <p:spPr bwMode="auto">
            <a:xfrm>
              <a:off x="3028" y="3129"/>
              <a:ext cx="576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isobars</a:t>
              </a:r>
              <a:endParaRPr lang="en-US" altLang="zh-CN" sz="140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057" name="Text Box 40"/>
            <p:cNvSpPr txBox="1">
              <a:spLocks noChangeArrowheads="1"/>
            </p:cNvSpPr>
            <p:nvPr/>
          </p:nvSpPr>
          <p:spPr bwMode="auto">
            <a:xfrm>
              <a:off x="2116" y="3273"/>
              <a:ext cx="624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isotones</a:t>
              </a:r>
              <a:endParaRPr lang="en-US" altLang="zh-CN" sz="140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058" name="Line 41"/>
            <p:cNvSpPr>
              <a:spLocks noChangeShapeType="1"/>
            </p:cNvSpPr>
            <p:nvPr/>
          </p:nvSpPr>
          <p:spPr bwMode="auto">
            <a:xfrm flipV="1">
              <a:off x="1300" y="238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9" name="Line 42"/>
            <p:cNvSpPr>
              <a:spLocks noChangeShapeType="1"/>
            </p:cNvSpPr>
            <p:nvPr/>
          </p:nvSpPr>
          <p:spPr bwMode="auto">
            <a:xfrm>
              <a:off x="1876" y="3680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0" name="Text Box 43"/>
            <p:cNvSpPr txBox="1">
              <a:spLocks noChangeArrowheads="1"/>
            </p:cNvSpPr>
            <p:nvPr/>
          </p:nvSpPr>
          <p:spPr bwMode="auto">
            <a:xfrm>
              <a:off x="1098" y="2679"/>
              <a:ext cx="151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400">
                  <a:latin typeface="Times New Roman" pitchFamily="18" charset="0"/>
                  <a:ea typeface="宋体" pitchFamily="2" charset="-122"/>
                </a:rPr>
                <a:t>Z</a:t>
              </a:r>
            </a:p>
          </p:txBody>
        </p:sp>
      </p:grpSp>
      <p:sp>
        <p:nvSpPr>
          <p:cNvPr id="38" name="Footer Placeholder 3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7" name="Slide Number Placeholder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143</a:t>
            </a:fld>
            <a:endParaRPr lang="en-US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Classification of Nuclides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144</a:t>
            </a:fld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50825" y="1600200"/>
            <a:ext cx="8686800" cy="4525963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Stable nuclei: 264; </a:t>
            </a:r>
            <a:r>
              <a:rPr lang="en-US" altLang="zh-CN" baseline="30000" smtClean="0">
                <a:ea typeface="宋体" pitchFamily="2" charset="-122"/>
              </a:rPr>
              <a:t>16</a:t>
            </a:r>
            <a:r>
              <a:rPr lang="en-US" altLang="zh-CN" smtClean="0">
                <a:ea typeface="宋体" pitchFamily="2" charset="-122"/>
              </a:rPr>
              <a:t>O</a:t>
            </a:r>
          </a:p>
          <a:p>
            <a:pPr eaLnBrk="1" hangingPunct="1"/>
            <a:r>
              <a:rPr lang="en-US" altLang="zh-CN" smtClean="0">
                <a:ea typeface="宋体" pitchFamily="2" charset="-122"/>
              </a:rPr>
              <a:t>Primary natural radionuclides: 26; very long half-lives; </a:t>
            </a:r>
            <a:r>
              <a:rPr lang="en-US" altLang="zh-CN" baseline="30000" smtClean="0">
                <a:ea typeface="宋体" pitchFamily="2" charset="-122"/>
              </a:rPr>
              <a:t>238</a:t>
            </a:r>
            <a:r>
              <a:rPr lang="en-US" altLang="zh-CN" smtClean="0">
                <a:ea typeface="宋体" pitchFamily="2" charset="-122"/>
              </a:rPr>
              <a:t>U with </a:t>
            </a:r>
            <a:r>
              <a:rPr lang="en-US" altLang="zh-CN" i="1" smtClean="0">
                <a:ea typeface="宋体" pitchFamily="2" charset="-122"/>
              </a:rPr>
              <a:t>t</a:t>
            </a:r>
            <a:r>
              <a:rPr lang="en-US" altLang="zh-CN" baseline="-25000" smtClean="0">
                <a:ea typeface="宋体" pitchFamily="2" charset="-122"/>
              </a:rPr>
              <a:t>1/2</a:t>
            </a:r>
            <a:r>
              <a:rPr lang="en-US" altLang="zh-CN" smtClean="0">
                <a:ea typeface="宋体" pitchFamily="2" charset="-122"/>
              </a:rPr>
              <a:t> = 4.47 x 10</a:t>
            </a:r>
            <a:r>
              <a:rPr lang="en-US" altLang="zh-CN" baseline="30000" smtClean="0">
                <a:ea typeface="宋体" pitchFamily="2" charset="-122"/>
              </a:rPr>
              <a:t>9</a:t>
            </a:r>
            <a:r>
              <a:rPr lang="en-US" altLang="zh-CN" smtClean="0">
                <a:ea typeface="宋体" pitchFamily="2" charset="-122"/>
              </a:rPr>
              <a:t> y</a:t>
            </a:r>
          </a:p>
          <a:p>
            <a:pPr eaLnBrk="1" hangingPunct="1"/>
            <a:r>
              <a:rPr lang="en-US" altLang="zh-CN" smtClean="0">
                <a:ea typeface="宋体" pitchFamily="2" charset="-122"/>
              </a:rPr>
              <a:t>Secondary natural radionuclides: 38; </a:t>
            </a:r>
            <a:r>
              <a:rPr lang="en-US" altLang="zh-CN" baseline="30000" smtClean="0">
                <a:ea typeface="宋体" pitchFamily="2" charset="-122"/>
              </a:rPr>
              <a:t>226</a:t>
            </a:r>
            <a:r>
              <a:rPr lang="en-US" altLang="zh-CN" smtClean="0">
                <a:ea typeface="宋体" pitchFamily="2" charset="-122"/>
              </a:rPr>
              <a:t>Ra </a:t>
            </a:r>
            <a:r>
              <a:rPr lang="en-US" altLang="zh-CN" i="1" smtClean="0">
                <a:ea typeface="宋体" pitchFamily="2" charset="-122"/>
              </a:rPr>
              <a:t>t</a:t>
            </a:r>
            <a:r>
              <a:rPr lang="en-US" altLang="zh-CN" baseline="-25000" smtClean="0">
                <a:ea typeface="宋体" pitchFamily="2" charset="-122"/>
              </a:rPr>
              <a:t>1/2</a:t>
            </a:r>
            <a:r>
              <a:rPr lang="en-US" altLang="zh-CN" smtClean="0">
                <a:ea typeface="宋体" pitchFamily="2" charset="-122"/>
              </a:rPr>
              <a:t> = 1600 y decay of </a:t>
            </a:r>
            <a:r>
              <a:rPr lang="en-US" altLang="zh-CN" baseline="30000" smtClean="0">
                <a:ea typeface="宋体" pitchFamily="2" charset="-122"/>
              </a:rPr>
              <a:t>238</a:t>
            </a:r>
            <a:r>
              <a:rPr lang="en-US" altLang="zh-CN" smtClean="0">
                <a:ea typeface="宋体" pitchFamily="2" charset="-122"/>
              </a:rPr>
              <a:t>U</a:t>
            </a:r>
          </a:p>
          <a:p>
            <a:pPr eaLnBrk="1" hangingPunct="1"/>
            <a:r>
              <a:rPr lang="en-US" altLang="zh-CN" smtClean="0">
                <a:ea typeface="宋体" pitchFamily="2" charset="-122"/>
              </a:rPr>
              <a:t>Induced natural radionuclides: 10; cosmic rays; </a:t>
            </a:r>
            <a:r>
              <a:rPr lang="en-US" altLang="zh-CN" baseline="30000" smtClean="0">
                <a:ea typeface="宋体" pitchFamily="2" charset="-122"/>
              </a:rPr>
              <a:t>3</a:t>
            </a:r>
            <a:r>
              <a:rPr lang="en-US" altLang="zh-CN" smtClean="0">
                <a:ea typeface="宋体" pitchFamily="2" charset="-122"/>
              </a:rPr>
              <a:t>H </a:t>
            </a:r>
            <a:r>
              <a:rPr lang="en-US" altLang="zh-CN" i="1" smtClean="0">
                <a:ea typeface="宋体" pitchFamily="2" charset="-122"/>
              </a:rPr>
              <a:t>t</a:t>
            </a:r>
            <a:r>
              <a:rPr lang="en-US" altLang="zh-CN" baseline="-25000" smtClean="0">
                <a:ea typeface="宋体" pitchFamily="2" charset="-122"/>
              </a:rPr>
              <a:t>1/2</a:t>
            </a:r>
            <a:r>
              <a:rPr lang="en-US" altLang="zh-CN" smtClean="0">
                <a:ea typeface="宋体" pitchFamily="2" charset="-122"/>
              </a:rPr>
              <a:t> = 12.3 y; </a:t>
            </a:r>
            <a:r>
              <a:rPr lang="en-US" altLang="zh-CN" baseline="30000" smtClean="0">
                <a:ea typeface="宋体" pitchFamily="2" charset="-122"/>
              </a:rPr>
              <a:t>14</a:t>
            </a:r>
            <a:r>
              <a:rPr lang="en-US" altLang="zh-CN" smtClean="0">
                <a:ea typeface="宋体" pitchFamily="2" charset="-122"/>
              </a:rPr>
              <a:t>N(n,t)</a:t>
            </a:r>
            <a:r>
              <a:rPr lang="en-US" altLang="zh-CN" baseline="30000" smtClean="0">
                <a:ea typeface="宋体" pitchFamily="2" charset="-122"/>
              </a:rPr>
              <a:t>12</a:t>
            </a:r>
            <a:r>
              <a:rPr lang="en-US" altLang="zh-CN" smtClean="0">
                <a:ea typeface="宋体" pitchFamily="2" charset="-122"/>
              </a:rPr>
              <a:t>C</a:t>
            </a:r>
          </a:p>
          <a:p>
            <a:pPr eaLnBrk="1" hangingPunct="1"/>
            <a:r>
              <a:rPr lang="en-US" altLang="zh-CN" smtClean="0">
                <a:ea typeface="宋体" pitchFamily="2" charset="-122"/>
              </a:rPr>
              <a:t>Artificial radionuclides: 2-4000, </a:t>
            </a:r>
            <a:r>
              <a:rPr lang="en-US" altLang="zh-CN" baseline="30000" smtClean="0">
                <a:ea typeface="宋体" pitchFamily="2" charset="-122"/>
              </a:rPr>
              <a:t>60</a:t>
            </a:r>
            <a:r>
              <a:rPr lang="en-US" altLang="zh-CN" smtClean="0">
                <a:ea typeface="宋体" pitchFamily="2" charset="-122"/>
              </a:rPr>
              <a:t>Co, </a:t>
            </a:r>
            <a:r>
              <a:rPr lang="en-US" altLang="zh-CN" baseline="30000" smtClean="0">
                <a:ea typeface="宋体" pitchFamily="2" charset="-122"/>
              </a:rPr>
              <a:t>137</a:t>
            </a:r>
            <a:r>
              <a:rPr lang="en-US" altLang="zh-CN" smtClean="0">
                <a:ea typeface="宋体" pitchFamily="2" charset="-122"/>
              </a:rPr>
              <a:t>Cs…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4" descr="nucchrt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3113" y="1401763"/>
            <a:ext cx="7112000" cy="4926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Chart of Nuclei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145</a:t>
            </a:fld>
            <a:endParaRPr lang="en-US"/>
          </a:p>
        </p:txBody>
      </p:sp>
      <p:sp>
        <p:nvSpPr>
          <p:cNvPr id="2150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zh-CN" sz="2000" smtClean="0">
                <a:ea typeface="宋体" pitchFamily="2" charset="-122"/>
              </a:rPr>
              <a:t>plot of nuclei as a function of </a:t>
            </a:r>
            <a:r>
              <a:rPr lang="en-US" altLang="zh-CN" sz="2000" i="1" smtClean="0">
                <a:ea typeface="宋体" pitchFamily="2" charset="-122"/>
              </a:rPr>
              <a:t>Z</a:t>
            </a:r>
            <a:r>
              <a:rPr lang="en-US" altLang="zh-CN" sz="2000" smtClean="0">
                <a:ea typeface="宋体" pitchFamily="2" charset="-122"/>
              </a:rPr>
              <a:t> and </a:t>
            </a:r>
            <a:r>
              <a:rPr lang="en-US" altLang="zh-CN" sz="2000" i="1" smtClean="0">
                <a:ea typeface="宋体" pitchFamily="2" charset="-122"/>
              </a:rPr>
              <a:t>N</a:t>
            </a:r>
          </a:p>
          <a:p>
            <a:pPr eaLnBrk="1" hangingPunct="1"/>
            <a:r>
              <a:rPr lang="en-US" altLang="zh-CN" sz="2000" smtClean="0">
                <a:ea typeface="宋体" pitchFamily="2" charset="-122"/>
              </a:rPr>
              <a:t>“Not just one box per element”</a:t>
            </a:r>
          </a:p>
          <a:p>
            <a:pPr eaLnBrk="1" hangingPunct="1"/>
            <a:endParaRPr lang="en-US" altLang="zh-CN" sz="2000" smtClean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…or Segre Chart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146</a:t>
            </a:fld>
            <a:endParaRPr 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1800" smtClean="0">
                <a:ea typeface="宋体" pitchFamily="2" charset="-122"/>
              </a:rPr>
              <a:t>plot allows various nuclear properties to be understood at a glance, similar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smtClean="0">
                <a:ea typeface="宋体" pitchFamily="2" charset="-122"/>
              </a:rPr>
              <a:t>to how chemical properties are understood from the periodic chart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 smtClean="0">
                <a:ea typeface="宋体" pitchFamily="2" charset="-122"/>
              </a:rPr>
              <a:t>~ 2500 different nuclei known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 smtClean="0">
                <a:ea typeface="宋体" pitchFamily="2" charset="-122"/>
              </a:rPr>
              <a:t>270 stable/non-radioactive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 smtClean="0">
                <a:ea typeface="宋体" pitchFamily="2" charset="-122"/>
              </a:rPr>
              <a:t>theorists guess at least 4000 more to be discovered at higher neutron numbers, higher mass</a:t>
            </a:r>
          </a:p>
          <a:p>
            <a:pPr eaLnBrk="1" hangingPunct="1">
              <a:lnSpc>
                <a:spcPct val="80000"/>
              </a:lnSpc>
            </a:pPr>
            <a:endParaRPr lang="en-US" altLang="zh-CN" sz="1800" smtClean="0"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1800" smtClean="0">
                <a:ea typeface="宋体" pitchFamily="2" charset="-122"/>
              </a:rPr>
              <a:t>limits –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 smtClean="0">
                <a:ea typeface="宋体" pitchFamily="2" charset="-122"/>
              </a:rPr>
              <a:t>     proton-rich side (left of stable): proton dripline cannot add another proton, it “drips” off dripline is known/accessible to experiments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 smtClean="0">
                <a:ea typeface="宋体" pitchFamily="2" charset="-122"/>
              </a:rPr>
              <a:t>     neutron-rich side (right of stable): neutron dripline cannot add another neutron, it “drips” off dripline is unknown – neutron-rich nuclei difficult to produce/study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 smtClean="0">
                <a:ea typeface="宋体" pitchFamily="2" charset="-122"/>
              </a:rPr>
              <a:t> mass (above stable) – cannot add another proton or neutron limit unknown – again, difficult to produce/study	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 smtClean="0">
                <a:ea typeface="宋体" pitchFamily="2" charset="-122"/>
              </a:rPr>
              <a:t>“island of stability” predicted near </a:t>
            </a:r>
            <a:r>
              <a:rPr lang="en-US" altLang="zh-CN" sz="1800" i="1" smtClean="0">
                <a:ea typeface="宋体" pitchFamily="2" charset="-122"/>
              </a:rPr>
              <a:t>Z </a:t>
            </a:r>
            <a:r>
              <a:rPr lang="en-US" altLang="zh-CN" sz="1800" smtClean="0">
                <a:ea typeface="宋体" pitchFamily="2" charset="-122"/>
              </a:rPr>
              <a:t>= 114; not yet observed</a:t>
            </a:r>
          </a:p>
          <a:p>
            <a:pPr eaLnBrk="1" hangingPunct="1">
              <a:lnSpc>
                <a:spcPct val="80000"/>
              </a:lnSpc>
            </a:pPr>
            <a:endParaRPr lang="zh-CN" altLang="en-US" sz="180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mtClean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Binding energy per nucleon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147</a:t>
            </a:fld>
            <a:endParaRPr lang="en-US"/>
          </a:p>
        </p:txBody>
      </p:sp>
      <p:pic>
        <p:nvPicPr>
          <p:cNvPr id="19459" name="Picture 3" descr="bcurv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990600" y="1600200"/>
            <a:ext cx="7138988" cy="4641850"/>
          </a:xfrm>
          <a:noFill/>
        </p:spPr>
      </p:pic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5181600" y="6445250"/>
            <a:ext cx="32131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i="1">
                <a:solidFill>
                  <a:srgbClr val="0000CC"/>
                </a:solidFill>
                <a:ea typeface="宋体" pitchFamily="2" charset="-122"/>
              </a:rPr>
              <a:t>http://hyperphysics.phy-astr.gsu.edu/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smtClean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Fusion Reaction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148</a:t>
            </a:fld>
            <a:endParaRPr lang="en-US"/>
          </a:p>
        </p:txBody>
      </p:sp>
      <p:graphicFrame>
        <p:nvGraphicFramePr>
          <p:cNvPr id="8194" name="Object 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038225" y="1776413"/>
          <a:ext cx="6094413" cy="330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Equation" r:id="rId3" imgW="1358640" imgH="736560" progId="Equation.3">
                  <p:embed/>
                </p:oleObj>
              </mc:Choice>
              <mc:Fallback>
                <p:oleObj name="Equation" r:id="rId3" imgW="1358640" imgH="7365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225" y="1776413"/>
                        <a:ext cx="6094413" cy="3303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8392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3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How Do We Produce Exotic Nuclei?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149</a:t>
            </a:fld>
            <a:endParaRPr lang="en-US"/>
          </a:p>
        </p:txBody>
      </p:sp>
      <p:pic>
        <p:nvPicPr>
          <p:cNvPr id="20483" name="Picture 3" descr="reactions_small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838200" y="1143000"/>
            <a:ext cx="7313613" cy="5486400"/>
          </a:xfrm>
          <a:noFill/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17513" y="76200"/>
            <a:ext cx="82296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baseline="3000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58</a:t>
            </a:r>
            <a:r>
              <a:rPr lang="en-US" altLang="zh-CN" sz="3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Zn</a:t>
            </a:r>
            <a:r>
              <a:rPr lang="en-US" altLang="zh-CN" sz="3600" b="1" baseline="-2500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28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150</a:t>
            </a:fld>
            <a:endParaRPr lang="en-US"/>
          </a:p>
        </p:txBody>
      </p:sp>
      <p:pic>
        <p:nvPicPr>
          <p:cNvPr id="22531" name="Picture 3" descr="fma_lay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80975" y="1143000"/>
            <a:ext cx="8766175" cy="2659063"/>
          </a:xfrm>
          <a:noFill/>
        </p:spPr>
      </p:pic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1828800" y="4800600"/>
            <a:ext cx="4538663" cy="858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10000"/>
              </a:spcBef>
              <a:spcAft>
                <a:spcPct val="10000"/>
              </a:spcAft>
              <a:buClr>
                <a:srgbClr val="C28500"/>
              </a:buClr>
              <a:buSzPct val="125000"/>
              <a:buFont typeface="Times" pitchFamily="18" charset="0"/>
              <a:buNone/>
            </a:pPr>
            <a:r>
              <a:rPr lang="en-US" altLang="zh-CN" sz="2400" baseline="30000">
                <a:latin typeface="Arial" charset="0"/>
                <a:ea typeface="宋体" pitchFamily="2" charset="-122"/>
                <a:cs typeface="Arial" charset="0"/>
              </a:rPr>
              <a:t>36</a:t>
            </a:r>
            <a:r>
              <a:rPr lang="en-US" altLang="zh-CN" sz="2400">
                <a:latin typeface="Arial" charset="0"/>
                <a:ea typeface="宋体" pitchFamily="2" charset="-122"/>
                <a:cs typeface="Arial" charset="0"/>
              </a:rPr>
              <a:t>Ar + </a:t>
            </a:r>
            <a:r>
              <a:rPr lang="en-US" altLang="zh-CN" sz="2400" baseline="30000">
                <a:latin typeface="Arial" charset="0"/>
                <a:ea typeface="宋体" pitchFamily="2" charset="-122"/>
                <a:cs typeface="Arial" charset="0"/>
              </a:rPr>
              <a:t>24</a:t>
            </a:r>
            <a:r>
              <a:rPr lang="en-US" altLang="zh-CN" sz="2400">
                <a:latin typeface="Arial" charset="0"/>
                <a:ea typeface="宋体" pitchFamily="2" charset="-122"/>
                <a:cs typeface="Arial" charset="0"/>
              </a:rPr>
              <a:t>Mg → </a:t>
            </a:r>
            <a:r>
              <a:rPr lang="en-US" altLang="zh-CN" sz="2400" baseline="30000">
                <a:latin typeface="Arial" charset="0"/>
                <a:ea typeface="宋体" pitchFamily="2" charset="-122"/>
                <a:cs typeface="Arial" charset="0"/>
              </a:rPr>
              <a:t>60</a:t>
            </a:r>
            <a:r>
              <a:rPr lang="en-US" altLang="zh-CN" sz="2400">
                <a:latin typeface="Arial" charset="0"/>
                <a:ea typeface="宋体" pitchFamily="2" charset="-122"/>
                <a:cs typeface="Arial" charset="0"/>
              </a:rPr>
              <a:t>Zn*→ </a:t>
            </a:r>
            <a:r>
              <a:rPr lang="en-US" altLang="zh-CN" sz="2400" baseline="30000">
                <a:solidFill>
                  <a:schemeClr val="accent2"/>
                </a:solidFill>
                <a:latin typeface="Arial" charset="0"/>
                <a:ea typeface="宋体" pitchFamily="2" charset="-122"/>
                <a:cs typeface="Arial" charset="0"/>
              </a:rPr>
              <a:t>58</a:t>
            </a:r>
            <a:r>
              <a:rPr lang="en-US" altLang="zh-CN" sz="2400">
                <a:solidFill>
                  <a:schemeClr val="accent2"/>
                </a:solidFill>
                <a:latin typeface="Arial" charset="0"/>
                <a:ea typeface="宋体" pitchFamily="2" charset="-122"/>
                <a:cs typeface="Arial" charset="0"/>
              </a:rPr>
              <a:t>Zn</a:t>
            </a:r>
            <a:r>
              <a:rPr lang="en-US" altLang="zh-CN" sz="2400">
                <a:latin typeface="Arial" charset="0"/>
                <a:ea typeface="宋体" pitchFamily="2" charset="-122"/>
                <a:cs typeface="Arial" charset="0"/>
              </a:rPr>
              <a:t> + 2n</a:t>
            </a:r>
          </a:p>
          <a:p>
            <a:r>
              <a:rPr lang="en-US" altLang="zh-CN" sz="2400">
                <a:latin typeface="Symbol" pitchFamily="18" charset="2"/>
                <a:ea typeface="宋体" pitchFamily="2" charset="-122"/>
                <a:cs typeface="Arial" charset="0"/>
              </a:rPr>
              <a:t>s(2</a:t>
            </a:r>
            <a:r>
              <a:rPr lang="en-US" altLang="zh-CN" sz="2400">
                <a:latin typeface="Arial" charset="0"/>
                <a:ea typeface="宋体" pitchFamily="2" charset="-122"/>
                <a:cs typeface="Arial" charset="0"/>
              </a:rPr>
              <a:t>n</a:t>
            </a:r>
            <a:r>
              <a:rPr lang="en-US" altLang="zh-CN" sz="2400">
                <a:latin typeface="Symbol" pitchFamily="18" charset="2"/>
                <a:ea typeface="宋体" pitchFamily="2" charset="-122"/>
                <a:cs typeface="Arial" charset="0"/>
              </a:rPr>
              <a:t>)  &lt; 20 </a:t>
            </a:r>
            <a:r>
              <a:rPr lang="el-GR" sz="2400">
                <a:latin typeface="Arial" charset="0"/>
                <a:ea typeface="宋体" pitchFamily="2" charset="-122"/>
                <a:cs typeface="Arial" charset="0"/>
              </a:rPr>
              <a:t>μ</a:t>
            </a:r>
            <a:r>
              <a:rPr lang="en-US" altLang="zh-CN" sz="2400">
                <a:latin typeface="Arial" charset="0"/>
                <a:ea typeface="宋体" pitchFamily="2" charset="-122"/>
                <a:cs typeface="Arial" charset="0"/>
              </a:rPr>
              <a:t>b (20 x 10</a:t>
            </a:r>
            <a:r>
              <a:rPr lang="en-US" altLang="zh-CN" sz="2400" baseline="30000">
                <a:latin typeface="Arial" charset="0"/>
                <a:ea typeface="宋体" pitchFamily="2" charset="-122"/>
                <a:cs typeface="Arial" charset="0"/>
              </a:rPr>
              <a:t>-34</a:t>
            </a:r>
            <a:r>
              <a:rPr lang="en-US" altLang="zh-CN" sz="2400">
                <a:latin typeface="Arial" charset="0"/>
                <a:ea typeface="宋体" pitchFamily="2" charset="-122"/>
                <a:cs typeface="Arial" charset="0"/>
              </a:rPr>
              <a:t> m</a:t>
            </a:r>
            <a:r>
              <a:rPr lang="en-US" altLang="zh-CN" sz="2400" baseline="30000">
                <a:latin typeface="Arial" charset="0"/>
                <a:ea typeface="宋体" pitchFamily="2" charset="-122"/>
                <a:cs typeface="Arial" charset="0"/>
              </a:rPr>
              <a:t>2</a:t>
            </a:r>
            <a:r>
              <a:rPr lang="en-US" altLang="zh-CN" sz="2400">
                <a:latin typeface="Arial" charset="0"/>
                <a:ea typeface="宋体" pitchFamily="2" charset="-122"/>
                <a:cs typeface="Arial" charset="0"/>
              </a:rPr>
              <a:t>) 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1860550" y="6264275"/>
            <a:ext cx="546735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>
                <a:solidFill>
                  <a:srgbClr val="CC0099"/>
                </a:solidFill>
                <a:latin typeface="Arial" charset="0"/>
                <a:ea typeface="宋体" pitchFamily="2" charset="-122"/>
              </a:rPr>
              <a:t>Spokespersons: C. Andreoiu and P.E. Garrett, University of Guelph</a:t>
            </a:r>
          </a:p>
          <a:p>
            <a:pPr algn="ctr"/>
            <a:r>
              <a:rPr lang="en-US" altLang="zh-CN" sz="1400">
                <a:solidFill>
                  <a:srgbClr val="CC0099"/>
                </a:solidFill>
                <a:latin typeface="Arial" charset="0"/>
                <a:ea typeface="宋体" pitchFamily="2" charset="-122"/>
              </a:rPr>
              <a:t> @ Argonne National Laboratory, Chicago, 2006</a:t>
            </a:r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304800" y="2057400"/>
            <a:ext cx="381000" cy="1066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Nuclear Power</a:t>
            </a:r>
          </a:p>
        </p:txBody>
      </p:sp>
      <p:sp>
        <p:nvSpPr>
          <p:cNvPr id="2051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151</a:t>
            </a:fld>
            <a:endParaRPr lang="en-US"/>
          </a:p>
        </p:txBody>
      </p:sp>
      <p:sp>
        <p:nvSpPr>
          <p:cNvPr id="205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smtClean="0"/>
              <a:t>Fission Reactors</a:t>
            </a:r>
            <a:endParaRPr lang="en-US" smtClean="0"/>
          </a:p>
        </p:txBody>
      </p:sp>
      <p:cxnSp>
        <p:nvCxnSpPr>
          <p:cNvPr id="57362" name="AutoShape 18"/>
          <p:cNvCxnSpPr>
            <a:cxnSpLocks noChangeShapeType="1"/>
            <a:endCxn id="2059" idx="4"/>
          </p:cNvCxnSpPr>
          <p:nvPr/>
        </p:nvCxnSpPr>
        <p:spPr bwMode="auto">
          <a:xfrm rot="5400000" flipH="1" flipV="1">
            <a:off x="4988719" y="3237354"/>
            <a:ext cx="3128963" cy="3575756"/>
          </a:xfrm>
          <a:prstGeom prst="bentConnector3">
            <a:avLst>
              <a:gd name="adj1" fmla="val 14204"/>
            </a:avLst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</p:spPr>
      </p:cxn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1937456" y="2308225"/>
          <a:ext cx="5655733" cy="428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8" name="QuickTime Picture" r:id="rId3" imgW="6200318" imgH="4815894" progId="">
                  <p:embed/>
                </p:oleObj>
              </mc:Choice>
              <mc:Fallback>
                <p:oleObj name="QuickTime Picture" r:id="rId3" imgW="6200318" imgH="4815894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49" t="13411" r="3186" b="3891"/>
                      <a:stretch>
                        <a:fillRect/>
                      </a:stretch>
                    </p:blipFill>
                    <p:spPr bwMode="auto">
                      <a:xfrm>
                        <a:off x="1937456" y="2308225"/>
                        <a:ext cx="5655733" cy="42814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7620000" y="1587500"/>
            <a:ext cx="1456267" cy="1873250"/>
            <a:chOff x="5400" y="1000"/>
            <a:chExt cx="1032" cy="1180"/>
          </a:xfrm>
        </p:grpSpPr>
        <p:sp>
          <p:nvSpPr>
            <p:cNvPr id="2056" name="AutoShape 11"/>
            <p:cNvSpPr>
              <a:spLocks noChangeArrowheads="1"/>
            </p:cNvSpPr>
            <p:nvPr/>
          </p:nvSpPr>
          <p:spPr bwMode="auto">
            <a:xfrm flipV="1">
              <a:off x="5557" y="1331"/>
              <a:ext cx="719" cy="805"/>
            </a:xfrm>
            <a:custGeom>
              <a:avLst/>
              <a:gdLst>
                <a:gd name="T0" fmla="*/ 654 w 21600"/>
                <a:gd name="T1" fmla="*/ 403 h 21600"/>
                <a:gd name="T2" fmla="*/ 360 w 21600"/>
                <a:gd name="T3" fmla="*/ 805 h 21600"/>
                <a:gd name="T4" fmla="*/ 65 w 21600"/>
                <a:gd name="T5" fmla="*/ 403 h 21600"/>
                <a:gd name="T6" fmla="*/ 36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725 w 21600"/>
                <a:gd name="T13" fmla="*/ 3730 h 21600"/>
                <a:gd name="T14" fmla="*/ 17875 w 21600"/>
                <a:gd name="T15" fmla="*/ 1787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3875" y="21600"/>
                  </a:lnTo>
                  <a:lnTo>
                    <a:pt x="17725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ECFC9"/>
            </a:solidFill>
            <a:ln w="12700">
              <a:solidFill>
                <a:srgbClr val="CECFC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9"/>
            <p:cNvGrpSpPr>
              <a:grpSpLocks/>
            </p:cNvGrpSpPr>
            <p:nvPr/>
          </p:nvGrpSpPr>
          <p:grpSpPr bwMode="auto">
            <a:xfrm>
              <a:off x="5538" y="1332"/>
              <a:ext cx="749" cy="788"/>
              <a:chOff x="4752" y="1866"/>
              <a:chExt cx="725" cy="788"/>
            </a:xfrm>
          </p:grpSpPr>
          <p:sp>
            <p:nvSpPr>
              <p:cNvPr id="2061" name="Freeform 5"/>
              <p:cNvSpPr>
                <a:spLocks/>
              </p:cNvSpPr>
              <p:nvPr/>
            </p:nvSpPr>
            <p:spPr bwMode="auto">
              <a:xfrm>
                <a:off x="4752" y="1866"/>
                <a:ext cx="202" cy="788"/>
              </a:xfrm>
              <a:custGeom>
                <a:avLst/>
                <a:gdLst>
                  <a:gd name="T0" fmla="*/ 131 w 202"/>
                  <a:gd name="T1" fmla="*/ 0 h 788"/>
                  <a:gd name="T2" fmla="*/ 180 w 202"/>
                  <a:gd name="T3" fmla="*/ 336 h 788"/>
                  <a:gd name="T4" fmla="*/ 0 w 202"/>
                  <a:gd name="T5" fmla="*/ 788 h 788"/>
                  <a:gd name="T6" fmla="*/ 0 60000 65536"/>
                  <a:gd name="T7" fmla="*/ 0 60000 65536"/>
                  <a:gd name="T8" fmla="*/ 0 60000 65536"/>
                  <a:gd name="T9" fmla="*/ 0 w 202"/>
                  <a:gd name="T10" fmla="*/ 0 h 788"/>
                  <a:gd name="T11" fmla="*/ 202 w 202"/>
                  <a:gd name="T12" fmla="*/ 788 h 7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2" h="788">
                    <a:moveTo>
                      <a:pt x="131" y="0"/>
                    </a:moveTo>
                    <a:cubicBezTo>
                      <a:pt x="166" y="102"/>
                      <a:pt x="202" y="205"/>
                      <a:pt x="180" y="336"/>
                    </a:cubicBezTo>
                    <a:cubicBezTo>
                      <a:pt x="158" y="467"/>
                      <a:pt x="30" y="713"/>
                      <a:pt x="0" y="788"/>
                    </a:cubicBezTo>
                  </a:path>
                </a:pathLst>
              </a:custGeom>
              <a:solidFill>
                <a:srgbClr val="2E2EBA"/>
              </a:solidFill>
              <a:ln w="12700">
                <a:solidFill>
                  <a:srgbClr val="CECF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2" name="Freeform 6"/>
              <p:cNvSpPr>
                <a:spLocks/>
              </p:cNvSpPr>
              <p:nvPr/>
            </p:nvSpPr>
            <p:spPr bwMode="auto">
              <a:xfrm flipH="1">
                <a:off x="5275" y="1866"/>
                <a:ext cx="202" cy="788"/>
              </a:xfrm>
              <a:custGeom>
                <a:avLst/>
                <a:gdLst>
                  <a:gd name="T0" fmla="*/ 131 w 202"/>
                  <a:gd name="T1" fmla="*/ 0 h 788"/>
                  <a:gd name="T2" fmla="*/ 180 w 202"/>
                  <a:gd name="T3" fmla="*/ 336 h 788"/>
                  <a:gd name="T4" fmla="*/ 0 w 202"/>
                  <a:gd name="T5" fmla="*/ 788 h 788"/>
                  <a:gd name="T6" fmla="*/ 0 60000 65536"/>
                  <a:gd name="T7" fmla="*/ 0 60000 65536"/>
                  <a:gd name="T8" fmla="*/ 0 60000 65536"/>
                  <a:gd name="T9" fmla="*/ 0 w 202"/>
                  <a:gd name="T10" fmla="*/ 0 h 788"/>
                  <a:gd name="T11" fmla="*/ 202 w 202"/>
                  <a:gd name="T12" fmla="*/ 788 h 7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2" h="788">
                    <a:moveTo>
                      <a:pt x="131" y="0"/>
                    </a:moveTo>
                    <a:cubicBezTo>
                      <a:pt x="166" y="102"/>
                      <a:pt x="202" y="205"/>
                      <a:pt x="180" y="336"/>
                    </a:cubicBezTo>
                    <a:cubicBezTo>
                      <a:pt x="158" y="467"/>
                      <a:pt x="30" y="713"/>
                      <a:pt x="0" y="788"/>
                    </a:cubicBezTo>
                  </a:path>
                </a:pathLst>
              </a:custGeom>
              <a:solidFill>
                <a:srgbClr val="2E2EBA"/>
              </a:solidFill>
              <a:ln w="12700">
                <a:solidFill>
                  <a:srgbClr val="CECF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058" name="Oval 7"/>
            <p:cNvSpPr>
              <a:spLocks noChangeArrowheads="1"/>
            </p:cNvSpPr>
            <p:nvPr/>
          </p:nvSpPr>
          <p:spPr bwMode="auto">
            <a:xfrm>
              <a:off x="5669" y="1245"/>
              <a:ext cx="486" cy="145"/>
            </a:xfrm>
            <a:prstGeom prst="ellipse">
              <a:avLst/>
            </a:prstGeom>
            <a:solidFill>
              <a:srgbClr val="2E2EBA"/>
            </a:solidFill>
            <a:ln w="12700">
              <a:solidFill>
                <a:srgbClr val="CECFC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9" name="Oval 8"/>
            <p:cNvSpPr>
              <a:spLocks noChangeArrowheads="1"/>
            </p:cNvSpPr>
            <p:nvPr/>
          </p:nvSpPr>
          <p:spPr bwMode="auto">
            <a:xfrm>
              <a:off x="5545" y="2041"/>
              <a:ext cx="732" cy="139"/>
            </a:xfrm>
            <a:prstGeom prst="ellipse">
              <a:avLst/>
            </a:prstGeom>
            <a:solidFill>
              <a:srgbClr val="CECFC9"/>
            </a:solidFill>
            <a:ln w="12700">
              <a:solidFill>
                <a:srgbClr val="CECFC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0" name="Text Box 19"/>
            <p:cNvSpPr txBox="1">
              <a:spLocks noChangeArrowheads="1"/>
            </p:cNvSpPr>
            <p:nvPr/>
          </p:nvSpPr>
          <p:spPr bwMode="auto">
            <a:xfrm>
              <a:off x="5400" y="1000"/>
              <a:ext cx="1032" cy="40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 b="1"/>
                <a:t>Cooling Tower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7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Nuclear Power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152</a:t>
            </a:fld>
            <a:endParaRPr lang="en-US"/>
          </a:p>
        </p:txBody>
      </p:sp>
      <p:sp>
        <p:nvSpPr>
          <p:cNvPr id="5124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smtClean="0"/>
              <a:t>Fission Reactors</a:t>
            </a:r>
            <a:endParaRPr lang="en-US" smtClean="0"/>
          </a:p>
        </p:txBody>
      </p:sp>
      <p:pic>
        <p:nvPicPr>
          <p:cNvPr id="5125" name="Picture 14" descr="nuclear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49245" y="2235200"/>
            <a:ext cx="2967567" cy="398780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</p:spPr>
      </p:pic>
      <p:pic>
        <p:nvPicPr>
          <p:cNvPr id="59407" name="nuclear power plant flyby.avi">
            <a:hlinkClick r:id="" action="ppaction://media"/>
          </p:cNvPr>
          <p:cNvPicPr>
            <a:picLocks noRot="1" noChangeAspect="1" noChangeArrowheads="1"/>
          </p:cNvPicPr>
          <p:nvPr>
            <a:videoFile r:link="rId1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2674056" y="2259013"/>
            <a:ext cx="1896533" cy="160020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</p:spPr>
      </p:pic>
      <p:pic>
        <p:nvPicPr>
          <p:cNvPr id="5127" name="Picture 16" descr="nuclear power plant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617134" y="4106864"/>
            <a:ext cx="4095044" cy="2416175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9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940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407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59407"/>
                </p:tgtEl>
              </p:cMediaNode>
            </p:video>
          </p:childTnLst>
        </p:cTn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Nuclear Power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153</a:t>
            </a:fld>
            <a:endParaRPr lang="en-US"/>
          </a:p>
        </p:txBody>
      </p:sp>
      <p:sp>
        <p:nvSpPr>
          <p:cNvPr id="614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467556" y="1600200"/>
            <a:ext cx="7382933" cy="725488"/>
          </a:xfrm>
        </p:spPr>
        <p:txBody>
          <a:bodyPr/>
          <a:lstStyle/>
          <a:p>
            <a:r>
              <a:rPr lang="en-US" b="1" smtClean="0"/>
              <a:t>Fusion Reactors</a:t>
            </a:r>
            <a:r>
              <a:rPr lang="en-US" smtClean="0"/>
              <a:t> (not yet sustainable)</a:t>
            </a:r>
          </a:p>
        </p:txBody>
      </p:sp>
      <p:pic>
        <p:nvPicPr>
          <p:cNvPr id="6149" name="Picture 4" descr="fusion"/>
          <p:cNvPicPr>
            <a:picLocks noChangeAspect="1" noChangeArrowheads="1"/>
          </p:cNvPicPr>
          <p:nvPr/>
        </p:nvPicPr>
        <p:blipFill>
          <a:blip r:embed="rId2"/>
          <a:srcRect l="12312" t="1624" r="5182" b="6781"/>
          <a:stretch>
            <a:fillRect/>
          </a:stretch>
        </p:blipFill>
        <p:spPr bwMode="auto">
          <a:xfrm>
            <a:off x="2659945" y="2284413"/>
            <a:ext cx="5051778" cy="4362450"/>
          </a:xfrm>
          <a:prstGeom prst="rect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Nuclear Power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154</a:t>
            </a:fld>
            <a:endParaRPr lang="en-US"/>
          </a:p>
        </p:txBody>
      </p:sp>
      <p:sp>
        <p:nvSpPr>
          <p:cNvPr id="717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467556" y="1600200"/>
            <a:ext cx="7382933" cy="725488"/>
          </a:xfrm>
        </p:spPr>
        <p:txBody>
          <a:bodyPr/>
          <a:lstStyle/>
          <a:p>
            <a:r>
              <a:rPr lang="en-US" b="1" smtClean="0"/>
              <a:t>Fusion Reactors</a:t>
            </a:r>
            <a:r>
              <a:rPr lang="en-US" smtClean="0"/>
              <a:t> (not yet sustainable)</a:t>
            </a:r>
          </a:p>
        </p:txBody>
      </p:sp>
      <p:pic>
        <p:nvPicPr>
          <p:cNvPr id="7173" name="Picture 5" descr="fusion reacto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3634" y="2247900"/>
            <a:ext cx="4395611" cy="323850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</p:spPr>
      </p:pic>
      <p:pic>
        <p:nvPicPr>
          <p:cNvPr id="7174" name="Picture 6" descr="fusion - Princeto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88000" y="3575050"/>
            <a:ext cx="3386667" cy="310515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1905000" y="5553075"/>
            <a:ext cx="2873543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dirty="0" err="1"/>
              <a:t>Tokamak</a:t>
            </a:r>
            <a:r>
              <a:rPr lang="en-US" dirty="0"/>
              <a:t> Fusion Test Reactor</a:t>
            </a:r>
          </a:p>
          <a:p>
            <a:pPr algn="ctr"/>
            <a:endParaRPr lang="en-US" dirty="0"/>
          </a:p>
        </p:txBody>
      </p:sp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6072012" y="2708276"/>
            <a:ext cx="2834922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National Spherical Torus Experiment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B. Synthetic Elements</a:t>
            </a:r>
          </a:p>
        </p:txBody>
      </p:sp>
      <p:sp>
        <p:nvSpPr>
          <p:cNvPr id="3075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155</a:t>
            </a:fld>
            <a:endParaRPr 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467556" y="1600200"/>
            <a:ext cx="7382933" cy="1333500"/>
          </a:xfrm>
        </p:spPr>
        <p:txBody>
          <a:bodyPr>
            <a:normAutofit fontScale="85000" lnSpcReduction="20000"/>
          </a:bodyPr>
          <a:lstStyle/>
          <a:p>
            <a:r>
              <a:rPr lang="en-US" b="1" smtClean="0"/>
              <a:t>Transuranium Elements</a:t>
            </a:r>
            <a:endParaRPr lang="en-US" smtClean="0"/>
          </a:p>
          <a:p>
            <a:pPr lvl="1"/>
            <a:r>
              <a:rPr lang="en-US" smtClean="0"/>
              <a:t>elements with atomic #s above 92</a:t>
            </a:r>
          </a:p>
          <a:p>
            <a:pPr lvl="1"/>
            <a:r>
              <a:rPr lang="en-US" smtClean="0"/>
              <a:t>synthetically produced in nuclear reactors and accelerators</a:t>
            </a:r>
          </a:p>
          <a:p>
            <a:pPr lvl="1"/>
            <a:r>
              <a:rPr lang="en-US" smtClean="0"/>
              <a:t>most decay very rapidly 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596445" y="4924425"/>
            <a:ext cx="5126567" cy="1239838"/>
            <a:chOff x="1840" y="2342"/>
            <a:chExt cx="3633" cy="781"/>
          </a:xfrm>
        </p:grpSpPr>
        <p:sp>
          <p:nvSpPr>
            <p:cNvPr id="61445" name="AutoShape 5"/>
            <p:cNvSpPr>
              <a:spLocks noChangeArrowheads="1"/>
            </p:cNvSpPr>
            <p:nvPr/>
          </p:nvSpPr>
          <p:spPr bwMode="auto">
            <a:xfrm>
              <a:off x="1840" y="2342"/>
              <a:ext cx="3633" cy="781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hlink"/>
                </a:gs>
                <a:gs pos="50000">
                  <a:schemeClr val="hlink">
                    <a:gamma/>
                    <a:tint val="0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aphicFrame>
          <p:nvGraphicFramePr>
            <p:cNvPr id="3074" name="Object 6"/>
            <p:cNvGraphicFramePr>
              <a:graphicFrameLocks noChangeAspect="1"/>
            </p:cNvGraphicFramePr>
            <p:nvPr/>
          </p:nvGraphicFramePr>
          <p:xfrm>
            <a:off x="1990" y="2435"/>
            <a:ext cx="3362" cy="6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2" name="Equation" r:id="rId3" imgW="1295280" imgH="241200" progId="Equation.3">
                    <p:embed/>
                  </p:oleObj>
                </mc:Choice>
                <mc:Fallback>
                  <p:oleObj name="Equation" r:id="rId3" imgW="1295280" imgH="2412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0" y="2435"/>
                          <a:ext cx="3362" cy="6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 autoUpdateAnimBg="0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C. Radioactive Dating</a:t>
            </a:r>
          </a:p>
        </p:txBody>
      </p:sp>
      <p:sp>
        <p:nvSpPr>
          <p:cNvPr id="819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156</a:t>
            </a:fld>
            <a:endParaRPr 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tabLst>
                <a:tab pos="1320800" algn="l"/>
              </a:tabLst>
            </a:pPr>
            <a:r>
              <a:rPr lang="en-US" smtClean="0"/>
              <a:t>half-life measurements of radioactive elements are used to determine the age of an object</a:t>
            </a:r>
          </a:p>
          <a:p>
            <a:pPr>
              <a:tabLst>
                <a:tab pos="1320800" algn="l"/>
              </a:tabLst>
            </a:pPr>
            <a:r>
              <a:rPr lang="en-US" smtClean="0"/>
              <a:t>decay rate indicates amount of radioactive material</a:t>
            </a:r>
          </a:p>
          <a:p>
            <a:pPr>
              <a:tabLst>
                <a:tab pos="1320800" algn="l"/>
              </a:tabLst>
            </a:pPr>
            <a:r>
              <a:rPr lang="en-US" u="sng" smtClean="0"/>
              <a:t>EX</a:t>
            </a:r>
            <a:r>
              <a:rPr lang="en-US" smtClean="0"/>
              <a:t>: </a:t>
            </a:r>
            <a:r>
              <a:rPr lang="en-US" baseline="30000" smtClean="0"/>
              <a:t>14</a:t>
            </a:r>
            <a:r>
              <a:rPr lang="en-US" smtClean="0"/>
              <a:t>C - up to 40,000 years</a:t>
            </a:r>
            <a:br>
              <a:rPr lang="en-US" smtClean="0"/>
            </a:br>
            <a:r>
              <a:rPr lang="en-US" smtClean="0"/>
              <a:t>	</a:t>
            </a:r>
            <a:r>
              <a:rPr lang="en-US" baseline="30000" smtClean="0"/>
              <a:t>238</a:t>
            </a:r>
            <a:r>
              <a:rPr lang="en-US" smtClean="0"/>
              <a:t>U and </a:t>
            </a:r>
            <a:r>
              <a:rPr lang="en-US" baseline="30000" smtClean="0"/>
              <a:t>40</a:t>
            </a:r>
            <a:r>
              <a:rPr lang="en-US" smtClean="0"/>
              <a:t>K - over 300,000 years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uild="p" autoUpdateAnimBg="0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D. Nuclear Medicine</a:t>
            </a:r>
          </a:p>
        </p:txBody>
      </p:sp>
      <p:sp>
        <p:nvSpPr>
          <p:cNvPr id="921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157</a:t>
            </a:fld>
            <a:endParaRPr lang="en-US"/>
          </a:p>
        </p:txBody>
      </p:sp>
      <p:sp>
        <p:nvSpPr>
          <p:cNvPr id="634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smtClean="0"/>
              <a:t>Radioisotope Tracers</a:t>
            </a:r>
            <a:endParaRPr lang="en-US" smtClean="0"/>
          </a:p>
          <a:p>
            <a:pPr lvl="1"/>
            <a:r>
              <a:rPr lang="en-US" smtClean="0"/>
              <a:t>absorbed by specific organs and used to diagnose diseases</a:t>
            </a:r>
          </a:p>
          <a:p>
            <a:pPr>
              <a:spcBef>
                <a:spcPct val="30000"/>
              </a:spcBef>
            </a:pPr>
            <a:r>
              <a:rPr lang="en-US" b="1" smtClean="0"/>
              <a:t>Radiation Treatment</a:t>
            </a:r>
            <a:endParaRPr lang="en-US" smtClean="0"/>
          </a:p>
          <a:p>
            <a:pPr lvl="1"/>
            <a:r>
              <a:rPr lang="en-US" smtClean="0"/>
              <a:t>larger doses are used </a:t>
            </a:r>
            <a:br>
              <a:rPr lang="en-US" smtClean="0"/>
            </a:br>
            <a:r>
              <a:rPr lang="en-US" smtClean="0"/>
              <a:t>to kill cancerous cells </a:t>
            </a:r>
            <a:br>
              <a:rPr lang="en-US" smtClean="0"/>
            </a:br>
            <a:r>
              <a:rPr lang="en-US" smtClean="0"/>
              <a:t>in targeted organs</a:t>
            </a:r>
          </a:p>
          <a:p>
            <a:pPr lvl="1"/>
            <a:r>
              <a:rPr lang="en-US" smtClean="0"/>
              <a:t>internal or external </a:t>
            </a:r>
            <a:br>
              <a:rPr lang="en-US" smtClean="0"/>
            </a:br>
            <a:r>
              <a:rPr lang="en-US" smtClean="0"/>
              <a:t>radiation source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568723" y="3511551"/>
            <a:ext cx="2111022" cy="3398838"/>
            <a:chOff x="4879" y="2092"/>
            <a:chExt cx="1496" cy="2141"/>
          </a:xfrm>
        </p:grpSpPr>
        <p:pic>
          <p:nvPicPr>
            <p:cNvPr id="9222" name="Picture 5" descr="radiation treatment"/>
            <p:cNvPicPr>
              <a:picLocks noChangeAspect="1" noChangeArrowheads="1"/>
            </p:cNvPicPr>
            <p:nvPr/>
          </p:nvPicPr>
          <p:blipFill>
            <a:blip r:embed="rId2">
              <a:lum bright="24000"/>
            </a:blip>
            <a:srcRect/>
            <a:stretch>
              <a:fillRect/>
            </a:stretch>
          </p:blipFill>
          <p:spPr bwMode="auto">
            <a:xfrm>
              <a:off x="4891" y="2092"/>
              <a:ext cx="1472" cy="167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</p:pic>
        <p:sp>
          <p:nvSpPr>
            <p:cNvPr id="9223" name="Text Box 6"/>
            <p:cNvSpPr txBox="1">
              <a:spLocks noChangeArrowheads="1"/>
            </p:cNvSpPr>
            <p:nvPr/>
          </p:nvSpPr>
          <p:spPr bwMode="auto">
            <a:xfrm>
              <a:off x="4879" y="3768"/>
              <a:ext cx="1496" cy="465"/>
            </a:xfrm>
            <a:prstGeom prst="rect">
              <a:avLst/>
            </a:prstGeom>
            <a:noFill/>
            <a:ln w="12700" cap="rnd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400" b="1"/>
                <a:t>Radiation treatment using</a:t>
              </a:r>
            </a:p>
            <a:p>
              <a:pPr algn="ctr"/>
              <a:r>
                <a:rPr lang="en-US" sz="1400" b="1">
                  <a:sym typeface="Symbol" pitchFamily="18" charset="2"/>
                </a:rPr>
                <a:t>-rays from </a:t>
              </a:r>
              <a:r>
                <a:rPr lang="en-US" sz="1400" b="1"/>
                <a:t>cobalt-60.</a:t>
              </a:r>
              <a:endParaRPr lang="en-US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 autoUpdateAnimBg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E. Nuclear Weapons</a:t>
            </a:r>
          </a:p>
        </p:txBody>
      </p:sp>
      <p:sp>
        <p:nvSpPr>
          <p:cNvPr id="1024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158</a:t>
            </a:fld>
            <a:endParaRPr lang="en-US"/>
          </a:p>
        </p:txBody>
      </p:sp>
      <p:sp>
        <p:nvSpPr>
          <p:cNvPr id="50180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1467556" y="1600200"/>
            <a:ext cx="7676444" cy="4495800"/>
          </a:xfrm>
        </p:spPr>
        <p:txBody>
          <a:bodyPr/>
          <a:lstStyle/>
          <a:p>
            <a:r>
              <a:rPr lang="en-US" b="1" smtClean="0"/>
              <a:t>Atomic Bomb</a:t>
            </a:r>
            <a:endParaRPr lang="en-US" smtClean="0"/>
          </a:p>
          <a:p>
            <a:pPr lvl="1">
              <a:spcBef>
                <a:spcPct val="10000"/>
              </a:spcBef>
            </a:pPr>
            <a:r>
              <a:rPr lang="en-US" smtClean="0"/>
              <a:t>chemical explosion is used to form a critical mass of </a:t>
            </a:r>
            <a:r>
              <a:rPr lang="en-US" baseline="30000" smtClean="0"/>
              <a:t>235</a:t>
            </a:r>
            <a:r>
              <a:rPr lang="en-US" smtClean="0"/>
              <a:t>U or </a:t>
            </a:r>
            <a:r>
              <a:rPr lang="en-US" baseline="30000" smtClean="0"/>
              <a:t>239</a:t>
            </a:r>
            <a:r>
              <a:rPr lang="en-US" smtClean="0"/>
              <a:t>Pu</a:t>
            </a:r>
          </a:p>
          <a:p>
            <a:pPr lvl="1">
              <a:spcBef>
                <a:spcPct val="10000"/>
              </a:spcBef>
            </a:pPr>
            <a:r>
              <a:rPr lang="en-US" smtClean="0"/>
              <a:t>fission develops into an uncontrolled chain reaction</a:t>
            </a:r>
          </a:p>
          <a:p>
            <a:pPr>
              <a:spcBef>
                <a:spcPct val="40000"/>
              </a:spcBef>
            </a:pPr>
            <a:r>
              <a:rPr lang="en-US" b="1" smtClean="0"/>
              <a:t>Hydrogen Bomb</a:t>
            </a:r>
            <a:endParaRPr lang="en-US" smtClean="0"/>
          </a:p>
          <a:p>
            <a:pPr lvl="1">
              <a:spcBef>
                <a:spcPct val="10000"/>
              </a:spcBef>
            </a:pPr>
            <a:r>
              <a:rPr lang="en-US" smtClean="0"/>
              <a:t>chemical explosion </a:t>
            </a:r>
            <a:r>
              <a:rPr lang="en-US" smtClean="0">
                <a:sym typeface="Symbol" pitchFamily="18" charset="2"/>
              </a:rPr>
              <a:t> fission  fusion</a:t>
            </a:r>
          </a:p>
          <a:p>
            <a:pPr lvl="1">
              <a:spcBef>
                <a:spcPct val="10000"/>
              </a:spcBef>
            </a:pPr>
            <a:r>
              <a:rPr lang="en-US" smtClean="0">
                <a:sym typeface="Symbol" pitchFamily="18" charset="2"/>
              </a:rPr>
              <a:t>fusion increases the fission rate</a:t>
            </a:r>
          </a:p>
          <a:p>
            <a:pPr lvl="1">
              <a:spcBef>
                <a:spcPct val="10000"/>
              </a:spcBef>
            </a:pPr>
            <a:r>
              <a:rPr lang="en-US" smtClean="0">
                <a:sym typeface="Symbol" pitchFamily="18" charset="2"/>
              </a:rPr>
              <a:t>more powerful than the atomic bomb</a:t>
            </a: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0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0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0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0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0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0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 build="p" bldLvl="2" autoUpdateAnimBg="0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F. Others</a:t>
            </a:r>
          </a:p>
        </p:txBody>
      </p:sp>
      <p:sp>
        <p:nvSpPr>
          <p:cNvPr id="1126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159</a:t>
            </a:fld>
            <a:endParaRPr lang="en-US"/>
          </a:p>
        </p:txBody>
      </p:sp>
      <p:sp>
        <p:nvSpPr>
          <p:cNvPr id="6553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smtClean="0"/>
              <a:t>Food Irradiation</a:t>
            </a:r>
            <a:endParaRPr lang="en-US" smtClean="0"/>
          </a:p>
          <a:p>
            <a:pPr lvl="1">
              <a:spcBef>
                <a:spcPct val="10000"/>
              </a:spcBef>
            </a:pPr>
            <a:r>
              <a:rPr lang="en-US" smtClean="0">
                <a:sym typeface="Symbol" pitchFamily="18" charset="2"/>
              </a:rPr>
              <a:t></a:t>
            </a:r>
            <a:r>
              <a:rPr lang="en-US" smtClean="0"/>
              <a:t> radiation is used to kill bacteria</a:t>
            </a:r>
          </a:p>
          <a:p>
            <a:pPr>
              <a:spcBef>
                <a:spcPct val="50000"/>
              </a:spcBef>
            </a:pPr>
            <a:r>
              <a:rPr lang="en-US" b="1" smtClean="0"/>
              <a:t>Radioactive Tracers</a:t>
            </a:r>
            <a:endParaRPr lang="en-US" smtClean="0"/>
          </a:p>
          <a:p>
            <a:pPr lvl="1">
              <a:spcBef>
                <a:spcPct val="10000"/>
              </a:spcBef>
            </a:pPr>
            <a:r>
              <a:rPr lang="en-US" smtClean="0"/>
              <a:t>explore chemical pathways</a:t>
            </a:r>
          </a:p>
          <a:p>
            <a:pPr lvl="1">
              <a:spcBef>
                <a:spcPct val="10000"/>
              </a:spcBef>
            </a:pPr>
            <a:r>
              <a:rPr lang="en-US" smtClean="0"/>
              <a:t>trace water flow</a:t>
            </a:r>
          </a:p>
          <a:p>
            <a:pPr lvl="1">
              <a:spcBef>
                <a:spcPct val="10000"/>
              </a:spcBef>
            </a:pPr>
            <a:r>
              <a:rPr lang="en-US" smtClean="0"/>
              <a:t>study plant growth, photosynthesis</a:t>
            </a:r>
          </a:p>
          <a:p>
            <a:pPr>
              <a:spcBef>
                <a:spcPct val="50000"/>
              </a:spcBef>
            </a:pPr>
            <a:r>
              <a:rPr lang="en-US" b="1" smtClean="0"/>
              <a:t>Consumer Products</a:t>
            </a:r>
            <a:endParaRPr lang="en-US" smtClean="0"/>
          </a:p>
          <a:p>
            <a:pPr lvl="1">
              <a:spcBef>
                <a:spcPct val="10000"/>
              </a:spcBef>
            </a:pPr>
            <a:r>
              <a:rPr lang="en-US" smtClean="0"/>
              <a:t>ionizing smoke detectors - </a:t>
            </a:r>
            <a:r>
              <a:rPr lang="en-US" baseline="30000" smtClean="0"/>
              <a:t>241</a:t>
            </a:r>
            <a:r>
              <a:rPr lang="en-US" smtClean="0"/>
              <a:t>Am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5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5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 autoUpdateAnimBg="0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838200"/>
          </a:xfrm>
        </p:spPr>
        <p:txBody>
          <a:bodyPr/>
          <a:lstStyle/>
          <a:p>
            <a:pPr eaLnBrk="1" hangingPunct="1"/>
            <a:r>
              <a:rPr lang="en-US" sz="4000" b="1" smtClean="0">
                <a:solidFill>
                  <a:srgbClr val="FF0000"/>
                </a:solidFill>
              </a:rPr>
              <a:t>UNITS - 1</a:t>
            </a: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160</a:t>
            </a:fld>
            <a:endParaRPr lang="en-US"/>
          </a:p>
        </p:txBody>
      </p:sp>
      <p:sp>
        <p:nvSpPr>
          <p:cNvPr id="1741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219200"/>
            <a:ext cx="8153400" cy="5181600"/>
          </a:xfrm>
        </p:spPr>
        <p:txBody>
          <a:bodyPr>
            <a:normAutofit/>
          </a:bodyPr>
          <a:lstStyle/>
          <a:p>
            <a:pPr marL="234950" indent="-234950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FF0000"/>
                </a:solidFill>
              </a:rPr>
              <a:t>Activity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smtClean="0">
                <a:solidFill>
                  <a:schemeClr val="accent1"/>
                </a:solidFill>
              </a:rPr>
              <a:t>(#decay events/unit time)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0000FF"/>
                </a:solidFill>
              </a:rPr>
              <a:t>Curie (</a:t>
            </a:r>
            <a:r>
              <a:rPr lang="en-US" dirty="0" err="1" smtClean="0">
                <a:solidFill>
                  <a:srgbClr val="0000FF"/>
                </a:solidFill>
              </a:rPr>
              <a:t>Ci</a:t>
            </a:r>
            <a:r>
              <a:rPr lang="en-US" dirty="0" smtClean="0">
                <a:solidFill>
                  <a:srgbClr val="0000FF"/>
                </a:solidFill>
              </a:rPr>
              <a:t>) = 3.7x10</a:t>
            </a:r>
            <a:r>
              <a:rPr lang="en-US" baseline="30000" dirty="0" smtClean="0">
                <a:solidFill>
                  <a:srgbClr val="0000FF"/>
                </a:solidFill>
              </a:rPr>
              <a:t>10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err="1" smtClean="0">
                <a:solidFill>
                  <a:srgbClr val="0000FF"/>
                </a:solidFill>
              </a:rPr>
              <a:t>dps</a:t>
            </a:r>
            <a:endParaRPr lang="en-US" dirty="0" smtClean="0">
              <a:solidFill>
                <a:srgbClr val="0000FF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0000FF"/>
                </a:solidFill>
              </a:rPr>
              <a:t>Becquerel (</a:t>
            </a:r>
            <a:r>
              <a:rPr lang="en-US" dirty="0" err="1" smtClean="0">
                <a:solidFill>
                  <a:srgbClr val="0000FF"/>
                </a:solidFill>
              </a:rPr>
              <a:t>Bq</a:t>
            </a:r>
            <a:r>
              <a:rPr lang="en-US" dirty="0" smtClean="0">
                <a:solidFill>
                  <a:srgbClr val="0000FF"/>
                </a:solidFill>
              </a:rPr>
              <a:t>) = 1 </a:t>
            </a:r>
            <a:r>
              <a:rPr lang="en-US" dirty="0" err="1" smtClean="0">
                <a:solidFill>
                  <a:srgbClr val="0000FF"/>
                </a:solidFill>
              </a:rPr>
              <a:t>dps</a:t>
            </a:r>
            <a:endParaRPr lang="en-US" dirty="0" smtClean="0">
              <a:solidFill>
                <a:srgbClr val="0000FF"/>
              </a:solidFill>
            </a:endParaRPr>
          </a:p>
          <a:p>
            <a:pPr marL="234950" indent="-234950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FF0000"/>
                </a:solidFill>
              </a:rPr>
              <a:t>Exposure </a:t>
            </a:r>
            <a:r>
              <a:rPr lang="en-US" dirty="0" smtClean="0">
                <a:solidFill>
                  <a:schemeClr val="accent1"/>
                </a:solidFill>
              </a:rPr>
              <a:t>(electrical charge/volume)</a:t>
            </a:r>
          </a:p>
          <a:p>
            <a:pPr marL="914400" lvl="1" indent="-514350" eaLnBrk="1" hangingPunct="1">
              <a:lnSpc>
                <a:spcPct val="90000"/>
              </a:lnSpc>
              <a:buNone/>
            </a:pPr>
            <a:r>
              <a:rPr lang="en-US" dirty="0" smtClean="0">
                <a:solidFill>
                  <a:srgbClr val="0000FF"/>
                </a:solidFill>
              </a:rPr>
              <a:t>- Rontgen (R) = 2.58 x 10</a:t>
            </a:r>
            <a:r>
              <a:rPr lang="en-US" baseline="30000" dirty="0" smtClean="0">
                <a:solidFill>
                  <a:srgbClr val="0000FF"/>
                </a:solidFill>
              </a:rPr>
              <a:t>-4</a:t>
            </a:r>
            <a:r>
              <a:rPr lang="en-US" dirty="0" smtClean="0">
                <a:solidFill>
                  <a:srgbClr val="0000FF"/>
                </a:solidFill>
              </a:rPr>
              <a:t> C/kg</a:t>
            </a:r>
          </a:p>
          <a:p>
            <a:pPr marL="234950" indent="-234950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FF0000"/>
                </a:solidFill>
              </a:rPr>
              <a:t>Dose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smtClean="0">
                <a:solidFill>
                  <a:schemeClr val="accent1"/>
                </a:solidFill>
              </a:rPr>
              <a:t>(energy deposited/unit mass)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err="1" smtClean="0">
                <a:solidFill>
                  <a:srgbClr val="0000FF"/>
                </a:solidFill>
              </a:rPr>
              <a:t>Rad</a:t>
            </a:r>
            <a:r>
              <a:rPr lang="en-US" dirty="0" smtClean="0">
                <a:solidFill>
                  <a:srgbClr val="0000FF"/>
                </a:solidFill>
              </a:rPr>
              <a:t> = 0.01 J/kg = 100 erg/g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0000FF"/>
                </a:solidFill>
              </a:rPr>
              <a:t>SI Gray (</a:t>
            </a:r>
            <a:r>
              <a:rPr lang="en-US" dirty="0" err="1" smtClean="0">
                <a:solidFill>
                  <a:srgbClr val="0000FF"/>
                </a:solidFill>
              </a:rPr>
              <a:t>Gy</a:t>
            </a:r>
            <a:r>
              <a:rPr lang="en-US" dirty="0" smtClean="0">
                <a:solidFill>
                  <a:srgbClr val="0000FF"/>
                </a:solidFill>
              </a:rPr>
              <a:t>) = 1 J/kg</a:t>
            </a:r>
            <a:r>
              <a:rPr lang="en-US" dirty="0" smtClean="0">
                <a:solidFill>
                  <a:srgbClr val="CCFFCC"/>
                </a:solidFill>
              </a:rPr>
              <a:t>   </a:t>
            </a:r>
            <a:r>
              <a:rPr lang="en-US" dirty="0" smtClean="0">
                <a:solidFill>
                  <a:srgbClr val="0000FF"/>
                </a:solidFill>
              </a:rPr>
              <a:t>(1 </a:t>
            </a:r>
            <a:r>
              <a:rPr lang="en-US" dirty="0" err="1" smtClean="0">
                <a:solidFill>
                  <a:srgbClr val="0000FF"/>
                </a:solidFill>
              </a:rPr>
              <a:t>Gy</a:t>
            </a:r>
            <a:r>
              <a:rPr lang="en-US" dirty="0" smtClean="0">
                <a:solidFill>
                  <a:srgbClr val="0000FF"/>
                </a:solidFill>
              </a:rPr>
              <a:t> = 100 </a:t>
            </a:r>
            <a:r>
              <a:rPr lang="en-US" dirty="0" err="1" smtClean="0">
                <a:solidFill>
                  <a:srgbClr val="0000FF"/>
                </a:solidFill>
              </a:rPr>
              <a:t>Rad</a:t>
            </a:r>
            <a:r>
              <a:rPr lang="en-US" dirty="0" smtClean="0">
                <a:solidFill>
                  <a:srgbClr val="0000FF"/>
                </a:solidFill>
              </a:rPr>
              <a:t>)</a:t>
            </a:r>
          </a:p>
          <a:p>
            <a:pPr marL="234950" indent="-234950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FF0000"/>
                </a:solidFill>
              </a:rPr>
              <a:t>Dose equivalent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smtClean="0">
                <a:solidFill>
                  <a:schemeClr val="accent1"/>
                </a:solidFill>
              </a:rPr>
              <a:t>(Dose x Quality Factor)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err="1" smtClean="0">
                <a:solidFill>
                  <a:srgbClr val="0000FF"/>
                </a:solidFill>
              </a:rPr>
              <a:t>Rem</a:t>
            </a:r>
            <a:r>
              <a:rPr lang="en-US" dirty="0" smtClean="0">
                <a:solidFill>
                  <a:srgbClr val="0000FF"/>
                </a:solidFill>
              </a:rPr>
              <a:t> = </a:t>
            </a:r>
            <a:r>
              <a:rPr lang="en-US" dirty="0" err="1" smtClean="0">
                <a:solidFill>
                  <a:srgbClr val="0000FF"/>
                </a:solidFill>
              </a:rPr>
              <a:t>Rad</a:t>
            </a:r>
            <a:r>
              <a:rPr lang="en-US" dirty="0" smtClean="0">
                <a:solidFill>
                  <a:srgbClr val="0000FF"/>
                </a:solidFill>
              </a:rPr>
              <a:t> x QF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err="1" smtClean="0">
                <a:solidFill>
                  <a:srgbClr val="0000FF"/>
                </a:solidFill>
              </a:rPr>
              <a:t>Sievert</a:t>
            </a:r>
            <a:r>
              <a:rPr lang="en-US" dirty="0" smtClean="0">
                <a:solidFill>
                  <a:srgbClr val="0000FF"/>
                </a:solidFill>
              </a:rPr>
              <a:t> = Gray x QF  (1 </a:t>
            </a:r>
            <a:r>
              <a:rPr lang="en-US" dirty="0" err="1" smtClean="0">
                <a:solidFill>
                  <a:srgbClr val="0000FF"/>
                </a:solidFill>
              </a:rPr>
              <a:t>Sv</a:t>
            </a:r>
            <a:r>
              <a:rPr lang="en-US" dirty="0" smtClean="0">
                <a:solidFill>
                  <a:srgbClr val="0000FF"/>
                </a:solidFill>
              </a:rPr>
              <a:t> = 100 </a:t>
            </a:r>
            <a:r>
              <a:rPr lang="en-US" dirty="0" err="1" smtClean="0">
                <a:solidFill>
                  <a:srgbClr val="0000FF"/>
                </a:solidFill>
              </a:rPr>
              <a:t>Rem</a:t>
            </a:r>
            <a:r>
              <a:rPr lang="en-US" dirty="0" smtClean="0">
                <a:solidFill>
                  <a:srgbClr val="0000FF"/>
                </a:solidFill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endParaRPr lang="en-US" dirty="0" smtClean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smtClean="0">
                <a:solidFill>
                  <a:srgbClr val="FF0000"/>
                </a:solidFill>
              </a:rPr>
              <a:t>UNITS - 2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1600200" cy="457200"/>
          </a:xfrm>
        </p:spPr>
        <p:txBody>
          <a:bodyPr/>
          <a:lstStyle/>
          <a:p>
            <a:r>
              <a:rPr lang="en-US" dirty="0" smtClean="0"/>
              <a:t>AMH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161</a:t>
            </a:fld>
            <a:endParaRPr lang="en-US"/>
          </a:p>
        </p:txBody>
      </p:sp>
      <p:sp>
        <p:nvSpPr>
          <p:cNvPr id="1843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981200"/>
            <a:ext cx="8153400" cy="4114800"/>
          </a:xfrm>
        </p:spPr>
        <p:txBody>
          <a:bodyPr/>
          <a:lstStyle/>
          <a:p>
            <a:pPr eaLnBrk="1" hangingPunct="1"/>
            <a:r>
              <a:rPr lang="en-US" sz="2800" dirty="0" smtClean="0"/>
              <a:t>Radiation energy</a:t>
            </a:r>
          </a:p>
          <a:p>
            <a:pPr lvl="1" eaLnBrk="1" hangingPunct="1"/>
            <a:r>
              <a:rPr lang="en-US" sz="2800" dirty="0" smtClean="0">
                <a:solidFill>
                  <a:srgbClr val="FF0000"/>
                </a:solidFill>
              </a:rPr>
              <a:t>Electron volt (</a:t>
            </a:r>
            <a:r>
              <a:rPr lang="en-US" sz="2800" dirty="0" err="1" smtClean="0">
                <a:solidFill>
                  <a:srgbClr val="FF0000"/>
                </a:solidFill>
              </a:rPr>
              <a:t>eV</a:t>
            </a:r>
            <a:r>
              <a:rPr lang="en-US" sz="2800" dirty="0" smtClean="0">
                <a:solidFill>
                  <a:srgbClr val="FF0000"/>
                </a:solidFill>
              </a:rPr>
              <a:t>) = 1.602 x 10</a:t>
            </a:r>
            <a:r>
              <a:rPr lang="en-US" sz="2800" baseline="30000" dirty="0" smtClean="0">
                <a:solidFill>
                  <a:srgbClr val="FF0000"/>
                </a:solidFill>
              </a:rPr>
              <a:t>-19</a:t>
            </a:r>
            <a:r>
              <a:rPr lang="en-US" sz="2800" dirty="0" smtClean="0">
                <a:solidFill>
                  <a:srgbClr val="FF0000"/>
                </a:solidFill>
              </a:rPr>
              <a:t> J</a:t>
            </a:r>
          </a:p>
          <a:p>
            <a:pPr eaLnBrk="1" hangingPunct="1"/>
            <a:r>
              <a:rPr lang="en-US" sz="2800" dirty="0" smtClean="0"/>
              <a:t>Regulatory units</a:t>
            </a:r>
          </a:p>
          <a:p>
            <a:pPr lvl="1" eaLnBrk="1" hangingPunct="1"/>
            <a:r>
              <a:rPr lang="en-US" sz="2800" dirty="0" smtClean="0">
                <a:solidFill>
                  <a:srgbClr val="FF0000"/>
                </a:solidFill>
              </a:rPr>
              <a:t>Exemption quantity (EQ): </a:t>
            </a:r>
            <a:r>
              <a:rPr lang="en-US" sz="2800" dirty="0" smtClean="0">
                <a:solidFill>
                  <a:srgbClr val="006600"/>
                </a:solidFill>
              </a:rPr>
              <a:t>indiscriminate use of 1 EQ could result in a dose not exceeding the maximum yearly permissible dose</a:t>
            </a:r>
            <a:endParaRPr lang="en-US" sz="2800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sz="2800" dirty="0" smtClean="0">
                <a:solidFill>
                  <a:srgbClr val="FF0000"/>
                </a:solidFill>
              </a:rPr>
              <a:t>Annual limit of intake (ALI): </a:t>
            </a:r>
            <a:r>
              <a:rPr lang="en-US" sz="2800" dirty="0" smtClean="0">
                <a:solidFill>
                  <a:srgbClr val="006600"/>
                </a:solidFill>
              </a:rPr>
              <a:t>intake of 1 ALI is deemed to result in a committed dose equivalent of 20 </a:t>
            </a:r>
            <a:r>
              <a:rPr lang="en-US" sz="2800" dirty="0" err="1" smtClean="0">
                <a:solidFill>
                  <a:srgbClr val="006600"/>
                </a:solidFill>
              </a:rPr>
              <a:t>mSv</a:t>
            </a:r>
            <a:endParaRPr lang="en-US" sz="2800" dirty="0" smtClean="0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endParaRPr lang="en-US" sz="280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162</a:t>
            </a:fld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898525"/>
            <a:ext cx="7772400" cy="14700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800" b="1" smtClean="0"/>
              <a:t>Detection Methods of Radioactivity</a:t>
            </a:r>
          </a:p>
        </p:txBody>
      </p:sp>
      <p:sp>
        <p:nvSpPr>
          <p:cNvPr id="3075" name="Text Box 15"/>
          <p:cNvSpPr txBox="1">
            <a:spLocks noChangeArrowheads="1"/>
          </p:cNvSpPr>
          <p:nvPr/>
        </p:nvSpPr>
        <p:spPr bwMode="auto">
          <a:xfrm>
            <a:off x="3870325" y="200183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GB" b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b="1" smtClean="0"/>
              <a:t>How Can We Detect Radioactivity?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163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2457450"/>
            <a:ext cx="8229600" cy="22320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mtClean="0"/>
              <a:t>   Ionizing radiation interacts with matter which makes detection and measurement possible by utilizing specialized equipments</a:t>
            </a:r>
            <a:r>
              <a:rPr lang="en-US" sz="2800" smtClean="0"/>
              <a:t>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Geiger Counter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17638"/>
            <a:ext cx="5580063" cy="5257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 smtClean="0"/>
              <a:t>Most common to public.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endParaRPr lang="en-US" sz="2800" smtClean="0"/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 smtClean="0"/>
              <a:t>Uses a gas filled tube with a central wire at high voltage to collect the ionization produced by radiation.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endParaRPr lang="en-US" sz="2800" smtClean="0"/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 smtClean="0"/>
              <a:t>Can detect alpha, beta and gamma rays.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None/>
            </a:pPr>
            <a:endParaRPr lang="en-US" sz="2800" smtClean="0"/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 smtClean="0"/>
              <a:t>Used for demonstrations &amp; rough estimations.</a:t>
            </a:r>
          </a:p>
        </p:txBody>
      </p:sp>
      <p:pic>
        <p:nvPicPr>
          <p:cNvPr id="9220" name="Picture 9" descr="am-gmtube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6037263" y="2133600"/>
            <a:ext cx="2916237" cy="2555875"/>
          </a:xfrm>
          <a:noFill/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A2868-95E2-4694-90E9-225F7A2B1EA5}" type="slidenum">
              <a:rPr lang="en-US" smtClean="0"/>
              <a:pPr>
                <a:defRPr/>
              </a:pPr>
              <a:t>164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Photographic Film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881188"/>
            <a:ext cx="4038600" cy="3700462"/>
          </a:xfrm>
        </p:spPr>
        <p:txBody>
          <a:bodyPr/>
          <a:lstStyle/>
          <a:p>
            <a:pPr eaLnBrk="1" hangingPunct="1"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 smtClean="0"/>
              <a:t> Radioactivity will darken photographic film.</a:t>
            </a:r>
          </a:p>
          <a:p>
            <a:pPr eaLnBrk="1" hangingPunct="1">
              <a:buFontTx/>
              <a:buNone/>
            </a:pPr>
            <a:endParaRPr lang="en-US" sz="2800" smtClean="0"/>
          </a:p>
          <a:p>
            <a:pPr eaLnBrk="1" hangingPunct="1"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 smtClean="0"/>
              <a:t> This effect is used to measure how much radiation has struck the film.</a:t>
            </a:r>
          </a:p>
        </p:txBody>
      </p:sp>
      <p:pic>
        <p:nvPicPr>
          <p:cNvPr id="10244" name="Picture 6" descr="filmbadge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62500" y="2148681"/>
            <a:ext cx="3810000" cy="2603500"/>
          </a:xfrm>
          <a:noFill/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A2868-95E2-4694-90E9-225F7A2B1EA5}" type="slidenum">
              <a:rPr lang="en-US" smtClean="0"/>
              <a:pPr>
                <a:defRPr/>
              </a:pPr>
              <a:t>165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The Gold Leaf Electroscope</a:t>
            </a:r>
          </a:p>
        </p:txBody>
      </p:sp>
      <p:sp>
        <p:nvSpPr>
          <p:cNvPr id="11267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6710363" cy="47815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400" smtClean="0"/>
              <a:t>When an electroscope is charged, the gold leaf sticks out, because the charges on the gold repel the charges on the metal stalk.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Ø"/>
            </a:pPr>
            <a:endParaRPr lang="en-US" sz="2400" smtClean="0"/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400" smtClean="0"/>
              <a:t>Dry air is normally a good insulator. 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Ø"/>
            </a:pPr>
            <a:endParaRPr lang="en-US" sz="2400" smtClean="0"/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400" smtClean="0"/>
              <a:t>When a radioactive source comes near, the air is ionized, and starts to conduct electricity. The electroscope discharges and the gold leaf falls.</a:t>
            </a:r>
          </a:p>
        </p:txBody>
      </p:sp>
      <p:pic>
        <p:nvPicPr>
          <p:cNvPr id="11268" name="Picture 11" descr="E48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7167563" y="2133600"/>
            <a:ext cx="1824037" cy="2519363"/>
          </a:xfrm>
          <a:noFill/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A2868-95E2-4694-90E9-225F7A2B1EA5}" type="slidenum">
              <a:rPr lang="en-US" smtClean="0"/>
              <a:pPr>
                <a:defRPr/>
              </a:pPr>
              <a:t>166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The Spark Counter</a:t>
            </a:r>
            <a:r>
              <a:rPr lang="en-US" smtClean="0"/>
              <a:t> </a:t>
            </a:r>
          </a:p>
        </p:txBody>
      </p:sp>
      <p:sp>
        <p:nvSpPr>
          <p:cNvPr id="12291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5915025" cy="470852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400" smtClean="0"/>
              <a:t>works best with alpha particles.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endParaRPr lang="en-US" sz="2400" smtClean="0"/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400" smtClean="0"/>
              <a:t>uses the ionizing effect of radioactivity.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endParaRPr lang="en-US" sz="2400" smtClean="0"/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400" smtClean="0"/>
              <a:t> consists of metal gauze with a wire running underneath known as Spark discharge apparatus. 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endParaRPr lang="en-US" sz="2400" smtClean="0"/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400" smtClean="0"/>
              <a:t>When a radioactive source is brought near, the air between the gauze and the wire is ionized, and sparks jump where particles pass.</a:t>
            </a:r>
          </a:p>
        </p:txBody>
      </p:sp>
      <p:pic>
        <p:nvPicPr>
          <p:cNvPr id="12292" name="Picture 6" descr="spark"/>
          <p:cNvPicPr>
            <a:picLocks noGrp="1" noChangeAspect="1" noChangeArrowheads="1" noCrop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6372225" y="2182813"/>
            <a:ext cx="2700338" cy="2317750"/>
          </a:xfrm>
          <a:noFill/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A2868-95E2-4694-90E9-225F7A2B1EA5}" type="slidenum">
              <a:rPr lang="en-US" smtClean="0"/>
              <a:pPr>
                <a:defRPr/>
              </a:pPr>
              <a:t>167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The Cloud Chamber</a:t>
            </a:r>
            <a:r>
              <a:rPr lang="en-US" smtClean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168</a:t>
            </a:fld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96093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 smtClean="0"/>
              <a:t>The chamber contains a supersaturated vapor (e.g. methylated spirits), which condenses into droplets when disturbed and ionized by the passage of a particle.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Ø"/>
            </a:pPr>
            <a:endParaRPr lang="en-US" sz="2800" smtClean="0"/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 smtClean="0"/>
              <a:t>There are two types of cloud chambers: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None/>
            </a:pPr>
            <a:r>
              <a:rPr lang="en-US" sz="2800" smtClean="0"/>
              <a:t>           the "expansion" type &amp; the "diffusion"  type.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The Bubble Chamber</a:t>
            </a:r>
            <a:r>
              <a:rPr lang="en-US" smtClean="0"/>
              <a:t> </a:t>
            </a:r>
          </a:p>
        </p:txBody>
      </p:sp>
      <p:sp>
        <p:nvSpPr>
          <p:cNvPr id="14339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5230813" cy="4637088"/>
          </a:xfrm>
        </p:spPr>
        <p:txBody>
          <a:bodyPr/>
          <a:lstStyle/>
          <a:p>
            <a:pPr eaLnBrk="1" hangingPunct="1"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 dirty="0" smtClean="0"/>
              <a:t>A similar idea to a cloud chamber. </a:t>
            </a:r>
          </a:p>
          <a:p>
            <a:pPr eaLnBrk="1" hangingPunct="1">
              <a:buClr>
                <a:schemeClr val="tx2"/>
              </a:buClr>
              <a:buFont typeface="Wingdings" pitchFamily="2" charset="2"/>
              <a:buChar char="Ø"/>
            </a:pPr>
            <a:endParaRPr lang="en-US" sz="2800" dirty="0" smtClean="0"/>
          </a:p>
          <a:p>
            <a:pPr eaLnBrk="1" hangingPunct="1"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 dirty="0" smtClean="0"/>
              <a:t>The bubble chamber similarly reveals the tracks of subatomic particles, but as trails of bubbles in a superheated liquid, usually liquid hydrogen.</a:t>
            </a:r>
          </a:p>
        </p:txBody>
      </p:sp>
      <p:pic>
        <p:nvPicPr>
          <p:cNvPr id="14340" name="Picture 6" descr="CernBubbleChamber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6056313" y="2060575"/>
            <a:ext cx="2700337" cy="2447925"/>
          </a:xfrm>
          <a:noFill/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A2868-95E2-4694-90E9-225F7A2B1EA5}" type="slidenum">
              <a:rPr lang="en-US" smtClean="0"/>
              <a:pPr>
                <a:defRPr/>
              </a:pPr>
              <a:t>169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Modern Detectors</a:t>
            </a:r>
            <a:r>
              <a:rPr lang="en-US" smtClean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170</a:t>
            </a:fld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417638"/>
            <a:ext cx="8229600" cy="4748212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dirty="0" smtClean="0"/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800" dirty="0" smtClean="0"/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 b="1" dirty="0" smtClean="0"/>
              <a:t>Scintillation Detectors</a:t>
            </a:r>
            <a:r>
              <a:rPr lang="en-US" sz="2800" dirty="0" smtClean="0"/>
              <a:t> 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None/>
            </a:pPr>
            <a:r>
              <a:rPr lang="en-US" sz="2800" dirty="0" smtClean="0"/>
              <a:t>		work by the radiation striking a suitable         	material (such as Sodium Iodide), and producing a 	tiny flash of light. 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None/>
            </a:pPr>
            <a:endParaRPr lang="en-US" sz="2800" dirty="0" smtClean="0"/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None/>
            </a:pPr>
            <a:r>
              <a:rPr lang="en-US" sz="2800" dirty="0" smtClean="0"/>
              <a:t>		 electronic photomultiplier tubes were matched with 	</a:t>
            </a:r>
            <a:r>
              <a:rPr lang="en-US" sz="2800" dirty="0" err="1" smtClean="0"/>
              <a:t>scintillators</a:t>
            </a:r>
            <a:r>
              <a:rPr lang="en-US" sz="2800" dirty="0" smtClean="0"/>
              <a:t> to convert the weak light flashes into usable  	electric  pulses that could be counted electronically.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None/>
            </a:pPr>
            <a:r>
              <a:rPr lang="en-US" sz="2800" dirty="0" smtClean="0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Modern Detectors…</a:t>
            </a:r>
            <a:r>
              <a:rPr lang="en-US" smtClean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171</a:t>
            </a:fld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 b="1" smtClean="0"/>
              <a:t>Solid-State Detectors</a:t>
            </a:r>
            <a:r>
              <a:rPr lang="en-US" sz="2800" smtClean="0"/>
              <a:t> 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Tx/>
              <a:buNone/>
            </a:pPr>
            <a:r>
              <a:rPr lang="en-US" sz="2800" smtClean="0"/>
              <a:t>		the most up-to-date instruments.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None/>
            </a:pPr>
            <a:r>
              <a:rPr lang="en-US" sz="2800" smtClean="0"/>
              <a:t>		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None/>
            </a:pPr>
            <a:r>
              <a:rPr lang="en-US" sz="2800" smtClean="0"/>
              <a:t>		used for accurate measurements of radiation 	energy.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None/>
            </a:pPr>
            <a:endParaRPr lang="en-US" sz="2800" smtClean="0"/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None/>
            </a:pPr>
            <a:r>
              <a:rPr lang="en-US" sz="2800" smtClean="0"/>
              <a:t>		have applications in environmental radiation 	and trace element measurements.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6" descr="coll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52513"/>
            <a:ext cx="9144000" cy="3824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172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106</TotalTime>
  <Words>6728</Words>
  <Application>Microsoft Office PowerPoint</Application>
  <PresentationFormat>On-screen Show (4:3)</PresentationFormat>
  <Paragraphs>1378</Paragraphs>
  <Slides>172</Slides>
  <Notes>8</Notes>
  <HiddenSlides>0</HiddenSlides>
  <MMClips>7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172</vt:i4>
      </vt:variant>
    </vt:vector>
  </HeadingPairs>
  <TitlesOfParts>
    <vt:vector size="176" baseType="lpstr">
      <vt:lpstr>Equity</vt:lpstr>
      <vt:lpstr>Equation</vt:lpstr>
      <vt:lpstr>Photo Editor Photo</vt:lpstr>
      <vt:lpstr>QuickTime Picture</vt:lpstr>
      <vt:lpstr> Nuclear     Chemistry</vt:lpstr>
      <vt:lpstr>Radioactivity</vt:lpstr>
      <vt:lpstr>PowerPoint Presentation</vt:lpstr>
      <vt:lpstr>PowerPoint Presentation</vt:lpstr>
      <vt:lpstr>PowerPoint Presentation</vt:lpstr>
      <vt:lpstr>Nuclear Reactions vs. Normal Chemical Changes</vt:lpstr>
      <vt:lpstr>PowerPoint Presentation</vt:lpstr>
      <vt:lpstr>Forces in the Nucleus</vt:lpstr>
      <vt:lpstr>PowerPoint Presentation</vt:lpstr>
      <vt:lpstr>Mass Defect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Radiation</vt:lpstr>
      <vt:lpstr>Other Nuclear Particles</vt:lpstr>
      <vt:lpstr>PowerPoint Presentation</vt:lpstr>
      <vt:lpstr>PowerPoint Presentation</vt:lpstr>
      <vt:lpstr>PowerPoint Presentation</vt:lpstr>
      <vt:lpstr>PowerPoint Presentation</vt:lpstr>
      <vt:lpstr>Leptons</vt:lpstr>
      <vt:lpstr>Mesons</vt:lpstr>
      <vt:lpstr>Baryons</vt:lpstr>
      <vt:lpstr>PowerPoint Presentation</vt:lpstr>
      <vt:lpstr>PowerPoint Presentation</vt:lpstr>
      <vt:lpstr>PowerPoint Presentation</vt:lpstr>
      <vt:lpstr>PowerPoint Presentation</vt:lpstr>
      <vt:lpstr>Stability and the ratio of neutrons to protons</vt:lpstr>
      <vt:lpstr>PowerPoint Presentation</vt:lpstr>
      <vt:lpstr>N/P vs P</vt:lpstr>
      <vt:lpstr>Modes of Decay</vt:lpstr>
      <vt:lpstr>The ratio can be reduced in the following ways.</vt:lpstr>
      <vt:lpstr>Beta emission</vt:lpstr>
      <vt:lpstr>PowerPoint Presentation</vt:lpstr>
      <vt:lpstr>PowerPoint Presentation</vt:lpstr>
      <vt:lpstr>Neutron emission</vt:lpstr>
      <vt:lpstr>PowerPoint Presentation</vt:lpstr>
      <vt:lpstr>Positron emission</vt:lpstr>
      <vt:lpstr>PowerPoint Presentation</vt:lpstr>
      <vt:lpstr>Orbital or K-electron capture</vt:lpstr>
      <vt:lpstr>PowerPoint Presentation</vt:lpstr>
      <vt:lpstr>Proton emission</vt:lpstr>
      <vt:lpstr>Gamma radiation </vt:lpstr>
      <vt:lpstr>PowerPoint Presentation</vt:lpstr>
      <vt:lpstr>Penetrating Ability</vt:lpstr>
      <vt:lpstr>Penetrating Power of Different Types of Ionizing Radiation</vt:lpstr>
      <vt:lpstr>Balancing Nuclear Reactions</vt:lpstr>
      <vt:lpstr>Nuclear Reactions</vt:lpstr>
      <vt:lpstr>PowerPoint Presentation</vt:lpstr>
      <vt:lpstr>Nuclear Reactions</vt:lpstr>
      <vt:lpstr>PowerPoint Presentation</vt:lpstr>
      <vt:lpstr>Other Types of Nuclear Reactions</vt:lpstr>
      <vt:lpstr>PowerPoint Presentation</vt:lpstr>
      <vt:lpstr>PowerPoint Presentation</vt:lpstr>
      <vt:lpstr>Write Nuclear Equations!</vt:lpstr>
      <vt:lpstr>PowerPoint Presentation</vt:lpstr>
      <vt:lpstr>Artificial Nuclear Reactions</vt:lpstr>
      <vt:lpstr>Artificial Nuclear Reactions</vt:lpstr>
      <vt:lpstr>Transuranium Elements</vt:lpstr>
      <vt:lpstr>Radioactive Series</vt:lpstr>
      <vt:lpstr>PowerPoint Presentation</vt:lpstr>
      <vt:lpstr>Thorium Decay Chain (4n + 0)</vt:lpstr>
      <vt:lpstr>PowerPoint Presentation</vt:lpstr>
      <vt:lpstr>The Actinium Decay Series  (4n +3)</vt:lpstr>
      <vt:lpstr>An Extinct Natural Decay Chain</vt:lpstr>
      <vt:lpstr>PowerPoint Presentation</vt:lpstr>
      <vt:lpstr>Radioactive Decay Processes</vt:lpstr>
      <vt:lpstr>PowerPoint Presentation</vt:lpstr>
      <vt:lpstr>232Th (Thorium Series)</vt:lpstr>
      <vt:lpstr>PowerPoint Presentation</vt:lpstr>
      <vt:lpstr>Neptunium series</vt:lpstr>
      <vt:lpstr>PowerPoint Presentation</vt:lpstr>
      <vt:lpstr>     4n + 1) series </vt:lpstr>
      <vt:lpstr>238U (Uranium Series)</vt:lpstr>
      <vt:lpstr>PowerPoint Presentation</vt:lpstr>
      <vt:lpstr>The Actinium Series</vt:lpstr>
      <vt:lpstr>PowerPoint Presentation</vt:lpstr>
      <vt:lpstr>         Nuclear     Chemistry</vt:lpstr>
      <vt:lpstr>A. F ission</vt:lpstr>
      <vt:lpstr>A. F ission</vt:lpstr>
      <vt:lpstr>B. Fusion</vt:lpstr>
      <vt:lpstr>Nuclear Fission</vt:lpstr>
      <vt:lpstr>Nuclear Fission</vt:lpstr>
      <vt:lpstr>PowerPoint Presentation</vt:lpstr>
      <vt:lpstr>PowerPoint Presentation</vt:lpstr>
      <vt:lpstr>Stability of Nuclei</vt:lpstr>
      <vt:lpstr>Band of Stability and Radioactive Decay</vt:lpstr>
      <vt:lpstr>Representation of a fission process.</vt:lpstr>
      <vt:lpstr>Nuclear Fission &amp; POWER</vt:lpstr>
      <vt:lpstr>Figure 19.6: Diagram of a nuclear power plant.</vt:lpstr>
      <vt:lpstr>Nuclear Fusion</vt:lpstr>
      <vt:lpstr>Nuclear Fusion</vt:lpstr>
      <vt:lpstr>C. Fission vs. Fusion</vt:lpstr>
      <vt:lpstr>Half-Life</vt:lpstr>
      <vt:lpstr>Half-Life </vt:lpstr>
      <vt:lpstr>Kinetics of Radioactive Decay</vt:lpstr>
      <vt:lpstr>PowerPoint Presentation</vt:lpstr>
      <vt:lpstr>Radioactive Decay Law</vt:lpstr>
      <vt:lpstr>PowerPoint Presentation</vt:lpstr>
      <vt:lpstr>PowerPoint Presentation</vt:lpstr>
      <vt:lpstr>PowerPoint Presentation</vt:lpstr>
      <vt:lpstr>The rate of decay</vt:lpstr>
      <vt:lpstr>PowerPoint Presentation</vt:lpstr>
      <vt:lpstr>PowerPoint Presentation</vt:lpstr>
      <vt:lpstr>PowerPoint Presentation</vt:lpstr>
      <vt:lpstr>Radioactive Equilibrium Law</vt:lpstr>
      <vt:lpstr>PowerPoint Presentation</vt:lpstr>
      <vt:lpstr>PowerPoint Presentation</vt:lpstr>
      <vt:lpstr>Effects of Radiation</vt:lpstr>
      <vt:lpstr>Detection of Radiation</vt:lpstr>
      <vt:lpstr>1. The cloud chamber.</vt:lpstr>
      <vt:lpstr>PowerPoint Presentation</vt:lpstr>
      <vt:lpstr>PowerPoint Presentation</vt:lpstr>
      <vt:lpstr>2. The bubble chamber.</vt:lpstr>
      <vt:lpstr>PowerPoint Presentation</vt:lpstr>
      <vt:lpstr>Geiger Counter</vt:lpstr>
      <vt:lpstr>PowerPoint Presentation</vt:lpstr>
      <vt:lpstr>PowerPoint Presentation</vt:lpstr>
      <vt:lpstr>4. Photographic emulsion</vt:lpstr>
      <vt:lpstr>PowerPoint Presentation</vt:lpstr>
      <vt:lpstr>        Nuclear     Chemistry</vt:lpstr>
      <vt:lpstr>Nuclear Chemistry</vt:lpstr>
      <vt:lpstr>Radiocarbon Dating</vt:lpstr>
      <vt:lpstr>PowerPoint Presentation</vt:lpstr>
      <vt:lpstr>PowerPoint Presentation</vt:lpstr>
      <vt:lpstr>PowerPoint Presentation</vt:lpstr>
      <vt:lpstr>Geological dating</vt:lpstr>
      <vt:lpstr>Industrial uses</vt:lpstr>
      <vt:lpstr>PowerPoint Presentation</vt:lpstr>
      <vt:lpstr>Detection of metal fatigue</vt:lpstr>
      <vt:lpstr>PowerPoint Presentation</vt:lpstr>
      <vt:lpstr>Medical uses of radioactivity</vt:lpstr>
      <vt:lpstr>PowerPoint Presentation</vt:lpstr>
      <vt:lpstr>PowerPoint Presentation</vt:lpstr>
      <vt:lpstr>PowerPoint Presentation</vt:lpstr>
      <vt:lpstr>PowerPoint Presentation</vt:lpstr>
      <vt:lpstr>Nuclear Medicine: Imaging</vt:lpstr>
      <vt:lpstr>Food preservations</vt:lpstr>
      <vt:lpstr>Food Irradiation</vt:lpstr>
      <vt:lpstr>PowerPoint Presentation</vt:lpstr>
      <vt:lpstr>Mass</vt:lpstr>
      <vt:lpstr>PowerPoint Presentation</vt:lpstr>
      <vt:lpstr>Classification of Nuclides </vt:lpstr>
      <vt:lpstr>Chart of Nuclei</vt:lpstr>
      <vt:lpstr>…or Segre Chart</vt:lpstr>
      <vt:lpstr>Binding energy per nucleon</vt:lpstr>
      <vt:lpstr>Fusion Reaction</vt:lpstr>
      <vt:lpstr>How Do We Produce Exotic Nuclei?</vt:lpstr>
      <vt:lpstr>58Zn28</vt:lpstr>
      <vt:lpstr>A. Nuclear Power</vt:lpstr>
      <vt:lpstr>A. Nuclear Power</vt:lpstr>
      <vt:lpstr>A. Nuclear Power</vt:lpstr>
      <vt:lpstr>A. Nuclear Power</vt:lpstr>
      <vt:lpstr>B. Synthetic Elements</vt:lpstr>
      <vt:lpstr>C. Radioactive Dating</vt:lpstr>
      <vt:lpstr>D. Nuclear Medicine</vt:lpstr>
      <vt:lpstr>E. Nuclear Weapons</vt:lpstr>
      <vt:lpstr>F. Others</vt:lpstr>
      <vt:lpstr>UNITS - 1</vt:lpstr>
      <vt:lpstr>UNITS - 2</vt:lpstr>
      <vt:lpstr>Detection Methods of Radioactivity</vt:lpstr>
      <vt:lpstr>How Can We Detect Radioactivity?</vt:lpstr>
      <vt:lpstr>Geiger Counter</vt:lpstr>
      <vt:lpstr>Photographic Film</vt:lpstr>
      <vt:lpstr>The Gold Leaf Electroscope</vt:lpstr>
      <vt:lpstr>The Spark Counter </vt:lpstr>
      <vt:lpstr>The Cloud Chamber </vt:lpstr>
      <vt:lpstr>The Bubble Chamber </vt:lpstr>
      <vt:lpstr>Modern Detectors </vt:lpstr>
      <vt:lpstr>Modern Detectors… </vt:lpstr>
      <vt:lpstr>PowerPoint Presentation</vt:lpstr>
    </vt:vector>
  </TitlesOfParts>
  <Company>0777910808/0756441993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Nuclear Chemistry</dc:title>
  <dc:creator>WELCOME</dc:creator>
  <cp:lastModifiedBy>User</cp:lastModifiedBy>
  <cp:revision>21</cp:revision>
  <dcterms:created xsi:type="dcterms:W3CDTF">2012-12-08T15:40:19Z</dcterms:created>
  <dcterms:modified xsi:type="dcterms:W3CDTF">2025-01-21T11:11:15Z</dcterms:modified>
</cp:coreProperties>
</file>