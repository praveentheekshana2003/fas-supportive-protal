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24" r:id="rId1"/>
  </p:sldMasterIdLst>
  <p:notesMasterIdLst>
    <p:notesMasterId r:id="rId143"/>
  </p:notesMasterIdLst>
  <p:handoutMasterIdLst>
    <p:handoutMasterId r:id="rId144"/>
  </p:handoutMasterIdLst>
  <p:sldIdLst>
    <p:sldId id="256" r:id="rId2"/>
    <p:sldId id="257" r:id="rId3"/>
    <p:sldId id="258" r:id="rId4"/>
    <p:sldId id="352" r:id="rId5"/>
    <p:sldId id="294" r:id="rId6"/>
    <p:sldId id="298" r:id="rId7"/>
    <p:sldId id="299" r:id="rId8"/>
    <p:sldId id="300" r:id="rId9"/>
    <p:sldId id="304" r:id="rId10"/>
    <p:sldId id="305" r:id="rId11"/>
    <p:sldId id="306" r:id="rId12"/>
    <p:sldId id="314" r:id="rId13"/>
    <p:sldId id="259" r:id="rId14"/>
    <p:sldId id="353" r:id="rId15"/>
    <p:sldId id="307" r:id="rId16"/>
    <p:sldId id="308" r:id="rId17"/>
    <p:sldId id="309" r:id="rId18"/>
    <p:sldId id="310" r:id="rId19"/>
    <p:sldId id="260" r:id="rId20"/>
    <p:sldId id="262" r:id="rId21"/>
    <p:sldId id="263" r:id="rId22"/>
    <p:sldId id="264" r:id="rId23"/>
    <p:sldId id="265" r:id="rId24"/>
    <p:sldId id="266" r:id="rId25"/>
    <p:sldId id="312" r:id="rId26"/>
    <p:sldId id="354" r:id="rId27"/>
    <p:sldId id="355" r:id="rId28"/>
    <p:sldId id="267" r:id="rId29"/>
    <p:sldId id="268" r:id="rId30"/>
    <p:sldId id="269" r:id="rId31"/>
    <p:sldId id="271" r:id="rId32"/>
    <p:sldId id="272" r:id="rId33"/>
    <p:sldId id="356" r:id="rId34"/>
    <p:sldId id="273" r:id="rId35"/>
    <p:sldId id="274" r:id="rId36"/>
    <p:sldId id="358" r:id="rId37"/>
    <p:sldId id="275" r:id="rId38"/>
    <p:sldId id="276" r:id="rId39"/>
    <p:sldId id="277" r:id="rId40"/>
    <p:sldId id="278" r:id="rId41"/>
    <p:sldId id="279" r:id="rId42"/>
    <p:sldId id="280" r:id="rId43"/>
    <p:sldId id="281" r:id="rId44"/>
    <p:sldId id="282" r:id="rId45"/>
    <p:sldId id="283" r:id="rId46"/>
    <p:sldId id="351" r:id="rId47"/>
    <p:sldId id="284" r:id="rId48"/>
    <p:sldId id="285" r:id="rId49"/>
    <p:sldId id="317" r:id="rId50"/>
    <p:sldId id="318" r:id="rId51"/>
    <p:sldId id="319" r:id="rId52"/>
    <p:sldId id="320" r:id="rId53"/>
    <p:sldId id="321" r:id="rId54"/>
    <p:sldId id="286" r:id="rId55"/>
    <p:sldId id="287" r:id="rId56"/>
    <p:sldId id="288" r:id="rId57"/>
    <p:sldId id="289" r:id="rId58"/>
    <p:sldId id="290" r:id="rId59"/>
    <p:sldId id="291" r:id="rId60"/>
    <p:sldId id="302" r:id="rId61"/>
    <p:sldId id="303" r:id="rId62"/>
    <p:sldId id="360" r:id="rId63"/>
    <p:sldId id="361" r:id="rId64"/>
    <p:sldId id="362" r:id="rId65"/>
    <p:sldId id="363" r:id="rId66"/>
    <p:sldId id="364" r:id="rId67"/>
    <p:sldId id="365" r:id="rId68"/>
    <p:sldId id="366" r:id="rId69"/>
    <p:sldId id="367" r:id="rId70"/>
    <p:sldId id="368" r:id="rId71"/>
    <p:sldId id="369" r:id="rId72"/>
    <p:sldId id="370" r:id="rId73"/>
    <p:sldId id="371" r:id="rId74"/>
    <p:sldId id="372" r:id="rId75"/>
    <p:sldId id="373" r:id="rId76"/>
    <p:sldId id="374" r:id="rId77"/>
    <p:sldId id="375" r:id="rId78"/>
    <p:sldId id="376" r:id="rId79"/>
    <p:sldId id="377" r:id="rId80"/>
    <p:sldId id="378" r:id="rId81"/>
    <p:sldId id="379" r:id="rId82"/>
    <p:sldId id="380" r:id="rId83"/>
    <p:sldId id="381" r:id="rId84"/>
    <p:sldId id="382" r:id="rId85"/>
    <p:sldId id="383" r:id="rId86"/>
    <p:sldId id="384" r:id="rId87"/>
    <p:sldId id="385" r:id="rId88"/>
    <p:sldId id="386" r:id="rId89"/>
    <p:sldId id="387" r:id="rId90"/>
    <p:sldId id="388" r:id="rId91"/>
    <p:sldId id="389" r:id="rId92"/>
    <p:sldId id="390" r:id="rId93"/>
    <p:sldId id="391" r:id="rId94"/>
    <p:sldId id="392" r:id="rId95"/>
    <p:sldId id="393" r:id="rId96"/>
    <p:sldId id="394" r:id="rId97"/>
    <p:sldId id="395" r:id="rId98"/>
    <p:sldId id="397" r:id="rId99"/>
    <p:sldId id="398" r:id="rId100"/>
    <p:sldId id="399" r:id="rId101"/>
    <p:sldId id="400" r:id="rId102"/>
    <p:sldId id="401" r:id="rId103"/>
    <p:sldId id="402" r:id="rId104"/>
    <p:sldId id="404" r:id="rId105"/>
    <p:sldId id="405" r:id="rId106"/>
    <p:sldId id="406" r:id="rId107"/>
    <p:sldId id="408" r:id="rId108"/>
    <p:sldId id="409" r:id="rId109"/>
    <p:sldId id="410" r:id="rId110"/>
    <p:sldId id="411" r:id="rId111"/>
    <p:sldId id="412" r:id="rId112"/>
    <p:sldId id="413" r:id="rId113"/>
    <p:sldId id="414" r:id="rId114"/>
    <p:sldId id="415" r:id="rId115"/>
    <p:sldId id="416" r:id="rId116"/>
    <p:sldId id="417" r:id="rId117"/>
    <p:sldId id="418" r:id="rId118"/>
    <p:sldId id="419" r:id="rId119"/>
    <p:sldId id="420" r:id="rId120"/>
    <p:sldId id="424" r:id="rId121"/>
    <p:sldId id="427" r:id="rId122"/>
    <p:sldId id="428" r:id="rId123"/>
    <p:sldId id="429" r:id="rId124"/>
    <p:sldId id="430" r:id="rId125"/>
    <p:sldId id="432" r:id="rId126"/>
    <p:sldId id="433" r:id="rId127"/>
    <p:sldId id="434" r:id="rId128"/>
    <p:sldId id="435" r:id="rId129"/>
    <p:sldId id="436" r:id="rId130"/>
    <p:sldId id="437" r:id="rId131"/>
    <p:sldId id="438" r:id="rId132"/>
    <p:sldId id="439" r:id="rId133"/>
    <p:sldId id="440" r:id="rId134"/>
    <p:sldId id="441" r:id="rId135"/>
    <p:sldId id="442" r:id="rId136"/>
    <p:sldId id="443" r:id="rId137"/>
    <p:sldId id="444" r:id="rId138"/>
    <p:sldId id="445" r:id="rId139"/>
    <p:sldId id="446" r:id="rId140"/>
    <p:sldId id="447" r:id="rId141"/>
    <p:sldId id="448" r:id="rId142"/>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2787"/>
    <p:restoredTop sz="91026" autoAdjust="0"/>
  </p:normalViewPr>
  <p:slideViewPr>
    <p:cSldViewPr>
      <p:cViewPr varScale="1">
        <p:scale>
          <a:sx n="78" d="100"/>
          <a:sy n="78" d="100"/>
        </p:scale>
        <p:origin x="48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notesMaster" Target="notesMasters/notesMaster1.xml"/><Relationship Id="rId14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1C38B1-B4BE-4376-A3F0-4D839DFCE6E1}" type="datetimeFigureOut">
              <a:rPr lang="en-US" smtClean="0"/>
              <a:t>12/15/2018</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3E03A8B-5A24-41EB-801B-108BA75AD0BA}" type="slidenum">
              <a:rPr lang="en-US" smtClean="0"/>
              <a:t>‹#›</a:t>
            </a:fld>
            <a:endParaRPr lang="en-US"/>
          </a:p>
        </p:txBody>
      </p:sp>
    </p:spTree>
    <p:extLst>
      <p:ext uri="{BB962C8B-B14F-4D97-AF65-F5344CB8AC3E}">
        <p14:creationId xmlns:p14="http://schemas.microsoft.com/office/powerpoint/2010/main" val="21337830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5CF9C79-8BD7-46A3-81C8-9FB7C9A60F33}" type="datetimeFigureOut">
              <a:rPr lang="en-US"/>
              <a:pPr>
                <a:defRPr/>
              </a:pPr>
              <a:t>12/15/2018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F636F2A9-C950-48DC-826A-3ADF0134A902}" type="slidenum">
              <a:rPr lang="en-US"/>
              <a:pPr>
                <a:defRPr/>
              </a:pPr>
              <a:t>‹#›</a:t>
            </a:fld>
            <a:endParaRPr lang="en-US"/>
          </a:p>
        </p:txBody>
      </p:sp>
    </p:spTree>
    <p:extLst>
      <p:ext uri="{BB962C8B-B14F-4D97-AF65-F5344CB8AC3E}">
        <p14:creationId xmlns:p14="http://schemas.microsoft.com/office/powerpoint/2010/main" val="3160462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49EBD3F8-F227-4EBB-AAD2-751397554F70}" type="slidenum">
              <a:rPr lang="en-US" smtClean="0"/>
              <a:pPr/>
              <a:t>4</a:t>
            </a:fld>
            <a:endParaRPr lang="en-US" smtClean="0"/>
          </a:p>
        </p:txBody>
      </p:sp>
      <p:sp>
        <p:nvSpPr>
          <p:cNvPr id="157699"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57700"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lIns="91403" tIns="45701" rIns="91403" bIns="45701" numCol="1" anchor="t" anchorCtr="0" compatLnSpc="1">
            <a:prstTxWarp prst="textNoShape">
              <a:avLst/>
            </a:prstTxWarp>
          </a:bodyPr>
          <a:lstStyle/>
          <a:p>
            <a:pPr eaLnBrk="1" hangingPunct="1">
              <a:spcBef>
                <a:spcPct val="0"/>
              </a:spcBef>
            </a:pPr>
            <a:r>
              <a:rPr lang="en-US" smtClean="0">
                <a:solidFill>
                  <a:srgbClr val="000000"/>
                </a:solidFill>
                <a:latin typeface="Geneva" charset="0"/>
              </a:rPr>
              <a:t>Figure: 06-16</a:t>
            </a:r>
          </a:p>
          <a:p>
            <a:pPr eaLnBrk="1" hangingPunct="1">
              <a:spcBef>
                <a:spcPct val="0"/>
              </a:spcBef>
            </a:pPr>
            <a:endParaRPr lang="en-US" smtClean="0">
              <a:solidFill>
                <a:srgbClr val="000000"/>
              </a:solidFill>
              <a:latin typeface="Geneva" charset="0"/>
            </a:endParaRPr>
          </a:p>
          <a:p>
            <a:pPr eaLnBrk="1" hangingPunct="1">
              <a:spcBef>
                <a:spcPct val="0"/>
              </a:spcBef>
            </a:pPr>
            <a:r>
              <a:rPr lang="en-US" smtClean="0">
                <a:solidFill>
                  <a:srgbClr val="000000"/>
                </a:solidFill>
                <a:latin typeface="Geneva" charset="0"/>
              </a:rPr>
              <a:t>Caption:</a:t>
            </a:r>
          </a:p>
          <a:p>
            <a:pPr eaLnBrk="1" hangingPunct="1">
              <a:spcBef>
                <a:spcPct val="0"/>
              </a:spcBef>
            </a:pPr>
            <a:r>
              <a:rPr lang="en-US" smtClean="0">
                <a:solidFill>
                  <a:srgbClr val="000000"/>
                </a:solidFill>
                <a:latin typeface="Geneva" charset="0"/>
              </a:rPr>
              <a:t>Effect of temperature on growth rate and the molecular consequences for the cell. The three cardinal temperatures vary by organism.  </a:t>
            </a:r>
          </a:p>
          <a:p>
            <a:pPr eaLnBrk="1" hangingPunct="1">
              <a:spcBef>
                <a:spcPct val="0"/>
              </a:spcBef>
            </a:pPr>
            <a:endParaRPr lang="en-US" smtClean="0">
              <a:solidFill>
                <a:srgbClr val="000000"/>
              </a:solidFill>
              <a:latin typeface="Geneva" charset="0"/>
            </a:endParaRPr>
          </a:p>
          <a:p>
            <a:pPr eaLnBrk="1" hangingPunct="1">
              <a:spcBef>
                <a:spcPct val="0"/>
              </a:spcBef>
            </a:pPr>
            <a:endParaRPr lang="en-US" smtClean="0"/>
          </a:p>
        </p:txBody>
      </p:sp>
    </p:spTree>
    <p:extLst>
      <p:ext uri="{BB962C8B-B14F-4D97-AF65-F5344CB8AC3E}">
        <p14:creationId xmlns:p14="http://schemas.microsoft.com/office/powerpoint/2010/main" val="3890084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5AD67D2-7291-49C9-9CC8-B606B64783EC}" type="slidenum">
              <a:rPr lang="en-US" smtClean="0"/>
              <a:pPr/>
              <a:t>14</a:t>
            </a:fld>
            <a:endParaRPr lang="en-US" smtClean="0"/>
          </a:p>
        </p:txBody>
      </p:sp>
      <p:sp>
        <p:nvSpPr>
          <p:cNvPr id="158723"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58724"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lIns="91403" tIns="45701" rIns="91403" bIns="45701" numCol="1" anchor="t" anchorCtr="0" compatLnSpc="1">
            <a:prstTxWarp prst="textNoShape">
              <a:avLst/>
            </a:prstTxWarp>
          </a:bodyPr>
          <a:lstStyle/>
          <a:p>
            <a:pPr eaLnBrk="1" hangingPunct="1">
              <a:spcBef>
                <a:spcPct val="0"/>
              </a:spcBef>
            </a:pPr>
            <a:r>
              <a:rPr lang="en-US" smtClean="0">
                <a:solidFill>
                  <a:srgbClr val="000000"/>
                </a:solidFill>
                <a:latin typeface="Geneva" charset="0"/>
              </a:rPr>
              <a:t>Figure: 06-22</a:t>
            </a:r>
          </a:p>
          <a:p>
            <a:pPr eaLnBrk="1" hangingPunct="1">
              <a:spcBef>
                <a:spcPct val="0"/>
              </a:spcBef>
            </a:pPr>
            <a:r>
              <a:rPr lang="en-US" smtClean="0">
                <a:solidFill>
                  <a:srgbClr val="000000"/>
                </a:solidFill>
                <a:latin typeface="Geneva" charset="0"/>
              </a:rPr>
              <a:t>Caption:</a:t>
            </a:r>
          </a:p>
          <a:p>
            <a:pPr eaLnBrk="1" hangingPunct="1">
              <a:spcBef>
                <a:spcPct val="0"/>
              </a:spcBef>
            </a:pPr>
            <a:r>
              <a:rPr lang="en-US" smtClean="0">
                <a:solidFill>
                  <a:srgbClr val="000000"/>
                </a:solidFill>
                <a:latin typeface="Geneva" charset="0"/>
              </a:rPr>
              <a:t>The pH scale. Note that although some microorganisms can live at very low or very high pH, the cell</a:t>
            </a:r>
            <a:r>
              <a:rPr lang="en-US" smtClean="0">
                <a:solidFill>
                  <a:srgbClr val="000000"/>
                </a:solidFill>
                <a:latin typeface="Times New Roman" pitchFamily="18" charset="0"/>
              </a:rPr>
              <a:t>’</a:t>
            </a:r>
            <a:r>
              <a:rPr lang="en-US" smtClean="0">
                <a:solidFill>
                  <a:srgbClr val="000000"/>
                </a:solidFill>
                <a:latin typeface="Geneva" charset="0"/>
              </a:rPr>
              <a:t>s internal pH remains near neutrality.  </a:t>
            </a:r>
          </a:p>
          <a:p>
            <a:pPr eaLnBrk="1" hangingPunct="1">
              <a:spcBef>
                <a:spcPct val="0"/>
              </a:spcBef>
            </a:pPr>
            <a:r>
              <a:rPr lang="en-US" sz="500" smtClean="0"/>
              <a:t>Most bacteria prefer pH near neutrality. Some require extreme pH however. Most natural habitats have pH of 5-9.</a:t>
            </a:r>
          </a:p>
          <a:p>
            <a:pPr eaLnBrk="1" hangingPunct="1">
              <a:spcBef>
                <a:spcPct val="0"/>
              </a:spcBef>
            </a:pPr>
            <a:r>
              <a:rPr lang="en-GB" sz="500" smtClean="0"/>
              <a:t>Microorganisms which grow at an optimum pH well below neutrality (7.0) are called </a:t>
            </a:r>
            <a:r>
              <a:rPr lang="en-GB" sz="500" b="1" smtClean="0"/>
              <a:t>acidophiles</a:t>
            </a:r>
            <a:r>
              <a:rPr lang="en-GB" sz="500" smtClean="0"/>
              <a:t>. Those which grow best at neutral pH are called </a:t>
            </a:r>
            <a:r>
              <a:rPr lang="en-GB" sz="500" b="1" smtClean="0"/>
              <a:t>neutrophiles</a:t>
            </a:r>
            <a:r>
              <a:rPr lang="en-GB" sz="500" smtClean="0"/>
              <a:t> and those that grow best under alkaline conditions are called </a:t>
            </a:r>
            <a:r>
              <a:rPr lang="en-GB" sz="500" b="1" smtClean="0"/>
              <a:t>alkaliphiles</a:t>
            </a:r>
            <a:r>
              <a:rPr lang="en-GB" sz="500" smtClean="0"/>
              <a:t>. Obligate acidophiles, such as some </a:t>
            </a:r>
            <a:r>
              <a:rPr lang="en-GB" sz="500" i="1" smtClean="0"/>
              <a:t>Thiobacillus</a:t>
            </a:r>
            <a:r>
              <a:rPr lang="en-GB" sz="500" smtClean="0"/>
              <a:t> species, actually require a low pH for growth since their membranes dissolve and the cells lyse at neutrality. Several genera of Archaea, including </a:t>
            </a:r>
            <a:r>
              <a:rPr lang="en-GB" sz="500" i="1" smtClean="0"/>
              <a:t>Sulfolobus</a:t>
            </a:r>
            <a:r>
              <a:rPr lang="en-GB" sz="500" smtClean="0"/>
              <a:t> and </a:t>
            </a:r>
            <a:r>
              <a:rPr lang="en-GB" sz="500" i="1" smtClean="0"/>
              <a:t>Thermoplasma</a:t>
            </a:r>
            <a:r>
              <a:rPr lang="en-GB" sz="500" smtClean="0"/>
              <a:t>, are obligate acidophiles. Among eukaryotes, many fungi are acidophiles, but the champion of growth at low pH is the eukaryotic alga </a:t>
            </a:r>
            <a:r>
              <a:rPr lang="en-GB" sz="500" i="1" smtClean="0"/>
              <a:t>Cyanidium</a:t>
            </a:r>
            <a:r>
              <a:rPr lang="en-GB" sz="500" smtClean="0"/>
              <a:t> which can grow at a pH of 0. </a:t>
            </a:r>
          </a:p>
          <a:p>
            <a:pPr eaLnBrk="1" hangingPunct="1">
              <a:spcBef>
                <a:spcPct val="0"/>
              </a:spcBef>
            </a:pPr>
            <a:r>
              <a:rPr lang="en-GB" sz="500" smtClean="0"/>
              <a:t>In the construction and use of culture media, one must always consider the optimum pH for growth of a desired organism and incorporate </a:t>
            </a:r>
            <a:r>
              <a:rPr lang="en-GB" sz="500" b="1" smtClean="0"/>
              <a:t>buffers</a:t>
            </a:r>
            <a:r>
              <a:rPr lang="en-GB" sz="500" smtClean="0"/>
              <a:t> in order to maintain the pH of the medium in the changing milieu of bacterial waste products that accumulate during growth. Many pathogenic bacteria exhibit a relatively narrow range of pH over which they will grow. Most diagnostic media for the growth and identification of human pathogens have a pH near 7. </a:t>
            </a:r>
          </a:p>
          <a:p>
            <a:pPr eaLnBrk="1" hangingPunct="1">
              <a:spcBef>
                <a:spcPct val="0"/>
              </a:spcBef>
            </a:pPr>
            <a:endParaRPr lang="en-US" sz="500" smtClean="0"/>
          </a:p>
        </p:txBody>
      </p:sp>
    </p:spTree>
    <p:extLst>
      <p:ext uri="{BB962C8B-B14F-4D97-AF65-F5344CB8AC3E}">
        <p14:creationId xmlns:p14="http://schemas.microsoft.com/office/powerpoint/2010/main" val="3305950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6127513E-6EAF-4BBB-B326-9F2C5C8C01C9}" type="slidenum">
              <a:rPr lang="en-US" smtClean="0"/>
              <a:pPr/>
              <a:t>27</a:t>
            </a:fld>
            <a:endParaRPr lang="en-US" smtClean="0"/>
          </a:p>
        </p:txBody>
      </p:sp>
      <p:sp>
        <p:nvSpPr>
          <p:cNvPr id="1597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97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solidFill>
                  <a:srgbClr val="000000"/>
                </a:solidFill>
                <a:latin typeface="Geneva" charset="0"/>
              </a:rPr>
              <a:t>Figure: 06-27</a:t>
            </a:r>
          </a:p>
          <a:p>
            <a:pPr eaLnBrk="1" hangingPunct="1">
              <a:spcBef>
                <a:spcPct val="0"/>
              </a:spcBef>
            </a:pPr>
            <a:r>
              <a:rPr lang="en-US" smtClean="0">
                <a:solidFill>
                  <a:srgbClr val="000000"/>
                </a:solidFill>
                <a:latin typeface="Geneva" charset="0"/>
              </a:rPr>
              <a:t>Caption:</a:t>
            </a:r>
          </a:p>
          <a:p>
            <a:pPr eaLnBrk="1" hangingPunct="1">
              <a:spcBef>
                <a:spcPct val="0"/>
              </a:spcBef>
            </a:pPr>
            <a:r>
              <a:rPr lang="en-US" smtClean="0">
                <a:solidFill>
                  <a:srgbClr val="000000"/>
                </a:solidFill>
                <a:latin typeface="Geneva" charset="0"/>
              </a:rPr>
              <a:t>Four-electron reduction of O</a:t>
            </a:r>
            <a:r>
              <a:rPr lang="en-US" baseline="-25000" smtClean="0">
                <a:solidFill>
                  <a:srgbClr val="000000"/>
                </a:solidFill>
                <a:latin typeface="Geneva" charset="0"/>
              </a:rPr>
              <a:t>2</a:t>
            </a:r>
            <a:r>
              <a:rPr lang="en-US" smtClean="0">
                <a:solidFill>
                  <a:srgbClr val="000000"/>
                </a:solidFill>
                <a:latin typeface="Geneva" charset="0"/>
              </a:rPr>
              <a:t> to water by stepwise addition of electrons. All the intermediates formed are reactive and toxic to cells except for water, of course.  </a:t>
            </a:r>
          </a:p>
          <a:p>
            <a:pPr eaLnBrk="1" hangingPunct="1">
              <a:spcBef>
                <a:spcPct val="0"/>
              </a:spcBef>
            </a:pPr>
            <a:endParaRPr lang="en-US" smtClean="0">
              <a:solidFill>
                <a:srgbClr val="000000"/>
              </a:solidFill>
              <a:latin typeface="Geneva" charset="0"/>
            </a:endParaRPr>
          </a:p>
          <a:p>
            <a:pPr eaLnBrk="1" hangingPunct="1">
              <a:spcBef>
                <a:spcPct val="0"/>
              </a:spcBef>
            </a:pPr>
            <a:r>
              <a:rPr lang="en-US" smtClean="0">
                <a:solidFill>
                  <a:srgbClr val="000000"/>
                </a:solidFill>
                <a:latin typeface="Geneva" charset="0"/>
              </a:rPr>
              <a:t>Figure: 06-28a-e</a:t>
            </a:r>
          </a:p>
          <a:p>
            <a:pPr eaLnBrk="1" hangingPunct="1">
              <a:spcBef>
                <a:spcPct val="0"/>
              </a:spcBef>
            </a:pPr>
            <a:r>
              <a:rPr lang="en-US" smtClean="0">
                <a:solidFill>
                  <a:srgbClr val="000000"/>
                </a:solidFill>
                <a:latin typeface="Geneva" charset="0"/>
              </a:rPr>
              <a:t>Caption:</a:t>
            </a:r>
          </a:p>
          <a:p>
            <a:pPr eaLnBrk="1" hangingPunct="1">
              <a:spcBef>
                <a:spcPct val="0"/>
              </a:spcBef>
            </a:pPr>
            <a:r>
              <a:rPr lang="en-US" smtClean="0">
                <a:solidFill>
                  <a:srgbClr val="000000"/>
                </a:solidFill>
                <a:latin typeface="Geneva" charset="0"/>
              </a:rPr>
              <a:t>Enzymes that destroy toxic oxygen species. (a) Catalases and (b) peroxidases are porphyrin-containing proteins, although some flavoproteins may consume toxic oxygen species as well. (c) Superoxide dismutases are metal-containing proteins, the metals being copper and zinc, manganese, or iron. (d) Combined reaction of superoxide dismutase and catalase. (e) Superoxide reductase catalyzes the one electron reduction of O</a:t>
            </a:r>
            <a:r>
              <a:rPr lang="en-US" baseline="-25000" smtClean="0">
                <a:solidFill>
                  <a:srgbClr val="000000"/>
                </a:solidFill>
                <a:latin typeface="Geneva" charset="0"/>
              </a:rPr>
              <a:t>2</a:t>
            </a:r>
            <a:r>
              <a:rPr lang="en-US" baseline="30000" smtClean="0">
                <a:solidFill>
                  <a:srgbClr val="000000"/>
                </a:solidFill>
                <a:latin typeface="Geneva" charset="0"/>
              </a:rPr>
              <a:t>-</a:t>
            </a:r>
            <a:r>
              <a:rPr lang="en-US" smtClean="0">
                <a:solidFill>
                  <a:srgbClr val="000000"/>
                </a:solidFill>
                <a:latin typeface="Geneva" charset="0"/>
              </a:rPr>
              <a:t> to H</a:t>
            </a:r>
            <a:r>
              <a:rPr lang="en-US" baseline="-25000" smtClean="0">
                <a:solidFill>
                  <a:srgbClr val="000000"/>
                </a:solidFill>
                <a:latin typeface="Geneva" charset="0"/>
              </a:rPr>
              <a:t>2</a:t>
            </a:r>
            <a:r>
              <a:rPr lang="en-US" smtClean="0">
                <a:solidFill>
                  <a:srgbClr val="000000"/>
                </a:solidFill>
                <a:latin typeface="Geneva" charset="0"/>
              </a:rPr>
              <a:t>O</a:t>
            </a:r>
            <a:r>
              <a:rPr lang="en-US" baseline="-25000" smtClean="0">
                <a:solidFill>
                  <a:srgbClr val="000000"/>
                </a:solidFill>
                <a:latin typeface="Geneva" charset="0"/>
              </a:rPr>
              <a:t>2</a:t>
            </a:r>
            <a:r>
              <a:rPr lang="en-US" smtClean="0">
                <a:solidFill>
                  <a:srgbClr val="000000"/>
                </a:solidFill>
                <a:latin typeface="Geneva" charset="0"/>
              </a:rPr>
              <a:t> using reduced cytochrome c as the electron donor.  </a:t>
            </a:r>
            <a:endParaRPr lang="en-US" smtClean="0"/>
          </a:p>
          <a:p>
            <a:pPr eaLnBrk="1" hangingPunct="1">
              <a:spcBef>
                <a:spcPct val="0"/>
              </a:spcBef>
            </a:pPr>
            <a:endParaRPr lang="en-GB" smtClean="0"/>
          </a:p>
        </p:txBody>
      </p:sp>
    </p:spTree>
    <p:extLst>
      <p:ext uri="{BB962C8B-B14F-4D97-AF65-F5344CB8AC3E}">
        <p14:creationId xmlns:p14="http://schemas.microsoft.com/office/powerpoint/2010/main" val="1307029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BDCFB67-2E88-4BEC-9493-768ABB98E33B}" type="slidenum">
              <a:rPr lang="en-US" smtClean="0"/>
              <a:pPr/>
              <a:t>33</a:t>
            </a:fld>
            <a:endParaRPr lang="en-US" smtClean="0"/>
          </a:p>
        </p:txBody>
      </p:sp>
      <p:sp>
        <p:nvSpPr>
          <p:cNvPr id="1607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077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To adjust atmospheric conditions for </a:t>
            </a:r>
          </a:p>
          <a:p>
            <a:pPr lvl="1" eaLnBrk="1" hangingPunct="1">
              <a:lnSpc>
                <a:spcPct val="80000"/>
              </a:lnSpc>
              <a:spcBef>
                <a:spcPct val="0"/>
              </a:spcBef>
            </a:pPr>
            <a:r>
              <a:rPr lang="en-US" smtClean="0"/>
              <a:t>Capnophiles</a:t>
            </a:r>
          </a:p>
          <a:p>
            <a:pPr lvl="1" eaLnBrk="1" hangingPunct="1">
              <a:lnSpc>
                <a:spcPct val="80000"/>
              </a:lnSpc>
              <a:spcBef>
                <a:spcPct val="0"/>
              </a:spcBef>
            </a:pPr>
            <a:r>
              <a:rPr lang="en-US" smtClean="0"/>
              <a:t>Microaerophiles</a:t>
            </a:r>
          </a:p>
          <a:p>
            <a:pPr lvl="1" eaLnBrk="1" hangingPunct="1">
              <a:lnSpc>
                <a:spcPct val="80000"/>
              </a:lnSpc>
              <a:spcBef>
                <a:spcPct val="0"/>
              </a:spcBef>
            </a:pPr>
            <a:r>
              <a:rPr lang="en-US" smtClean="0"/>
              <a:t>Anaerobic bacteria</a:t>
            </a:r>
          </a:p>
          <a:p>
            <a:pPr eaLnBrk="1" hangingPunct="1">
              <a:spcBef>
                <a:spcPct val="70000"/>
              </a:spcBef>
            </a:pPr>
            <a:r>
              <a:rPr lang="en-US" b="1" smtClean="0"/>
              <a:t>Anaerobic jar principle:</a:t>
            </a:r>
            <a:r>
              <a:rPr lang="en-US" smtClean="0"/>
              <a:t> H</a:t>
            </a:r>
            <a:r>
              <a:rPr lang="en-US" baseline="-25000" smtClean="0"/>
              <a:t>2</a:t>
            </a:r>
            <a:r>
              <a:rPr lang="en-US" smtClean="0"/>
              <a:t> gas (in presence of palladium catalyst) reacts with free O</a:t>
            </a:r>
            <a:r>
              <a:rPr lang="en-US" baseline="-25000" smtClean="0"/>
              <a:t>2</a:t>
            </a:r>
            <a:r>
              <a:rPr lang="en-US" smtClean="0"/>
              <a:t> in the air to form water.  </a:t>
            </a:r>
          </a:p>
          <a:p>
            <a:pPr eaLnBrk="1" hangingPunct="1">
              <a:spcBef>
                <a:spcPct val="70000"/>
              </a:spcBef>
            </a:pPr>
            <a:r>
              <a:rPr lang="en-US" b="1" smtClean="0"/>
              <a:t>Candle jar principle</a:t>
            </a:r>
            <a:r>
              <a:rPr lang="en-US" smtClean="0"/>
              <a:t>: The flame will use up a certain percentage of the O</a:t>
            </a:r>
            <a:r>
              <a:rPr lang="en-US" baseline="-25000" smtClean="0"/>
              <a:t>2</a:t>
            </a:r>
            <a:r>
              <a:rPr lang="en-US" smtClean="0"/>
              <a:t> and elevate the CO</a:t>
            </a:r>
            <a:r>
              <a:rPr lang="en-US" baseline="-25000" smtClean="0"/>
              <a:t>2</a:t>
            </a:r>
            <a:r>
              <a:rPr lang="en-US" smtClean="0"/>
              <a:t> before extinguishing.</a:t>
            </a:r>
            <a:endParaRPr lang="en-GB" smtClean="0"/>
          </a:p>
        </p:txBody>
      </p:sp>
    </p:spTree>
    <p:extLst>
      <p:ext uri="{BB962C8B-B14F-4D97-AF65-F5344CB8AC3E}">
        <p14:creationId xmlns:p14="http://schemas.microsoft.com/office/powerpoint/2010/main" val="4133775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ED0510EB-BCEA-48D9-8EC3-A3BF38425F70}" type="slidenum">
              <a:rPr lang="en-US" smtClean="0"/>
              <a:pPr/>
              <a:t>36</a:t>
            </a:fld>
            <a:endParaRPr lang="en-US" smtClean="0"/>
          </a:p>
        </p:txBody>
      </p:sp>
      <p:sp>
        <p:nvSpPr>
          <p:cNvPr id="161795"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61796"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lIns="91403" tIns="45701" rIns="91403" bIns="45701" numCol="1" anchor="t" anchorCtr="0" compatLnSpc="1">
            <a:prstTxWarp prst="textNoShape">
              <a:avLst/>
            </a:prstTxWarp>
          </a:bodyPr>
          <a:lstStyle/>
          <a:p>
            <a:pPr eaLnBrk="1" hangingPunct="1">
              <a:spcBef>
                <a:spcPct val="0"/>
              </a:spcBef>
            </a:pPr>
            <a:r>
              <a:rPr lang="en-US" smtClean="0">
                <a:solidFill>
                  <a:srgbClr val="000000"/>
                </a:solidFill>
                <a:latin typeface="Geneva" charset="0"/>
              </a:rPr>
              <a:t>Figure: 06-23</a:t>
            </a:r>
          </a:p>
          <a:p>
            <a:pPr eaLnBrk="1" hangingPunct="1">
              <a:spcBef>
                <a:spcPct val="0"/>
              </a:spcBef>
            </a:pPr>
            <a:r>
              <a:rPr lang="en-US" smtClean="0">
                <a:solidFill>
                  <a:srgbClr val="000000"/>
                </a:solidFill>
                <a:latin typeface="Geneva" charset="0"/>
              </a:rPr>
              <a:t>Caption:</a:t>
            </a:r>
          </a:p>
          <a:p>
            <a:pPr eaLnBrk="1" hangingPunct="1">
              <a:spcBef>
                <a:spcPct val="0"/>
              </a:spcBef>
            </a:pPr>
            <a:r>
              <a:rPr lang="en-US" smtClean="0">
                <a:solidFill>
                  <a:srgbClr val="000000"/>
                </a:solidFill>
                <a:latin typeface="Geneva" charset="0"/>
              </a:rPr>
              <a:t>Effect of sodium ion concentration on growth of microorganisms of different salt tolerances or requirements. The optimum NaCl concentration for marine microorganisms such as </a:t>
            </a:r>
            <a:r>
              <a:rPr lang="en-US" i="1" smtClean="0">
                <a:solidFill>
                  <a:srgbClr val="000000"/>
                </a:solidFill>
                <a:latin typeface="Geneva" charset="0"/>
              </a:rPr>
              <a:t>V. fischeri</a:t>
            </a:r>
            <a:r>
              <a:rPr lang="en-US" smtClean="0">
                <a:solidFill>
                  <a:srgbClr val="000000"/>
                </a:solidFill>
                <a:latin typeface="Geneva" charset="0"/>
              </a:rPr>
              <a:t> is about 3%; for extreme halophiles, it is between 15 and 30%, depending on the organism.  </a:t>
            </a:r>
          </a:p>
          <a:p>
            <a:pPr eaLnBrk="1" hangingPunct="1">
              <a:spcBef>
                <a:spcPct val="0"/>
              </a:spcBef>
            </a:pPr>
            <a:endParaRPr lang="en-US" smtClean="0">
              <a:solidFill>
                <a:srgbClr val="000000"/>
              </a:solidFill>
              <a:latin typeface="Geneva" charset="0"/>
            </a:endParaRPr>
          </a:p>
          <a:p>
            <a:pPr eaLnBrk="1" hangingPunct="1">
              <a:spcBef>
                <a:spcPct val="0"/>
              </a:spcBef>
            </a:pPr>
            <a:r>
              <a:rPr lang="en-GB" smtClean="0"/>
              <a:t>The only common solute in nature that occurs over a wide concentration range is salt [NaCl], and some microorganisms are named based on their growth response to salt. Microorganisms that require some NaCl for growth are </a:t>
            </a:r>
            <a:r>
              <a:rPr lang="en-GB" b="1" smtClean="0"/>
              <a:t>halophiles</a:t>
            </a:r>
            <a:r>
              <a:rPr lang="en-GB" smtClean="0"/>
              <a:t>. </a:t>
            </a:r>
            <a:r>
              <a:rPr lang="en-GB" b="1" smtClean="0"/>
              <a:t>Mild halophiles</a:t>
            </a:r>
            <a:r>
              <a:rPr lang="en-GB" smtClean="0"/>
              <a:t> require 1-6% salt, </a:t>
            </a:r>
            <a:r>
              <a:rPr lang="en-GB" b="1" smtClean="0"/>
              <a:t>moderate halophiles</a:t>
            </a:r>
            <a:r>
              <a:rPr lang="en-GB" smtClean="0"/>
              <a:t> require 6-15% salt; </a:t>
            </a:r>
            <a:r>
              <a:rPr lang="en-GB" b="1" smtClean="0"/>
              <a:t>extreme halophiles</a:t>
            </a:r>
            <a:r>
              <a:rPr lang="en-GB" smtClean="0"/>
              <a:t> that require 15-30% NaCl for growth are found among the archaea.  Bacteria that are able to grow at moderate salt concentrations, even though they grow best in the absence of NaCl, are called </a:t>
            </a:r>
            <a:r>
              <a:rPr lang="en-GB" b="1" smtClean="0"/>
              <a:t>halotolerant</a:t>
            </a:r>
            <a:r>
              <a:rPr lang="en-GB" smtClean="0"/>
              <a:t>. Although halophiles are "osmophiles" (and halotolerant organisms are "osmotolerant") the term </a:t>
            </a:r>
            <a:r>
              <a:rPr lang="en-GB" b="1" smtClean="0"/>
              <a:t>osmophiles</a:t>
            </a:r>
            <a:r>
              <a:rPr lang="en-GB" smtClean="0"/>
              <a:t> is usually reserved for organisms that are able to live in environments high in sugar. Organisms which live in dry environments (made dry by lack of water) are called </a:t>
            </a:r>
            <a:r>
              <a:rPr lang="en-GB" b="1" smtClean="0"/>
              <a:t>xerophiles</a:t>
            </a:r>
            <a:r>
              <a:rPr lang="en-GB" smtClean="0"/>
              <a:t>. </a:t>
            </a:r>
          </a:p>
          <a:p>
            <a:pPr eaLnBrk="1" hangingPunct="1">
              <a:spcBef>
                <a:spcPct val="0"/>
              </a:spcBef>
            </a:pPr>
            <a:endParaRPr lang="en-US" smtClean="0"/>
          </a:p>
        </p:txBody>
      </p:sp>
    </p:spTree>
    <p:extLst>
      <p:ext uri="{BB962C8B-B14F-4D97-AF65-F5344CB8AC3E}">
        <p14:creationId xmlns:p14="http://schemas.microsoft.com/office/powerpoint/2010/main" val="931854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B4CBBD51-CCA8-48C2-B8F0-1DE602278F8E}" type="slidenum">
              <a:rPr lang="en-US" smtClean="0"/>
              <a:pPr/>
              <a:t>46</a:t>
            </a:fld>
            <a:endParaRPr lang="en-US" smtClean="0"/>
          </a:p>
        </p:txBody>
      </p:sp>
      <p:sp>
        <p:nvSpPr>
          <p:cNvPr id="1628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28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solidFill>
                  <a:srgbClr val="000000"/>
                </a:solidFill>
                <a:latin typeface="Geneva" charset="0"/>
              </a:rPr>
              <a:t>Figure: 06-01</a:t>
            </a:r>
          </a:p>
          <a:p>
            <a:pPr eaLnBrk="1" hangingPunct="1">
              <a:spcBef>
                <a:spcPct val="0"/>
              </a:spcBef>
            </a:pPr>
            <a:endParaRPr lang="en-US" smtClean="0">
              <a:solidFill>
                <a:srgbClr val="000000"/>
              </a:solidFill>
              <a:latin typeface="Geneva" charset="0"/>
            </a:endParaRPr>
          </a:p>
          <a:p>
            <a:pPr eaLnBrk="1" hangingPunct="1">
              <a:spcBef>
                <a:spcPct val="0"/>
              </a:spcBef>
            </a:pPr>
            <a:r>
              <a:rPr lang="en-US" smtClean="0">
                <a:solidFill>
                  <a:srgbClr val="000000"/>
                </a:solidFill>
                <a:latin typeface="Geneva" charset="0"/>
              </a:rPr>
              <a:t>Caption:</a:t>
            </a:r>
          </a:p>
          <a:p>
            <a:pPr eaLnBrk="1" hangingPunct="1">
              <a:spcBef>
                <a:spcPct val="0"/>
              </a:spcBef>
            </a:pPr>
            <a:r>
              <a:rPr lang="en-US" smtClean="0">
                <a:solidFill>
                  <a:srgbClr val="000000"/>
                </a:solidFill>
                <a:latin typeface="Geneva" charset="0"/>
              </a:rPr>
              <a:t>The general process of binary fission in a rod-shaped prokaryote. For simplicity, the nucleoid is depicted as a single circle in green.  </a:t>
            </a:r>
          </a:p>
          <a:p>
            <a:pPr eaLnBrk="1" hangingPunct="1">
              <a:spcBef>
                <a:spcPct val="0"/>
              </a:spcBef>
            </a:pPr>
            <a:endParaRPr lang="en-US" smtClean="0">
              <a:solidFill>
                <a:srgbClr val="000000"/>
              </a:solidFill>
              <a:latin typeface="Geneva" charset="0"/>
            </a:endParaRPr>
          </a:p>
          <a:p>
            <a:pPr eaLnBrk="1" hangingPunct="1">
              <a:spcBef>
                <a:spcPct val="0"/>
              </a:spcBef>
            </a:pPr>
            <a:endParaRPr lang="en-US" smtClean="0"/>
          </a:p>
        </p:txBody>
      </p:sp>
    </p:spTree>
    <p:extLst>
      <p:ext uri="{BB962C8B-B14F-4D97-AF65-F5344CB8AC3E}">
        <p14:creationId xmlns:p14="http://schemas.microsoft.com/office/powerpoint/2010/main" val="4211059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6B126952-E74A-4E35-8294-9B46FE67CB90}" type="slidenum">
              <a:rPr lang="en-US" smtClean="0"/>
              <a:pPr/>
              <a:t>50</a:t>
            </a:fld>
            <a:endParaRPr lang="en-US" smtClean="0"/>
          </a:p>
        </p:txBody>
      </p:sp>
      <p:sp>
        <p:nvSpPr>
          <p:cNvPr id="16384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3844" name="Rectangle 3"/>
          <p:cNvSpPr>
            <a:spLocks noGrp="1" noChangeArrowheads="1"/>
          </p:cNvSpPr>
          <p:nvPr>
            <p:ph type="body" idx="1"/>
          </p:nvPr>
        </p:nvSpPr>
        <p:spPr bwMode="auto">
          <a:noFill/>
        </p:spPr>
        <p:txBody>
          <a:bodyPr wrap="square" numCol="1" anchor="t" anchorCtr="0" compatLnSpc="1">
            <a:prstTxWarp prst="textNoShape">
              <a:avLst/>
            </a:prstTxWarp>
            <a:normAutofit fontScale="85000" lnSpcReduction="20000"/>
          </a:bodyPr>
          <a:lstStyle/>
          <a:p>
            <a:pPr eaLnBrk="1" hangingPunct="1">
              <a:spcBef>
                <a:spcPct val="0"/>
              </a:spcBef>
            </a:pPr>
            <a:r>
              <a:rPr lang="en-US" smtClean="0">
                <a:solidFill>
                  <a:srgbClr val="000000"/>
                </a:solidFill>
                <a:latin typeface="Geneva" charset="0"/>
              </a:rPr>
              <a:t>Figure: 06-08</a:t>
            </a:r>
          </a:p>
          <a:p>
            <a:pPr eaLnBrk="1" hangingPunct="1">
              <a:spcBef>
                <a:spcPct val="0"/>
              </a:spcBef>
            </a:pPr>
            <a:r>
              <a:rPr lang="en-US" smtClean="0">
                <a:solidFill>
                  <a:srgbClr val="000000"/>
                </a:solidFill>
                <a:latin typeface="Geneva" charset="0"/>
              </a:rPr>
              <a:t>Caption: Typical growth curve for a bacterial population. </a:t>
            </a:r>
          </a:p>
          <a:p>
            <a:pPr eaLnBrk="1" hangingPunct="1">
              <a:spcBef>
                <a:spcPct val="0"/>
              </a:spcBef>
            </a:pPr>
            <a:r>
              <a:rPr lang="en-GB" smtClean="0"/>
              <a:t>Four characteristic phases of the growth cycle are recognized. </a:t>
            </a:r>
          </a:p>
          <a:p>
            <a:pPr eaLnBrk="1" hangingPunct="1">
              <a:spcBef>
                <a:spcPct val="0"/>
              </a:spcBef>
            </a:pPr>
            <a:r>
              <a:rPr lang="en-GB" smtClean="0"/>
              <a:t>1. </a:t>
            </a:r>
            <a:r>
              <a:rPr lang="en-GB" b="1" smtClean="0"/>
              <a:t>Lag Phase</a:t>
            </a:r>
            <a:r>
              <a:rPr lang="en-GB" smtClean="0"/>
              <a:t>. Immediately after inoculation of the cells into fresh medium, the population remains temporarily unchanged. Although there is no apparent cell division occurring, the cells may be growing in volume or mass, synthesizing enzymes, proteins, RNA, etc., and increasing in metabolic activity. </a:t>
            </a:r>
          </a:p>
          <a:p>
            <a:pPr eaLnBrk="1" hangingPunct="1">
              <a:spcBef>
                <a:spcPct val="0"/>
              </a:spcBef>
            </a:pPr>
            <a:r>
              <a:rPr lang="en-GB" smtClean="0"/>
              <a:t>The length of the lag phase is apparently dependent on a wide variety of factors including the size of the inoculum; time necessary to recover from physiacal damage or shock in the transfer; time required for synthesis of essential coenzymes or division factors; and time required for synthesis of new (inducible) enzymes that are necessary to metabolize the substrates present in the medium. </a:t>
            </a:r>
          </a:p>
          <a:p>
            <a:pPr eaLnBrk="1" hangingPunct="1">
              <a:spcBef>
                <a:spcPct val="0"/>
              </a:spcBef>
            </a:pPr>
            <a:r>
              <a:rPr lang="en-GB" smtClean="0"/>
              <a:t>2. </a:t>
            </a:r>
            <a:r>
              <a:rPr lang="en-GB" b="1" smtClean="0"/>
              <a:t>Exponential (log) Phase</a:t>
            </a:r>
            <a:r>
              <a:rPr lang="en-GB" smtClean="0"/>
              <a:t>. The exponential phase of growth is a pattern of balanced growth wherein all the cells are dividing regularly by binary fission, and are growing by geometric progression. The cells divide at a constant rate depending upon the composition of the growth medium and the conditions of incubation. The rate of exponential growth of a bacterial culture is expressed as </a:t>
            </a:r>
            <a:r>
              <a:rPr lang="en-GB" b="1" smtClean="0"/>
              <a:t>generation time</a:t>
            </a:r>
            <a:r>
              <a:rPr lang="en-GB" smtClean="0"/>
              <a:t>, also the </a:t>
            </a:r>
            <a:r>
              <a:rPr lang="en-GB" b="1" smtClean="0"/>
              <a:t>doubling time </a:t>
            </a:r>
            <a:r>
              <a:rPr lang="en-GB" smtClean="0"/>
              <a:t>of the bacterial population. Generation time (G) is defined as the time (t) per generation (n = number of generations). Hence, G=t/n is the equation from which calculations of generation time (below) derive. </a:t>
            </a:r>
          </a:p>
          <a:p>
            <a:pPr eaLnBrk="1" hangingPunct="1">
              <a:spcBef>
                <a:spcPct val="0"/>
              </a:spcBef>
            </a:pPr>
            <a:r>
              <a:rPr lang="en-GB" smtClean="0"/>
              <a:t>3. </a:t>
            </a:r>
            <a:r>
              <a:rPr lang="en-GB" b="1" smtClean="0"/>
              <a:t>Stationary Phase</a:t>
            </a:r>
            <a:r>
              <a:rPr lang="en-GB" smtClean="0"/>
              <a:t>. Exponential growth cannot be continued forever in a </a:t>
            </a:r>
            <a:r>
              <a:rPr lang="en-GB" b="1" smtClean="0"/>
              <a:t>batch culture</a:t>
            </a:r>
            <a:r>
              <a:rPr lang="en-GB" smtClean="0"/>
              <a:t> (e.g. a closed system such as a test tube or flask). Population growth is limited by one of three factors: 1. exhaustion of available nutrients; 2. accumulation of inhibitory metabolites or end products; 3. exhaustion of space, in this case called a lack of "biological space". </a:t>
            </a:r>
          </a:p>
          <a:p>
            <a:pPr eaLnBrk="1" hangingPunct="1">
              <a:spcBef>
                <a:spcPct val="0"/>
              </a:spcBef>
            </a:pPr>
            <a:r>
              <a:rPr lang="en-GB" smtClean="0"/>
              <a:t>During the stationary phase, if viable cells are being counted, it cannot be determined whether some cells are dying and an equal number of cells are dividing, or the population of cells has simply stopped growing and dividing. The stationary phase, like the lag phase, is not necessarily a period of quiescence. Bacteria that produce </a:t>
            </a:r>
            <a:r>
              <a:rPr lang="en-GB" b="1" smtClean="0"/>
              <a:t>secondary metabolites</a:t>
            </a:r>
            <a:r>
              <a:rPr lang="en-GB" smtClean="0"/>
              <a:t>, such as antibiotics, do so during the stationary phase of the growth cycle (Secondary metabolites are defined as metabolites produced after the active stage of growth). It si during the stationary phase that spore-forming bacteria have to induce or unmask the activity of dozens of genes that may be involved in sporulation process. </a:t>
            </a:r>
          </a:p>
          <a:p>
            <a:pPr eaLnBrk="1" hangingPunct="1">
              <a:spcBef>
                <a:spcPct val="0"/>
              </a:spcBef>
            </a:pPr>
            <a:r>
              <a:rPr lang="en-GB" smtClean="0"/>
              <a:t>4. </a:t>
            </a:r>
            <a:r>
              <a:rPr lang="en-GB" b="1" smtClean="0"/>
              <a:t>Death Phase</a:t>
            </a:r>
            <a:r>
              <a:rPr lang="en-GB" smtClean="0"/>
              <a:t>. If incubation continues after the population reaches stationary phase, a death phase follows, in which the viable cell population declines. (Note, if counting by turbidimetric measurements or microoscopic counts, the death phase cannot be observed.). During the death phase, the number of viable cells decreases geometrically (exponentially), essentially the reverse of growth during the log phase. </a:t>
            </a:r>
            <a:endParaRPr lang="en-US" smtClean="0"/>
          </a:p>
        </p:txBody>
      </p:sp>
    </p:spTree>
    <p:extLst>
      <p:ext uri="{BB962C8B-B14F-4D97-AF65-F5344CB8AC3E}">
        <p14:creationId xmlns:p14="http://schemas.microsoft.com/office/powerpoint/2010/main" val="552686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E5D24BC8-6D03-417C-BB21-3CA48950EADF}" type="slidenum">
              <a:rPr lang="en-US" smtClean="0"/>
              <a:pPr/>
              <a:t>51</a:t>
            </a:fld>
            <a:endParaRPr lang="en-US" smtClean="0"/>
          </a:p>
        </p:txBody>
      </p:sp>
      <p:sp>
        <p:nvSpPr>
          <p:cNvPr id="16486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486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solidFill>
                  <a:srgbClr val="000000"/>
                </a:solidFill>
                <a:latin typeface="Geneva" charset="0"/>
              </a:rPr>
              <a:t>Figure: 06-06a-b</a:t>
            </a:r>
          </a:p>
          <a:p>
            <a:pPr eaLnBrk="1" hangingPunct="1">
              <a:spcBef>
                <a:spcPct val="0"/>
              </a:spcBef>
            </a:pPr>
            <a:endParaRPr lang="en-US" smtClean="0">
              <a:solidFill>
                <a:srgbClr val="000000"/>
              </a:solidFill>
              <a:latin typeface="Geneva" charset="0"/>
            </a:endParaRPr>
          </a:p>
          <a:p>
            <a:pPr eaLnBrk="1" hangingPunct="1">
              <a:spcBef>
                <a:spcPct val="0"/>
              </a:spcBef>
            </a:pPr>
            <a:r>
              <a:rPr lang="en-US" smtClean="0">
                <a:solidFill>
                  <a:srgbClr val="000000"/>
                </a:solidFill>
                <a:latin typeface="Geneva" charset="0"/>
              </a:rPr>
              <a:t>Caption:</a:t>
            </a:r>
          </a:p>
          <a:p>
            <a:pPr eaLnBrk="1" hangingPunct="1">
              <a:spcBef>
                <a:spcPct val="0"/>
              </a:spcBef>
            </a:pPr>
            <a:r>
              <a:rPr lang="en-US" smtClean="0">
                <a:solidFill>
                  <a:srgbClr val="000000"/>
                </a:solidFill>
                <a:latin typeface="Geneva" charset="0"/>
              </a:rPr>
              <a:t>The rate of growth of a microbial culture. (a) Data for a population that doubles every 30 min. (b) Data plotted on an arithmetic (left ordinate) and a logarithmic (right ordinate) scale.</a:t>
            </a:r>
          </a:p>
          <a:p>
            <a:pPr eaLnBrk="1" hangingPunct="1">
              <a:spcBef>
                <a:spcPct val="0"/>
              </a:spcBef>
            </a:pPr>
            <a:endParaRPr lang="en-US" smtClean="0">
              <a:solidFill>
                <a:srgbClr val="000000"/>
              </a:solidFill>
              <a:latin typeface="Geneva" charset="0"/>
            </a:endParaRPr>
          </a:p>
          <a:p>
            <a:pPr eaLnBrk="1" hangingPunct="1">
              <a:spcBef>
                <a:spcPct val="0"/>
              </a:spcBef>
            </a:pPr>
            <a:endParaRPr lang="en-US" smtClean="0"/>
          </a:p>
        </p:txBody>
      </p:sp>
    </p:spTree>
    <p:extLst>
      <p:ext uri="{BB962C8B-B14F-4D97-AF65-F5344CB8AC3E}">
        <p14:creationId xmlns:p14="http://schemas.microsoft.com/office/powerpoint/2010/main" val="2290653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FA76F46-BC80-4D77-8970-4646BB6643F7}" type="slidenum">
              <a:rPr lang="en-US" smtClean="0"/>
              <a:pPr/>
              <a:t>52</a:t>
            </a:fld>
            <a:endParaRPr lang="en-US" smtClean="0"/>
          </a:p>
        </p:txBody>
      </p:sp>
      <p:sp>
        <p:nvSpPr>
          <p:cNvPr id="1658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58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solidFill>
                  <a:srgbClr val="000000"/>
                </a:solidFill>
                <a:latin typeface="Geneva" charset="0"/>
              </a:rPr>
              <a:t>Figure: 06-07a-b</a:t>
            </a:r>
          </a:p>
          <a:p>
            <a:pPr eaLnBrk="1" hangingPunct="1">
              <a:spcBef>
                <a:spcPct val="0"/>
              </a:spcBef>
            </a:pPr>
            <a:endParaRPr lang="en-US" smtClean="0">
              <a:solidFill>
                <a:srgbClr val="000000"/>
              </a:solidFill>
              <a:latin typeface="Geneva" charset="0"/>
            </a:endParaRPr>
          </a:p>
          <a:p>
            <a:pPr eaLnBrk="1" hangingPunct="1">
              <a:spcBef>
                <a:spcPct val="0"/>
              </a:spcBef>
            </a:pPr>
            <a:r>
              <a:rPr lang="en-US" smtClean="0">
                <a:solidFill>
                  <a:srgbClr val="000000"/>
                </a:solidFill>
                <a:latin typeface="Geneva" charset="0"/>
              </a:rPr>
              <a:t>Caption:</a:t>
            </a:r>
          </a:p>
          <a:p>
            <a:pPr eaLnBrk="1" hangingPunct="1">
              <a:spcBef>
                <a:spcPct val="0"/>
              </a:spcBef>
            </a:pPr>
            <a:r>
              <a:rPr lang="en-US" smtClean="0">
                <a:solidFill>
                  <a:srgbClr val="000000"/>
                </a:solidFill>
                <a:latin typeface="Geneva" charset="0"/>
              </a:rPr>
              <a:t>Method of estimating the generation times (g) of exponentially growing populations with generation times of (a) 6 h and (b) 2 h from data plotted on semilogarithmic graphs. The slope of each line is equal to 0.301/g and n equals the number of generations that have occurred in the time, t. All numbers are expressed in scientific notation; that is, 10,000,000 is 1 x 10</a:t>
            </a:r>
            <a:r>
              <a:rPr lang="en-US" baseline="30000" smtClean="0">
                <a:solidFill>
                  <a:srgbClr val="000000"/>
                </a:solidFill>
                <a:latin typeface="Geneva" charset="0"/>
              </a:rPr>
              <a:t>7</a:t>
            </a:r>
            <a:r>
              <a:rPr lang="en-US" smtClean="0">
                <a:solidFill>
                  <a:srgbClr val="000000"/>
                </a:solidFill>
                <a:latin typeface="Geneva" charset="0"/>
              </a:rPr>
              <a:t>, 60,000,000 is 6 x 10</a:t>
            </a:r>
            <a:r>
              <a:rPr lang="en-US" baseline="30000" smtClean="0">
                <a:solidFill>
                  <a:srgbClr val="000000"/>
                </a:solidFill>
                <a:latin typeface="Geneva" charset="0"/>
              </a:rPr>
              <a:t>7</a:t>
            </a:r>
            <a:r>
              <a:rPr lang="en-US" smtClean="0">
                <a:solidFill>
                  <a:srgbClr val="000000"/>
                </a:solidFill>
                <a:latin typeface="Geneva" charset="0"/>
              </a:rPr>
              <a:t>, and so on.  </a:t>
            </a:r>
          </a:p>
          <a:p>
            <a:pPr eaLnBrk="1" hangingPunct="1">
              <a:spcBef>
                <a:spcPct val="0"/>
              </a:spcBef>
            </a:pPr>
            <a:endParaRPr lang="en-US" smtClean="0">
              <a:solidFill>
                <a:srgbClr val="000000"/>
              </a:solidFill>
              <a:latin typeface="Geneva" charset="0"/>
            </a:endParaRPr>
          </a:p>
          <a:p>
            <a:pPr eaLnBrk="1" hangingPunct="1">
              <a:spcBef>
                <a:spcPct val="0"/>
              </a:spcBef>
            </a:pPr>
            <a:endParaRPr lang="en-US" smtClean="0"/>
          </a:p>
        </p:txBody>
      </p:sp>
    </p:spTree>
    <p:extLst>
      <p:ext uri="{BB962C8B-B14F-4D97-AF65-F5344CB8AC3E}">
        <p14:creationId xmlns:p14="http://schemas.microsoft.com/office/powerpoint/2010/main" val="2353619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1026"/>
          <p:cNvSpPr>
            <a:spLocks noGrp="1" noRot="1" noChangeAspect="1" noChangeArrowheads="1" noTextEdit="1"/>
          </p:cNvSpPr>
          <p:nvPr>
            <p:ph type="sldImg"/>
          </p:nvPr>
        </p:nvSpPr>
        <p:spPr bwMode="auto">
          <a:noFill/>
          <a:ln>
            <a:solidFill>
              <a:srgbClr val="000000"/>
            </a:solidFill>
            <a:miter lim="800000"/>
            <a:headEnd/>
            <a:tailEnd/>
          </a:ln>
        </p:spPr>
      </p:sp>
      <p:sp>
        <p:nvSpPr>
          <p:cNvPr id="166915" name="Rectangle 1027"/>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9954719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793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735740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1026"/>
          <p:cNvSpPr>
            <a:spLocks noGrp="1" noRot="1" noChangeAspect="1" noChangeArrowheads="1" noTextEdit="1"/>
          </p:cNvSpPr>
          <p:nvPr>
            <p:ph type="sldImg"/>
          </p:nvPr>
        </p:nvSpPr>
        <p:spPr bwMode="auto">
          <a:noFill/>
          <a:ln>
            <a:solidFill>
              <a:srgbClr val="000000"/>
            </a:solidFill>
            <a:miter lim="800000"/>
            <a:headEnd/>
            <a:tailEnd/>
          </a:ln>
        </p:spPr>
      </p:sp>
      <p:sp>
        <p:nvSpPr>
          <p:cNvPr id="168963" name="Rectangle 1027"/>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929347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998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5092016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1026"/>
          <p:cNvSpPr>
            <a:spLocks noGrp="1" noRot="1" noChangeAspect="1" noChangeArrowheads="1" noTextEdit="1"/>
          </p:cNvSpPr>
          <p:nvPr>
            <p:ph type="sldImg"/>
          </p:nvPr>
        </p:nvSpPr>
        <p:spPr bwMode="auto">
          <a:noFill/>
          <a:ln>
            <a:solidFill>
              <a:srgbClr val="000000"/>
            </a:solidFill>
            <a:miter lim="800000"/>
            <a:headEnd/>
            <a:tailEnd/>
          </a:ln>
        </p:spPr>
      </p:sp>
      <p:sp>
        <p:nvSpPr>
          <p:cNvPr id="171011" name="Rectangle 1027"/>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4530178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203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8681950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305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505952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408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7513751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51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27410278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613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29776927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715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25552052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817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388254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92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952158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022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1954787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125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40280509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227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42166018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329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2836543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432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0924430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534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4039212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637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2422416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739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9232199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841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74341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944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5641417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046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2493027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149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1577945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251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8369930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353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9327689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456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4682290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558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22676558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661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5718947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763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2562717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865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4415196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968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dirty="0" smtClean="0"/>
          </a:p>
        </p:txBody>
      </p:sp>
    </p:spTree>
    <p:extLst>
      <p:ext uri="{BB962C8B-B14F-4D97-AF65-F5344CB8AC3E}">
        <p14:creationId xmlns:p14="http://schemas.microsoft.com/office/powerpoint/2010/main" val="27080727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07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7502039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173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6175215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275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9500623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48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6332127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582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41885546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685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1494962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787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421532418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992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5113474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094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28314037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197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551401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401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169401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4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27768433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606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2483825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709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59461320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811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408994603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913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53448769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2016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25581537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2118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1914485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2221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42005111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263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787197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2937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07457344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04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07062011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142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39573413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245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215583431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449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281649742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552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426855334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654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207749974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757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49107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859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05002958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961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70788417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4064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5218397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4166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67313110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4269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1164584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4371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63542245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4473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85777118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4576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403225668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4678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76991718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4781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351807306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4883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171461859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4985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90838244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5088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2250504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B4BCE65-4E58-49C8-BBC7-A9A8E6B87A5B}" type="slidenum">
              <a:rPr lang="en-US" smtClean="0"/>
              <a:pPr>
                <a:defRPr/>
              </a:pPr>
              <a:t>‹#›</a:t>
            </a:fld>
            <a:endParaRPr lang="en-US"/>
          </a:p>
        </p:txBody>
      </p:sp>
    </p:spTree>
    <p:extLst>
      <p:ext uri="{BB962C8B-B14F-4D97-AF65-F5344CB8AC3E}">
        <p14:creationId xmlns:p14="http://schemas.microsoft.com/office/powerpoint/2010/main" val="761192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117FD02-7A91-4B17-9327-66558341864E}" type="slidenum">
              <a:rPr lang="en-US" smtClean="0"/>
              <a:pPr>
                <a:defRPr/>
              </a:pPr>
              <a:t>‹#›</a:t>
            </a:fld>
            <a:endParaRPr lang="en-US"/>
          </a:p>
        </p:txBody>
      </p:sp>
    </p:spTree>
    <p:extLst>
      <p:ext uri="{BB962C8B-B14F-4D97-AF65-F5344CB8AC3E}">
        <p14:creationId xmlns:p14="http://schemas.microsoft.com/office/powerpoint/2010/main" val="4039272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CED148-0BEE-4070-9E61-785D7ECF7566}" type="slidenum">
              <a:rPr lang="en-US" smtClean="0"/>
              <a:pPr>
                <a:defRPr/>
              </a:pPr>
              <a:t>‹#›</a:t>
            </a:fld>
            <a:endParaRPr lang="en-US"/>
          </a:p>
        </p:txBody>
      </p:sp>
    </p:spTree>
    <p:extLst>
      <p:ext uri="{BB962C8B-B14F-4D97-AF65-F5344CB8AC3E}">
        <p14:creationId xmlns:p14="http://schemas.microsoft.com/office/powerpoint/2010/main" val="342996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45D428C-EA14-4413-AD20-B280041839FC}" type="slidenum">
              <a:rPr lang="en-US" smtClean="0"/>
              <a:pPr>
                <a:defRPr/>
              </a:pPr>
              <a:t>‹#›</a:t>
            </a:fld>
            <a:endParaRPr lang="en-US"/>
          </a:p>
        </p:txBody>
      </p:sp>
    </p:spTree>
    <p:extLst>
      <p:ext uri="{BB962C8B-B14F-4D97-AF65-F5344CB8AC3E}">
        <p14:creationId xmlns:p14="http://schemas.microsoft.com/office/powerpoint/2010/main" val="183001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80160F84-2018-4E3D-A728-949C69C53059}" type="slidenum">
              <a:rPr lang="en-US" smtClean="0"/>
              <a:pPr>
                <a:defRPr/>
              </a:pPr>
              <a:t>‹#›</a:t>
            </a:fld>
            <a:endParaRPr lang="en-US"/>
          </a:p>
        </p:txBody>
      </p:sp>
    </p:spTree>
    <p:extLst>
      <p:ext uri="{BB962C8B-B14F-4D97-AF65-F5344CB8AC3E}">
        <p14:creationId xmlns:p14="http://schemas.microsoft.com/office/powerpoint/2010/main" val="254360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F3938997-6435-4A7D-8348-4102907BE7D3}" type="slidenum">
              <a:rPr lang="en-US" smtClean="0"/>
              <a:pPr>
                <a:defRPr/>
              </a:pPr>
              <a:t>‹#›</a:t>
            </a:fld>
            <a:endParaRPr lang="en-US"/>
          </a:p>
        </p:txBody>
      </p:sp>
    </p:spTree>
    <p:extLst>
      <p:ext uri="{BB962C8B-B14F-4D97-AF65-F5344CB8AC3E}">
        <p14:creationId xmlns:p14="http://schemas.microsoft.com/office/powerpoint/2010/main" val="494485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A7729952-2CDA-467C-91FB-D1EE66E33C81}" type="slidenum">
              <a:rPr lang="en-US" smtClean="0"/>
              <a:pPr>
                <a:defRPr/>
              </a:pPr>
              <a:t>‹#›</a:t>
            </a:fld>
            <a:endParaRPr lang="en-US"/>
          </a:p>
        </p:txBody>
      </p:sp>
    </p:spTree>
    <p:extLst>
      <p:ext uri="{BB962C8B-B14F-4D97-AF65-F5344CB8AC3E}">
        <p14:creationId xmlns:p14="http://schemas.microsoft.com/office/powerpoint/2010/main" val="1457614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6715F20-F22E-488A-B4AF-5B000BF24D72}" type="slidenum">
              <a:rPr lang="en-US" smtClean="0"/>
              <a:pPr>
                <a:defRPr/>
              </a:pPr>
              <a:t>‹#›</a:t>
            </a:fld>
            <a:endParaRPr lang="en-US"/>
          </a:p>
        </p:txBody>
      </p:sp>
    </p:spTree>
    <p:extLst>
      <p:ext uri="{BB962C8B-B14F-4D97-AF65-F5344CB8AC3E}">
        <p14:creationId xmlns:p14="http://schemas.microsoft.com/office/powerpoint/2010/main" val="1812156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B9541D5-BAD6-42A9-B8CB-0F0C8BA000F9}" type="slidenum">
              <a:rPr lang="en-US" smtClean="0"/>
              <a:pPr>
                <a:defRPr/>
              </a:pPr>
              <a:t>‹#›</a:t>
            </a:fld>
            <a:endParaRPr lang="en-US"/>
          </a:p>
        </p:txBody>
      </p:sp>
    </p:spTree>
    <p:extLst>
      <p:ext uri="{BB962C8B-B14F-4D97-AF65-F5344CB8AC3E}">
        <p14:creationId xmlns:p14="http://schemas.microsoft.com/office/powerpoint/2010/main" val="3797738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28E8177-5666-4A13-A83F-409BA7929A5C}" type="slidenum">
              <a:rPr lang="en-US" smtClean="0"/>
              <a:pPr>
                <a:defRPr/>
              </a:pPr>
              <a:t>‹#›</a:t>
            </a:fld>
            <a:endParaRPr lang="en-US"/>
          </a:p>
        </p:txBody>
      </p:sp>
    </p:spTree>
    <p:extLst>
      <p:ext uri="{BB962C8B-B14F-4D97-AF65-F5344CB8AC3E}">
        <p14:creationId xmlns:p14="http://schemas.microsoft.com/office/powerpoint/2010/main" val="3467266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34DF444-1404-4D3A-B416-BCC2FCB921C9}" type="slidenum">
              <a:rPr lang="en-US" smtClean="0"/>
              <a:pPr>
                <a:defRPr/>
              </a:pPr>
              <a:t>‹#›</a:t>
            </a:fld>
            <a:endParaRPr lang="en-US"/>
          </a:p>
        </p:txBody>
      </p:sp>
    </p:spTree>
    <p:extLst>
      <p:ext uri="{BB962C8B-B14F-4D97-AF65-F5344CB8AC3E}">
        <p14:creationId xmlns:p14="http://schemas.microsoft.com/office/powerpoint/2010/main" val="1946329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990600" y="457200"/>
            <a:ext cx="7772400" cy="11430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990600" y="1828800"/>
            <a:ext cx="3810000" cy="4114800"/>
          </a:xfrm>
        </p:spPr>
        <p:txBody>
          <a:bodyPr rtlCol="0">
            <a:normAutofit/>
          </a:bodyPr>
          <a:lstStyle/>
          <a:p>
            <a:pPr lvl="0"/>
            <a:endParaRPr lang="en-US" noProof="0" smtClean="0"/>
          </a:p>
        </p:txBody>
      </p:sp>
      <p:sp>
        <p:nvSpPr>
          <p:cNvPr id="4" name="Text Placeholder 3"/>
          <p:cNvSpPr>
            <a:spLocks noGrp="1"/>
          </p:cNvSpPr>
          <p:nvPr>
            <p:ph type="body" sz="half" idx="2"/>
          </p:nvPr>
        </p:nvSpPr>
        <p:spPr>
          <a:xfrm>
            <a:off x="4953000" y="18288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0380B7C-2D56-4CA3-965C-F32132B70534}" type="slidenum">
              <a:rPr lang="en-US"/>
              <a:pPr>
                <a:defRPr/>
              </a:pPr>
              <a:t>‹#›</a:t>
            </a:fld>
            <a:endParaRPr lang="en-US"/>
          </a:p>
        </p:txBody>
      </p:sp>
    </p:spTree>
    <p:extLst>
      <p:ext uri="{BB962C8B-B14F-4D97-AF65-F5344CB8AC3E}">
        <p14:creationId xmlns:p14="http://schemas.microsoft.com/office/powerpoint/2010/main" val="3947446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61766C49-708F-4C0E-BBB6-44F24127A8AF}" type="slidenum">
              <a:rPr lang="en-US" smtClean="0"/>
              <a:pPr>
                <a:defRPr/>
              </a:pPr>
              <a:t>‹#›</a:t>
            </a:fld>
            <a:endParaRPr lang="en-US"/>
          </a:p>
        </p:txBody>
      </p:sp>
    </p:spTree>
    <p:extLst>
      <p:ext uri="{BB962C8B-B14F-4D97-AF65-F5344CB8AC3E}">
        <p14:creationId xmlns:p14="http://schemas.microsoft.com/office/powerpoint/2010/main" val="2686204987"/>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3.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14.png"/><Relationship Id="rId5" Type="http://schemas.openxmlformats.org/officeDocument/2006/relationships/oleObject" Target="../embeddings/oleObject2.bin"/><Relationship Id="rId4" Type="http://schemas.openxmlformats.org/officeDocument/2006/relationships/image" Target="../media/image15.jpeg"/></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26.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7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9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p:txBody>
          <a:bodyPr/>
          <a:lstStyle/>
          <a:p>
            <a:pPr eaLnBrk="1" hangingPunct="1"/>
            <a:r>
              <a:rPr lang="en-US" smtClean="0"/>
              <a:t>Microbial Growth</a:t>
            </a:r>
          </a:p>
        </p:txBody>
      </p:sp>
      <p:sp>
        <p:nvSpPr>
          <p:cNvPr id="3075" name="Rectangle 3"/>
          <p:cNvSpPr>
            <a:spLocks noGrp="1" noChangeArrowheads="1"/>
          </p:cNvSpPr>
          <p:nvPr>
            <p:ph type="subTitle" idx="1"/>
          </p:nvPr>
        </p:nvSpPr>
        <p:spPr/>
        <p:txBody>
          <a:bodyPr rtlCol="0">
            <a:normAutofit/>
          </a:bodyPr>
          <a:lstStyle/>
          <a:p>
            <a:pPr eaLnBrk="1" fontAlgn="auto" hangingPunct="1">
              <a:spcAft>
                <a:spcPts val="0"/>
              </a:spcAft>
              <a:buFont typeface="Arial" pitchFamily="34" charset="0"/>
              <a:buNone/>
              <a:defRPr/>
            </a:pPr>
            <a:endParaRPr lang="en-US"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rtlCol="0">
            <a:normAutofit/>
          </a:bodyPr>
          <a:lstStyle/>
          <a:p>
            <a:pPr eaLnBrk="1" fontAlgn="auto" hangingPunct="1">
              <a:spcAft>
                <a:spcPts val="0"/>
              </a:spcAft>
              <a:defRPr/>
            </a:pPr>
            <a:r>
              <a:rPr lang="en-US" dirty="0" smtClean="0"/>
              <a:t>Microbial Growth - </a:t>
            </a:r>
            <a:r>
              <a:rPr lang="en-US" sz="3600" dirty="0" smtClean="0"/>
              <a:t>refers to the number of cells, not the size of the cells</a:t>
            </a:r>
            <a:endParaRPr lang="en-US" dirty="0" smtClean="0"/>
          </a:p>
        </p:txBody>
      </p:sp>
      <p:sp>
        <p:nvSpPr>
          <p:cNvPr id="5123" name="Rectangle 3"/>
          <p:cNvSpPr>
            <a:spLocks noGrp="1" noChangeArrowheads="1"/>
          </p:cNvSpPr>
          <p:nvPr>
            <p:ph idx="1"/>
          </p:nvPr>
        </p:nvSpPr>
        <p:spPr/>
        <p:txBody>
          <a:bodyPr/>
          <a:lstStyle/>
          <a:p>
            <a:pPr eaLnBrk="1" hangingPunct="1"/>
            <a:endParaRPr lang="en-US" smtClean="0"/>
          </a:p>
          <a:p>
            <a:pPr eaLnBrk="1" hangingPunct="1"/>
            <a:r>
              <a:rPr lang="en-US" smtClean="0"/>
              <a:t>Requirements for Growth</a:t>
            </a:r>
          </a:p>
          <a:p>
            <a:pPr lvl="1" eaLnBrk="1" hangingPunct="1"/>
            <a:r>
              <a:rPr lang="en-US" smtClean="0"/>
              <a:t>Physical</a:t>
            </a:r>
          </a:p>
          <a:p>
            <a:pPr lvl="1" eaLnBrk="1" hangingPunct="1"/>
            <a:r>
              <a:rPr lang="en-US" smtClean="0"/>
              <a:t>Chemical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 calcmode="lin" valueType="num">
                                      <p:cBhvr additive="base">
                                        <p:cTn id="7" dur="500" fill="hold"/>
                                        <p:tgtEl>
                                          <p:spTgt spid="5123">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123">
                                            <p:txEl>
                                              <p:pRg st="2" end="2"/>
                                            </p:txEl>
                                          </p:spTgt>
                                        </p:tgtEl>
                                        <p:attrNameLst>
                                          <p:attrName>style.visibility</p:attrName>
                                        </p:attrNameLst>
                                      </p:cBhvr>
                                      <p:to>
                                        <p:strVal val="visible"/>
                                      </p:to>
                                    </p:set>
                                    <p:anim calcmode="lin" valueType="num">
                                      <p:cBhvr additive="base">
                                        <p:cTn id="13" dur="500" fill="hold"/>
                                        <p:tgtEl>
                                          <p:spTgt spid="5123">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anim calcmode="lin" valueType="num">
                                      <p:cBhvr additive="base">
                                        <p:cTn id="19" dur="500" fill="hold"/>
                                        <p:tgtEl>
                                          <p:spTgt spid="5123">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12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bldLvl="2"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smtClean="0"/>
              <a:t>Physical Requirements</a:t>
            </a:r>
          </a:p>
        </p:txBody>
      </p:sp>
      <p:sp>
        <p:nvSpPr>
          <p:cNvPr id="6147" name="Rectangle 3"/>
          <p:cNvSpPr>
            <a:spLocks noGrp="1" noChangeArrowheads="1"/>
          </p:cNvSpPr>
          <p:nvPr>
            <p:ph idx="1"/>
          </p:nvPr>
        </p:nvSpPr>
        <p:spPr/>
        <p:txBody>
          <a:bodyPr/>
          <a:lstStyle/>
          <a:p>
            <a:pPr eaLnBrk="1" hangingPunct="1"/>
            <a:r>
              <a:rPr lang="en-US" dirty="0" smtClean="0"/>
              <a:t>Temperature	</a:t>
            </a:r>
          </a:p>
          <a:p>
            <a:pPr lvl="1" eaLnBrk="1" hangingPunct="1"/>
            <a:r>
              <a:rPr lang="en-US" dirty="0" err="1" smtClean="0"/>
              <a:t>psychrophiles</a:t>
            </a:r>
            <a:r>
              <a:rPr lang="en-US" dirty="0" smtClean="0"/>
              <a:t>   (cold loving microbes )</a:t>
            </a:r>
          </a:p>
          <a:p>
            <a:pPr lvl="2" eaLnBrk="1" hangingPunct="1"/>
            <a:r>
              <a:rPr lang="en-US" dirty="0" smtClean="0"/>
              <a:t>range            0 C  -  20 C</a:t>
            </a:r>
          </a:p>
          <a:p>
            <a:pPr lvl="1" eaLnBrk="1" hangingPunct="1"/>
            <a:r>
              <a:rPr lang="en-US" dirty="0" err="1" smtClean="0"/>
              <a:t>mesophiles</a:t>
            </a:r>
            <a:r>
              <a:rPr lang="en-US" dirty="0" smtClean="0"/>
              <a:t>    (moderate temp. loving microbes)</a:t>
            </a:r>
          </a:p>
          <a:p>
            <a:pPr lvl="2" eaLnBrk="1" hangingPunct="1"/>
            <a:r>
              <a:rPr lang="en-US" dirty="0" smtClean="0"/>
              <a:t>range            20 C   -  40 C</a:t>
            </a:r>
          </a:p>
          <a:p>
            <a:pPr lvl="1" eaLnBrk="1" hangingPunct="1"/>
            <a:r>
              <a:rPr lang="en-US" dirty="0" smtClean="0"/>
              <a:t>thermophiles     (heat loving microbes)</a:t>
            </a:r>
          </a:p>
          <a:p>
            <a:pPr lvl="2" eaLnBrk="1" hangingPunct="1"/>
            <a:r>
              <a:rPr lang="en-US" dirty="0" smtClean="0"/>
              <a:t>range            40 C  -  100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 fill="hold"/>
                                        <p:tgtEl>
                                          <p:spTgt spid="61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47">
                                            <p:txEl>
                                              <p:pRg st="1" end="1"/>
                                            </p:txEl>
                                          </p:spTgt>
                                        </p:tgtEl>
                                        <p:attrNameLst>
                                          <p:attrName>style.visibility</p:attrName>
                                        </p:attrNameLst>
                                      </p:cBhvr>
                                      <p:to>
                                        <p:strVal val="visible"/>
                                      </p:to>
                                    </p:set>
                                    <p:anim calcmode="lin" valueType="num">
                                      <p:cBhvr additive="base">
                                        <p:cTn id="13" dur="500" fill="hold"/>
                                        <p:tgtEl>
                                          <p:spTgt spid="61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47">
                                            <p:txEl>
                                              <p:pRg st="2" end="2"/>
                                            </p:txEl>
                                          </p:spTgt>
                                        </p:tgtEl>
                                        <p:attrNameLst>
                                          <p:attrName>style.visibility</p:attrName>
                                        </p:attrNameLst>
                                      </p:cBhvr>
                                      <p:to>
                                        <p:strVal val="visible"/>
                                      </p:to>
                                    </p:set>
                                    <p:anim calcmode="lin" valueType="num">
                                      <p:cBhvr additive="base">
                                        <p:cTn id="19" dur="500" fill="hold"/>
                                        <p:tgtEl>
                                          <p:spTgt spid="61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147">
                                            <p:txEl>
                                              <p:pRg st="3" end="3"/>
                                            </p:txEl>
                                          </p:spTgt>
                                        </p:tgtEl>
                                        <p:attrNameLst>
                                          <p:attrName>style.visibility</p:attrName>
                                        </p:attrNameLst>
                                      </p:cBhvr>
                                      <p:to>
                                        <p:strVal val="visible"/>
                                      </p:to>
                                    </p:set>
                                    <p:anim calcmode="lin" valueType="num">
                                      <p:cBhvr additive="base">
                                        <p:cTn id="25" dur="500" fill="hold"/>
                                        <p:tgtEl>
                                          <p:spTgt spid="61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1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147">
                                            <p:txEl>
                                              <p:pRg st="4" end="4"/>
                                            </p:txEl>
                                          </p:spTgt>
                                        </p:tgtEl>
                                        <p:attrNameLst>
                                          <p:attrName>style.visibility</p:attrName>
                                        </p:attrNameLst>
                                      </p:cBhvr>
                                      <p:to>
                                        <p:strVal val="visible"/>
                                      </p:to>
                                    </p:set>
                                    <p:anim calcmode="lin" valueType="num">
                                      <p:cBhvr additive="base">
                                        <p:cTn id="31" dur="500" fill="hold"/>
                                        <p:tgtEl>
                                          <p:spTgt spid="614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14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147">
                                            <p:txEl>
                                              <p:pRg st="5" end="5"/>
                                            </p:txEl>
                                          </p:spTgt>
                                        </p:tgtEl>
                                        <p:attrNameLst>
                                          <p:attrName>style.visibility</p:attrName>
                                        </p:attrNameLst>
                                      </p:cBhvr>
                                      <p:to>
                                        <p:strVal val="visible"/>
                                      </p:to>
                                    </p:set>
                                    <p:anim calcmode="lin" valueType="num">
                                      <p:cBhvr additive="base">
                                        <p:cTn id="37" dur="500" fill="hold"/>
                                        <p:tgtEl>
                                          <p:spTgt spid="614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14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147">
                                            <p:txEl>
                                              <p:pRg st="6" end="6"/>
                                            </p:txEl>
                                          </p:spTgt>
                                        </p:tgtEl>
                                        <p:attrNameLst>
                                          <p:attrName>style.visibility</p:attrName>
                                        </p:attrNameLst>
                                      </p:cBhvr>
                                      <p:to>
                                        <p:strVal val="visible"/>
                                      </p:to>
                                    </p:set>
                                    <p:anim calcmode="lin" valueType="num">
                                      <p:cBhvr additive="base">
                                        <p:cTn id="43" dur="500" fill="hold"/>
                                        <p:tgtEl>
                                          <p:spTgt spid="614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14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bldLvl="3"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FG06_16.JPG                                                    0001B5CF WORKAS101                      B90835D4:"/>
          <p:cNvPicPr>
            <a:picLocks noChangeAspect="1" noChangeArrowheads="1"/>
          </p:cNvPicPr>
          <p:nvPr/>
        </p:nvPicPr>
        <p:blipFill>
          <a:blip r:embed="rId3"/>
          <a:srcRect/>
          <a:stretch>
            <a:fillRect/>
          </a:stretch>
        </p:blipFill>
        <p:spPr bwMode="auto">
          <a:xfrm>
            <a:off x="1371600" y="1371600"/>
            <a:ext cx="6999288" cy="5257800"/>
          </a:xfrm>
          <a:prstGeom prst="rect">
            <a:avLst/>
          </a:prstGeom>
          <a:noFill/>
          <a:ln w="9525">
            <a:noFill/>
            <a:miter lim="800000"/>
            <a:headEnd/>
            <a:tailEnd/>
          </a:ln>
        </p:spPr>
      </p:pic>
      <p:sp>
        <p:nvSpPr>
          <p:cNvPr id="8195" name="Rectangle 4"/>
          <p:cNvSpPr>
            <a:spLocks noGrp="1" noChangeArrowheads="1"/>
          </p:cNvSpPr>
          <p:nvPr>
            <p:ph type="title"/>
          </p:nvPr>
        </p:nvSpPr>
        <p:spPr>
          <a:xfrm>
            <a:off x="762000" y="381000"/>
            <a:ext cx="7772400" cy="762000"/>
          </a:xfrm>
        </p:spPr>
        <p:txBody>
          <a:bodyPr>
            <a:normAutofit/>
          </a:bodyPr>
          <a:lstStyle/>
          <a:p>
            <a:r>
              <a:rPr lang="en-GB" smtClean="0"/>
              <a:t>Effect of temperature</a:t>
            </a: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3"/>
          <p:cNvGraphicFramePr>
            <a:graphicFrameLocks noGrp="1" noChangeAspect="1"/>
          </p:cNvGraphicFramePr>
          <p:nvPr>
            <p:ph type="clipArt" sz="half" idx="1"/>
          </p:nvPr>
        </p:nvGraphicFramePr>
        <p:xfrm>
          <a:off x="1214438" y="990600"/>
          <a:ext cx="7246937" cy="5334000"/>
        </p:xfrm>
        <a:graphic>
          <a:graphicData uri="http://schemas.openxmlformats.org/presentationml/2006/ole">
            <mc:AlternateContent xmlns:mc="http://schemas.openxmlformats.org/markup-compatibility/2006">
              <mc:Choice xmlns:v="urn:schemas-microsoft-com:vml" Requires="v">
                <p:oleObj spid="_x0000_s1030" name="Photo Editor Photo" r:id="rId3" imgW="12704762" imgH="9352381" progId="">
                  <p:embed/>
                </p:oleObj>
              </mc:Choice>
              <mc:Fallback>
                <p:oleObj name="Photo Editor Photo" r:id="rId3" imgW="12704762" imgH="9352381"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4438" y="990600"/>
                        <a:ext cx="7246937" cy="533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685800" y="457200"/>
            <a:ext cx="7772400" cy="5943600"/>
          </a:xfrm>
          <a:prstGeom prst="rect">
            <a:avLst/>
          </a:prstGeom>
          <a:noFill/>
          <a:ln w="9525">
            <a:noFill/>
            <a:miter lim="800000"/>
            <a:headEnd/>
            <a:tailEnd/>
          </a:ln>
        </p:spPr>
        <p:txBody>
          <a:bodyPr/>
          <a:lstStyle/>
          <a:p>
            <a:pPr marL="342900" indent="-342900">
              <a:spcBef>
                <a:spcPct val="20000"/>
              </a:spcBef>
              <a:buClr>
                <a:schemeClr val="accent1"/>
              </a:buClr>
              <a:buSzPct val="90000"/>
            </a:pPr>
            <a:r>
              <a:rPr kumimoji="1" lang="en-US" sz="3200">
                <a:latin typeface="Calibri" pitchFamily="34" charset="0"/>
              </a:rPr>
              <a:t>Depending on temperature preferences microorgnisms are grouped into</a:t>
            </a:r>
          </a:p>
          <a:p>
            <a:pPr marL="742950" lvl="1" indent="-285750">
              <a:spcBef>
                <a:spcPct val="20000"/>
              </a:spcBef>
              <a:buClr>
                <a:schemeClr val="accent1"/>
              </a:buClr>
            </a:pPr>
            <a:r>
              <a:rPr kumimoji="1" lang="en-US" sz="2800" b="1">
                <a:latin typeface="Calibri" pitchFamily="34" charset="0"/>
              </a:rPr>
              <a:t>Psychrophiles</a:t>
            </a:r>
            <a:r>
              <a:rPr kumimoji="1" lang="en-US" sz="2800">
                <a:latin typeface="Calibri" pitchFamily="34" charset="0"/>
              </a:rPr>
              <a:t>: Cold loving. Growth range 0-20</a:t>
            </a:r>
            <a:r>
              <a:rPr kumimoji="1" lang="en-US" sz="2800" baseline="30000">
                <a:latin typeface="Calibri" pitchFamily="34" charset="0"/>
              </a:rPr>
              <a:t>o</a:t>
            </a:r>
            <a:r>
              <a:rPr kumimoji="1" lang="en-US" sz="2800">
                <a:latin typeface="Calibri" pitchFamily="34" charset="0"/>
              </a:rPr>
              <a:t>C with optimum at 10-15</a:t>
            </a:r>
            <a:r>
              <a:rPr kumimoji="1" lang="en-US" sz="2800" baseline="30000">
                <a:latin typeface="Calibri" pitchFamily="34" charset="0"/>
              </a:rPr>
              <a:t>o</a:t>
            </a:r>
            <a:r>
              <a:rPr kumimoji="1" lang="en-US" sz="2800">
                <a:latin typeface="Calibri" pitchFamily="34" charset="0"/>
              </a:rPr>
              <a:t>C.</a:t>
            </a:r>
          </a:p>
          <a:p>
            <a:pPr marL="742950" lvl="1" indent="-285750">
              <a:spcBef>
                <a:spcPct val="20000"/>
              </a:spcBef>
              <a:buClr>
                <a:schemeClr val="accent1"/>
              </a:buClr>
            </a:pPr>
            <a:r>
              <a:rPr kumimoji="1" lang="en-US" sz="2800" b="1">
                <a:latin typeface="Calibri" pitchFamily="34" charset="0"/>
              </a:rPr>
              <a:t>Mesophiles</a:t>
            </a:r>
            <a:r>
              <a:rPr kumimoji="1" lang="en-US" sz="2800">
                <a:latin typeface="Calibri" pitchFamily="34" charset="0"/>
              </a:rPr>
              <a:t>: Medium temperature loving. Range 20 to 40</a:t>
            </a:r>
            <a:r>
              <a:rPr kumimoji="1" lang="en-US" sz="2800" baseline="30000">
                <a:latin typeface="Calibri" pitchFamily="34" charset="0"/>
              </a:rPr>
              <a:t>o</a:t>
            </a:r>
            <a:r>
              <a:rPr kumimoji="1" lang="en-US" sz="2800">
                <a:latin typeface="Calibri" pitchFamily="34" charset="0"/>
              </a:rPr>
              <a:t>C with optimum at 37</a:t>
            </a:r>
            <a:r>
              <a:rPr kumimoji="1" lang="en-US" sz="2800" baseline="30000">
                <a:latin typeface="Calibri" pitchFamily="34" charset="0"/>
              </a:rPr>
              <a:t>o</a:t>
            </a:r>
            <a:r>
              <a:rPr kumimoji="1" lang="en-US" sz="2800">
                <a:latin typeface="Calibri" pitchFamily="34" charset="0"/>
              </a:rPr>
              <a:t>C.</a:t>
            </a:r>
          </a:p>
          <a:p>
            <a:pPr marL="742950" lvl="1" indent="-285750">
              <a:spcBef>
                <a:spcPct val="20000"/>
              </a:spcBef>
              <a:buClr>
                <a:schemeClr val="accent1"/>
              </a:buClr>
            </a:pPr>
            <a:r>
              <a:rPr kumimoji="1" lang="en-US" sz="2800" b="1">
                <a:latin typeface="Calibri" pitchFamily="34" charset="0"/>
              </a:rPr>
              <a:t>Thermophiles</a:t>
            </a:r>
            <a:r>
              <a:rPr kumimoji="1" lang="en-US" sz="2800">
                <a:latin typeface="Calibri" pitchFamily="34" charset="0"/>
              </a:rPr>
              <a:t>: High temperature loving. Range 45-70</a:t>
            </a:r>
            <a:r>
              <a:rPr kumimoji="1" lang="en-US" sz="2800" baseline="30000">
                <a:latin typeface="Calibri" pitchFamily="34" charset="0"/>
              </a:rPr>
              <a:t>o</a:t>
            </a:r>
            <a:r>
              <a:rPr kumimoji="1" lang="en-US" sz="2800">
                <a:latin typeface="Calibri" pitchFamily="34" charset="0"/>
              </a:rPr>
              <a:t>C with optimum at 60</a:t>
            </a:r>
            <a:r>
              <a:rPr kumimoji="1" lang="en-US" sz="2800" baseline="30000">
                <a:latin typeface="Calibri" pitchFamily="34" charset="0"/>
              </a:rPr>
              <a:t>o</a:t>
            </a:r>
            <a:r>
              <a:rPr kumimoji="1" lang="en-US" sz="2800">
                <a:latin typeface="Calibri" pitchFamily="34" charset="0"/>
              </a:rPr>
              <a:t>C.</a:t>
            </a:r>
          </a:p>
          <a:p>
            <a:pPr marL="742950" lvl="1" indent="-285750">
              <a:spcBef>
                <a:spcPct val="20000"/>
              </a:spcBef>
              <a:buClr>
                <a:schemeClr val="accent1"/>
              </a:buClr>
            </a:pPr>
            <a:r>
              <a:rPr kumimoji="1" lang="en-US" sz="2800" b="1">
                <a:latin typeface="Calibri" pitchFamily="34" charset="0"/>
              </a:rPr>
              <a:t>Extreme thermophiles</a:t>
            </a:r>
            <a:r>
              <a:rPr kumimoji="1" lang="en-US" sz="2800">
                <a:latin typeface="Calibri" pitchFamily="34" charset="0"/>
              </a:rPr>
              <a:t>: Growth range 80-120</a:t>
            </a:r>
            <a:r>
              <a:rPr kumimoji="1" lang="en-US" sz="2800" baseline="30000">
                <a:latin typeface="Calibri" pitchFamily="34" charset="0"/>
              </a:rPr>
              <a:t>o</a:t>
            </a:r>
            <a:r>
              <a:rPr kumimoji="1" lang="en-US" sz="2800">
                <a:latin typeface="Calibri" pitchFamily="34" charset="0"/>
              </a:rPr>
              <a:t>C.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90600" y="0"/>
            <a:ext cx="7696200" cy="1052513"/>
          </a:xfrm>
        </p:spPr>
        <p:txBody>
          <a:bodyPr>
            <a:normAutofit/>
          </a:bodyPr>
          <a:lstStyle/>
          <a:p>
            <a:pPr eaLnBrk="1" hangingPunct="1"/>
            <a:r>
              <a:rPr lang="en-US" sz="3600" b="1" smtClean="0">
                <a:solidFill>
                  <a:schemeClr val="accent2"/>
                </a:solidFill>
                <a:cs typeface="Times New Roman" pitchFamily="18" charset="0"/>
              </a:rPr>
              <a:t>How thermophilic are thermophiles?</a:t>
            </a:r>
            <a:endParaRPr lang="en-AU" sz="3600" b="1" smtClean="0">
              <a:solidFill>
                <a:schemeClr val="accent2"/>
              </a:solidFill>
              <a:cs typeface="Times New Roman" pitchFamily="18" charset="0"/>
            </a:endParaRPr>
          </a:p>
        </p:txBody>
      </p:sp>
      <p:sp>
        <p:nvSpPr>
          <p:cNvPr id="100355" name="Rectangle 3"/>
          <p:cNvSpPr>
            <a:spLocks noGrp="1" noChangeArrowheads="1"/>
          </p:cNvSpPr>
          <p:nvPr>
            <p:ph type="body" sz="half" idx="2"/>
          </p:nvPr>
        </p:nvSpPr>
        <p:spPr>
          <a:xfrm>
            <a:off x="914400" y="914400"/>
            <a:ext cx="8001000" cy="5624513"/>
          </a:xfrm>
        </p:spPr>
        <p:txBody>
          <a:bodyPr/>
          <a:lstStyle/>
          <a:p>
            <a:pPr eaLnBrk="1" hangingPunct="1">
              <a:buFont typeface="Monotype Sorts" pitchFamily="2" charset="2"/>
              <a:buNone/>
            </a:pPr>
            <a:r>
              <a:rPr lang="en-US" sz="2800" b="1" smtClean="0"/>
              <a:t>Growth at high temperature – what is high?</a:t>
            </a:r>
          </a:p>
          <a:p>
            <a:pPr lvl="1" eaLnBrk="1" hangingPunct="1"/>
            <a:r>
              <a:rPr lang="en-US" b="1" smtClean="0">
                <a:solidFill>
                  <a:srgbClr val="663300"/>
                </a:solidFill>
              </a:rPr>
              <a:t>Archaea grow to 121</a:t>
            </a:r>
            <a:r>
              <a:rPr lang="en-US" b="1" baseline="30000" smtClean="0">
                <a:solidFill>
                  <a:srgbClr val="663300"/>
                </a:solidFill>
              </a:rPr>
              <a:t>o</a:t>
            </a:r>
            <a:r>
              <a:rPr lang="en-US" b="1" smtClean="0">
                <a:solidFill>
                  <a:srgbClr val="663300"/>
                </a:solidFill>
              </a:rPr>
              <a:t>C (opt about 113</a:t>
            </a:r>
            <a:r>
              <a:rPr lang="en-US" b="1" baseline="30000" smtClean="0">
                <a:solidFill>
                  <a:srgbClr val="663300"/>
                </a:solidFill>
              </a:rPr>
              <a:t>o</a:t>
            </a:r>
            <a:r>
              <a:rPr lang="en-US" b="1" smtClean="0">
                <a:solidFill>
                  <a:srgbClr val="663300"/>
                </a:solidFill>
              </a:rPr>
              <a:t>C )</a:t>
            </a:r>
          </a:p>
          <a:p>
            <a:pPr lvl="2" eaLnBrk="1" hangingPunct="1"/>
            <a:r>
              <a:rPr lang="en-US" sz="2800" b="1" smtClean="0">
                <a:solidFill>
                  <a:srgbClr val="663300"/>
                </a:solidFill>
              </a:rPr>
              <a:t>Many genera and species grow at or above 100</a:t>
            </a:r>
            <a:r>
              <a:rPr lang="en-US" b="1" baseline="30000" smtClean="0">
                <a:solidFill>
                  <a:srgbClr val="663300"/>
                </a:solidFill>
              </a:rPr>
              <a:t>o</a:t>
            </a:r>
            <a:r>
              <a:rPr lang="en-US" b="1" smtClean="0">
                <a:solidFill>
                  <a:srgbClr val="663300"/>
                </a:solidFill>
              </a:rPr>
              <a:t>C </a:t>
            </a:r>
            <a:endParaRPr lang="en-US" sz="2800" b="1" smtClean="0">
              <a:solidFill>
                <a:srgbClr val="663300"/>
              </a:solidFill>
            </a:endParaRPr>
          </a:p>
          <a:p>
            <a:pPr lvl="1" eaLnBrk="1" hangingPunct="1"/>
            <a:r>
              <a:rPr lang="en-US" b="1" smtClean="0">
                <a:solidFill>
                  <a:srgbClr val="9C4E00"/>
                </a:solidFill>
              </a:rPr>
              <a:t>Bacteria grow to 95</a:t>
            </a:r>
            <a:r>
              <a:rPr lang="en-US" b="1" baseline="30000" smtClean="0">
                <a:solidFill>
                  <a:srgbClr val="9C4E00"/>
                </a:solidFill>
              </a:rPr>
              <a:t>o</a:t>
            </a:r>
            <a:r>
              <a:rPr lang="en-US" b="1" smtClean="0">
                <a:solidFill>
                  <a:srgbClr val="9C4E00"/>
                </a:solidFill>
              </a:rPr>
              <a:t>C  (opt about 92</a:t>
            </a:r>
            <a:r>
              <a:rPr lang="en-US" b="1" baseline="30000" smtClean="0">
                <a:solidFill>
                  <a:srgbClr val="9C4E00"/>
                </a:solidFill>
              </a:rPr>
              <a:t>o</a:t>
            </a:r>
            <a:r>
              <a:rPr lang="en-US" b="1" smtClean="0">
                <a:solidFill>
                  <a:srgbClr val="9C4E00"/>
                </a:solidFill>
              </a:rPr>
              <a:t>C )</a:t>
            </a:r>
          </a:p>
          <a:p>
            <a:pPr lvl="2" eaLnBrk="1" hangingPunct="1"/>
            <a:r>
              <a:rPr lang="en-US" sz="2800" b="1" smtClean="0">
                <a:solidFill>
                  <a:srgbClr val="9C4E00"/>
                </a:solidFill>
              </a:rPr>
              <a:t>Few species grow above 85</a:t>
            </a:r>
            <a:r>
              <a:rPr lang="en-US" b="1" baseline="30000" smtClean="0">
                <a:solidFill>
                  <a:srgbClr val="9C4E00"/>
                </a:solidFill>
              </a:rPr>
              <a:t>o</a:t>
            </a:r>
            <a:r>
              <a:rPr lang="en-US" b="1" smtClean="0">
                <a:solidFill>
                  <a:srgbClr val="9C4E00"/>
                </a:solidFill>
              </a:rPr>
              <a:t>C</a:t>
            </a:r>
            <a:r>
              <a:rPr lang="en-US" b="1" smtClean="0"/>
              <a:t> </a:t>
            </a:r>
            <a:endParaRPr lang="en-US" sz="2800" b="1" smtClean="0"/>
          </a:p>
          <a:p>
            <a:pPr lvl="1" eaLnBrk="1" hangingPunct="1"/>
            <a:r>
              <a:rPr lang="en-US" b="1" smtClean="0">
                <a:solidFill>
                  <a:srgbClr val="663300"/>
                </a:solidFill>
              </a:rPr>
              <a:t>Cyanobacteria grow to 68</a:t>
            </a:r>
            <a:r>
              <a:rPr lang="en-US" b="1" baseline="30000" smtClean="0">
                <a:solidFill>
                  <a:srgbClr val="663300"/>
                </a:solidFill>
              </a:rPr>
              <a:t>o</a:t>
            </a:r>
            <a:r>
              <a:rPr lang="en-US" b="1" smtClean="0">
                <a:solidFill>
                  <a:srgbClr val="663300"/>
                </a:solidFill>
              </a:rPr>
              <a:t>C</a:t>
            </a:r>
            <a:r>
              <a:rPr lang="en-US" b="1" smtClean="0"/>
              <a:t> </a:t>
            </a:r>
          </a:p>
          <a:p>
            <a:pPr lvl="1" eaLnBrk="1" hangingPunct="1"/>
            <a:r>
              <a:rPr lang="en-US" b="1" smtClean="0">
                <a:solidFill>
                  <a:srgbClr val="9C4E00"/>
                </a:solidFill>
              </a:rPr>
              <a:t>Fungi grow to 60-65</a:t>
            </a:r>
            <a:r>
              <a:rPr lang="en-US" b="1" baseline="30000" smtClean="0">
                <a:solidFill>
                  <a:srgbClr val="9C4E00"/>
                </a:solidFill>
              </a:rPr>
              <a:t>o</a:t>
            </a:r>
            <a:r>
              <a:rPr lang="en-US" b="1" smtClean="0">
                <a:solidFill>
                  <a:srgbClr val="9C4E00"/>
                </a:solidFill>
              </a:rPr>
              <a:t>C </a:t>
            </a:r>
          </a:p>
          <a:p>
            <a:pPr lvl="1" eaLnBrk="1" hangingPunct="1"/>
            <a:r>
              <a:rPr lang="en-US" b="1" smtClean="0">
                <a:solidFill>
                  <a:srgbClr val="361B00"/>
                </a:solidFill>
              </a:rPr>
              <a:t>Eucaryotic algae grow to 60</a:t>
            </a:r>
            <a:r>
              <a:rPr lang="en-US" b="1" baseline="30000" smtClean="0">
                <a:solidFill>
                  <a:srgbClr val="361B00"/>
                </a:solidFill>
              </a:rPr>
              <a:t>o</a:t>
            </a:r>
            <a:r>
              <a:rPr lang="en-US" b="1" smtClean="0">
                <a:solidFill>
                  <a:srgbClr val="361B00"/>
                </a:solidFill>
              </a:rPr>
              <a:t>C</a:t>
            </a:r>
            <a:r>
              <a:rPr lang="en-US" b="1" smtClean="0"/>
              <a:t> </a:t>
            </a:r>
          </a:p>
          <a:p>
            <a:pPr lvl="1" eaLnBrk="1" hangingPunct="1"/>
            <a:r>
              <a:rPr lang="en-US" b="1" smtClean="0">
                <a:solidFill>
                  <a:srgbClr val="663300"/>
                </a:solidFill>
              </a:rPr>
              <a:t>Protozoa grow to 50</a:t>
            </a:r>
            <a:r>
              <a:rPr lang="en-US" b="1" baseline="30000" smtClean="0">
                <a:solidFill>
                  <a:srgbClr val="663300"/>
                </a:solidFill>
              </a:rPr>
              <a:t>o</a:t>
            </a:r>
            <a:r>
              <a:rPr lang="en-US" b="1" smtClean="0">
                <a:solidFill>
                  <a:srgbClr val="663300"/>
                </a:solidFill>
              </a:rPr>
              <a:t>C </a:t>
            </a:r>
            <a:endParaRPr lang="en-AU" b="1" smtClean="0">
              <a:solidFill>
                <a:srgbClr val="663300"/>
              </a:solidFill>
            </a:endParaRPr>
          </a:p>
          <a:p>
            <a:pPr eaLnBrk="1" hangingPunct="1"/>
            <a:endParaRPr lang="en-AU" sz="2800" smtClean="0">
              <a:solidFill>
                <a:srgbClr val="66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355"/>
                                        </p:tgtEl>
                                        <p:attrNameLst>
                                          <p:attrName>style.visibility</p:attrName>
                                        </p:attrNameLst>
                                      </p:cBhvr>
                                      <p:to>
                                        <p:strVal val="visible"/>
                                      </p:to>
                                    </p:set>
                                    <p:anim calcmode="lin" valueType="num">
                                      <p:cBhvr additive="base">
                                        <p:cTn id="7" dur="500" fill="hold"/>
                                        <p:tgtEl>
                                          <p:spTgt spid="100355"/>
                                        </p:tgtEl>
                                        <p:attrNameLst>
                                          <p:attrName>ppt_x</p:attrName>
                                        </p:attrNameLst>
                                      </p:cBhvr>
                                      <p:tavLst>
                                        <p:tav tm="0">
                                          <p:val>
                                            <p:strVal val="#ppt_x"/>
                                          </p:val>
                                        </p:tav>
                                        <p:tav tm="100000">
                                          <p:val>
                                            <p:strVal val="#ppt_x"/>
                                          </p:val>
                                        </p:tav>
                                      </p:tavLst>
                                    </p:anim>
                                    <p:anim calcmode="lin" valueType="num">
                                      <p:cBhvr additive="base">
                                        <p:cTn id="8" dur="500" fill="hold"/>
                                        <p:tgtEl>
                                          <p:spTgt spid="1003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b="1" smtClean="0">
                <a:solidFill>
                  <a:srgbClr val="0033CC"/>
                </a:solidFill>
                <a:cs typeface="Times New Roman" pitchFamily="18" charset="0"/>
              </a:rPr>
              <a:t>Why study thermophiles</a:t>
            </a:r>
            <a:endParaRPr lang="en-AU" b="1" smtClean="0">
              <a:solidFill>
                <a:srgbClr val="0033CC"/>
              </a:solidFill>
              <a:cs typeface="Times New Roman" pitchFamily="18" charset="0"/>
            </a:endParaRPr>
          </a:p>
        </p:txBody>
      </p:sp>
      <p:pic>
        <p:nvPicPr>
          <p:cNvPr id="99332" name="Picture 4" descr="16"/>
          <p:cNvPicPr>
            <a:picLocks noGrp="1" noChangeAspect="1" noChangeArrowheads="1"/>
          </p:cNvPicPr>
          <p:nvPr>
            <p:ph type="clipArt" sz="half" idx="1"/>
          </p:nvPr>
        </p:nvPicPr>
        <p:blipFill>
          <a:blip r:embed="rId2"/>
          <a:stretch>
            <a:fillRect/>
          </a:stretch>
        </p:blipFill>
        <p:spPr>
          <a:xfrm>
            <a:off x="1483907" y="1828800"/>
            <a:ext cx="2823385" cy="4114800"/>
          </a:xfrm>
        </p:spPr>
      </p:pic>
      <p:sp>
        <p:nvSpPr>
          <p:cNvPr id="99331" name="Rectangle 3"/>
          <p:cNvSpPr>
            <a:spLocks noGrp="1" noChangeArrowheads="1"/>
          </p:cNvSpPr>
          <p:nvPr>
            <p:ph type="body" sz="half" idx="2"/>
          </p:nvPr>
        </p:nvSpPr>
        <p:spPr>
          <a:xfrm>
            <a:off x="4948238" y="1828800"/>
            <a:ext cx="3814762" cy="4114800"/>
          </a:xfrm>
        </p:spPr>
        <p:txBody>
          <a:bodyPr rtlCol="0">
            <a:normAutofit lnSpcReduction="10000"/>
          </a:bodyPr>
          <a:lstStyle/>
          <a:p>
            <a:pPr eaLnBrk="1" fontAlgn="auto" hangingPunct="1">
              <a:lnSpc>
                <a:spcPct val="80000"/>
              </a:lnSpc>
              <a:spcAft>
                <a:spcPts val="0"/>
              </a:spcAft>
              <a:buFont typeface="Monotype Sorts"/>
              <a:buNone/>
              <a:defRPr/>
            </a:pPr>
            <a:r>
              <a:rPr lang="en-US" sz="2400" b="1" smtClean="0">
                <a:solidFill>
                  <a:srgbClr val="DD2B1D"/>
                </a:solidFill>
              </a:rPr>
              <a:t>When return flights to the moon were feasible there was concern about the possibility of different life forms existing there and possibly colonising earth.  NASA needed to know what extreme conditions bacteria could</a:t>
            </a:r>
            <a:r>
              <a:rPr lang="en-US" sz="3000" b="1" smtClean="0">
                <a:solidFill>
                  <a:srgbClr val="DD2B1D"/>
                </a:solidFill>
              </a:rPr>
              <a:t> </a:t>
            </a:r>
            <a:r>
              <a:rPr lang="en-US" sz="2400" b="1" smtClean="0">
                <a:solidFill>
                  <a:srgbClr val="DD2B1D"/>
                </a:solidFill>
              </a:rPr>
              <a:t>survive and grow under.</a:t>
            </a:r>
          </a:p>
          <a:p>
            <a:pPr eaLnBrk="1" fontAlgn="auto" hangingPunct="1">
              <a:lnSpc>
                <a:spcPct val="80000"/>
              </a:lnSpc>
              <a:spcAft>
                <a:spcPts val="0"/>
              </a:spcAft>
              <a:buFont typeface="Monotype Sorts"/>
              <a:buNone/>
              <a:defRPr/>
            </a:pPr>
            <a:r>
              <a:rPr lang="en-US" sz="2400" b="1" smtClean="0">
                <a:solidFill>
                  <a:srgbClr val="DD2B1D"/>
                </a:solidFill>
              </a:rPr>
              <a:t> 1967 Tom Brock isolated </a:t>
            </a:r>
            <a:r>
              <a:rPr lang="en-US" sz="2400" b="1" i="1" smtClean="0">
                <a:solidFill>
                  <a:srgbClr val="DD2B1D"/>
                </a:solidFill>
              </a:rPr>
              <a:t>Thermus aquaticus</a:t>
            </a:r>
            <a:r>
              <a:rPr lang="en-US" sz="2400" b="1" smtClean="0">
                <a:solidFill>
                  <a:srgbClr val="DD2B1D"/>
                </a:solidFill>
              </a:rPr>
              <a:t> from Yellowstone National Park, USA</a:t>
            </a:r>
            <a:endParaRPr lang="en-AU" sz="2400" b="1" smtClean="0">
              <a:solidFill>
                <a:srgbClr val="DD2B1D"/>
              </a:solidFill>
            </a:endParaRPr>
          </a:p>
          <a:p>
            <a:pPr eaLnBrk="1" fontAlgn="auto" hangingPunct="1">
              <a:lnSpc>
                <a:spcPct val="80000"/>
              </a:lnSpc>
              <a:spcAft>
                <a:spcPts val="0"/>
              </a:spcAft>
              <a:buFont typeface="Arial" pitchFamily="34" charset="0"/>
              <a:buChar char="•"/>
              <a:defRPr/>
            </a:pPr>
            <a:endParaRPr lang="en-AU"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9332"/>
                                        </p:tgtEl>
                                        <p:attrNameLst>
                                          <p:attrName>style.visibility</p:attrName>
                                        </p:attrNameLst>
                                      </p:cBhvr>
                                      <p:to>
                                        <p:strVal val="visible"/>
                                      </p:to>
                                    </p:set>
                                    <p:anim calcmode="lin" valueType="num">
                                      <p:cBhvr additive="base">
                                        <p:cTn id="7" dur="500" fill="hold"/>
                                        <p:tgtEl>
                                          <p:spTgt spid="99332"/>
                                        </p:tgtEl>
                                        <p:attrNameLst>
                                          <p:attrName>ppt_x</p:attrName>
                                        </p:attrNameLst>
                                      </p:cBhvr>
                                      <p:tavLst>
                                        <p:tav tm="0">
                                          <p:val>
                                            <p:strVal val="1+#ppt_w/2"/>
                                          </p:val>
                                        </p:tav>
                                        <p:tav tm="100000">
                                          <p:val>
                                            <p:strVal val="#ppt_x"/>
                                          </p:val>
                                        </p:tav>
                                      </p:tavLst>
                                    </p:anim>
                                    <p:anim calcmode="lin" valueType="num">
                                      <p:cBhvr additive="base">
                                        <p:cTn id="8" dur="500" fill="hold"/>
                                        <p:tgtEl>
                                          <p:spTgt spid="993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9331">
                                            <p:txEl>
                                              <p:pRg st="0" end="0"/>
                                            </p:txEl>
                                          </p:spTgt>
                                        </p:tgtEl>
                                        <p:attrNameLst>
                                          <p:attrName>style.visibility</p:attrName>
                                        </p:attrNameLst>
                                      </p:cBhvr>
                                      <p:to>
                                        <p:strVal val="visible"/>
                                      </p:to>
                                    </p:set>
                                    <p:anim calcmode="lin" valueType="num">
                                      <p:cBhvr additive="base">
                                        <p:cTn id="13" dur="500" fill="hold"/>
                                        <p:tgtEl>
                                          <p:spTgt spid="9933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93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9331">
                                            <p:txEl>
                                              <p:pRg st="1" end="1"/>
                                            </p:txEl>
                                          </p:spTgt>
                                        </p:tgtEl>
                                        <p:attrNameLst>
                                          <p:attrName>style.visibility</p:attrName>
                                        </p:attrNameLst>
                                      </p:cBhvr>
                                      <p:to>
                                        <p:strVal val="visible"/>
                                      </p:to>
                                    </p:set>
                                    <p:anim calcmode="lin" valueType="num">
                                      <p:cBhvr additive="base">
                                        <p:cTn id="19" dur="500" fill="hold"/>
                                        <p:tgtEl>
                                          <p:spTgt spid="9933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933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990600" y="609600"/>
            <a:ext cx="7467600" cy="1143000"/>
          </a:xfrm>
          <a:prstGeom prst="rect">
            <a:avLst/>
          </a:prstGeom>
          <a:noFill/>
          <a:ln w="9525">
            <a:noFill/>
            <a:miter lim="800000"/>
            <a:headEnd/>
            <a:tailEnd/>
          </a:ln>
        </p:spPr>
        <p:txBody>
          <a:bodyPr anchor="ctr"/>
          <a:lstStyle/>
          <a:p>
            <a:r>
              <a:rPr kumimoji="1" lang="en-US" sz="3200">
                <a:solidFill>
                  <a:schemeClr val="tx2"/>
                </a:solidFill>
                <a:latin typeface="Calibri" pitchFamily="34" charset="0"/>
              </a:rPr>
              <a:t>MOISTURE CONTENT</a:t>
            </a:r>
          </a:p>
        </p:txBody>
      </p:sp>
      <p:sp>
        <p:nvSpPr>
          <p:cNvPr id="12291" name="Rectangle 3"/>
          <p:cNvSpPr>
            <a:spLocks noChangeArrowheads="1"/>
          </p:cNvSpPr>
          <p:nvPr/>
        </p:nvSpPr>
        <p:spPr bwMode="auto">
          <a:xfrm>
            <a:off x="914400" y="1600200"/>
            <a:ext cx="7543800" cy="4495800"/>
          </a:xfrm>
          <a:prstGeom prst="rect">
            <a:avLst/>
          </a:prstGeom>
          <a:noFill/>
          <a:ln w="9525">
            <a:noFill/>
            <a:miter lim="800000"/>
            <a:headEnd/>
            <a:tailEnd/>
          </a:ln>
        </p:spPr>
        <p:txBody>
          <a:bodyPr/>
          <a:lstStyle/>
          <a:p>
            <a:pPr marL="342900" indent="-342900">
              <a:spcBef>
                <a:spcPct val="20000"/>
              </a:spcBef>
              <a:buClr>
                <a:schemeClr val="accent1"/>
              </a:buClr>
              <a:buSzPct val="90000"/>
            </a:pPr>
            <a:r>
              <a:rPr kumimoji="1" lang="en-US" sz="3200">
                <a:latin typeface="Calibri" pitchFamily="34" charset="0"/>
              </a:rPr>
              <a:t>Availability of water (a</a:t>
            </a:r>
            <a:r>
              <a:rPr kumimoji="1" lang="en-US" sz="3200" baseline="-25000">
                <a:latin typeface="Calibri" pitchFamily="34" charset="0"/>
              </a:rPr>
              <a:t>w</a:t>
            </a:r>
            <a:r>
              <a:rPr kumimoji="1" lang="en-US" sz="3200">
                <a:latin typeface="Calibri" pitchFamily="34" charset="0"/>
              </a:rPr>
              <a:t> - known as water activity) is a critical factor that affects the growth of all cells.</a:t>
            </a:r>
          </a:p>
          <a:p>
            <a:pPr marL="342900" indent="-342900">
              <a:spcBef>
                <a:spcPct val="20000"/>
              </a:spcBef>
              <a:buClr>
                <a:schemeClr val="accent1"/>
              </a:buClr>
              <a:buSzPct val="90000"/>
            </a:pPr>
            <a:r>
              <a:rPr kumimoji="1" lang="en-US" sz="3200">
                <a:latin typeface="Calibri" pitchFamily="34" charset="0"/>
              </a:rPr>
              <a:t>The water activity of pure water is 1</a:t>
            </a:r>
          </a:p>
          <a:p>
            <a:pPr marL="342900" indent="-342900">
              <a:spcBef>
                <a:spcPct val="20000"/>
              </a:spcBef>
              <a:buClr>
                <a:schemeClr val="accent1"/>
              </a:buClr>
              <a:buSzPct val="90000"/>
            </a:pPr>
            <a:r>
              <a:rPr kumimoji="1" lang="en-US" sz="3200">
                <a:latin typeface="Calibri" pitchFamily="34" charset="0"/>
              </a:rPr>
              <a:t>Microorganisms live over a range of a</a:t>
            </a:r>
            <a:r>
              <a:rPr kumimoji="1" lang="en-US" sz="3200" baseline="-25000">
                <a:latin typeface="Calibri" pitchFamily="34" charset="0"/>
              </a:rPr>
              <a:t>w</a:t>
            </a:r>
            <a:r>
              <a:rPr kumimoji="1" lang="en-US" sz="3200">
                <a:latin typeface="Calibri" pitchFamily="34" charset="0"/>
              </a:rPr>
              <a:t> from 1 to 0.7.</a:t>
            </a:r>
          </a:p>
          <a:p>
            <a:pPr marL="342900" indent="-342900">
              <a:spcBef>
                <a:spcPct val="20000"/>
              </a:spcBef>
              <a:buClr>
                <a:schemeClr val="accent1"/>
              </a:buClr>
              <a:buSzPct val="90000"/>
            </a:pPr>
            <a:r>
              <a:rPr kumimoji="1" lang="en-US" sz="3200">
                <a:latin typeface="Calibri" pitchFamily="34" charset="0"/>
              </a:rPr>
              <a:t>Water activities of agricultural soils range between 0.9 to 1.</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1143000" y="1447800"/>
            <a:ext cx="7315200" cy="4648200"/>
          </a:xfrm>
          <a:prstGeom prst="rect">
            <a:avLst/>
          </a:prstGeom>
          <a:noFill/>
          <a:ln w="9525">
            <a:noFill/>
            <a:miter lim="800000"/>
            <a:headEnd/>
            <a:tailEnd/>
          </a:ln>
        </p:spPr>
        <p:txBody>
          <a:bodyPr/>
          <a:lstStyle/>
          <a:p>
            <a:pPr marL="342900" indent="-342900">
              <a:spcBef>
                <a:spcPct val="20000"/>
              </a:spcBef>
              <a:buClr>
                <a:schemeClr val="accent1"/>
              </a:buClr>
              <a:buSzPct val="90000"/>
            </a:pPr>
            <a:r>
              <a:rPr kumimoji="1" lang="en-US" sz="3200">
                <a:latin typeface="Calibri" pitchFamily="34" charset="0"/>
              </a:rPr>
              <a:t>Microorganisms live in dry and arid environments are known as </a:t>
            </a:r>
            <a:r>
              <a:rPr kumimoji="1" lang="en-US" sz="3200" b="1">
                <a:latin typeface="Calibri" pitchFamily="34" charset="0"/>
              </a:rPr>
              <a:t>xerophiles</a:t>
            </a:r>
            <a:r>
              <a:rPr kumimoji="1" lang="en-US" sz="3200">
                <a:latin typeface="Calibri" pitchFamily="34" charset="0"/>
              </a:rPr>
              <a:t>.</a:t>
            </a:r>
          </a:p>
          <a:p>
            <a:pPr marL="342900" indent="-342900">
              <a:spcBef>
                <a:spcPct val="20000"/>
              </a:spcBef>
              <a:buClr>
                <a:schemeClr val="accent1"/>
              </a:buClr>
              <a:buSzPct val="90000"/>
            </a:pPr>
            <a:r>
              <a:rPr kumimoji="1" lang="en-US" sz="3200">
                <a:latin typeface="Calibri" pitchFamily="34" charset="0"/>
              </a:rPr>
              <a:t>A</a:t>
            </a:r>
            <a:r>
              <a:rPr kumimoji="1" lang="en-US" sz="3200" baseline="-25000">
                <a:latin typeface="Calibri" pitchFamily="34" charset="0"/>
              </a:rPr>
              <a:t>w</a:t>
            </a:r>
            <a:r>
              <a:rPr kumimoji="1" lang="en-US" sz="3200">
                <a:latin typeface="Calibri" pitchFamily="34" charset="0"/>
              </a:rPr>
              <a:t> of blood is 0.99, sea water = 0.98, maple syrup = 0.90, great salt lake = 0.75.</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srcRect/>
          <a:stretch>
            <a:fillRect/>
          </a:stretch>
        </p:blipFill>
        <p:spPr bwMode="auto">
          <a:xfrm>
            <a:off x="1524000" y="1905000"/>
            <a:ext cx="6629400" cy="4367213"/>
          </a:xfrm>
          <a:prstGeom prst="rect">
            <a:avLst/>
          </a:prstGeom>
          <a:noFill/>
          <a:ln w="9525">
            <a:noFill/>
            <a:miter lim="800000"/>
            <a:headEnd/>
            <a:tailEnd/>
          </a:ln>
        </p:spPr>
      </p:pic>
      <p:sp>
        <p:nvSpPr>
          <p:cNvPr id="14339" name="Text Box 3"/>
          <p:cNvSpPr txBox="1">
            <a:spLocks noChangeArrowheads="1"/>
          </p:cNvSpPr>
          <p:nvPr/>
        </p:nvSpPr>
        <p:spPr bwMode="auto">
          <a:xfrm>
            <a:off x="1524000" y="762000"/>
            <a:ext cx="6629400" cy="457200"/>
          </a:xfrm>
          <a:prstGeom prst="rect">
            <a:avLst/>
          </a:prstGeom>
          <a:noFill/>
          <a:ln w="9525">
            <a:noFill/>
            <a:miter lim="800000"/>
            <a:headEnd/>
            <a:tailEnd/>
          </a:ln>
        </p:spPr>
        <p:txBody>
          <a:bodyPr>
            <a:spAutoFit/>
          </a:bodyPr>
          <a:lstStyle/>
          <a:p>
            <a:pPr>
              <a:spcBef>
                <a:spcPct val="50000"/>
              </a:spcBef>
            </a:pPr>
            <a:r>
              <a:rPr lang="en-US" b="1">
                <a:latin typeface="Calibri" pitchFamily="34" charset="0"/>
              </a:rPr>
              <a:t>Limiting a</a:t>
            </a:r>
            <a:r>
              <a:rPr lang="en-US" b="1" baseline="-25000">
                <a:latin typeface="Calibri" pitchFamily="34" charset="0"/>
              </a:rPr>
              <a:t>w</a:t>
            </a:r>
            <a:r>
              <a:rPr lang="en-US" b="1">
                <a:latin typeface="Calibri" pitchFamily="34" charset="0"/>
              </a:rPr>
              <a:t> for growth of certain procaryotes.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smtClean="0"/>
              <a:t>Chemical Requirements</a:t>
            </a:r>
          </a:p>
        </p:txBody>
      </p:sp>
      <p:sp>
        <p:nvSpPr>
          <p:cNvPr id="9219" name="Rectangle 3"/>
          <p:cNvSpPr>
            <a:spLocks noGrp="1" noChangeArrowheads="1"/>
          </p:cNvSpPr>
          <p:nvPr>
            <p:ph idx="1"/>
          </p:nvPr>
        </p:nvSpPr>
        <p:spPr/>
        <p:txBody>
          <a:bodyPr/>
          <a:lstStyle/>
          <a:p>
            <a:pPr eaLnBrk="1" hangingPunct="1"/>
            <a:r>
              <a:rPr lang="en-US" smtClean="0"/>
              <a:t>Macro &amp; Micro Elements</a:t>
            </a:r>
          </a:p>
          <a:p>
            <a:pPr eaLnBrk="1" hangingPunct="1"/>
            <a:endParaRPr lang="en-US" smtClean="0"/>
          </a:p>
          <a:p>
            <a:pPr eaLnBrk="1" hangingPunct="1"/>
            <a:endParaRPr lang="en-US" smtClean="0"/>
          </a:p>
          <a:p>
            <a:pPr eaLnBrk="1" hangingPunct="1"/>
            <a:r>
              <a:rPr lang="en-US" smtClean="0"/>
              <a:t>     </a:t>
            </a:r>
            <a:r>
              <a:rPr lang="en-US" smtClean="0">
                <a:solidFill>
                  <a:schemeClr val="tx2"/>
                </a:solidFill>
              </a:rPr>
              <a:t>C   HOPKINS    CaFe   Mg  NaCl</a:t>
            </a:r>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p:cTn id="7" dur="1000" fill="hold"/>
                                        <p:tgtEl>
                                          <p:spTgt spid="921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921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9219">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219">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9219">
                                            <p:txEl>
                                              <p:pRg st="3" end="3"/>
                                            </p:txEl>
                                          </p:spTgt>
                                        </p:tgtEl>
                                        <p:attrNameLst>
                                          <p:attrName>style.visibility</p:attrName>
                                        </p:attrNameLst>
                                      </p:cBhvr>
                                      <p:to>
                                        <p:strVal val="visible"/>
                                      </p:to>
                                    </p:set>
                                    <p:anim calcmode="lin" valueType="num">
                                      <p:cBhvr>
                                        <p:cTn id="15" dur="1000" fill="hold"/>
                                        <p:tgtEl>
                                          <p:spTgt spid="9219">
                                            <p:txEl>
                                              <p:pRg st="3" end="3"/>
                                            </p:txEl>
                                          </p:spTgt>
                                        </p:tgtEl>
                                        <p:attrNameLst>
                                          <p:attrName>ppt_w</p:attrName>
                                        </p:attrNameLst>
                                      </p:cBhvr>
                                      <p:tavLst>
                                        <p:tav tm="0">
                                          <p:val>
                                            <p:fltVal val="0"/>
                                          </p:val>
                                        </p:tav>
                                        <p:tav tm="100000">
                                          <p:val>
                                            <p:strVal val="#ppt_w"/>
                                          </p:val>
                                        </p:tav>
                                      </p:tavLst>
                                    </p:anim>
                                    <p:anim calcmode="lin" valueType="num">
                                      <p:cBhvr>
                                        <p:cTn id="16" dur="1000" fill="hold"/>
                                        <p:tgtEl>
                                          <p:spTgt spid="9219">
                                            <p:txEl>
                                              <p:pRg st="3" end="3"/>
                                            </p:txEl>
                                          </p:spTgt>
                                        </p:tgtEl>
                                        <p:attrNameLst>
                                          <p:attrName>ppt_h</p:attrName>
                                        </p:attrNameLst>
                                      </p:cBhvr>
                                      <p:tavLst>
                                        <p:tav tm="0">
                                          <p:val>
                                            <p:fltVal val="0"/>
                                          </p:val>
                                        </p:tav>
                                        <p:tav tm="100000">
                                          <p:val>
                                            <p:strVal val="#ppt_h"/>
                                          </p:val>
                                        </p:tav>
                                      </p:tavLst>
                                    </p:anim>
                                    <p:anim calcmode="lin" valueType="num">
                                      <p:cBhvr>
                                        <p:cTn id="17" dur="1000" fill="hold"/>
                                        <p:tgtEl>
                                          <p:spTgt spid="9219">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9219">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smtClean="0"/>
              <a:t>Chemical:  pH</a:t>
            </a:r>
          </a:p>
        </p:txBody>
      </p:sp>
      <p:sp>
        <p:nvSpPr>
          <p:cNvPr id="7171" name="Rectangle 3"/>
          <p:cNvSpPr>
            <a:spLocks noGrp="1" noChangeArrowheads="1"/>
          </p:cNvSpPr>
          <p:nvPr>
            <p:ph idx="1"/>
          </p:nvPr>
        </p:nvSpPr>
        <p:spPr/>
        <p:txBody>
          <a:bodyPr/>
          <a:lstStyle/>
          <a:p>
            <a:pPr eaLnBrk="1" hangingPunct="1"/>
            <a:r>
              <a:rPr lang="en-US" sz="2800" smtClean="0"/>
              <a:t>Most bacteria grow between pH 6.5 - pH 7.5</a:t>
            </a:r>
          </a:p>
          <a:p>
            <a:pPr eaLnBrk="1" hangingPunct="1"/>
            <a:endParaRPr lang="en-US" sz="2800" smtClean="0"/>
          </a:p>
          <a:p>
            <a:pPr eaLnBrk="1" hangingPunct="1"/>
            <a:r>
              <a:rPr lang="en-US" sz="2800" smtClean="0"/>
              <a:t>Very few can grow at  below    pH 4.0</a:t>
            </a:r>
          </a:p>
          <a:p>
            <a:pPr lvl="1" eaLnBrk="1" hangingPunct="1"/>
            <a:r>
              <a:rPr lang="en-US" sz="2400" smtClean="0"/>
              <a:t>many foods, such as sauerkraut, pickles, and cheeses are preserved from spoilage by acids produced during fermentation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1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bldLvl="2"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FG06_22.JPG                                                    0001B5CF WORKAS101                      B90835D4:"/>
          <p:cNvPicPr>
            <a:picLocks noChangeAspect="1" noChangeArrowheads="1"/>
          </p:cNvPicPr>
          <p:nvPr/>
        </p:nvPicPr>
        <p:blipFill>
          <a:blip r:embed="rId3"/>
          <a:srcRect/>
          <a:stretch>
            <a:fillRect/>
          </a:stretch>
        </p:blipFill>
        <p:spPr bwMode="auto">
          <a:xfrm>
            <a:off x="0" y="1066800"/>
            <a:ext cx="9144000" cy="5791200"/>
          </a:xfrm>
          <a:prstGeom prst="rect">
            <a:avLst/>
          </a:prstGeom>
          <a:noFill/>
          <a:ln w="9525">
            <a:noFill/>
            <a:miter lim="800000"/>
            <a:headEnd/>
            <a:tailEnd/>
          </a:ln>
        </p:spPr>
      </p:pic>
      <p:sp>
        <p:nvSpPr>
          <p:cNvPr id="17411" name="Rectangle 5"/>
          <p:cNvSpPr>
            <a:spLocks noGrp="1" noChangeArrowheads="1"/>
          </p:cNvSpPr>
          <p:nvPr>
            <p:ph type="title"/>
          </p:nvPr>
        </p:nvSpPr>
        <p:spPr>
          <a:xfrm>
            <a:off x="533400" y="304800"/>
            <a:ext cx="8153400" cy="641350"/>
          </a:xfrm>
        </p:spPr>
        <p:txBody>
          <a:bodyPr/>
          <a:lstStyle/>
          <a:p>
            <a:r>
              <a:rPr lang="en-GB" sz="3600" smtClean="0"/>
              <a:t>Bacterial growth at various pH</a:t>
            </a: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0" y="685800"/>
            <a:ext cx="9144000" cy="5867400"/>
          </a:xfrm>
          <a:prstGeom prst="rect">
            <a:avLst/>
          </a:prstGeom>
          <a:noFill/>
          <a:ln w="9525">
            <a:noFill/>
            <a:miter lim="800000"/>
            <a:headEnd/>
            <a:tailEnd/>
          </a:ln>
        </p:spPr>
        <p:txBody>
          <a:bodyPr/>
          <a:lstStyle/>
          <a:p>
            <a:pPr marL="342900" indent="-342900">
              <a:spcBef>
                <a:spcPct val="20000"/>
              </a:spcBef>
              <a:buClr>
                <a:schemeClr val="accent1"/>
              </a:buClr>
              <a:buSzPct val="90000"/>
            </a:pPr>
            <a:r>
              <a:rPr kumimoji="1" lang="en-US" sz="3200" b="1">
                <a:latin typeface="Calibri" pitchFamily="34" charset="0"/>
              </a:rPr>
              <a:t>Acidophiles</a:t>
            </a:r>
            <a:r>
              <a:rPr kumimoji="1" lang="en-US" sz="3200">
                <a:latin typeface="Calibri" pitchFamily="34" charset="0"/>
              </a:rPr>
              <a:t> - Optimum pH well below neutrality (7.0). E.g. </a:t>
            </a:r>
            <a:r>
              <a:rPr kumimoji="1" lang="en-US" sz="3200" i="1">
                <a:latin typeface="Calibri" pitchFamily="34" charset="0"/>
              </a:rPr>
              <a:t>Thiobaillus</a:t>
            </a:r>
            <a:r>
              <a:rPr kumimoji="1" lang="en-US" sz="3200">
                <a:latin typeface="Calibri" pitchFamily="34" charset="0"/>
              </a:rPr>
              <a:t>, </a:t>
            </a:r>
            <a:r>
              <a:rPr kumimoji="1" lang="en-US" sz="3200" i="1">
                <a:latin typeface="Calibri" pitchFamily="34" charset="0"/>
              </a:rPr>
              <a:t>Sulpholobus</a:t>
            </a:r>
            <a:r>
              <a:rPr kumimoji="1" lang="en-US" sz="3200">
                <a:latin typeface="Calibri" pitchFamily="34" charset="0"/>
              </a:rPr>
              <a:t>, </a:t>
            </a:r>
            <a:r>
              <a:rPr kumimoji="1" lang="en-US" sz="3200" i="1">
                <a:latin typeface="Calibri" pitchFamily="34" charset="0"/>
              </a:rPr>
              <a:t>Thermoplasma</a:t>
            </a:r>
            <a:r>
              <a:rPr kumimoji="1" lang="en-US" sz="3200">
                <a:latin typeface="Calibri" pitchFamily="34" charset="0"/>
              </a:rPr>
              <a:t> (obligate acidophiles). </a:t>
            </a:r>
            <a:r>
              <a:rPr kumimoji="1" lang="en-US" sz="3200" i="1">
                <a:latin typeface="Calibri" pitchFamily="34" charset="0"/>
              </a:rPr>
              <a:t>Cyanidium</a:t>
            </a:r>
            <a:r>
              <a:rPr kumimoji="1" lang="en-US" sz="3200">
                <a:latin typeface="Calibri" pitchFamily="34" charset="0"/>
              </a:rPr>
              <a:t> can grow at pH 0.</a:t>
            </a:r>
          </a:p>
          <a:p>
            <a:pPr marL="342900" indent="-342900">
              <a:spcBef>
                <a:spcPct val="20000"/>
              </a:spcBef>
              <a:buClr>
                <a:schemeClr val="accent1"/>
              </a:buClr>
              <a:buSzPct val="90000"/>
            </a:pPr>
            <a:r>
              <a:rPr kumimoji="1" lang="en-US" sz="3200" b="1">
                <a:latin typeface="Calibri" pitchFamily="34" charset="0"/>
              </a:rPr>
              <a:t>Neutrophiles</a:t>
            </a:r>
            <a:r>
              <a:rPr kumimoji="1" lang="en-US" sz="3200">
                <a:latin typeface="Calibri" pitchFamily="34" charset="0"/>
              </a:rPr>
              <a:t> - Grow best at neutral pH. Common genera such as </a:t>
            </a:r>
            <a:r>
              <a:rPr kumimoji="1" lang="en-US" sz="3200" i="1">
                <a:latin typeface="Calibri" pitchFamily="34" charset="0"/>
              </a:rPr>
              <a:t>Bacillus</a:t>
            </a:r>
            <a:r>
              <a:rPr kumimoji="1" lang="en-US" sz="3200">
                <a:latin typeface="Calibri" pitchFamily="34" charset="0"/>
              </a:rPr>
              <a:t>, </a:t>
            </a:r>
            <a:r>
              <a:rPr kumimoji="1" lang="en-US" sz="3200" i="1">
                <a:latin typeface="Calibri" pitchFamily="34" charset="0"/>
              </a:rPr>
              <a:t>Pseudomonas</a:t>
            </a:r>
            <a:r>
              <a:rPr kumimoji="1" lang="en-US" sz="3200">
                <a:latin typeface="Calibri" pitchFamily="34" charset="0"/>
              </a:rPr>
              <a:t> etc.</a:t>
            </a:r>
          </a:p>
          <a:p>
            <a:pPr marL="342900" indent="-342900">
              <a:spcBef>
                <a:spcPct val="20000"/>
              </a:spcBef>
              <a:buClr>
                <a:schemeClr val="accent1"/>
              </a:buClr>
              <a:buSzPct val="90000"/>
            </a:pPr>
            <a:r>
              <a:rPr kumimoji="1" lang="en-US" sz="3200" b="1">
                <a:latin typeface="Calibri" pitchFamily="34" charset="0"/>
              </a:rPr>
              <a:t>Alkaliphiles</a:t>
            </a:r>
            <a:r>
              <a:rPr kumimoji="1" lang="en-US" sz="3200">
                <a:latin typeface="Calibri" pitchFamily="34" charset="0"/>
              </a:rPr>
              <a:t> - Grow best under alkaline conditions.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srcRect/>
          <a:stretch>
            <a:fillRect/>
          </a:stretch>
        </p:blipFill>
        <p:spPr bwMode="auto">
          <a:xfrm>
            <a:off x="1219200" y="2057400"/>
            <a:ext cx="6629400" cy="3698875"/>
          </a:xfrm>
          <a:prstGeom prst="rect">
            <a:avLst/>
          </a:prstGeom>
          <a:noFill/>
          <a:ln w="9525">
            <a:noFill/>
            <a:miter lim="800000"/>
            <a:headEnd/>
            <a:tailEnd/>
          </a:ln>
        </p:spPr>
      </p:pic>
      <p:sp>
        <p:nvSpPr>
          <p:cNvPr id="19459" name="Text Box 3"/>
          <p:cNvSpPr txBox="1">
            <a:spLocks noChangeArrowheads="1"/>
          </p:cNvSpPr>
          <p:nvPr/>
        </p:nvSpPr>
        <p:spPr bwMode="auto">
          <a:xfrm>
            <a:off x="1066800" y="685800"/>
            <a:ext cx="6934200" cy="822325"/>
          </a:xfrm>
          <a:prstGeom prst="rect">
            <a:avLst/>
          </a:prstGeom>
          <a:noFill/>
          <a:ln w="9525">
            <a:noFill/>
            <a:miter lim="800000"/>
            <a:headEnd/>
            <a:tailEnd/>
          </a:ln>
        </p:spPr>
        <p:txBody>
          <a:bodyPr>
            <a:spAutoFit/>
          </a:bodyPr>
          <a:lstStyle/>
          <a:p>
            <a:pPr>
              <a:spcBef>
                <a:spcPct val="50000"/>
              </a:spcBef>
            </a:pPr>
            <a:r>
              <a:rPr lang="en-US" b="1">
                <a:latin typeface="Calibri" pitchFamily="34" charset="0"/>
              </a:rPr>
              <a:t>Growth rate versus pH for three environmental classes of procaryotes.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19200" y="0"/>
            <a:ext cx="7467600" cy="685800"/>
          </a:xfrm>
        </p:spPr>
        <p:txBody>
          <a:bodyPr>
            <a:normAutofit/>
          </a:bodyPr>
          <a:lstStyle/>
          <a:p>
            <a:pPr eaLnBrk="1" hangingPunct="1"/>
            <a:r>
              <a:rPr lang="en-US" sz="4000" b="1" smtClean="0"/>
              <a:t>Acidophiles</a:t>
            </a:r>
            <a:endParaRPr lang="en-AU" sz="4000" b="1" smtClean="0"/>
          </a:p>
        </p:txBody>
      </p:sp>
      <p:sp>
        <p:nvSpPr>
          <p:cNvPr id="102403" name="Rectangle 3"/>
          <p:cNvSpPr>
            <a:spLocks noGrp="1" noChangeArrowheads="1"/>
          </p:cNvSpPr>
          <p:nvPr>
            <p:ph type="body" sz="half" idx="2"/>
          </p:nvPr>
        </p:nvSpPr>
        <p:spPr>
          <a:xfrm>
            <a:off x="0" y="838200"/>
            <a:ext cx="9144000" cy="6019800"/>
          </a:xfrm>
        </p:spPr>
        <p:txBody>
          <a:bodyPr>
            <a:normAutofit/>
          </a:bodyPr>
          <a:lstStyle/>
          <a:p>
            <a:pPr eaLnBrk="1" hangingPunct="1">
              <a:buFont typeface="Monotype Sorts" pitchFamily="2" charset="2"/>
              <a:buNone/>
            </a:pPr>
            <a:r>
              <a:rPr lang="en-US" sz="2800" b="1" smtClean="0">
                <a:cs typeface="Times New Roman" pitchFamily="18" charset="0"/>
              </a:rPr>
              <a:t>Archaea hold “world record”</a:t>
            </a:r>
          </a:p>
          <a:p>
            <a:pPr lvl="1" eaLnBrk="1" hangingPunct="1"/>
            <a:r>
              <a:rPr lang="en-US" b="1" i="1" smtClean="0">
                <a:cs typeface="Times New Roman" pitchFamily="18" charset="0"/>
              </a:rPr>
              <a:t>Picrophilus</a:t>
            </a:r>
            <a:r>
              <a:rPr lang="en-US" b="1" smtClean="0">
                <a:cs typeface="Times New Roman" pitchFamily="18" charset="0"/>
              </a:rPr>
              <a:t> grows at pH -0.6 (and 60C)</a:t>
            </a:r>
          </a:p>
          <a:p>
            <a:pPr lvl="1" eaLnBrk="1" hangingPunct="1"/>
            <a:r>
              <a:rPr lang="en-US" b="1" i="1" smtClean="0">
                <a:cs typeface="Times New Roman" pitchFamily="18" charset="0"/>
              </a:rPr>
              <a:t>Sulfolobus </a:t>
            </a:r>
            <a:r>
              <a:rPr lang="en-US" b="1" smtClean="0">
                <a:cs typeface="Times New Roman" pitchFamily="18" charset="0"/>
              </a:rPr>
              <a:t>grows at</a:t>
            </a:r>
            <a:r>
              <a:rPr lang="en-US" b="1" i="1" smtClean="0">
                <a:cs typeface="Times New Roman" pitchFamily="18" charset="0"/>
              </a:rPr>
              <a:t> </a:t>
            </a:r>
            <a:r>
              <a:rPr lang="en-US" b="1" smtClean="0">
                <a:cs typeface="Times New Roman" pitchFamily="18" charset="0"/>
              </a:rPr>
              <a:t>pH 1.0</a:t>
            </a:r>
            <a:r>
              <a:rPr lang="en-US" b="1" i="1" smtClean="0">
                <a:cs typeface="Times New Roman" pitchFamily="18" charset="0"/>
              </a:rPr>
              <a:t> </a:t>
            </a:r>
            <a:r>
              <a:rPr lang="en-US" b="1" smtClean="0">
                <a:cs typeface="Times New Roman" pitchFamily="18" charset="0"/>
              </a:rPr>
              <a:t>(and up to 80C)</a:t>
            </a:r>
          </a:p>
          <a:p>
            <a:pPr eaLnBrk="1" hangingPunct="1">
              <a:buFont typeface="Monotype Sorts" pitchFamily="2" charset="2"/>
              <a:buNone/>
            </a:pPr>
            <a:r>
              <a:rPr lang="en-US" sz="2800" b="1" smtClean="0">
                <a:cs typeface="Times New Roman" pitchFamily="18" charset="0"/>
              </a:rPr>
              <a:t>Bacteria</a:t>
            </a:r>
          </a:p>
          <a:p>
            <a:pPr lvl="1" eaLnBrk="1" hangingPunct="1">
              <a:buFontTx/>
              <a:buNone/>
            </a:pPr>
            <a:r>
              <a:rPr lang="en-US" b="1" i="1" smtClean="0">
                <a:cs typeface="Times New Roman" pitchFamily="18" charset="0"/>
              </a:rPr>
              <a:t>Thiobacillus</a:t>
            </a:r>
            <a:r>
              <a:rPr lang="en-US" b="1" smtClean="0">
                <a:cs typeface="Times New Roman" pitchFamily="18" charset="0"/>
              </a:rPr>
              <a:t> grows at pH 1-3</a:t>
            </a:r>
          </a:p>
          <a:p>
            <a:pPr lvl="1" eaLnBrk="1" hangingPunct="1">
              <a:buFontTx/>
              <a:buNone/>
            </a:pPr>
            <a:endParaRPr lang="en-US" b="1" smtClean="0">
              <a:cs typeface="Times New Roman" pitchFamily="18" charset="0"/>
            </a:endParaRPr>
          </a:p>
          <a:p>
            <a:pPr eaLnBrk="1" hangingPunct="1">
              <a:buFont typeface="Monotype Sorts" pitchFamily="2" charset="2"/>
              <a:buNone/>
            </a:pPr>
            <a:r>
              <a:rPr lang="en-US" sz="2800" b="1" smtClean="0">
                <a:cs typeface="Times New Roman" pitchFamily="18" charset="0"/>
              </a:rPr>
              <a:t>Practically all extreme acidophiles are involved in sulfur or sulfide oxidation.  They are therefore autotrophs (and aerobic) and produce sulfate (in the form of sulfuric acid) as an end product of metabolism.  They are therefore resistant to low pH only due to the sulfate ion and they will not grow at low pH induced with any other acid.</a:t>
            </a:r>
            <a:endParaRPr lang="en-AU" sz="2800" b="1" smtClean="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03"/>
                                        </p:tgtEl>
                                        <p:attrNameLst>
                                          <p:attrName>style.visibility</p:attrName>
                                        </p:attrNameLst>
                                      </p:cBhvr>
                                      <p:to>
                                        <p:strVal val="visible"/>
                                      </p:to>
                                    </p:set>
                                    <p:anim calcmode="lin" valueType="num">
                                      <p:cBhvr additive="base">
                                        <p:cTn id="7" dur="500" fill="hold"/>
                                        <p:tgtEl>
                                          <p:spTgt spid="102403"/>
                                        </p:tgtEl>
                                        <p:attrNameLst>
                                          <p:attrName>ppt_x</p:attrName>
                                        </p:attrNameLst>
                                      </p:cBhvr>
                                      <p:tavLst>
                                        <p:tav tm="0">
                                          <p:val>
                                            <p:strVal val="#ppt_x"/>
                                          </p:val>
                                        </p:tav>
                                        <p:tav tm="100000">
                                          <p:val>
                                            <p:strVal val="#ppt_x"/>
                                          </p:val>
                                        </p:tav>
                                      </p:tavLst>
                                    </p:anim>
                                    <p:anim calcmode="lin" valueType="num">
                                      <p:cBhvr additive="base">
                                        <p:cTn id="8" dur="500" fill="hold"/>
                                        <p:tgtEl>
                                          <p:spTgt spid="1024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188913"/>
            <a:ext cx="8697913" cy="1008062"/>
          </a:xfrm>
        </p:spPr>
        <p:txBody>
          <a:bodyPr/>
          <a:lstStyle/>
          <a:p>
            <a:pPr eaLnBrk="1" hangingPunct="1"/>
            <a:r>
              <a:rPr lang="en-US" sz="4000" smtClean="0">
                <a:solidFill>
                  <a:srgbClr val="663300"/>
                </a:solidFill>
              </a:rPr>
              <a:t>Alkaliphiles</a:t>
            </a:r>
            <a:endParaRPr lang="en-AU" sz="4000" smtClean="0"/>
          </a:p>
        </p:txBody>
      </p:sp>
      <p:sp>
        <p:nvSpPr>
          <p:cNvPr id="104451" name="Rectangle 3"/>
          <p:cNvSpPr>
            <a:spLocks noGrp="1" noChangeArrowheads="1"/>
          </p:cNvSpPr>
          <p:nvPr>
            <p:ph type="body" sz="half" idx="2"/>
          </p:nvPr>
        </p:nvSpPr>
        <p:spPr>
          <a:xfrm>
            <a:off x="0" y="1981200"/>
            <a:ext cx="8686800" cy="4144963"/>
          </a:xfrm>
        </p:spPr>
        <p:txBody>
          <a:bodyPr/>
          <a:lstStyle/>
          <a:p>
            <a:pPr eaLnBrk="1" hangingPunct="1">
              <a:buFont typeface="Arial" charset="0"/>
              <a:buNone/>
            </a:pPr>
            <a:r>
              <a:rPr lang="en-US" smtClean="0"/>
              <a:t>Obviously grow at high pH – how high?</a:t>
            </a:r>
          </a:p>
          <a:p>
            <a:pPr eaLnBrk="1" hangingPunct="1">
              <a:buFont typeface="Arial" charset="0"/>
              <a:buNone/>
            </a:pPr>
            <a:r>
              <a:rPr lang="en-US" smtClean="0"/>
              <a:t>No natural environments above pH 13 so this represents the upper limit.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51"/>
                                        </p:tgtEl>
                                        <p:attrNameLst>
                                          <p:attrName>style.visibility</p:attrName>
                                        </p:attrNameLst>
                                      </p:cBhvr>
                                      <p:to>
                                        <p:strVal val="visible"/>
                                      </p:to>
                                    </p:set>
                                    <p:anim calcmode="lin" valueType="num">
                                      <p:cBhvr additive="base">
                                        <p:cTn id="7" dur="500" fill="hold"/>
                                        <p:tgtEl>
                                          <p:spTgt spid="104451"/>
                                        </p:tgtEl>
                                        <p:attrNameLst>
                                          <p:attrName>ppt_x</p:attrName>
                                        </p:attrNameLst>
                                      </p:cBhvr>
                                      <p:tavLst>
                                        <p:tav tm="0">
                                          <p:val>
                                            <p:strVal val="#ppt_x"/>
                                          </p:val>
                                        </p:tav>
                                        <p:tav tm="100000">
                                          <p:val>
                                            <p:strVal val="#ppt_x"/>
                                          </p:val>
                                        </p:tav>
                                      </p:tavLst>
                                    </p:anim>
                                    <p:anim calcmode="lin" valueType="num">
                                      <p:cBhvr additive="base">
                                        <p:cTn id="8" dur="500" fill="hold"/>
                                        <p:tgtEl>
                                          <p:spTgt spid="1044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mtClean="0"/>
              <a:t>Osmotic Pressure</a:t>
            </a:r>
          </a:p>
        </p:txBody>
      </p:sp>
      <p:sp>
        <p:nvSpPr>
          <p:cNvPr id="8195" name="Rectangle 3"/>
          <p:cNvSpPr>
            <a:spLocks noGrp="1" noChangeArrowheads="1"/>
          </p:cNvSpPr>
          <p:nvPr>
            <p:ph idx="1"/>
          </p:nvPr>
        </p:nvSpPr>
        <p:spPr/>
        <p:txBody>
          <a:bodyPr/>
          <a:lstStyle/>
          <a:p>
            <a:pPr eaLnBrk="1" hangingPunct="1"/>
            <a:r>
              <a:rPr lang="en-US" smtClean="0"/>
              <a:t>Microbes obtain almost all their nutrients in solution from surrounding water</a:t>
            </a:r>
          </a:p>
          <a:p>
            <a:pPr eaLnBrk="1" hangingPunct="1"/>
            <a:endParaRPr lang="en-US" smtClean="0"/>
          </a:p>
          <a:p>
            <a:pPr eaLnBrk="1" hangingPunct="1"/>
            <a:r>
              <a:rPr lang="en-US" smtClean="0"/>
              <a:t>Tonicity</a:t>
            </a:r>
          </a:p>
          <a:p>
            <a:pPr lvl="1" eaLnBrk="1" hangingPunct="1"/>
            <a:r>
              <a:rPr lang="en-US" smtClean="0"/>
              <a:t>isotonic</a:t>
            </a:r>
          </a:p>
          <a:p>
            <a:pPr lvl="1" eaLnBrk="1" hangingPunct="1"/>
            <a:r>
              <a:rPr lang="en-US" smtClean="0"/>
              <a:t>hypertonic</a:t>
            </a:r>
          </a:p>
          <a:p>
            <a:pPr lvl="1" eaLnBrk="1" hangingPunct="1"/>
            <a:r>
              <a:rPr lang="en-US" smtClean="0"/>
              <a:t>hypotonic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 calcmode="lin" valueType="num">
                                      <p:cBhvr additive="base">
                                        <p:cTn id="13"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anim calcmode="lin" valueType="num">
                                      <p:cBhvr additive="base">
                                        <p:cTn id="19" dur="500" fill="hold"/>
                                        <p:tgtEl>
                                          <p:spTgt spid="819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195">
                                            <p:txEl>
                                              <p:pRg st="4" end="4"/>
                                            </p:txEl>
                                          </p:spTgt>
                                        </p:tgtEl>
                                        <p:attrNameLst>
                                          <p:attrName>style.visibility</p:attrName>
                                        </p:attrNameLst>
                                      </p:cBhvr>
                                      <p:to>
                                        <p:strVal val="visible"/>
                                      </p:to>
                                    </p:set>
                                    <p:anim calcmode="lin" valueType="num">
                                      <p:cBhvr additive="base">
                                        <p:cTn id="25" dur="500" fill="hold"/>
                                        <p:tgtEl>
                                          <p:spTgt spid="819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195">
                                            <p:txEl>
                                              <p:pRg st="5" end="5"/>
                                            </p:txEl>
                                          </p:spTgt>
                                        </p:tgtEl>
                                        <p:attrNameLst>
                                          <p:attrName>style.visibility</p:attrName>
                                        </p:attrNameLst>
                                      </p:cBhvr>
                                      <p:to>
                                        <p:strVal val="visible"/>
                                      </p:to>
                                    </p:set>
                                    <p:anim calcmode="lin" valueType="num">
                                      <p:cBhvr additive="base">
                                        <p:cTn id="31" dur="500" fill="hold"/>
                                        <p:tgtEl>
                                          <p:spTgt spid="819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9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bldLvl="2"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mtClean="0"/>
              <a:t>Oxygen</a:t>
            </a:r>
          </a:p>
        </p:txBody>
      </p:sp>
      <p:sp>
        <p:nvSpPr>
          <p:cNvPr id="24579" name="Rectangle 3"/>
          <p:cNvSpPr>
            <a:spLocks noGrp="1" noChangeArrowheads="1"/>
          </p:cNvSpPr>
          <p:nvPr>
            <p:ph idx="1"/>
          </p:nvPr>
        </p:nvSpPr>
        <p:spPr/>
        <p:txBody>
          <a:bodyPr/>
          <a:lstStyle/>
          <a:p>
            <a:pPr eaLnBrk="1" hangingPunct="1"/>
            <a:r>
              <a:rPr lang="en-US" smtClean="0"/>
              <a:t>Bacteria can be classified base on their oxygen requirements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1752600" y="381000"/>
            <a:ext cx="6248400" cy="641350"/>
          </a:xfrm>
          <a:prstGeom prst="rect">
            <a:avLst/>
          </a:prstGeom>
          <a:noFill/>
          <a:ln w="12700">
            <a:noFill/>
            <a:miter lim="800000"/>
            <a:headEnd type="none" w="sm" len="sm"/>
            <a:tailEnd type="none" w="sm" len="sm"/>
          </a:ln>
        </p:spPr>
        <p:txBody>
          <a:bodyPr>
            <a:spAutoFit/>
          </a:bodyPr>
          <a:lstStyle/>
          <a:p>
            <a:pPr>
              <a:spcBef>
                <a:spcPct val="50000"/>
              </a:spcBef>
            </a:pPr>
            <a:r>
              <a:rPr lang="en-US"/>
              <a:t>1. </a:t>
            </a:r>
            <a:r>
              <a:rPr lang="en-US" sz="3600"/>
              <a:t>Obligate Aerobes</a:t>
            </a:r>
            <a:endParaRPr lang="en-US"/>
          </a:p>
        </p:txBody>
      </p:sp>
      <p:pic>
        <p:nvPicPr>
          <p:cNvPr id="11267" name="Picture 3" descr="U:\PowerPoint\Scanner\Micro\aerobic.tif"/>
          <p:cNvPicPr>
            <a:picLocks noChangeAspect="1" noChangeArrowheads="1"/>
          </p:cNvPicPr>
          <p:nvPr/>
        </p:nvPicPr>
        <p:blipFill>
          <a:blip r:embed="rId2"/>
          <a:srcRect/>
          <a:stretch>
            <a:fillRect/>
          </a:stretch>
        </p:blipFill>
        <p:spPr bwMode="auto">
          <a:xfrm>
            <a:off x="3124200" y="1219200"/>
            <a:ext cx="2865438" cy="51022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1905000" y="457200"/>
            <a:ext cx="6553200" cy="641350"/>
          </a:xfrm>
          <a:prstGeom prst="rect">
            <a:avLst/>
          </a:prstGeom>
          <a:noFill/>
          <a:ln w="12700">
            <a:noFill/>
            <a:miter lim="800000"/>
            <a:headEnd type="none" w="sm" len="sm"/>
            <a:tailEnd type="none" w="sm" len="sm"/>
          </a:ln>
        </p:spPr>
        <p:txBody>
          <a:bodyPr>
            <a:spAutoFit/>
          </a:bodyPr>
          <a:lstStyle/>
          <a:p>
            <a:pPr>
              <a:spcBef>
                <a:spcPct val="50000"/>
              </a:spcBef>
            </a:pPr>
            <a:r>
              <a:rPr lang="en-US" sz="3600"/>
              <a:t>2. Obligate Anaerobes</a:t>
            </a:r>
          </a:p>
        </p:txBody>
      </p:sp>
      <p:pic>
        <p:nvPicPr>
          <p:cNvPr id="12291" name="Picture 3" descr="U:\PowerPoint\Scanner\Micro\anaerobic.tif"/>
          <p:cNvPicPr>
            <a:picLocks noChangeAspect="1" noChangeArrowheads="1"/>
          </p:cNvPicPr>
          <p:nvPr/>
        </p:nvPicPr>
        <p:blipFill>
          <a:blip r:embed="rId2"/>
          <a:srcRect/>
          <a:stretch>
            <a:fillRect/>
          </a:stretch>
        </p:blipFill>
        <p:spPr bwMode="auto">
          <a:xfrm>
            <a:off x="2971800" y="1295400"/>
            <a:ext cx="3152775" cy="5562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22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1981200" y="457200"/>
            <a:ext cx="6477000" cy="1465263"/>
          </a:xfrm>
          <a:prstGeom prst="rect">
            <a:avLst/>
          </a:prstGeom>
          <a:noFill/>
          <a:ln w="12700">
            <a:noFill/>
            <a:miter lim="800000"/>
            <a:headEnd type="none" w="sm" len="sm"/>
            <a:tailEnd type="none" w="sm" len="sm"/>
          </a:ln>
        </p:spPr>
        <p:txBody>
          <a:bodyPr>
            <a:spAutoFit/>
          </a:bodyPr>
          <a:lstStyle/>
          <a:p>
            <a:pPr>
              <a:spcBef>
                <a:spcPct val="50000"/>
              </a:spcBef>
            </a:pPr>
            <a:r>
              <a:rPr lang="en-US" sz="3600"/>
              <a:t>3. Facultative Aerobes</a:t>
            </a:r>
          </a:p>
          <a:p>
            <a:pPr>
              <a:spcBef>
                <a:spcPct val="50000"/>
              </a:spcBef>
            </a:pPr>
            <a:r>
              <a:rPr lang="en-US" sz="3600"/>
              <a:t>    Facultative Anaerobes</a:t>
            </a:r>
            <a:endParaRPr lang="en-US"/>
          </a:p>
        </p:txBody>
      </p:sp>
      <p:pic>
        <p:nvPicPr>
          <p:cNvPr id="13315" name="Picture 3" descr="U:\PowerPoint\Scanner\Micro\faculatative.tif"/>
          <p:cNvPicPr>
            <a:picLocks noChangeAspect="1" noChangeArrowheads="1"/>
          </p:cNvPicPr>
          <p:nvPr/>
        </p:nvPicPr>
        <p:blipFill>
          <a:blip r:embed="rId2"/>
          <a:srcRect/>
          <a:stretch>
            <a:fillRect/>
          </a:stretch>
        </p:blipFill>
        <p:spPr bwMode="auto">
          <a:xfrm>
            <a:off x="3124200" y="1905000"/>
            <a:ext cx="2806700" cy="4953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3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2057400" y="457200"/>
            <a:ext cx="6019800" cy="641350"/>
          </a:xfrm>
          <a:prstGeom prst="rect">
            <a:avLst/>
          </a:prstGeom>
          <a:noFill/>
          <a:ln w="12700">
            <a:noFill/>
            <a:miter lim="800000"/>
            <a:headEnd type="none" w="sm" len="sm"/>
            <a:tailEnd type="none" w="sm" len="sm"/>
          </a:ln>
        </p:spPr>
        <p:txBody>
          <a:bodyPr>
            <a:spAutoFit/>
          </a:bodyPr>
          <a:lstStyle/>
          <a:p>
            <a:pPr>
              <a:spcBef>
                <a:spcPct val="50000"/>
              </a:spcBef>
            </a:pPr>
            <a:r>
              <a:rPr lang="en-US" sz="3600"/>
              <a:t>4. Microaerophilic</a:t>
            </a:r>
            <a:endParaRPr lang="en-US"/>
          </a:p>
        </p:txBody>
      </p:sp>
      <p:pic>
        <p:nvPicPr>
          <p:cNvPr id="14339" name="Picture 3" descr="U:\PowerPoint\Scanner\Micro\microaerophilic.tif"/>
          <p:cNvPicPr>
            <a:picLocks noChangeAspect="1" noChangeArrowheads="1"/>
          </p:cNvPicPr>
          <p:nvPr/>
        </p:nvPicPr>
        <p:blipFill>
          <a:blip r:embed="rId2"/>
          <a:srcRect/>
          <a:stretch>
            <a:fillRect/>
          </a:stretch>
        </p:blipFill>
        <p:spPr bwMode="auto">
          <a:xfrm>
            <a:off x="3200400" y="1371600"/>
            <a:ext cx="3109913" cy="5486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43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5"/>
          <p:cNvSpPr>
            <a:spLocks noGrp="1" noChangeArrowheads="1"/>
          </p:cNvSpPr>
          <p:nvPr>
            <p:ph type="title"/>
          </p:nvPr>
        </p:nvSpPr>
        <p:spPr>
          <a:xfrm>
            <a:off x="914400" y="277813"/>
            <a:ext cx="7848600" cy="1703387"/>
          </a:xfrm>
        </p:spPr>
        <p:txBody>
          <a:bodyPr>
            <a:normAutofit/>
          </a:bodyPr>
          <a:lstStyle/>
          <a:p>
            <a:pPr eaLnBrk="1" hangingPunct="1"/>
            <a:r>
              <a:rPr lang="en-US" sz="2400" smtClean="0"/>
              <a:t>Hypothetical cross-section of a soil particle showing different regions of oxygen availability. In the centre of the particle, oxygen is not available, thus only anaerobic and facultative anaerobic microorganisms would be capable of growth</a:t>
            </a:r>
            <a:r>
              <a:rPr lang="en-US" sz="1800" smtClean="0"/>
              <a:t>.</a:t>
            </a:r>
            <a:r>
              <a:rPr lang="en-US" sz="3400" smtClean="0"/>
              <a:t> </a:t>
            </a:r>
          </a:p>
        </p:txBody>
      </p:sp>
      <p:pic>
        <p:nvPicPr>
          <p:cNvPr id="29699" name="Picture 4" descr="Soil"/>
          <p:cNvPicPr>
            <a:picLocks noGrp="1" noChangeAspect="1" noChangeArrowheads="1"/>
          </p:cNvPicPr>
          <p:nvPr>
            <p:ph type="clipArt" sz="half" idx="1"/>
          </p:nvPr>
        </p:nvPicPr>
        <p:blipFill>
          <a:blip r:embed="rId2"/>
          <a:stretch>
            <a:fillRect/>
          </a:stretch>
        </p:blipFill>
        <p:spPr>
          <a:xfrm>
            <a:off x="1252537" y="2024062"/>
            <a:ext cx="3286125" cy="3724275"/>
          </a:xfr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85800" y="228600"/>
            <a:ext cx="7772400" cy="762000"/>
          </a:xfrm>
        </p:spPr>
        <p:txBody>
          <a:bodyPr/>
          <a:lstStyle/>
          <a:p>
            <a:r>
              <a:rPr lang="en-GB" smtClean="0"/>
              <a:t>Oxygen and growth</a:t>
            </a:r>
          </a:p>
        </p:txBody>
      </p:sp>
      <p:grpSp>
        <p:nvGrpSpPr>
          <p:cNvPr id="30723" name="Group 58"/>
          <p:cNvGrpSpPr>
            <a:grpSpLocks/>
          </p:cNvGrpSpPr>
          <p:nvPr/>
        </p:nvGrpSpPr>
        <p:grpSpPr bwMode="auto">
          <a:xfrm>
            <a:off x="0" y="1143000"/>
            <a:ext cx="9144000" cy="5486400"/>
            <a:chOff x="6" y="0"/>
            <a:chExt cx="3459" cy="3577"/>
          </a:xfrm>
        </p:grpSpPr>
        <p:sp>
          <p:nvSpPr>
            <p:cNvPr id="30724" name="Rectangle 30"/>
            <p:cNvSpPr>
              <a:spLocks noChangeArrowheads="1"/>
            </p:cNvSpPr>
            <p:nvPr/>
          </p:nvSpPr>
          <p:spPr bwMode="auto">
            <a:xfrm>
              <a:off x="6" y="6"/>
              <a:ext cx="918" cy="391"/>
            </a:xfrm>
            <a:prstGeom prst="rect">
              <a:avLst/>
            </a:prstGeom>
            <a:noFill/>
            <a:ln w="9525">
              <a:solidFill>
                <a:schemeClr val="tx1"/>
              </a:solidFill>
              <a:miter lim="800000"/>
              <a:headEnd/>
              <a:tailEnd/>
            </a:ln>
          </p:spPr>
          <p:txBody>
            <a:bodyPr anchor="ctr"/>
            <a:lstStyle/>
            <a:p>
              <a:r>
                <a:rPr lang="en-GB" sz="2100">
                  <a:latin typeface="Arial" charset="0"/>
                </a:rPr>
                <a:t> </a:t>
              </a:r>
            </a:p>
            <a:p>
              <a:endParaRPr lang="en-GB" sz="2100">
                <a:latin typeface="Arial" charset="0"/>
              </a:endParaRPr>
            </a:p>
          </p:txBody>
        </p:sp>
        <p:sp>
          <p:nvSpPr>
            <p:cNvPr id="30725" name="Rectangle 31"/>
            <p:cNvSpPr>
              <a:spLocks noChangeArrowheads="1"/>
            </p:cNvSpPr>
            <p:nvPr/>
          </p:nvSpPr>
          <p:spPr bwMode="auto">
            <a:xfrm>
              <a:off x="924" y="6"/>
              <a:ext cx="581" cy="391"/>
            </a:xfrm>
            <a:prstGeom prst="rect">
              <a:avLst/>
            </a:prstGeom>
            <a:noFill/>
            <a:ln w="9525">
              <a:solidFill>
                <a:schemeClr val="tx1"/>
              </a:solidFill>
              <a:miter lim="800000"/>
              <a:headEnd/>
              <a:tailEnd/>
            </a:ln>
          </p:spPr>
          <p:txBody>
            <a:bodyPr anchor="ctr"/>
            <a:lstStyle/>
            <a:p>
              <a:r>
                <a:rPr lang="en-GB" sz="2100">
                  <a:latin typeface="Arial" charset="0"/>
                </a:rPr>
                <a:t> </a:t>
              </a:r>
            </a:p>
            <a:p>
              <a:endParaRPr lang="en-GB" sz="2100">
                <a:latin typeface="Arial" charset="0"/>
              </a:endParaRPr>
            </a:p>
          </p:txBody>
        </p:sp>
        <p:sp>
          <p:nvSpPr>
            <p:cNvPr id="30726" name="Rectangle 32"/>
            <p:cNvSpPr>
              <a:spLocks noChangeArrowheads="1"/>
            </p:cNvSpPr>
            <p:nvPr/>
          </p:nvSpPr>
          <p:spPr bwMode="auto">
            <a:xfrm>
              <a:off x="1505" y="6"/>
              <a:ext cx="695" cy="391"/>
            </a:xfrm>
            <a:prstGeom prst="rect">
              <a:avLst/>
            </a:prstGeom>
            <a:noFill/>
            <a:ln w="9525">
              <a:solidFill>
                <a:schemeClr val="tx1"/>
              </a:solidFill>
              <a:miter lim="800000"/>
              <a:headEnd/>
              <a:tailEnd/>
            </a:ln>
          </p:spPr>
          <p:txBody>
            <a:bodyPr anchor="ctr"/>
            <a:lstStyle/>
            <a:p>
              <a:r>
                <a:rPr lang="en-GB" sz="2100" b="1">
                  <a:latin typeface="Arial" charset="0"/>
                </a:rPr>
                <a:t>Environment</a:t>
              </a:r>
              <a:endParaRPr lang="en-GB" sz="2100">
                <a:latin typeface="Arial" charset="0"/>
              </a:endParaRPr>
            </a:p>
            <a:p>
              <a:endParaRPr lang="en-GB" sz="2100">
                <a:latin typeface="Arial" charset="0"/>
              </a:endParaRPr>
            </a:p>
          </p:txBody>
        </p:sp>
        <p:sp>
          <p:nvSpPr>
            <p:cNvPr id="30727" name="Rectangle 33"/>
            <p:cNvSpPr>
              <a:spLocks noChangeArrowheads="1"/>
            </p:cNvSpPr>
            <p:nvPr/>
          </p:nvSpPr>
          <p:spPr bwMode="auto">
            <a:xfrm>
              <a:off x="2194" y="0"/>
              <a:ext cx="1271" cy="415"/>
            </a:xfrm>
            <a:prstGeom prst="rect">
              <a:avLst/>
            </a:prstGeom>
            <a:noFill/>
            <a:ln w="9525">
              <a:solidFill>
                <a:schemeClr val="tx1"/>
              </a:solidFill>
              <a:miter lim="800000"/>
              <a:headEnd/>
              <a:tailEnd/>
            </a:ln>
          </p:spPr>
          <p:txBody>
            <a:bodyPr anchor="ctr"/>
            <a:lstStyle/>
            <a:p>
              <a:r>
                <a:rPr lang="en-GB" sz="2100">
                  <a:latin typeface="Arial" charset="0"/>
                </a:rPr>
                <a:t> </a:t>
              </a:r>
            </a:p>
            <a:p>
              <a:endParaRPr lang="en-GB" sz="2100">
                <a:latin typeface="Arial" charset="0"/>
              </a:endParaRPr>
            </a:p>
          </p:txBody>
        </p:sp>
        <p:sp>
          <p:nvSpPr>
            <p:cNvPr id="30728" name="Rectangle 34"/>
            <p:cNvSpPr>
              <a:spLocks noChangeArrowheads="1"/>
            </p:cNvSpPr>
            <p:nvPr/>
          </p:nvSpPr>
          <p:spPr bwMode="auto">
            <a:xfrm>
              <a:off x="6" y="421"/>
              <a:ext cx="918" cy="391"/>
            </a:xfrm>
            <a:prstGeom prst="rect">
              <a:avLst/>
            </a:prstGeom>
            <a:noFill/>
            <a:ln w="9525">
              <a:solidFill>
                <a:schemeClr val="tx1"/>
              </a:solidFill>
              <a:miter lim="800000"/>
              <a:headEnd/>
              <a:tailEnd/>
            </a:ln>
          </p:spPr>
          <p:txBody>
            <a:bodyPr anchor="ctr"/>
            <a:lstStyle/>
            <a:p>
              <a:r>
                <a:rPr lang="en-GB" sz="2100" b="1">
                  <a:latin typeface="Arial" charset="0"/>
                </a:rPr>
                <a:t>Group</a:t>
              </a:r>
              <a:endParaRPr lang="en-GB" sz="2100">
                <a:latin typeface="Arial" charset="0"/>
              </a:endParaRPr>
            </a:p>
            <a:p>
              <a:endParaRPr lang="en-GB" sz="2100">
                <a:latin typeface="Arial" charset="0"/>
              </a:endParaRPr>
            </a:p>
          </p:txBody>
        </p:sp>
        <p:sp>
          <p:nvSpPr>
            <p:cNvPr id="30729" name="Rectangle 35"/>
            <p:cNvSpPr>
              <a:spLocks noChangeArrowheads="1"/>
            </p:cNvSpPr>
            <p:nvPr/>
          </p:nvSpPr>
          <p:spPr bwMode="auto">
            <a:xfrm>
              <a:off x="924" y="421"/>
              <a:ext cx="581" cy="391"/>
            </a:xfrm>
            <a:prstGeom prst="rect">
              <a:avLst/>
            </a:prstGeom>
            <a:noFill/>
            <a:ln w="9525">
              <a:solidFill>
                <a:schemeClr val="tx1"/>
              </a:solidFill>
              <a:miter lim="800000"/>
              <a:headEnd/>
              <a:tailEnd/>
            </a:ln>
          </p:spPr>
          <p:txBody>
            <a:bodyPr anchor="ctr"/>
            <a:lstStyle/>
            <a:p>
              <a:r>
                <a:rPr lang="en-GB" sz="2100" b="1">
                  <a:latin typeface="Arial" charset="0"/>
                </a:rPr>
                <a:t>Aerobic</a:t>
              </a:r>
              <a:endParaRPr lang="en-GB" sz="2100">
                <a:latin typeface="Arial" charset="0"/>
              </a:endParaRPr>
            </a:p>
            <a:p>
              <a:endParaRPr lang="en-GB" sz="2100">
                <a:latin typeface="Arial" charset="0"/>
              </a:endParaRPr>
            </a:p>
          </p:txBody>
        </p:sp>
        <p:sp>
          <p:nvSpPr>
            <p:cNvPr id="30730" name="Rectangle 36"/>
            <p:cNvSpPr>
              <a:spLocks noChangeArrowheads="1"/>
            </p:cNvSpPr>
            <p:nvPr/>
          </p:nvSpPr>
          <p:spPr bwMode="auto">
            <a:xfrm>
              <a:off x="1505" y="421"/>
              <a:ext cx="695" cy="391"/>
            </a:xfrm>
            <a:prstGeom prst="rect">
              <a:avLst/>
            </a:prstGeom>
            <a:noFill/>
            <a:ln w="9525">
              <a:solidFill>
                <a:schemeClr val="tx1"/>
              </a:solidFill>
              <a:miter lim="800000"/>
              <a:headEnd/>
              <a:tailEnd/>
            </a:ln>
          </p:spPr>
          <p:txBody>
            <a:bodyPr anchor="ctr"/>
            <a:lstStyle/>
            <a:p>
              <a:r>
                <a:rPr lang="en-GB" sz="2100" b="1">
                  <a:latin typeface="Arial" charset="0"/>
                </a:rPr>
                <a:t>Anaerobic</a:t>
              </a:r>
              <a:endParaRPr lang="en-GB" sz="2100">
                <a:latin typeface="Arial" charset="0"/>
              </a:endParaRPr>
            </a:p>
            <a:p>
              <a:endParaRPr lang="en-GB" sz="2100">
                <a:latin typeface="Arial" charset="0"/>
              </a:endParaRPr>
            </a:p>
          </p:txBody>
        </p:sp>
        <p:sp>
          <p:nvSpPr>
            <p:cNvPr id="30731" name="Rectangle 37"/>
            <p:cNvSpPr>
              <a:spLocks noChangeArrowheads="1"/>
            </p:cNvSpPr>
            <p:nvPr/>
          </p:nvSpPr>
          <p:spPr bwMode="auto">
            <a:xfrm>
              <a:off x="2200" y="421"/>
              <a:ext cx="1259" cy="391"/>
            </a:xfrm>
            <a:prstGeom prst="rect">
              <a:avLst/>
            </a:prstGeom>
            <a:noFill/>
            <a:ln w="9525">
              <a:solidFill>
                <a:schemeClr val="tx1"/>
              </a:solidFill>
              <a:miter lim="800000"/>
              <a:headEnd/>
              <a:tailEnd/>
            </a:ln>
          </p:spPr>
          <p:txBody>
            <a:bodyPr anchor="ctr"/>
            <a:lstStyle/>
            <a:p>
              <a:r>
                <a:rPr lang="en-GB" sz="2100" b="1">
                  <a:latin typeface="Arial" charset="0"/>
                </a:rPr>
                <a:t>O</a:t>
              </a:r>
              <a:r>
                <a:rPr lang="en-GB" sz="2100" b="1" baseline="-30000">
                  <a:latin typeface="Arial" charset="0"/>
                </a:rPr>
                <a:t>2</a:t>
              </a:r>
              <a:r>
                <a:rPr lang="en-GB" sz="2100" b="1">
                  <a:latin typeface="Arial" charset="0"/>
                </a:rPr>
                <a:t> Effect</a:t>
              </a:r>
              <a:endParaRPr lang="en-GB" sz="2100">
                <a:latin typeface="Arial" charset="0"/>
              </a:endParaRPr>
            </a:p>
            <a:p>
              <a:endParaRPr lang="en-GB" sz="2100">
                <a:latin typeface="Arial" charset="0"/>
              </a:endParaRPr>
            </a:p>
          </p:txBody>
        </p:sp>
        <p:sp>
          <p:nvSpPr>
            <p:cNvPr id="30732" name="Rectangle 38"/>
            <p:cNvSpPr>
              <a:spLocks noChangeArrowheads="1"/>
            </p:cNvSpPr>
            <p:nvPr/>
          </p:nvSpPr>
          <p:spPr bwMode="auto">
            <a:xfrm>
              <a:off x="6" y="836"/>
              <a:ext cx="918" cy="506"/>
            </a:xfrm>
            <a:prstGeom prst="rect">
              <a:avLst/>
            </a:prstGeom>
            <a:noFill/>
            <a:ln w="9525">
              <a:solidFill>
                <a:schemeClr val="tx1"/>
              </a:solidFill>
              <a:miter lim="800000"/>
              <a:headEnd/>
              <a:tailEnd/>
            </a:ln>
          </p:spPr>
          <p:txBody>
            <a:bodyPr anchor="ctr"/>
            <a:lstStyle/>
            <a:p>
              <a:r>
                <a:rPr lang="en-GB" sz="2100">
                  <a:latin typeface="Arial" charset="0"/>
                </a:rPr>
                <a:t>Obligate Aerobe</a:t>
              </a:r>
            </a:p>
            <a:p>
              <a:endParaRPr lang="en-GB" sz="2100">
                <a:latin typeface="Arial" charset="0"/>
              </a:endParaRPr>
            </a:p>
          </p:txBody>
        </p:sp>
        <p:sp>
          <p:nvSpPr>
            <p:cNvPr id="30733" name="Rectangle 39"/>
            <p:cNvSpPr>
              <a:spLocks noChangeArrowheads="1"/>
            </p:cNvSpPr>
            <p:nvPr/>
          </p:nvSpPr>
          <p:spPr bwMode="auto">
            <a:xfrm>
              <a:off x="924" y="836"/>
              <a:ext cx="581" cy="506"/>
            </a:xfrm>
            <a:prstGeom prst="rect">
              <a:avLst/>
            </a:prstGeom>
            <a:noFill/>
            <a:ln w="9525">
              <a:solidFill>
                <a:schemeClr val="tx1"/>
              </a:solidFill>
              <a:miter lim="800000"/>
              <a:headEnd/>
              <a:tailEnd/>
            </a:ln>
          </p:spPr>
          <p:txBody>
            <a:bodyPr anchor="ctr"/>
            <a:lstStyle/>
            <a:p>
              <a:r>
                <a:rPr lang="en-GB" sz="2100">
                  <a:latin typeface="Arial" charset="0"/>
                </a:rPr>
                <a:t>Growth</a:t>
              </a:r>
            </a:p>
            <a:p>
              <a:endParaRPr lang="en-GB" sz="2100">
                <a:latin typeface="Arial" charset="0"/>
              </a:endParaRPr>
            </a:p>
          </p:txBody>
        </p:sp>
        <p:sp>
          <p:nvSpPr>
            <p:cNvPr id="30734" name="Rectangle 40"/>
            <p:cNvSpPr>
              <a:spLocks noChangeArrowheads="1"/>
            </p:cNvSpPr>
            <p:nvPr/>
          </p:nvSpPr>
          <p:spPr bwMode="auto">
            <a:xfrm>
              <a:off x="1505" y="836"/>
              <a:ext cx="695" cy="506"/>
            </a:xfrm>
            <a:prstGeom prst="rect">
              <a:avLst/>
            </a:prstGeom>
            <a:noFill/>
            <a:ln w="9525">
              <a:solidFill>
                <a:schemeClr val="tx1"/>
              </a:solidFill>
              <a:miter lim="800000"/>
              <a:headEnd/>
              <a:tailEnd/>
            </a:ln>
          </p:spPr>
          <p:txBody>
            <a:bodyPr anchor="ctr"/>
            <a:lstStyle/>
            <a:p>
              <a:r>
                <a:rPr lang="en-GB" sz="2100">
                  <a:latin typeface="Arial" charset="0"/>
                </a:rPr>
                <a:t>No growth</a:t>
              </a:r>
            </a:p>
            <a:p>
              <a:endParaRPr lang="en-GB" sz="2100">
                <a:latin typeface="Arial" charset="0"/>
              </a:endParaRPr>
            </a:p>
          </p:txBody>
        </p:sp>
        <p:sp>
          <p:nvSpPr>
            <p:cNvPr id="30735" name="Rectangle 41"/>
            <p:cNvSpPr>
              <a:spLocks noChangeArrowheads="1"/>
            </p:cNvSpPr>
            <p:nvPr/>
          </p:nvSpPr>
          <p:spPr bwMode="auto">
            <a:xfrm>
              <a:off x="2200" y="836"/>
              <a:ext cx="1259" cy="506"/>
            </a:xfrm>
            <a:prstGeom prst="rect">
              <a:avLst/>
            </a:prstGeom>
            <a:noFill/>
            <a:ln w="9525">
              <a:solidFill>
                <a:schemeClr val="tx1"/>
              </a:solidFill>
              <a:miter lim="800000"/>
              <a:headEnd/>
              <a:tailEnd/>
            </a:ln>
          </p:spPr>
          <p:txBody>
            <a:bodyPr anchor="ctr"/>
            <a:lstStyle/>
            <a:p>
              <a:r>
                <a:rPr lang="en-GB" sz="2100">
                  <a:latin typeface="Arial" charset="0"/>
                </a:rPr>
                <a:t>Required (utilized for aerobic respiration)</a:t>
              </a:r>
            </a:p>
          </p:txBody>
        </p:sp>
        <p:sp>
          <p:nvSpPr>
            <p:cNvPr id="30736" name="Rectangle 42"/>
            <p:cNvSpPr>
              <a:spLocks noChangeArrowheads="1"/>
            </p:cNvSpPr>
            <p:nvPr/>
          </p:nvSpPr>
          <p:spPr bwMode="auto">
            <a:xfrm>
              <a:off x="6" y="1366"/>
              <a:ext cx="918" cy="621"/>
            </a:xfrm>
            <a:prstGeom prst="rect">
              <a:avLst/>
            </a:prstGeom>
            <a:noFill/>
            <a:ln w="9525">
              <a:solidFill>
                <a:schemeClr val="tx1"/>
              </a:solidFill>
              <a:miter lim="800000"/>
              <a:headEnd/>
              <a:tailEnd/>
            </a:ln>
          </p:spPr>
          <p:txBody>
            <a:bodyPr anchor="ctr"/>
            <a:lstStyle/>
            <a:p>
              <a:r>
                <a:rPr lang="en-GB" sz="2100">
                  <a:latin typeface="Arial" charset="0"/>
                </a:rPr>
                <a:t>Microaerophile</a:t>
              </a:r>
            </a:p>
            <a:p>
              <a:endParaRPr lang="en-GB" sz="2100">
                <a:latin typeface="Arial" charset="0"/>
              </a:endParaRPr>
            </a:p>
          </p:txBody>
        </p:sp>
        <p:sp>
          <p:nvSpPr>
            <p:cNvPr id="30737" name="Rectangle 43"/>
            <p:cNvSpPr>
              <a:spLocks noChangeArrowheads="1"/>
            </p:cNvSpPr>
            <p:nvPr/>
          </p:nvSpPr>
          <p:spPr bwMode="auto">
            <a:xfrm>
              <a:off x="924" y="1366"/>
              <a:ext cx="581" cy="621"/>
            </a:xfrm>
            <a:prstGeom prst="rect">
              <a:avLst/>
            </a:prstGeom>
            <a:noFill/>
            <a:ln w="9525">
              <a:solidFill>
                <a:schemeClr val="tx1"/>
              </a:solidFill>
              <a:miter lim="800000"/>
              <a:headEnd/>
              <a:tailEnd/>
            </a:ln>
          </p:spPr>
          <p:txBody>
            <a:bodyPr anchor="ctr"/>
            <a:lstStyle/>
            <a:p>
              <a:r>
                <a:rPr lang="en-GB" sz="2100">
                  <a:latin typeface="Arial" charset="0"/>
                </a:rPr>
                <a:t>Growth if level not too high</a:t>
              </a:r>
            </a:p>
          </p:txBody>
        </p:sp>
        <p:sp>
          <p:nvSpPr>
            <p:cNvPr id="30738" name="Rectangle 44"/>
            <p:cNvSpPr>
              <a:spLocks noChangeArrowheads="1"/>
            </p:cNvSpPr>
            <p:nvPr/>
          </p:nvSpPr>
          <p:spPr bwMode="auto">
            <a:xfrm>
              <a:off x="1505" y="1366"/>
              <a:ext cx="695" cy="621"/>
            </a:xfrm>
            <a:prstGeom prst="rect">
              <a:avLst/>
            </a:prstGeom>
            <a:noFill/>
            <a:ln w="9525">
              <a:solidFill>
                <a:schemeClr val="tx1"/>
              </a:solidFill>
              <a:miter lim="800000"/>
              <a:headEnd/>
              <a:tailEnd/>
            </a:ln>
          </p:spPr>
          <p:txBody>
            <a:bodyPr anchor="ctr"/>
            <a:lstStyle/>
            <a:p>
              <a:r>
                <a:rPr lang="en-GB" sz="2100">
                  <a:latin typeface="Arial" charset="0"/>
                </a:rPr>
                <a:t>No growth</a:t>
              </a:r>
            </a:p>
            <a:p>
              <a:endParaRPr lang="en-GB" sz="2100">
                <a:latin typeface="Arial" charset="0"/>
              </a:endParaRPr>
            </a:p>
          </p:txBody>
        </p:sp>
        <p:sp>
          <p:nvSpPr>
            <p:cNvPr id="30739" name="Rectangle 45"/>
            <p:cNvSpPr>
              <a:spLocks noChangeArrowheads="1"/>
            </p:cNvSpPr>
            <p:nvPr/>
          </p:nvSpPr>
          <p:spPr bwMode="auto">
            <a:xfrm>
              <a:off x="2200" y="1366"/>
              <a:ext cx="1259" cy="621"/>
            </a:xfrm>
            <a:prstGeom prst="rect">
              <a:avLst/>
            </a:prstGeom>
            <a:noFill/>
            <a:ln w="9525">
              <a:solidFill>
                <a:schemeClr val="tx1"/>
              </a:solidFill>
              <a:miter lim="800000"/>
              <a:headEnd/>
              <a:tailEnd/>
            </a:ln>
          </p:spPr>
          <p:txBody>
            <a:bodyPr anchor="ctr"/>
            <a:lstStyle/>
            <a:p>
              <a:r>
                <a:rPr lang="en-GB" sz="2100">
                  <a:latin typeface="Arial" charset="0"/>
                </a:rPr>
                <a:t>Required but at levels below 0.2 atm</a:t>
              </a:r>
            </a:p>
            <a:p>
              <a:endParaRPr lang="en-GB" sz="2100">
                <a:latin typeface="Arial" charset="0"/>
              </a:endParaRPr>
            </a:p>
          </p:txBody>
        </p:sp>
        <p:sp>
          <p:nvSpPr>
            <p:cNvPr id="30740" name="Rectangle 46"/>
            <p:cNvSpPr>
              <a:spLocks noChangeArrowheads="1"/>
            </p:cNvSpPr>
            <p:nvPr/>
          </p:nvSpPr>
          <p:spPr bwMode="auto">
            <a:xfrm>
              <a:off x="6" y="2011"/>
              <a:ext cx="918" cy="391"/>
            </a:xfrm>
            <a:prstGeom prst="rect">
              <a:avLst/>
            </a:prstGeom>
            <a:noFill/>
            <a:ln w="9525">
              <a:solidFill>
                <a:schemeClr val="tx1"/>
              </a:solidFill>
              <a:miter lim="800000"/>
              <a:headEnd/>
              <a:tailEnd/>
            </a:ln>
          </p:spPr>
          <p:txBody>
            <a:bodyPr anchor="ctr"/>
            <a:lstStyle/>
            <a:p>
              <a:r>
                <a:rPr lang="en-GB" sz="2100">
                  <a:latin typeface="Arial" charset="0"/>
                </a:rPr>
                <a:t>Obligate Anaerobe</a:t>
              </a:r>
            </a:p>
            <a:p>
              <a:endParaRPr lang="en-GB" sz="2100">
                <a:latin typeface="Arial" charset="0"/>
              </a:endParaRPr>
            </a:p>
          </p:txBody>
        </p:sp>
        <p:sp>
          <p:nvSpPr>
            <p:cNvPr id="30741" name="Rectangle 47"/>
            <p:cNvSpPr>
              <a:spLocks noChangeArrowheads="1"/>
            </p:cNvSpPr>
            <p:nvPr/>
          </p:nvSpPr>
          <p:spPr bwMode="auto">
            <a:xfrm>
              <a:off x="924" y="2011"/>
              <a:ext cx="581" cy="391"/>
            </a:xfrm>
            <a:prstGeom prst="rect">
              <a:avLst/>
            </a:prstGeom>
            <a:noFill/>
            <a:ln w="9525">
              <a:solidFill>
                <a:schemeClr val="tx1"/>
              </a:solidFill>
              <a:miter lim="800000"/>
              <a:headEnd/>
              <a:tailEnd/>
            </a:ln>
          </p:spPr>
          <p:txBody>
            <a:bodyPr anchor="ctr"/>
            <a:lstStyle/>
            <a:p>
              <a:r>
                <a:rPr lang="en-GB" sz="2100">
                  <a:latin typeface="Arial" charset="0"/>
                </a:rPr>
                <a:t>No growth</a:t>
              </a:r>
            </a:p>
            <a:p>
              <a:endParaRPr lang="en-GB" sz="2100">
                <a:latin typeface="Arial" charset="0"/>
              </a:endParaRPr>
            </a:p>
          </p:txBody>
        </p:sp>
        <p:sp>
          <p:nvSpPr>
            <p:cNvPr id="30742" name="Rectangle 48"/>
            <p:cNvSpPr>
              <a:spLocks noChangeArrowheads="1"/>
            </p:cNvSpPr>
            <p:nvPr/>
          </p:nvSpPr>
          <p:spPr bwMode="auto">
            <a:xfrm>
              <a:off x="1505" y="2011"/>
              <a:ext cx="695" cy="391"/>
            </a:xfrm>
            <a:prstGeom prst="rect">
              <a:avLst/>
            </a:prstGeom>
            <a:noFill/>
            <a:ln w="9525">
              <a:solidFill>
                <a:schemeClr val="tx1"/>
              </a:solidFill>
              <a:miter lim="800000"/>
              <a:headEnd/>
              <a:tailEnd/>
            </a:ln>
          </p:spPr>
          <p:txBody>
            <a:bodyPr anchor="ctr"/>
            <a:lstStyle/>
            <a:p>
              <a:r>
                <a:rPr lang="en-GB" sz="2100">
                  <a:latin typeface="Arial" charset="0"/>
                </a:rPr>
                <a:t>Growth</a:t>
              </a:r>
            </a:p>
            <a:p>
              <a:endParaRPr lang="en-GB" sz="2100">
                <a:latin typeface="Arial" charset="0"/>
              </a:endParaRPr>
            </a:p>
          </p:txBody>
        </p:sp>
        <p:sp>
          <p:nvSpPr>
            <p:cNvPr id="30743" name="Rectangle 49"/>
            <p:cNvSpPr>
              <a:spLocks noChangeArrowheads="1"/>
            </p:cNvSpPr>
            <p:nvPr/>
          </p:nvSpPr>
          <p:spPr bwMode="auto">
            <a:xfrm>
              <a:off x="2200" y="2011"/>
              <a:ext cx="1259" cy="391"/>
            </a:xfrm>
            <a:prstGeom prst="rect">
              <a:avLst/>
            </a:prstGeom>
            <a:noFill/>
            <a:ln w="9525">
              <a:solidFill>
                <a:schemeClr val="tx1"/>
              </a:solidFill>
              <a:miter lim="800000"/>
              <a:headEnd/>
              <a:tailEnd/>
            </a:ln>
          </p:spPr>
          <p:txBody>
            <a:bodyPr anchor="ctr"/>
            <a:lstStyle/>
            <a:p>
              <a:r>
                <a:rPr lang="en-GB" sz="2100">
                  <a:latin typeface="Arial" charset="0"/>
                </a:rPr>
                <a:t>Toxic</a:t>
              </a:r>
            </a:p>
            <a:p>
              <a:endParaRPr lang="en-GB" sz="2100">
                <a:latin typeface="Arial" charset="0"/>
              </a:endParaRPr>
            </a:p>
          </p:txBody>
        </p:sp>
        <p:sp>
          <p:nvSpPr>
            <p:cNvPr id="30744" name="Rectangle 50"/>
            <p:cNvSpPr>
              <a:spLocks noChangeArrowheads="1"/>
            </p:cNvSpPr>
            <p:nvPr/>
          </p:nvSpPr>
          <p:spPr bwMode="auto">
            <a:xfrm>
              <a:off x="6" y="2426"/>
              <a:ext cx="918" cy="621"/>
            </a:xfrm>
            <a:prstGeom prst="rect">
              <a:avLst/>
            </a:prstGeom>
            <a:noFill/>
            <a:ln w="9525">
              <a:solidFill>
                <a:schemeClr val="tx1"/>
              </a:solidFill>
              <a:miter lim="800000"/>
              <a:headEnd/>
              <a:tailEnd/>
            </a:ln>
          </p:spPr>
          <p:txBody>
            <a:bodyPr anchor="ctr"/>
            <a:lstStyle/>
            <a:p>
              <a:r>
                <a:rPr lang="en-GB" sz="2200">
                  <a:latin typeface="Arial" charset="0"/>
                </a:rPr>
                <a:t>Facultative (An)aerobe</a:t>
              </a:r>
            </a:p>
          </p:txBody>
        </p:sp>
        <p:sp>
          <p:nvSpPr>
            <p:cNvPr id="30745" name="Rectangle 51"/>
            <p:cNvSpPr>
              <a:spLocks noChangeArrowheads="1"/>
            </p:cNvSpPr>
            <p:nvPr/>
          </p:nvSpPr>
          <p:spPr bwMode="auto">
            <a:xfrm>
              <a:off x="924" y="2426"/>
              <a:ext cx="581" cy="621"/>
            </a:xfrm>
            <a:prstGeom prst="rect">
              <a:avLst/>
            </a:prstGeom>
            <a:noFill/>
            <a:ln w="9525">
              <a:solidFill>
                <a:schemeClr val="tx1"/>
              </a:solidFill>
              <a:miter lim="800000"/>
              <a:headEnd/>
              <a:tailEnd/>
            </a:ln>
          </p:spPr>
          <p:txBody>
            <a:bodyPr anchor="ctr"/>
            <a:lstStyle/>
            <a:p>
              <a:r>
                <a:rPr lang="en-GB" sz="2100">
                  <a:latin typeface="Arial" charset="0"/>
                </a:rPr>
                <a:t>Growth</a:t>
              </a:r>
            </a:p>
            <a:p>
              <a:endParaRPr lang="en-GB" sz="2100">
                <a:latin typeface="Arial" charset="0"/>
              </a:endParaRPr>
            </a:p>
          </p:txBody>
        </p:sp>
        <p:sp>
          <p:nvSpPr>
            <p:cNvPr id="30746" name="Rectangle 52"/>
            <p:cNvSpPr>
              <a:spLocks noChangeArrowheads="1"/>
            </p:cNvSpPr>
            <p:nvPr/>
          </p:nvSpPr>
          <p:spPr bwMode="auto">
            <a:xfrm>
              <a:off x="1505" y="2426"/>
              <a:ext cx="695" cy="621"/>
            </a:xfrm>
            <a:prstGeom prst="rect">
              <a:avLst/>
            </a:prstGeom>
            <a:noFill/>
            <a:ln w="9525">
              <a:solidFill>
                <a:schemeClr val="tx1"/>
              </a:solidFill>
              <a:miter lim="800000"/>
              <a:headEnd/>
              <a:tailEnd/>
            </a:ln>
          </p:spPr>
          <p:txBody>
            <a:bodyPr anchor="ctr"/>
            <a:lstStyle/>
            <a:p>
              <a:r>
                <a:rPr lang="en-GB" sz="2100">
                  <a:latin typeface="Arial" charset="0"/>
                </a:rPr>
                <a:t>Growth</a:t>
              </a:r>
            </a:p>
            <a:p>
              <a:endParaRPr lang="en-GB" sz="2100">
                <a:latin typeface="Arial" charset="0"/>
              </a:endParaRPr>
            </a:p>
          </p:txBody>
        </p:sp>
        <p:sp>
          <p:nvSpPr>
            <p:cNvPr id="30747" name="Rectangle 53"/>
            <p:cNvSpPr>
              <a:spLocks noChangeArrowheads="1"/>
            </p:cNvSpPr>
            <p:nvPr/>
          </p:nvSpPr>
          <p:spPr bwMode="auto">
            <a:xfrm>
              <a:off x="2200" y="2426"/>
              <a:ext cx="1259" cy="621"/>
            </a:xfrm>
            <a:prstGeom prst="rect">
              <a:avLst/>
            </a:prstGeom>
            <a:noFill/>
            <a:ln w="9525">
              <a:solidFill>
                <a:schemeClr val="tx1"/>
              </a:solidFill>
              <a:miter lim="800000"/>
              <a:headEnd/>
              <a:tailEnd/>
            </a:ln>
          </p:spPr>
          <p:txBody>
            <a:bodyPr anchor="ctr"/>
            <a:lstStyle/>
            <a:p>
              <a:r>
                <a:rPr lang="en-GB" sz="2100">
                  <a:latin typeface="Arial" charset="0"/>
                </a:rPr>
                <a:t>Not required for growth but utilized when available</a:t>
              </a:r>
            </a:p>
            <a:p>
              <a:endParaRPr lang="en-GB" sz="2100">
                <a:latin typeface="Arial" charset="0"/>
              </a:endParaRPr>
            </a:p>
          </p:txBody>
        </p:sp>
        <p:sp>
          <p:nvSpPr>
            <p:cNvPr id="30748" name="Rectangle 54"/>
            <p:cNvSpPr>
              <a:spLocks noChangeArrowheads="1"/>
            </p:cNvSpPr>
            <p:nvPr/>
          </p:nvSpPr>
          <p:spPr bwMode="auto">
            <a:xfrm>
              <a:off x="6" y="3071"/>
              <a:ext cx="918" cy="506"/>
            </a:xfrm>
            <a:prstGeom prst="rect">
              <a:avLst/>
            </a:prstGeom>
            <a:noFill/>
            <a:ln w="9525">
              <a:solidFill>
                <a:schemeClr val="tx1"/>
              </a:solidFill>
              <a:miter lim="800000"/>
              <a:headEnd/>
              <a:tailEnd/>
            </a:ln>
          </p:spPr>
          <p:txBody>
            <a:bodyPr anchor="ctr"/>
            <a:lstStyle/>
            <a:p>
              <a:r>
                <a:rPr lang="en-GB" sz="2100">
                  <a:latin typeface="Arial" charset="0"/>
                </a:rPr>
                <a:t>Aerotolerant Anaerobe</a:t>
              </a:r>
            </a:p>
          </p:txBody>
        </p:sp>
        <p:sp>
          <p:nvSpPr>
            <p:cNvPr id="30749" name="Rectangle 55"/>
            <p:cNvSpPr>
              <a:spLocks noChangeArrowheads="1"/>
            </p:cNvSpPr>
            <p:nvPr/>
          </p:nvSpPr>
          <p:spPr bwMode="auto">
            <a:xfrm>
              <a:off x="924" y="3071"/>
              <a:ext cx="581" cy="506"/>
            </a:xfrm>
            <a:prstGeom prst="rect">
              <a:avLst/>
            </a:prstGeom>
            <a:noFill/>
            <a:ln w="9525">
              <a:solidFill>
                <a:schemeClr val="tx1"/>
              </a:solidFill>
              <a:miter lim="800000"/>
              <a:headEnd/>
              <a:tailEnd/>
            </a:ln>
          </p:spPr>
          <p:txBody>
            <a:bodyPr anchor="ctr"/>
            <a:lstStyle/>
            <a:p>
              <a:r>
                <a:rPr lang="en-GB" sz="2100">
                  <a:latin typeface="Arial" charset="0"/>
                </a:rPr>
                <a:t>Growth</a:t>
              </a:r>
            </a:p>
            <a:p>
              <a:endParaRPr lang="en-GB" sz="2100">
                <a:latin typeface="Arial" charset="0"/>
              </a:endParaRPr>
            </a:p>
          </p:txBody>
        </p:sp>
        <p:sp>
          <p:nvSpPr>
            <p:cNvPr id="30750" name="Rectangle 56"/>
            <p:cNvSpPr>
              <a:spLocks noChangeArrowheads="1"/>
            </p:cNvSpPr>
            <p:nvPr/>
          </p:nvSpPr>
          <p:spPr bwMode="auto">
            <a:xfrm>
              <a:off x="1505" y="3071"/>
              <a:ext cx="695" cy="506"/>
            </a:xfrm>
            <a:prstGeom prst="rect">
              <a:avLst/>
            </a:prstGeom>
            <a:noFill/>
            <a:ln w="9525">
              <a:solidFill>
                <a:schemeClr val="tx1"/>
              </a:solidFill>
              <a:miter lim="800000"/>
              <a:headEnd/>
              <a:tailEnd/>
            </a:ln>
          </p:spPr>
          <p:txBody>
            <a:bodyPr anchor="ctr"/>
            <a:lstStyle/>
            <a:p>
              <a:r>
                <a:rPr lang="en-GB" sz="2100">
                  <a:latin typeface="Arial" charset="0"/>
                </a:rPr>
                <a:t>Growth</a:t>
              </a:r>
            </a:p>
            <a:p>
              <a:endParaRPr lang="en-GB" sz="2100">
                <a:latin typeface="Arial" charset="0"/>
              </a:endParaRPr>
            </a:p>
          </p:txBody>
        </p:sp>
        <p:sp>
          <p:nvSpPr>
            <p:cNvPr id="30751" name="Rectangle 57"/>
            <p:cNvSpPr>
              <a:spLocks noChangeArrowheads="1"/>
            </p:cNvSpPr>
            <p:nvPr/>
          </p:nvSpPr>
          <p:spPr bwMode="auto">
            <a:xfrm>
              <a:off x="2200" y="3071"/>
              <a:ext cx="1259" cy="506"/>
            </a:xfrm>
            <a:prstGeom prst="rect">
              <a:avLst/>
            </a:prstGeom>
            <a:noFill/>
            <a:ln w="9525">
              <a:solidFill>
                <a:schemeClr val="tx1"/>
              </a:solidFill>
              <a:miter lim="800000"/>
              <a:headEnd/>
              <a:tailEnd/>
            </a:ln>
          </p:spPr>
          <p:txBody>
            <a:bodyPr anchor="ctr"/>
            <a:lstStyle/>
            <a:p>
              <a:r>
                <a:rPr lang="en-GB" sz="2100">
                  <a:latin typeface="Arial" charset="0"/>
                </a:rPr>
                <a:t>Not required and not utilized</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381000" y="0"/>
            <a:ext cx="8458200" cy="609600"/>
          </a:xfrm>
        </p:spPr>
        <p:txBody>
          <a:bodyPr/>
          <a:lstStyle/>
          <a:p>
            <a:r>
              <a:rPr lang="en-US" sz="3400" smtClean="0"/>
              <a:t>Oxygenation and enzymic capacity</a:t>
            </a:r>
          </a:p>
        </p:txBody>
      </p:sp>
      <p:pic>
        <p:nvPicPr>
          <p:cNvPr id="31747" name="Picture 5" descr="FG06_27.JPG                                                    0001B5CF WORKAS101                      B90835D4:"/>
          <p:cNvPicPr>
            <a:picLocks noChangeAspect="1" noChangeArrowheads="1"/>
          </p:cNvPicPr>
          <p:nvPr/>
        </p:nvPicPr>
        <p:blipFill>
          <a:blip r:embed="rId3"/>
          <a:srcRect t="21117" b="20406"/>
          <a:stretch>
            <a:fillRect/>
          </a:stretch>
        </p:blipFill>
        <p:spPr bwMode="auto">
          <a:xfrm>
            <a:off x="1600200" y="685800"/>
            <a:ext cx="6246813" cy="2209800"/>
          </a:xfrm>
          <a:prstGeom prst="rect">
            <a:avLst/>
          </a:prstGeom>
          <a:noFill/>
          <a:ln w="9525">
            <a:noFill/>
            <a:miter lim="800000"/>
            <a:headEnd/>
            <a:tailEnd/>
          </a:ln>
        </p:spPr>
      </p:pic>
      <p:pic>
        <p:nvPicPr>
          <p:cNvPr id="31748" name="Picture 6" descr="FG06_28a-e.JPG                                                 0001B5CF WORKAS101                      B90835D4:"/>
          <p:cNvPicPr>
            <a:picLocks noChangeAspect="1" noChangeArrowheads="1"/>
          </p:cNvPicPr>
          <p:nvPr/>
        </p:nvPicPr>
        <p:blipFill>
          <a:blip r:embed="rId4"/>
          <a:srcRect/>
          <a:stretch>
            <a:fillRect/>
          </a:stretch>
        </p:blipFill>
        <p:spPr bwMode="auto">
          <a:xfrm>
            <a:off x="1600200" y="2895600"/>
            <a:ext cx="6243638" cy="39624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smtClean="0"/>
              <a:t>Oxygen is lethal to some organisms</a:t>
            </a:r>
          </a:p>
        </p:txBody>
      </p:sp>
      <p:sp>
        <p:nvSpPr>
          <p:cNvPr id="15363" name="Rectangle 3"/>
          <p:cNvSpPr>
            <a:spLocks noGrp="1" noChangeArrowheads="1"/>
          </p:cNvSpPr>
          <p:nvPr>
            <p:ph idx="1"/>
          </p:nvPr>
        </p:nvSpPr>
        <p:spPr/>
        <p:txBody>
          <a:bodyPr/>
          <a:lstStyle/>
          <a:p>
            <a:pPr eaLnBrk="1" hangingPunct="1"/>
            <a:r>
              <a:rPr lang="en-US" smtClean="0"/>
              <a:t>All organisms produce superoxide ( O</a:t>
            </a:r>
            <a:r>
              <a:rPr lang="en-US" baseline="-25000" smtClean="0"/>
              <a:t>2</a:t>
            </a:r>
            <a:r>
              <a:rPr lang="en-US" smtClean="0"/>
              <a:t>-)</a:t>
            </a:r>
          </a:p>
          <a:p>
            <a:pPr eaLnBrk="1" hangingPunct="1"/>
            <a:endParaRPr lang="en-US" smtClean="0"/>
          </a:p>
          <a:p>
            <a:pPr eaLnBrk="1" hangingPunct="1"/>
            <a:r>
              <a:rPr lang="en-US" smtClean="0"/>
              <a:t>Superoxide is toxic to cells </a:t>
            </a:r>
            <a:r>
              <a:rPr lang="en-US" sz="2800" smtClean="0"/>
              <a:t>(steals electrons)</a:t>
            </a:r>
          </a:p>
          <a:p>
            <a:pPr eaLnBrk="1" hangingPunct="1"/>
            <a:endParaRPr lang="en-US" sz="2800" smtClean="0"/>
          </a:p>
          <a:p>
            <a:pPr eaLnBrk="1" hangingPunct="1"/>
            <a:r>
              <a:rPr lang="en-US" smtClean="0"/>
              <a:t>Superoxide must be neutralized </a:t>
            </a:r>
            <a:endParaRPr lang="en-US" sz="28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363">
                                            <p:txEl>
                                              <p:pRg st="2" end="2"/>
                                            </p:txEl>
                                          </p:spTgt>
                                        </p:tgtEl>
                                        <p:attrNameLst>
                                          <p:attrName>style.visibility</p:attrName>
                                        </p:attrNameLst>
                                      </p:cBhvr>
                                      <p:to>
                                        <p:strVal val="visible"/>
                                      </p:to>
                                    </p:set>
                                    <p:anim calcmode="lin" valueType="num">
                                      <p:cBhvr additive="base">
                                        <p:cTn id="13" dur="500" fill="hold"/>
                                        <p:tgtEl>
                                          <p:spTgt spid="1536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3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363">
                                            <p:txEl>
                                              <p:pRg st="4" end="4"/>
                                            </p:txEl>
                                          </p:spTgt>
                                        </p:tgtEl>
                                        <p:attrNameLst>
                                          <p:attrName>style.visibility</p:attrName>
                                        </p:attrNameLst>
                                      </p:cBhvr>
                                      <p:to>
                                        <p:strVal val="visible"/>
                                      </p:to>
                                    </p:set>
                                    <p:anim calcmode="lin" valueType="num">
                                      <p:cBhvr additive="base">
                                        <p:cTn id="19" dur="500" fill="hold"/>
                                        <p:tgtEl>
                                          <p:spTgt spid="15363">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36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smtClean="0"/>
              <a:t>Superoxide dismutase</a:t>
            </a:r>
          </a:p>
        </p:txBody>
      </p:sp>
      <p:sp>
        <p:nvSpPr>
          <p:cNvPr id="16387" name="Rectangle 3"/>
          <p:cNvSpPr>
            <a:spLocks noGrp="1" noChangeArrowheads="1"/>
          </p:cNvSpPr>
          <p:nvPr>
            <p:ph idx="1"/>
          </p:nvPr>
        </p:nvSpPr>
        <p:spPr/>
        <p:txBody>
          <a:bodyPr/>
          <a:lstStyle/>
          <a:p>
            <a:pPr eaLnBrk="1" hangingPunct="1"/>
            <a:endParaRPr lang="en-US" smtClean="0"/>
          </a:p>
          <a:p>
            <a:pPr eaLnBrk="1" hangingPunct="1"/>
            <a:r>
              <a:rPr lang="en-US" smtClean="0"/>
              <a:t>O</a:t>
            </a:r>
            <a:r>
              <a:rPr lang="en-US" baseline="-25000" smtClean="0"/>
              <a:t>2</a:t>
            </a:r>
            <a:r>
              <a:rPr lang="en-US" smtClean="0"/>
              <a:t>-   +   O</a:t>
            </a:r>
            <a:r>
              <a:rPr lang="en-US" baseline="-25000" smtClean="0"/>
              <a:t>2</a:t>
            </a:r>
            <a:r>
              <a:rPr lang="en-US" smtClean="0"/>
              <a:t>-  +  2 H</a:t>
            </a:r>
            <a:r>
              <a:rPr lang="en-US" baseline="30000" smtClean="0"/>
              <a:t>+</a:t>
            </a:r>
            <a:r>
              <a:rPr lang="en-US" smtClean="0"/>
              <a:t> -------&gt;  H</a:t>
            </a:r>
            <a:r>
              <a:rPr lang="en-US" baseline="-25000" smtClean="0"/>
              <a:t>2</a:t>
            </a:r>
            <a:r>
              <a:rPr lang="en-US" smtClean="0"/>
              <a:t>O</a:t>
            </a:r>
            <a:r>
              <a:rPr lang="en-US" baseline="-25000" smtClean="0"/>
              <a:t>2</a:t>
            </a:r>
            <a:r>
              <a:rPr lang="en-US" smtClean="0"/>
              <a:t>  +  O</a:t>
            </a:r>
            <a:r>
              <a:rPr lang="en-US" baseline="-25000" smtClean="0"/>
              <a:t>2</a:t>
            </a:r>
          </a:p>
          <a:p>
            <a:pPr eaLnBrk="1" hangingPunct="1"/>
            <a:endParaRPr lang="en-US" baseline="-25000" smtClean="0"/>
          </a:p>
          <a:p>
            <a:pPr eaLnBrk="1" hangingPunct="1"/>
            <a:r>
              <a:rPr lang="en-US" smtClean="0"/>
              <a:t>Hydrogen peroxide is also toxic to cells and it must be neutralized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3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3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smtClean="0"/>
              <a:t>Catalase</a:t>
            </a:r>
          </a:p>
        </p:txBody>
      </p:sp>
      <p:sp>
        <p:nvSpPr>
          <p:cNvPr id="17411" name="Rectangle 3"/>
          <p:cNvSpPr>
            <a:spLocks noGrp="1" noChangeArrowheads="1"/>
          </p:cNvSpPr>
          <p:nvPr>
            <p:ph idx="1"/>
          </p:nvPr>
        </p:nvSpPr>
        <p:spPr/>
        <p:txBody>
          <a:bodyPr/>
          <a:lstStyle/>
          <a:p>
            <a:pPr eaLnBrk="1" hangingPunct="1"/>
            <a:endParaRPr lang="en-US" smtClean="0"/>
          </a:p>
          <a:p>
            <a:pPr eaLnBrk="1" hangingPunct="1"/>
            <a:r>
              <a:rPr lang="en-US" smtClean="0"/>
              <a:t>        2  H</a:t>
            </a:r>
            <a:r>
              <a:rPr lang="en-US" baseline="-25000" smtClean="0"/>
              <a:t>2</a:t>
            </a:r>
            <a:r>
              <a:rPr lang="en-US" smtClean="0"/>
              <a:t>O</a:t>
            </a:r>
            <a:r>
              <a:rPr lang="en-US" baseline="-25000" smtClean="0"/>
              <a:t>2  </a:t>
            </a:r>
            <a:r>
              <a:rPr lang="en-US" smtClean="0"/>
              <a:t> --------&gt;  2 H</a:t>
            </a:r>
            <a:r>
              <a:rPr lang="en-US" baseline="-25000" smtClean="0"/>
              <a:t>2</a:t>
            </a:r>
            <a:r>
              <a:rPr lang="en-US" smtClean="0"/>
              <a:t>O   +  O</a:t>
            </a:r>
            <a:r>
              <a:rPr lang="en-US" baseline="-25000" smtClean="0"/>
              <a:t>2</a:t>
            </a:r>
          </a:p>
          <a:p>
            <a:pPr eaLnBrk="1" hangingPunct="1"/>
            <a:endParaRPr lang="en-US" smtClean="0"/>
          </a:p>
          <a:p>
            <a:pPr eaLnBrk="1" hangingPunct="1"/>
            <a:r>
              <a:rPr lang="en-US" smtClean="0"/>
              <a:t>Obligate Anaerobes lack:</a:t>
            </a:r>
          </a:p>
          <a:p>
            <a:pPr lvl="1" eaLnBrk="1" hangingPunct="1"/>
            <a:r>
              <a:rPr lang="en-US" smtClean="0"/>
              <a:t>Superoxide dismutase  ( SOD )</a:t>
            </a:r>
          </a:p>
          <a:p>
            <a:pPr lvl="1" eaLnBrk="1" hangingPunct="1"/>
            <a:r>
              <a:rPr lang="en-US" smtClean="0"/>
              <a:t>Catalase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 calcmode="lin" valueType="num">
                                      <p:cBhvr additive="base">
                                        <p:cTn id="7" dur="500" fill="hold"/>
                                        <p:tgtEl>
                                          <p:spTgt spid="17411">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17411">
                                            <p:txEl>
                                              <p:pRg st="3" end="3"/>
                                            </p:txEl>
                                          </p:spTgt>
                                        </p:tgtEl>
                                        <p:attrNameLst>
                                          <p:attrName>style.visibility</p:attrName>
                                        </p:attrNameLst>
                                      </p:cBhvr>
                                      <p:to>
                                        <p:strVal val="visible"/>
                                      </p:to>
                                    </p:set>
                                    <p:anim calcmode="lin" valueType="num">
                                      <p:cBhvr additive="base">
                                        <p:cTn id="13" dur="500" fill="hold"/>
                                        <p:tgtEl>
                                          <p:spTgt spid="17411">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17411">
                                            <p:txEl>
                                              <p:pRg st="4" end="4"/>
                                            </p:txEl>
                                          </p:spTgt>
                                        </p:tgtEl>
                                        <p:attrNameLst>
                                          <p:attrName>style.visibility</p:attrName>
                                        </p:attrNameLst>
                                      </p:cBhvr>
                                      <p:to>
                                        <p:strVal val="visible"/>
                                      </p:to>
                                    </p:set>
                                    <p:anim calcmode="lin" valueType="num">
                                      <p:cBhvr additive="base">
                                        <p:cTn id="19" dur="500" fill="hold"/>
                                        <p:tgtEl>
                                          <p:spTgt spid="17411">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2" fill="hold" grpId="0" nodeType="clickEffect">
                                  <p:stCondLst>
                                    <p:cond delay="0"/>
                                  </p:stCondLst>
                                  <p:childTnLst>
                                    <p:set>
                                      <p:cBhvr>
                                        <p:cTn id="24" dur="1" fill="hold">
                                          <p:stCondLst>
                                            <p:cond delay="0"/>
                                          </p:stCondLst>
                                        </p:cTn>
                                        <p:tgtEl>
                                          <p:spTgt spid="17411">
                                            <p:txEl>
                                              <p:pRg st="5" end="5"/>
                                            </p:txEl>
                                          </p:spTgt>
                                        </p:tgtEl>
                                        <p:attrNameLst>
                                          <p:attrName>style.visibility</p:attrName>
                                        </p:attrNameLst>
                                      </p:cBhvr>
                                      <p:to>
                                        <p:strVal val="visible"/>
                                      </p:to>
                                    </p:set>
                                    <p:anim calcmode="lin" valueType="num">
                                      <p:cBhvr additive="base">
                                        <p:cTn id="25" dur="500" fill="hold"/>
                                        <p:tgtEl>
                                          <p:spTgt spid="17411">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4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bldLvl="2"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smtClean="0"/>
              <a:t>Special Culture Techniques</a:t>
            </a:r>
          </a:p>
        </p:txBody>
      </p:sp>
      <p:sp>
        <p:nvSpPr>
          <p:cNvPr id="19459" name="Rectangle 3"/>
          <p:cNvSpPr>
            <a:spLocks noGrp="1" noChangeArrowheads="1"/>
          </p:cNvSpPr>
          <p:nvPr>
            <p:ph idx="1"/>
          </p:nvPr>
        </p:nvSpPr>
        <p:spPr/>
        <p:txBody>
          <a:bodyPr/>
          <a:lstStyle/>
          <a:p>
            <a:pPr eaLnBrk="1" hangingPunct="1"/>
            <a:r>
              <a:rPr lang="en-US" smtClean="0"/>
              <a:t>1. Anaerobic Bacteria</a:t>
            </a:r>
          </a:p>
          <a:p>
            <a:pPr lvl="1" eaLnBrk="1" hangingPunct="1"/>
            <a:r>
              <a:rPr lang="en-US" smtClean="0"/>
              <a:t>a. Reducing Media</a:t>
            </a:r>
          </a:p>
          <a:p>
            <a:pPr lvl="1" eaLnBrk="1" hangingPunct="1"/>
            <a:r>
              <a:rPr lang="en-US" smtClean="0"/>
              <a:t>b. Anaerobic Container</a:t>
            </a:r>
          </a:p>
          <a:p>
            <a:pPr lvl="1" eaLnBrk="1" hangingPunct="1"/>
            <a:r>
              <a:rPr lang="en-US" smtClean="0"/>
              <a:t>c. Agar Stab</a:t>
            </a:r>
          </a:p>
          <a:p>
            <a:pPr lvl="1" eaLnBrk="1" hangingPunct="1"/>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4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bldLvl="2"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smtClean="0"/>
              <a:t>Special Culture Techniques</a:t>
            </a:r>
          </a:p>
        </p:txBody>
      </p:sp>
      <p:sp>
        <p:nvSpPr>
          <p:cNvPr id="20483" name="Rectangle 3"/>
          <p:cNvSpPr>
            <a:spLocks noGrp="1" noChangeArrowheads="1"/>
          </p:cNvSpPr>
          <p:nvPr>
            <p:ph idx="1"/>
          </p:nvPr>
        </p:nvSpPr>
        <p:spPr/>
        <p:txBody>
          <a:bodyPr/>
          <a:lstStyle/>
          <a:p>
            <a:pPr eaLnBrk="1" hangingPunct="1"/>
            <a:r>
              <a:rPr lang="en-US" smtClean="0"/>
              <a:t>2. Microaerophilic Bacteria</a:t>
            </a:r>
          </a:p>
          <a:p>
            <a:pPr lvl="1" eaLnBrk="1" hangingPunct="1"/>
            <a:r>
              <a:rPr lang="en-US" smtClean="0"/>
              <a:t>grow best under reduced O</a:t>
            </a:r>
            <a:r>
              <a:rPr lang="en-US" baseline="-25000" smtClean="0"/>
              <a:t>2</a:t>
            </a:r>
            <a:r>
              <a:rPr lang="en-US" smtClean="0"/>
              <a:t> levels and increased CO</a:t>
            </a:r>
            <a:r>
              <a:rPr lang="en-US" baseline="-25000" smtClean="0"/>
              <a:t>2</a:t>
            </a:r>
            <a:r>
              <a:rPr lang="en-US" smtClean="0"/>
              <a:t> levels</a:t>
            </a:r>
          </a:p>
          <a:p>
            <a:pPr lvl="1" eaLnBrk="1" hangingPunct="1"/>
            <a:endParaRPr lang="en-US" smtClean="0"/>
          </a:p>
          <a:p>
            <a:pPr lvl="1" eaLnBrk="1" hangingPunct="1"/>
            <a:r>
              <a:rPr lang="en-US" smtClean="0"/>
              <a:t>Normal Atmosphere         21 %  O</a:t>
            </a:r>
            <a:r>
              <a:rPr lang="en-US" baseline="-25000" smtClean="0"/>
              <a:t>2</a:t>
            </a:r>
            <a:endParaRPr lang="en-US" smtClean="0"/>
          </a:p>
          <a:p>
            <a:pPr lvl="1" eaLnBrk="1" hangingPunct="1"/>
            <a:r>
              <a:rPr lang="en-US" smtClean="0"/>
              <a:t>                                          .3 to .03 %  CO</a:t>
            </a:r>
            <a:r>
              <a:rPr lang="en-US" baseline="-25000" smtClean="0"/>
              <a:t>2</a:t>
            </a:r>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48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4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bldLvl="2"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381000" y="609600"/>
            <a:ext cx="8382000" cy="701675"/>
          </a:xfrm>
        </p:spPr>
        <p:txBody>
          <a:bodyPr/>
          <a:lstStyle/>
          <a:p>
            <a:r>
              <a:rPr lang="en-US" sz="4000" smtClean="0"/>
              <a:t>Anaerobic growth chambers</a:t>
            </a:r>
          </a:p>
        </p:txBody>
      </p:sp>
      <p:pic>
        <p:nvPicPr>
          <p:cNvPr id="2052" name="Picture 3" descr="04.17-anaerobicgr.jpg                                          000359B5Macintosh HD                   B455BE2E:"/>
          <p:cNvPicPr>
            <a:picLocks noChangeAspect="1" noChangeArrowheads="1"/>
          </p:cNvPicPr>
          <p:nvPr/>
        </p:nvPicPr>
        <p:blipFill>
          <a:blip r:embed="rId4"/>
          <a:srcRect/>
          <a:stretch>
            <a:fillRect/>
          </a:stretch>
        </p:blipFill>
        <p:spPr bwMode="auto">
          <a:xfrm>
            <a:off x="381000" y="1752600"/>
            <a:ext cx="8305800" cy="4876800"/>
          </a:xfrm>
          <a:prstGeom prst="rect">
            <a:avLst/>
          </a:prstGeom>
          <a:noFill/>
          <a:ln w="9525">
            <a:noFill/>
            <a:miter lim="800000"/>
            <a:headEnd/>
            <a:tailEnd/>
          </a:ln>
        </p:spPr>
      </p:pic>
      <p:graphicFrame>
        <p:nvGraphicFramePr>
          <p:cNvPr id="2050" name="Object 2"/>
          <p:cNvGraphicFramePr>
            <a:graphicFrameLocks noChangeAspect="1"/>
          </p:cNvGraphicFramePr>
          <p:nvPr/>
        </p:nvGraphicFramePr>
        <p:xfrm>
          <a:off x="381000" y="1752600"/>
          <a:ext cx="3352800" cy="4876800"/>
        </p:xfrm>
        <a:graphic>
          <a:graphicData uri="http://schemas.openxmlformats.org/presentationml/2006/ole">
            <mc:AlternateContent xmlns:mc="http://schemas.openxmlformats.org/markup-compatibility/2006">
              <mc:Choice xmlns:v="urn:schemas-microsoft-com:vml" Requires="v">
                <p:oleObj spid="_x0000_s2054" name="Bitmap Image" r:id="rId5" imgW="1276190" imgH="2305372" progId="PBrush">
                  <p:embed/>
                </p:oleObj>
              </mc:Choice>
              <mc:Fallback>
                <p:oleObj name="Bitmap Image" r:id="rId5" imgW="1276190" imgH="2305372" progId="PBrush">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1752600"/>
                        <a:ext cx="33528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1600200" y="0"/>
            <a:ext cx="6248400" cy="1465263"/>
          </a:xfrm>
          <a:prstGeom prst="rect">
            <a:avLst/>
          </a:prstGeom>
          <a:noFill/>
          <a:ln w="12700">
            <a:noFill/>
            <a:miter lim="800000"/>
            <a:headEnd type="none" w="sm" len="sm"/>
            <a:tailEnd type="none" w="sm" len="sm"/>
          </a:ln>
        </p:spPr>
        <p:txBody>
          <a:bodyPr>
            <a:spAutoFit/>
          </a:bodyPr>
          <a:lstStyle/>
          <a:p>
            <a:pPr>
              <a:spcBef>
                <a:spcPct val="50000"/>
              </a:spcBef>
            </a:pPr>
            <a:r>
              <a:rPr lang="en-US" sz="3600"/>
              <a:t>Microaerophilic Bacteria</a:t>
            </a:r>
          </a:p>
          <a:p>
            <a:pPr>
              <a:spcBef>
                <a:spcPct val="50000"/>
              </a:spcBef>
            </a:pPr>
            <a:r>
              <a:rPr lang="en-US" sz="3600"/>
              <a:t> A. Candle Jar</a:t>
            </a:r>
          </a:p>
        </p:txBody>
      </p:sp>
      <p:pic>
        <p:nvPicPr>
          <p:cNvPr id="21507" name="Picture 3" descr="U:\PowerPoint\Scanner\Micro\candle jar.tif"/>
          <p:cNvPicPr>
            <a:picLocks noChangeAspect="1" noChangeArrowheads="1"/>
          </p:cNvPicPr>
          <p:nvPr/>
        </p:nvPicPr>
        <p:blipFill>
          <a:blip r:embed="rId2"/>
          <a:srcRect/>
          <a:stretch>
            <a:fillRect/>
          </a:stretch>
        </p:blipFill>
        <p:spPr bwMode="auto">
          <a:xfrm>
            <a:off x="1905000" y="1371600"/>
            <a:ext cx="4953000" cy="4175125"/>
          </a:xfrm>
          <a:prstGeom prst="rect">
            <a:avLst/>
          </a:prstGeom>
          <a:noFill/>
          <a:ln w="9525">
            <a:noFill/>
            <a:miter lim="800000"/>
            <a:headEnd/>
            <a:tailEnd/>
          </a:ln>
        </p:spPr>
      </p:pic>
      <p:sp>
        <p:nvSpPr>
          <p:cNvPr id="21508" name="Text Box 4"/>
          <p:cNvSpPr txBox="1">
            <a:spLocks noChangeArrowheads="1"/>
          </p:cNvSpPr>
          <p:nvPr/>
        </p:nvSpPr>
        <p:spPr bwMode="auto">
          <a:xfrm>
            <a:off x="1828800" y="5715000"/>
            <a:ext cx="6248400" cy="1004888"/>
          </a:xfrm>
          <a:prstGeom prst="rect">
            <a:avLst/>
          </a:prstGeom>
          <a:noFill/>
          <a:ln w="12700">
            <a:noFill/>
            <a:miter lim="800000"/>
            <a:headEnd type="none" w="sm" len="sm"/>
            <a:tailEnd type="none" w="sm" len="sm"/>
          </a:ln>
        </p:spPr>
        <p:txBody>
          <a:bodyPr>
            <a:spAutoFit/>
          </a:bodyPr>
          <a:lstStyle/>
          <a:p>
            <a:pPr>
              <a:spcBef>
                <a:spcPct val="50000"/>
              </a:spcBef>
            </a:pPr>
            <a:r>
              <a:rPr lang="en-US"/>
              <a:t>                  16 %    O</a:t>
            </a:r>
            <a:r>
              <a:rPr lang="en-US" baseline="-25000"/>
              <a:t>2</a:t>
            </a:r>
            <a:endParaRPr lang="en-US"/>
          </a:p>
          <a:p>
            <a:pPr>
              <a:spcBef>
                <a:spcPct val="50000"/>
              </a:spcBef>
            </a:pPr>
            <a:r>
              <a:rPr lang="en-US"/>
              <a:t>                    4 %     CO</a:t>
            </a:r>
            <a:r>
              <a:rPr lang="en-US" baseline="-25000"/>
              <a:t>2   </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additive="base">
                                        <p:cTn id="7" dur="500" fill="hold"/>
                                        <p:tgtEl>
                                          <p:spTgt spid="21507"/>
                                        </p:tgtEl>
                                        <p:attrNameLst>
                                          <p:attrName>ppt_x</p:attrName>
                                        </p:attrNameLst>
                                      </p:cBhvr>
                                      <p:tavLst>
                                        <p:tav tm="0">
                                          <p:val>
                                            <p:strVal val="#ppt_x"/>
                                          </p:val>
                                        </p:tav>
                                        <p:tav tm="100000">
                                          <p:val>
                                            <p:strVal val="#ppt_x"/>
                                          </p:val>
                                        </p:tav>
                                      </p:tavLst>
                                    </p:anim>
                                    <p:anim calcmode="lin" valueType="num">
                                      <p:cBhvr additive="base">
                                        <p:cTn id="8" dur="500" fill="hold"/>
                                        <p:tgtEl>
                                          <p:spTgt spid="2150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215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1828800" y="304800"/>
            <a:ext cx="6248400" cy="1465263"/>
          </a:xfrm>
          <a:prstGeom prst="rect">
            <a:avLst/>
          </a:prstGeom>
          <a:noFill/>
          <a:ln w="12700">
            <a:noFill/>
            <a:miter lim="800000"/>
            <a:headEnd type="none" w="sm" len="sm"/>
            <a:tailEnd type="none" w="sm" len="sm"/>
          </a:ln>
        </p:spPr>
        <p:txBody>
          <a:bodyPr>
            <a:spAutoFit/>
          </a:bodyPr>
          <a:lstStyle/>
          <a:p>
            <a:pPr>
              <a:spcBef>
                <a:spcPct val="50000"/>
              </a:spcBef>
            </a:pPr>
            <a:r>
              <a:rPr lang="en-US" sz="3600"/>
              <a:t>Microaerophilic Bacteria</a:t>
            </a:r>
          </a:p>
          <a:p>
            <a:pPr>
              <a:spcBef>
                <a:spcPct val="50000"/>
              </a:spcBef>
            </a:pPr>
            <a:r>
              <a:rPr lang="en-US" sz="3600"/>
              <a:t>    B. CO</a:t>
            </a:r>
            <a:r>
              <a:rPr lang="en-US" sz="3600" baseline="-25000"/>
              <a:t>2</a:t>
            </a:r>
            <a:r>
              <a:rPr lang="en-US" sz="3600"/>
              <a:t> Generating Packet</a:t>
            </a:r>
            <a:endParaRPr lang="en-US"/>
          </a:p>
        </p:txBody>
      </p:sp>
      <p:pic>
        <p:nvPicPr>
          <p:cNvPr id="22531" name="Picture 3" descr="U:\PowerPoint\Scanner\Micro\Co2 generating  envelope.tif"/>
          <p:cNvPicPr>
            <a:picLocks noChangeAspect="1" noChangeArrowheads="1"/>
          </p:cNvPicPr>
          <p:nvPr/>
        </p:nvPicPr>
        <p:blipFill>
          <a:blip r:embed="rId2"/>
          <a:srcRect/>
          <a:stretch>
            <a:fillRect/>
          </a:stretch>
        </p:blipFill>
        <p:spPr bwMode="auto">
          <a:xfrm>
            <a:off x="1371600" y="1905000"/>
            <a:ext cx="7391400" cy="44767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anim calcmode="lin" valueType="num">
                                      <p:cBhvr additive="base">
                                        <p:cTn id="7" dur="500" fill="hold"/>
                                        <p:tgtEl>
                                          <p:spTgt spid="22531"/>
                                        </p:tgtEl>
                                        <p:attrNameLst>
                                          <p:attrName>ppt_x</p:attrName>
                                        </p:attrNameLst>
                                      </p:cBhvr>
                                      <p:tavLst>
                                        <p:tav tm="0">
                                          <p:val>
                                            <p:strVal val="#ppt_x"/>
                                          </p:val>
                                        </p:tav>
                                        <p:tav tm="100000">
                                          <p:val>
                                            <p:strVal val="#ppt_x"/>
                                          </p:val>
                                        </p:tav>
                                      </p:tavLst>
                                    </p:anim>
                                    <p:anim calcmode="lin" valueType="num">
                                      <p:cBhvr additive="base">
                                        <p:cTn id="8" dur="500" fill="hold"/>
                                        <p:tgtEl>
                                          <p:spTgt spid="225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FG06_23.JPG                                                    0001B5CF WORKAS101                      B90835D4:"/>
          <p:cNvPicPr>
            <a:picLocks noChangeAspect="1" noChangeArrowheads="1"/>
          </p:cNvPicPr>
          <p:nvPr/>
        </p:nvPicPr>
        <p:blipFill>
          <a:blip r:embed="rId3"/>
          <a:srcRect/>
          <a:stretch>
            <a:fillRect/>
          </a:stretch>
        </p:blipFill>
        <p:spPr bwMode="auto">
          <a:xfrm>
            <a:off x="762000" y="1323975"/>
            <a:ext cx="7620000" cy="5534025"/>
          </a:xfrm>
          <a:prstGeom prst="rect">
            <a:avLst/>
          </a:prstGeom>
          <a:noFill/>
          <a:ln w="9525">
            <a:noFill/>
            <a:miter lim="800000"/>
            <a:headEnd/>
            <a:tailEnd/>
          </a:ln>
        </p:spPr>
      </p:pic>
      <p:sp>
        <p:nvSpPr>
          <p:cNvPr id="39939" name="Rectangle 4"/>
          <p:cNvSpPr>
            <a:spLocks noGrp="1" noChangeArrowheads="1"/>
          </p:cNvSpPr>
          <p:nvPr>
            <p:ph type="title"/>
          </p:nvPr>
        </p:nvSpPr>
        <p:spPr>
          <a:xfrm>
            <a:off x="685800" y="381000"/>
            <a:ext cx="7772400" cy="762000"/>
          </a:xfrm>
        </p:spPr>
        <p:txBody>
          <a:bodyPr/>
          <a:lstStyle/>
          <a:p>
            <a:r>
              <a:rPr lang="en-GB" smtClean="0"/>
              <a:t>Effect of salt on growth</a:t>
            </a:r>
          </a:p>
        </p:txBody>
      </p:sp>
    </p:spTree>
  </p:cSld>
  <p:clrMapOvr>
    <a:masterClrMapping/>
  </p:clrMapOvr>
  <p:transition>
    <p:fade thruBlk="1"/>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smtClean="0"/>
              <a:t>Selective Media</a:t>
            </a:r>
          </a:p>
        </p:txBody>
      </p:sp>
      <p:sp>
        <p:nvSpPr>
          <p:cNvPr id="23555" name="Rectangle 3"/>
          <p:cNvSpPr>
            <a:spLocks noGrp="1" noChangeArrowheads="1"/>
          </p:cNvSpPr>
          <p:nvPr>
            <p:ph idx="1"/>
          </p:nvPr>
        </p:nvSpPr>
        <p:spPr/>
        <p:txBody>
          <a:bodyPr/>
          <a:lstStyle/>
          <a:p>
            <a:pPr eaLnBrk="1" hangingPunct="1"/>
            <a:r>
              <a:rPr lang="en-US" smtClean="0"/>
              <a:t>Inhibits the growth of some bacteria while selecting for the growth of others</a:t>
            </a:r>
          </a:p>
          <a:p>
            <a:pPr eaLnBrk="1" hangingPunct="1"/>
            <a:r>
              <a:rPr lang="en-US" smtClean="0"/>
              <a:t>Example:	</a:t>
            </a:r>
          </a:p>
          <a:p>
            <a:pPr lvl="1" eaLnBrk="1" hangingPunct="1"/>
            <a:r>
              <a:rPr lang="en-US" smtClean="0"/>
              <a:t>Brilliant Green Agar</a:t>
            </a:r>
          </a:p>
          <a:p>
            <a:pPr lvl="2" eaLnBrk="1" hangingPunct="1"/>
            <a:r>
              <a:rPr lang="en-US" smtClean="0"/>
              <a:t>dyes inhibit the growth of Gram (+) bacteria</a:t>
            </a:r>
          </a:p>
          <a:p>
            <a:pPr lvl="2" eaLnBrk="1" hangingPunct="1"/>
            <a:r>
              <a:rPr lang="en-US" smtClean="0"/>
              <a:t>selects for Gram (-) bacteria</a:t>
            </a:r>
          </a:p>
          <a:p>
            <a:pPr lvl="2" eaLnBrk="1" hangingPunct="1"/>
            <a:r>
              <a:rPr lang="en-US" smtClean="0"/>
              <a:t>Most G.I. Tract infections are caused by Gram (-) bacteria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3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35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35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355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355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bldLvl="3"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371600" y="-304800"/>
            <a:ext cx="7772400" cy="1752600"/>
          </a:xfrm>
        </p:spPr>
        <p:txBody>
          <a:bodyPr/>
          <a:lstStyle/>
          <a:p>
            <a:pPr eaLnBrk="1" hangingPunct="1"/>
            <a:r>
              <a:rPr lang="en-US" dirty="0" smtClean="0"/>
              <a:t>Selective Media</a:t>
            </a:r>
          </a:p>
        </p:txBody>
      </p:sp>
      <p:sp>
        <p:nvSpPr>
          <p:cNvPr id="24579" name="Rectangle 3"/>
          <p:cNvSpPr>
            <a:spLocks noGrp="1" noChangeArrowheads="1"/>
          </p:cNvSpPr>
          <p:nvPr>
            <p:ph idx="1"/>
          </p:nvPr>
        </p:nvSpPr>
        <p:spPr>
          <a:xfrm>
            <a:off x="1252538" y="609600"/>
            <a:ext cx="7772400" cy="3124200"/>
          </a:xfrm>
        </p:spPr>
        <p:txBody>
          <a:bodyPr/>
          <a:lstStyle/>
          <a:p>
            <a:pPr eaLnBrk="1" hangingPunct="1"/>
            <a:endParaRPr lang="en-US" dirty="0" smtClean="0"/>
          </a:p>
          <a:p>
            <a:pPr eaLnBrk="1" hangingPunct="1"/>
            <a:endParaRPr lang="en-US" dirty="0" smtClean="0"/>
          </a:p>
          <a:p>
            <a:pPr eaLnBrk="1" hangingPunct="1"/>
            <a:r>
              <a:rPr lang="en-US" dirty="0" smtClean="0"/>
              <a:t>EMB   (Eosin </a:t>
            </a:r>
            <a:r>
              <a:rPr lang="en-US" dirty="0" err="1" smtClean="0"/>
              <a:t>Methylene</a:t>
            </a:r>
            <a:r>
              <a:rPr lang="en-US" dirty="0" smtClean="0"/>
              <a:t> Blue)</a:t>
            </a:r>
          </a:p>
          <a:p>
            <a:pPr lvl="1" eaLnBrk="1" hangingPunct="1"/>
            <a:r>
              <a:rPr lang="en-US" dirty="0" smtClean="0"/>
              <a:t>dyes inhibit Gram (+) bacteria</a:t>
            </a:r>
          </a:p>
          <a:p>
            <a:pPr lvl="1" eaLnBrk="1" hangingPunct="1"/>
            <a:r>
              <a:rPr lang="en-US" dirty="0" smtClean="0"/>
              <a:t>selects for Gram (-) bacteria</a:t>
            </a:r>
          </a:p>
          <a:p>
            <a:pPr lvl="1" eaLnBrk="1" hangingPunct="1"/>
            <a:r>
              <a:rPr lang="en-US" dirty="0" smtClean="0"/>
              <a:t>G.I. Tract infections caused by Gram (-) bacteria</a:t>
            </a:r>
          </a:p>
        </p:txBody>
      </p:sp>
      <p:pic>
        <p:nvPicPr>
          <p:cNvPr id="24581" name="Picture 5" descr="U:\PowerPoint\Scanner\Micro\EMB.tif"/>
          <p:cNvPicPr>
            <a:picLocks noChangeAspect="1" noChangeArrowheads="1"/>
          </p:cNvPicPr>
          <p:nvPr/>
        </p:nvPicPr>
        <p:blipFill>
          <a:blip r:embed="rId2"/>
          <a:srcRect/>
          <a:stretch>
            <a:fillRect/>
          </a:stretch>
        </p:blipFill>
        <p:spPr bwMode="auto">
          <a:xfrm>
            <a:off x="2133600" y="3810000"/>
            <a:ext cx="5638800" cy="26177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57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457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457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457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45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bldLvl="2"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smtClean="0"/>
              <a:t>Differential Media</a:t>
            </a:r>
          </a:p>
        </p:txBody>
      </p:sp>
      <p:sp>
        <p:nvSpPr>
          <p:cNvPr id="25603" name="Rectangle 3"/>
          <p:cNvSpPr>
            <a:spLocks noGrp="1" noChangeArrowheads="1"/>
          </p:cNvSpPr>
          <p:nvPr>
            <p:ph idx="1"/>
          </p:nvPr>
        </p:nvSpPr>
        <p:spPr/>
        <p:txBody>
          <a:bodyPr/>
          <a:lstStyle/>
          <a:p>
            <a:pPr eaLnBrk="1" hangingPunct="1"/>
            <a:r>
              <a:rPr lang="en-US" smtClean="0"/>
              <a:t>Differentiates between different organisms growing on the same plate</a:t>
            </a:r>
          </a:p>
          <a:p>
            <a:pPr eaLnBrk="1" hangingPunct="1"/>
            <a:r>
              <a:rPr lang="en-US" smtClean="0"/>
              <a:t>Example:</a:t>
            </a:r>
          </a:p>
          <a:p>
            <a:pPr lvl="1" eaLnBrk="1" hangingPunct="1"/>
            <a:r>
              <a:rPr lang="en-US" smtClean="0"/>
              <a:t>Blood Agar Plates  (TSA with 5% sheep blood)</a:t>
            </a:r>
          </a:p>
          <a:p>
            <a:pPr lvl="2" eaLnBrk="1" hangingPunct="1"/>
            <a:r>
              <a:rPr lang="en-US" smtClean="0"/>
              <a:t>used to differentiate different types of</a:t>
            </a:r>
            <a:r>
              <a:rPr lang="en-US" i="1" smtClean="0"/>
              <a:t> Streptococci</a:t>
            </a:r>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 calcmode="lin" valueType="num">
                                      <p:cBhvr additive="base">
                                        <p:cTn id="13" dur="500" fill="hold"/>
                                        <p:tgtEl>
                                          <p:spTgt spid="256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6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603">
                                            <p:txEl>
                                              <p:pRg st="2" end="2"/>
                                            </p:txEl>
                                          </p:spTgt>
                                        </p:tgtEl>
                                        <p:attrNameLst>
                                          <p:attrName>style.visibility</p:attrName>
                                        </p:attrNameLst>
                                      </p:cBhvr>
                                      <p:to>
                                        <p:strVal val="visible"/>
                                      </p:to>
                                    </p:set>
                                    <p:anim calcmode="lin" valueType="num">
                                      <p:cBhvr additive="base">
                                        <p:cTn id="19" dur="500" fill="hold"/>
                                        <p:tgtEl>
                                          <p:spTgt spid="2560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6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603">
                                            <p:txEl>
                                              <p:pRg st="3" end="3"/>
                                            </p:txEl>
                                          </p:spTgt>
                                        </p:tgtEl>
                                        <p:attrNameLst>
                                          <p:attrName>style.visibility</p:attrName>
                                        </p:attrNameLst>
                                      </p:cBhvr>
                                      <p:to>
                                        <p:strVal val="visible"/>
                                      </p:to>
                                    </p:set>
                                    <p:anim calcmode="lin" valueType="num">
                                      <p:cBhvr additive="base">
                                        <p:cTn id="25" dur="500" fill="hold"/>
                                        <p:tgtEl>
                                          <p:spTgt spid="2560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60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bldLvl="3"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U:\PowerPoint\Scanner\Micro\a hemolysis.tif"/>
          <p:cNvPicPr>
            <a:picLocks noChangeAspect="1" noChangeArrowheads="1"/>
          </p:cNvPicPr>
          <p:nvPr/>
        </p:nvPicPr>
        <p:blipFill>
          <a:blip r:embed="rId2"/>
          <a:srcRect/>
          <a:stretch>
            <a:fillRect/>
          </a:stretch>
        </p:blipFill>
        <p:spPr bwMode="auto">
          <a:xfrm>
            <a:off x="2743200" y="1219200"/>
            <a:ext cx="4349750" cy="4275138"/>
          </a:xfrm>
          <a:prstGeom prst="rect">
            <a:avLst/>
          </a:prstGeom>
          <a:noFill/>
          <a:ln w="9525">
            <a:noFill/>
            <a:miter lim="800000"/>
            <a:headEnd/>
            <a:tailEnd/>
          </a:ln>
        </p:spPr>
      </p:pic>
      <p:sp>
        <p:nvSpPr>
          <p:cNvPr id="44035" name="Text Box 3"/>
          <p:cNvSpPr txBox="1">
            <a:spLocks noChangeArrowheads="1"/>
          </p:cNvSpPr>
          <p:nvPr/>
        </p:nvSpPr>
        <p:spPr bwMode="auto">
          <a:xfrm>
            <a:off x="2362200" y="609600"/>
            <a:ext cx="5334000" cy="579438"/>
          </a:xfrm>
          <a:prstGeom prst="rect">
            <a:avLst/>
          </a:prstGeom>
          <a:noFill/>
          <a:ln w="12700">
            <a:noFill/>
            <a:miter lim="800000"/>
            <a:headEnd type="none" w="sm" len="sm"/>
            <a:tailEnd type="none" w="sm" len="sm"/>
          </a:ln>
        </p:spPr>
        <p:txBody>
          <a:bodyPr>
            <a:spAutoFit/>
          </a:bodyPr>
          <a:lstStyle/>
          <a:p>
            <a:pPr>
              <a:spcBef>
                <a:spcPct val="50000"/>
              </a:spcBef>
            </a:pPr>
            <a:r>
              <a:rPr lang="en-US" sz="3200"/>
              <a:t>Alpha Hemolytic</a:t>
            </a:r>
            <a:r>
              <a:rPr lang="en-US" sz="3200" i="1"/>
              <a:t> Streptococci</a:t>
            </a:r>
            <a:endParaRPr lang="en-US" sz="3200"/>
          </a:p>
        </p:txBody>
      </p:sp>
      <p:sp>
        <p:nvSpPr>
          <p:cNvPr id="44036" name="Text Box 4"/>
          <p:cNvSpPr txBox="1">
            <a:spLocks noChangeArrowheads="1"/>
          </p:cNvSpPr>
          <p:nvPr/>
        </p:nvSpPr>
        <p:spPr bwMode="auto">
          <a:xfrm>
            <a:off x="2667000" y="5867400"/>
            <a:ext cx="5257800" cy="457200"/>
          </a:xfrm>
          <a:prstGeom prst="rect">
            <a:avLst/>
          </a:prstGeom>
          <a:noFill/>
          <a:ln w="12700">
            <a:noFill/>
            <a:miter lim="800000"/>
            <a:headEnd type="none" w="sm" len="sm"/>
            <a:tailEnd type="none" w="sm" len="sm"/>
          </a:ln>
        </p:spPr>
        <p:txBody>
          <a:bodyPr>
            <a:spAutoFit/>
          </a:bodyPr>
          <a:lstStyle/>
          <a:p>
            <a:pPr>
              <a:spcBef>
                <a:spcPct val="50000"/>
              </a:spcBef>
            </a:pPr>
            <a:r>
              <a:rPr lang="en-US"/>
              <a:t>         Incomplete lysis of RBC’s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2438400" y="0"/>
            <a:ext cx="5486400" cy="579438"/>
          </a:xfrm>
          <a:prstGeom prst="rect">
            <a:avLst/>
          </a:prstGeom>
          <a:noFill/>
          <a:ln w="12700">
            <a:noFill/>
            <a:miter lim="800000"/>
            <a:headEnd type="none" w="sm" len="sm"/>
            <a:tailEnd type="none" w="sm" len="sm"/>
          </a:ln>
        </p:spPr>
        <p:txBody>
          <a:bodyPr>
            <a:spAutoFit/>
          </a:bodyPr>
          <a:lstStyle/>
          <a:p>
            <a:pPr>
              <a:spcBef>
                <a:spcPct val="50000"/>
              </a:spcBef>
            </a:pPr>
            <a:r>
              <a:rPr lang="en-US" sz="3200"/>
              <a:t>Beta Hemolytic </a:t>
            </a:r>
            <a:r>
              <a:rPr lang="en-US" sz="3200" i="1"/>
              <a:t>Streptococci</a:t>
            </a:r>
            <a:endParaRPr lang="en-US" i="1"/>
          </a:p>
        </p:txBody>
      </p:sp>
      <p:sp>
        <p:nvSpPr>
          <p:cNvPr id="45059" name="Text Box 4"/>
          <p:cNvSpPr txBox="1">
            <a:spLocks noChangeArrowheads="1"/>
          </p:cNvSpPr>
          <p:nvPr/>
        </p:nvSpPr>
        <p:spPr bwMode="auto">
          <a:xfrm>
            <a:off x="2362200" y="6248400"/>
            <a:ext cx="5562600" cy="457200"/>
          </a:xfrm>
          <a:prstGeom prst="rect">
            <a:avLst/>
          </a:prstGeom>
          <a:noFill/>
          <a:ln w="12700">
            <a:noFill/>
            <a:miter lim="800000"/>
            <a:headEnd type="none" w="sm" len="sm"/>
            <a:tailEnd type="none" w="sm" len="sm"/>
          </a:ln>
        </p:spPr>
        <p:txBody>
          <a:bodyPr>
            <a:spAutoFit/>
          </a:bodyPr>
          <a:lstStyle/>
          <a:p>
            <a:pPr>
              <a:spcBef>
                <a:spcPct val="50000"/>
              </a:spcBef>
            </a:pPr>
            <a:r>
              <a:rPr lang="en-US"/>
              <a:t>          Complete lysis of  RBC’s</a:t>
            </a:r>
          </a:p>
        </p:txBody>
      </p:sp>
      <p:pic>
        <p:nvPicPr>
          <p:cNvPr id="45060" name="Picture 5" descr="C:\WINDOWS\Desktop\beta hemolysis.jpg"/>
          <p:cNvPicPr>
            <a:picLocks noChangeAspect="1" noChangeArrowheads="1"/>
          </p:cNvPicPr>
          <p:nvPr/>
        </p:nvPicPr>
        <p:blipFill>
          <a:blip r:embed="rId2"/>
          <a:srcRect/>
          <a:stretch>
            <a:fillRect/>
          </a:stretch>
        </p:blipFill>
        <p:spPr bwMode="auto">
          <a:xfrm>
            <a:off x="2438400" y="914400"/>
            <a:ext cx="4953000" cy="49530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2057400" y="533400"/>
            <a:ext cx="5867400" cy="579438"/>
          </a:xfrm>
          <a:prstGeom prst="rect">
            <a:avLst/>
          </a:prstGeom>
          <a:noFill/>
          <a:ln w="12700">
            <a:noFill/>
            <a:miter lim="800000"/>
            <a:headEnd type="none" w="sm" len="sm"/>
            <a:tailEnd type="none" w="sm" len="sm"/>
          </a:ln>
        </p:spPr>
        <p:txBody>
          <a:bodyPr>
            <a:spAutoFit/>
          </a:bodyPr>
          <a:lstStyle/>
          <a:p>
            <a:pPr>
              <a:spcBef>
                <a:spcPct val="50000"/>
              </a:spcBef>
            </a:pPr>
            <a:r>
              <a:rPr lang="en-US" sz="3200"/>
              <a:t>Gamma Hemolytic </a:t>
            </a:r>
            <a:r>
              <a:rPr lang="en-US" sz="3200" i="1"/>
              <a:t>Streptococci</a:t>
            </a:r>
            <a:endParaRPr lang="en-US" i="1"/>
          </a:p>
        </p:txBody>
      </p:sp>
      <p:sp>
        <p:nvSpPr>
          <p:cNvPr id="46083" name="Text Box 3"/>
          <p:cNvSpPr txBox="1">
            <a:spLocks noChangeArrowheads="1"/>
          </p:cNvSpPr>
          <p:nvPr/>
        </p:nvSpPr>
        <p:spPr bwMode="auto">
          <a:xfrm>
            <a:off x="2971800" y="4114800"/>
            <a:ext cx="3657600" cy="457200"/>
          </a:xfrm>
          <a:prstGeom prst="rect">
            <a:avLst/>
          </a:prstGeom>
          <a:noFill/>
          <a:ln w="12700">
            <a:noFill/>
            <a:miter lim="800000"/>
            <a:headEnd type="none" w="sm" len="sm"/>
            <a:tailEnd type="none" w="sm" len="sm"/>
          </a:ln>
        </p:spPr>
        <p:txBody>
          <a:bodyPr>
            <a:spAutoFit/>
          </a:bodyPr>
          <a:lstStyle/>
          <a:p>
            <a:pPr>
              <a:spcBef>
                <a:spcPct val="50000"/>
              </a:spcBef>
            </a:pPr>
            <a:r>
              <a:rPr lang="en-US"/>
              <a:t>      No lysis of RBC’s</a:t>
            </a:r>
          </a:p>
        </p:txBody>
      </p:sp>
      <p:sp>
        <p:nvSpPr>
          <p:cNvPr id="46084" name="Oval 4"/>
          <p:cNvSpPr>
            <a:spLocks noChangeArrowheads="1"/>
          </p:cNvSpPr>
          <p:nvPr/>
        </p:nvSpPr>
        <p:spPr bwMode="auto">
          <a:xfrm>
            <a:off x="3352800" y="1524000"/>
            <a:ext cx="2286000" cy="2286000"/>
          </a:xfrm>
          <a:prstGeom prst="ellipse">
            <a:avLst/>
          </a:prstGeom>
          <a:solidFill>
            <a:srgbClr val="FF3300"/>
          </a:solidFill>
          <a:ln w="12700">
            <a:solidFill>
              <a:schemeClr val="tx1"/>
            </a:solidFill>
            <a:round/>
            <a:headEnd type="none" w="sm" len="sm"/>
            <a:tailEnd type="none" w="sm" len="sm"/>
          </a:ln>
        </p:spPr>
        <p:txBody>
          <a:bodyPr wrap="none" anchor="ctr"/>
          <a:lstStyle/>
          <a:p>
            <a:endParaRPr lang="en-US"/>
          </a:p>
        </p:txBody>
      </p:sp>
      <p:sp>
        <p:nvSpPr>
          <p:cNvPr id="46085" name="Oval 5"/>
          <p:cNvSpPr>
            <a:spLocks noChangeArrowheads="1"/>
          </p:cNvSpPr>
          <p:nvPr/>
        </p:nvSpPr>
        <p:spPr bwMode="auto">
          <a:xfrm>
            <a:off x="4267200" y="2209800"/>
            <a:ext cx="76200" cy="76200"/>
          </a:xfrm>
          <a:prstGeom prst="ellipse">
            <a:avLst/>
          </a:prstGeom>
          <a:solidFill>
            <a:schemeClr val="tx1"/>
          </a:solidFill>
          <a:ln w="12700">
            <a:noFill/>
            <a:round/>
            <a:headEnd type="none" w="sm" len="sm"/>
            <a:tailEnd type="none" w="sm" len="sm"/>
          </a:ln>
        </p:spPr>
        <p:txBody>
          <a:bodyPr wrap="none" anchor="ctr"/>
          <a:lstStyle/>
          <a:p>
            <a:endParaRPr lang="en-US"/>
          </a:p>
        </p:txBody>
      </p:sp>
      <p:sp>
        <p:nvSpPr>
          <p:cNvPr id="46086" name="Oval 7"/>
          <p:cNvSpPr>
            <a:spLocks noChangeArrowheads="1"/>
          </p:cNvSpPr>
          <p:nvPr/>
        </p:nvSpPr>
        <p:spPr bwMode="auto">
          <a:xfrm>
            <a:off x="5029200" y="2362200"/>
            <a:ext cx="76200" cy="152400"/>
          </a:xfrm>
          <a:prstGeom prst="ellipse">
            <a:avLst/>
          </a:prstGeom>
          <a:solidFill>
            <a:schemeClr val="tx1"/>
          </a:solidFill>
          <a:ln w="12700">
            <a:noFill/>
            <a:round/>
            <a:headEnd type="none" w="sm" len="sm"/>
            <a:tailEnd type="none" w="sm" len="sm"/>
          </a:ln>
        </p:spPr>
        <p:txBody>
          <a:bodyPr wrap="none" anchor="ctr"/>
          <a:lstStyle/>
          <a:p>
            <a:endParaRPr lang="en-US"/>
          </a:p>
        </p:txBody>
      </p:sp>
      <p:sp>
        <p:nvSpPr>
          <p:cNvPr id="46087" name="Oval 8"/>
          <p:cNvSpPr>
            <a:spLocks noChangeArrowheads="1"/>
          </p:cNvSpPr>
          <p:nvPr/>
        </p:nvSpPr>
        <p:spPr bwMode="auto">
          <a:xfrm>
            <a:off x="3886200" y="2667000"/>
            <a:ext cx="76200" cy="152400"/>
          </a:xfrm>
          <a:prstGeom prst="ellipse">
            <a:avLst/>
          </a:prstGeom>
          <a:solidFill>
            <a:schemeClr val="tx1"/>
          </a:solidFill>
          <a:ln w="12700">
            <a:noFill/>
            <a:round/>
            <a:headEnd type="none" w="sm" len="sm"/>
            <a:tailEnd type="none" w="sm" len="sm"/>
          </a:ln>
        </p:spPr>
        <p:txBody>
          <a:bodyPr wrap="none" anchor="ctr"/>
          <a:lstStyle/>
          <a:p>
            <a:endParaRPr lang="en-US"/>
          </a:p>
        </p:txBody>
      </p:sp>
      <p:sp>
        <p:nvSpPr>
          <p:cNvPr id="46088" name="Oval 9"/>
          <p:cNvSpPr>
            <a:spLocks noChangeArrowheads="1"/>
          </p:cNvSpPr>
          <p:nvPr/>
        </p:nvSpPr>
        <p:spPr bwMode="auto">
          <a:xfrm>
            <a:off x="4495800" y="2971800"/>
            <a:ext cx="76200" cy="76200"/>
          </a:xfrm>
          <a:prstGeom prst="ellipse">
            <a:avLst/>
          </a:prstGeom>
          <a:solidFill>
            <a:schemeClr val="tx1"/>
          </a:solidFill>
          <a:ln w="12700">
            <a:noFill/>
            <a:round/>
            <a:headEnd type="none" w="sm" len="sm"/>
            <a:tailEnd type="none" w="sm" len="sm"/>
          </a:ln>
        </p:spPr>
        <p:txBody>
          <a:bodyPr wrap="none" anchor="ctr"/>
          <a:lstStyle/>
          <a:p>
            <a:endParaRPr lang="en-US"/>
          </a:p>
        </p:txBody>
      </p:sp>
      <p:sp>
        <p:nvSpPr>
          <p:cNvPr id="46089" name="Oval 10"/>
          <p:cNvSpPr>
            <a:spLocks noChangeArrowheads="1"/>
          </p:cNvSpPr>
          <p:nvPr/>
        </p:nvSpPr>
        <p:spPr bwMode="auto">
          <a:xfrm>
            <a:off x="4724400" y="1905000"/>
            <a:ext cx="76200" cy="76200"/>
          </a:xfrm>
          <a:prstGeom prst="ellipse">
            <a:avLst/>
          </a:prstGeom>
          <a:solidFill>
            <a:schemeClr val="tx1"/>
          </a:solidFill>
          <a:ln w="12700">
            <a:noFill/>
            <a:round/>
            <a:headEnd type="none" w="sm" len="sm"/>
            <a:tailEnd type="none" w="sm" len="sm"/>
          </a:ln>
        </p:spPr>
        <p:txBody>
          <a:bodyPr wrap="none" anchor="ctr"/>
          <a:lstStyle/>
          <a:p>
            <a:endParaRPr lang="en-US"/>
          </a:p>
        </p:txBody>
      </p:sp>
      <p:sp>
        <p:nvSpPr>
          <p:cNvPr id="46090" name="Oval 11"/>
          <p:cNvSpPr>
            <a:spLocks noChangeArrowheads="1"/>
          </p:cNvSpPr>
          <p:nvPr/>
        </p:nvSpPr>
        <p:spPr bwMode="auto">
          <a:xfrm>
            <a:off x="5029200" y="2971800"/>
            <a:ext cx="76200" cy="152400"/>
          </a:xfrm>
          <a:prstGeom prst="ellipse">
            <a:avLst/>
          </a:prstGeom>
          <a:solidFill>
            <a:srgbClr val="FFFFFF"/>
          </a:solidFill>
          <a:ln w="12700">
            <a:solidFill>
              <a:schemeClr val="tx1"/>
            </a:solidFill>
            <a:round/>
            <a:headEnd type="none" w="sm" len="sm"/>
            <a:tailEnd type="none" w="sm" len="sm"/>
          </a:ln>
        </p:spPr>
        <p:txBody>
          <a:bodyPr wrap="none" anchor="ctr"/>
          <a:lstStyle/>
          <a:p>
            <a:endParaRPr lang="en-US"/>
          </a:p>
        </p:txBody>
      </p:sp>
      <p:sp>
        <p:nvSpPr>
          <p:cNvPr id="46091" name="Oval 12"/>
          <p:cNvSpPr>
            <a:spLocks noChangeArrowheads="1"/>
          </p:cNvSpPr>
          <p:nvPr/>
        </p:nvSpPr>
        <p:spPr bwMode="auto">
          <a:xfrm>
            <a:off x="3962400" y="3276600"/>
            <a:ext cx="76200" cy="76200"/>
          </a:xfrm>
          <a:prstGeom prst="ellipse">
            <a:avLst/>
          </a:prstGeom>
          <a:solidFill>
            <a:srgbClr val="FFFFFF"/>
          </a:solidFill>
          <a:ln w="12700">
            <a:solidFill>
              <a:schemeClr val="tx1"/>
            </a:solidFill>
            <a:round/>
            <a:headEnd type="none" w="sm" len="sm"/>
            <a:tailEnd type="none" w="sm" len="sm"/>
          </a:ln>
        </p:spPr>
        <p:txBody>
          <a:bodyPr wrap="none" anchor="ctr"/>
          <a:lstStyle/>
          <a:p>
            <a:endParaRPr lang="en-US"/>
          </a:p>
        </p:txBody>
      </p:sp>
      <p:sp>
        <p:nvSpPr>
          <p:cNvPr id="46092" name="Oval 13"/>
          <p:cNvSpPr>
            <a:spLocks noChangeArrowheads="1"/>
          </p:cNvSpPr>
          <p:nvPr/>
        </p:nvSpPr>
        <p:spPr bwMode="auto">
          <a:xfrm>
            <a:off x="4191000" y="1905000"/>
            <a:ext cx="76200" cy="76200"/>
          </a:xfrm>
          <a:prstGeom prst="ellipse">
            <a:avLst/>
          </a:prstGeom>
          <a:solidFill>
            <a:srgbClr val="FFFFFF"/>
          </a:solidFill>
          <a:ln w="12700">
            <a:solidFill>
              <a:schemeClr val="tx1"/>
            </a:solidFill>
            <a:round/>
            <a:headEnd type="none" w="sm" len="sm"/>
            <a:tailEnd type="none" w="sm" len="sm"/>
          </a:ln>
        </p:spPr>
        <p:txBody>
          <a:bodyPr wrap="none" anchor="ctr"/>
          <a:lstStyle/>
          <a:p>
            <a:endParaRPr lang="en-US"/>
          </a:p>
        </p:txBody>
      </p:sp>
      <p:sp>
        <p:nvSpPr>
          <p:cNvPr id="46093" name="Oval 14"/>
          <p:cNvSpPr>
            <a:spLocks noChangeArrowheads="1"/>
          </p:cNvSpPr>
          <p:nvPr/>
        </p:nvSpPr>
        <p:spPr bwMode="auto">
          <a:xfrm>
            <a:off x="4724400" y="2514600"/>
            <a:ext cx="76200" cy="76200"/>
          </a:xfrm>
          <a:prstGeom prst="ellipse">
            <a:avLst/>
          </a:prstGeom>
          <a:solidFill>
            <a:srgbClr val="FFFFFF"/>
          </a:solidFill>
          <a:ln w="12700">
            <a:solidFill>
              <a:schemeClr val="tx1"/>
            </a:solidFill>
            <a:round/>
            <a:headEnd type="none" w="sm" len="sm"/>
            <a:tailEnd type="none" w="sm" len="sm"/>
          </a:ln>
        </p:spPr>
        <p:txBody>
          <a:bodyPr wrap="none" anchor="ctr"/>
          <a:lstStyle/>
          <a:p>
            <a:endParaRPr lang="en-US"/>
          </a:p>
        </p:txBody>
      </p:sp>
      <p:sp>
        <p:nvSpPr>
          <p:cNvPr id="46094" name="Oval 15"/>
          <p:cNvSpPr>
            <a:spLocks noChangeArrowheads="1"/>
          </p:cNvSpPr>
          <p:nvPr/>
        </p:nvSpPr>
        <p:spPr bwMode="auto">
          <a:xfrm>
            <a:off x="4419600" y="3505200"/>
            <a:ext cx="76200" cy="76200"/>
          </a:xfrm>
          <a:prstGeom prst="ellipse">
            <a:avLst/>
          </a:prstGeom>
          <a:solidFill>
            <a:srgbClr val="FFFFFF"/>
          </a:solidFill>
          <a:ln w="12700">
            <a:solidFill>
              <a:schemeClr val="tx1"/>
            </a:solidFill>
            <a:round/>
            <a:headEnd type="none" w="sm" len="sm"/>
            <a:tailEnd type="none" w="sm" len="sm"/>
          </a:ln>
        </p:spPr>
        <p:txBody>
          <a:bodyPr wrap="none" anchor="ct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smtClean="0"/>
              <a:t>Selective and Differential Media</a:t>
            </a:r>
          </a:p>
        </p:txBody>
      </p:sp>
      <p:sp>
        <p:nvSpPr>
          <p:cNvPr id="29699" name="Rectangle 3"/>
          <p:cNvSpPr>
            <a:spLocks noGrp="1" noChangeArrowheads="1"/>
          </p:cNvSpPr>
          <p:nvPr>
            <p:ph idx="1"/>
          </p:nvPr>
        </p:nvSpPr>
        <p:spPr>
          <a:xfrm>
            <a:off x="1252538" y="1981200"/>
            <a:ext cx="7772400" cy="3276600"/>
          </a:xfrm>
        </p:spPr>
        <p:txBody>
          <a:bodyPr/>
          <a:lstStyle/>
          <a:p>
            <a:pPr eaLnBrk="1" hangingPunct="1"/>
            <a:r>
              <a:rPr lang="en-US" smtClean="0"/>
              <a:t>Mannitol Salt Agar</a:t>
            </a:r>
          </a:p>
          <a:p>
            <a:pPr lvl="1" eaLnBrk="1" hangingPunct="1"/>
            <a:r>
              <a:rPr lang="en-US" smtClean="0"/>
              <a:t>used to identify </a:t>
            </a:r>
            <a:r>
              <a:rPr lang="en-US" i="1" smtClean="0"/>
              <a:t>Staphylococcus  aureus</a:t>
            </a:r>
          </a:p>
          <a:p>
            <a:pPr eaLnBrk="1" hangingPunct="1"/>
            <a:r>
              <a:rPr lang="en-US" smtClean="0"/>
              <a:t>Mannitol Salt Agar</a:t>
            </a:r>
          </a:p>
          <a:p>
            <a:pPr lvl="1" eaLnBrk="1" hangingPunct="1"/>
            <a:r>
              <a:rPr lang="en-US" smtClean="0"/>
              <a:t>High salt conc.  (7.5%) inhibits most bacteria</a:t>
            </a:r>
          </a:p>
          <a:p>
            <a:pPr lvl="1" eaLnBrk="1" hangingPunct="1"/>
            <a:r>
              <a:rPr lang="en-US" smtClean="0"/>
              <a:t>sugar Mannitol</a:t>
            </a:r>
          </a:p>
          <a:p>
            <a:pPr lvl="1" eaLnBrk="1" hangingPunct="1"/>
            <a:r>
              <a:rPr lang="en-US" smtClean="0"/>
              <a:t>pH Indicator   (Turns</a:t>
            </a:r>
            <a:r>
              <a:rPr lang="en-US" smtClean="0">
                <a:solidFill>
                  <a:schemeClr val="tx2"/>
                </a:solidFill>
              </a:rPr>
              <a:t> Yellow</a:t>
            </a:r>
            <a:r>
              <a:rPr lang="en-US" smtClean="0"/>
              <a:t>  when acid)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96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96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96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96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96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bldLvl="2"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smtClean="0"/>
              <a:t>Selective and Differential Media</a:t>
            </a:r>
          </a:p>
        </p:txBody>
      </p:sp>
      <p:sp>
        <p:nvSpPr>
          <p:cNvPr id="30723" name="Rectangle 3"/>
          <p:cNvSpPr>
            <a:spLocks noGrp="1" noChangeArrowheads="1"/>
          </p:cNvSpPr>
          <p:nvPr>
            <p:ph idx="1"/>
          </p:nvPr>
        </p:nvSpPr>
        <p:spPr>
          <a:xfrm>
            <a:off x="1252538" y="1981200"/>
            <a:ext cx="7772400" cy="3581400"/>
          </a:xfrm>
        </p:spPr>
        <p:txBody>
          <a:bodyPr rtlCol="0">
            <a:normAutofit/>
          </a:bodyPr>
          <a:lstStyle/>
          <a:p>
            <a:pPr eaLnBrk="1" fontAlgn="auto" hangingPunct="1">
              <a:spcAft>
                <a:spcPts val="0"/>
              </a:spcAft>
              <a:buFont typeface="Arial" pitchFamily="34" charset="0"/>
              <a:buChar char="•"/>
              <a:defRPr/>
            </a:pPr>
            <a:r>
              <a:rPr lang="en-US" smtClean="0"/>
              <a:t>MacConkey’s Agar</a:t>
            </a:r>
          </a:p>
          <a:p>
            <a:pPr lvl="1" eaLnBrk="1" fontAlgn="auto" hangingPunct="1">
              <a:spcAft>
                <a:spcPts val="0"/>
              </a:spcAft>
              <a:buFont typeface="Arial" pitchFamily="34" charset="0"/>
              <a:buChar char="–"/>
              <a:defRPr/>
            </a:pPr>
            <a:r>
              <a:rPr lang="en-US" smtClean="0"/>
              <a:t>used to identify </a:t>
            </a:r>
            <a:r>
              <a:rPr lang="en-US" i="1" smtClean="0"/>
              <a:t>Salmonella</a:t>
            </a:r>
            <a:endParaRPr lang="en-US" smtClean="0"/>
          </a:p>
          <a:p>
            <a:pPr eaLnBrk="1" fontAlgn="auto" hangingPunct="1">
              <a:spcAft>
                <a:spcPts val="0"/>
              </a:spcAft>
              <a:buFont typeface="Arial" pitchFamily="34" charset="0"/>
              <a:buChar char="•"/>
              <a:defRPr/>
            </a:pPr>
            <a:r>
              <a:rPr lang="en-US" smtClean="0"/>
              <a:t>MacConkey’s Agar</a:t>
            </a:r>
          </a:p>
          <a:p>
            <a:pPr lvl="1" eaLnBrk="1" fontAlgn="auto" hangingPunct="1">
              <a:spcAft>
                <a:spcPts val="0"/>
              </a:spcAft>
              <a:buFont typeface="Arial" pitchFamily="34" charset="0"/>
              <a:buChar char="–"/>
              <a:defRPr/>
            </a:pPr>
            <a:r>
              <a:rPr lang="en-US" smtClean="0"/>
              <a:t>Bile salts and crystal violet (inhibits Gram (+) bacteria)</a:t>
            </a:r>
          </a:p>
          <a:p>
            <a:pPr lvl="1" eaLnBrk="1" fontAlgn="auto" hangingPunct="1">
              <a:spcAft>
                <a:spcPts val="0"/>
              </a:spcAft>
              <a:buFont typeface="Arial" pitchFamily="34" charset="0"/>
              <a:buChar char="–"/>
              <a:defRPr/>
            </a:pPr>
            <a:r>
              <a:rPr lang="en-US" smtClean="0"/>
              <a:t>lactose</a:t>
            </a:r>
          </a:p>
          <a:p>
            <a:pPr lvl="1" eaLnBrk="1" fontAlgn="auto" hangingPunct="1">
              <a:spcAft>
                <a:spcPts val="0"/>
              </a:spcAft>
              <a:buFont typeface="Arial" pitchFamily="34" charset="0"/>
              <a:buChar char="–"/>
              <a:defRPr/>
            </a:pPr>
            <a:r>
              <a:rPr lang="en-US" smtClean="0"/>
              <a:t>pH Indicator</a:t>
            </a:r>
          </a:p>
        </p:txBody>
      </p:sp>
      <p:sp>
        <p:nvSpPr>
          <p:cNvPr id="30724" name="Text Box 4"/>
          <p:cNvSpPr txBox="1">
            <a:spLocks noChangeArrowheads="1"/>
          </p:cNvSpPr>
          <p:nvPr/>
        </p:nvSpPr>
        <p:spPr bwMode="auto">
          <a:xfrm>
            <a:off x="1371600" y="5791200"/>
            <a:ext cx="6934200" cy="822325"/>
          </a:xfrm>
          <a:prstGeom prst="rect">
            <a:avLst/>
          </a:prstGeom>
          <a:noFill/>
          <a:ln w="12700">
            <a:noFill/>
            <a:miter lim="800000"/>
            <a:headEnd type="none" w="sm" len="sm"/>
            <a:tailEnd type="none" w="sm" len="sm"/>
          </a:ln>
        </p:spPr>
        <p:txBody>
          <a:bodyPr>
            <a:spAutoFit/>
          </a:bodyPr>
          <a:lstStyle/>
          <a:p>
            <a:pPr>
              <a:spcBef>
                <a:spcPct val="50000"/>
              </a:spcBef>
            </a:pPr>
            <a:r>
              <a:rPr lang="en-US"/>
              <a:t>Many Gram (-) enteric non-pathogenic bacteria can ferment lactose,</a:t>
            </a:r>
            <a:r>
              <a:rPr lang="en-US" i="1"/>
              <a:t> Salmonella</a:t>
            </a:r>
            <a:r>
              <a:rPr lang="en-US"/>
              <a:t> can not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7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07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07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07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072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07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bldLvl="2" autoUpdateAnimBg="0"/>
      <p:bldP spid="30724"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rtlCol="0">
            <a:normAutofit/>
          </a:bodyPr>
          <a:lstStyle/>
          <a:p>
            <a:pPr eaLnBrk="1" fontAlgn="auto" hangingPunct="1">
              <a:spcAft>
                <a:spcPts val="0"/>
              </a:spcAft>
              <a:defRPr/>
            </a:pPr>
            <a:r>
              <a:rPr lang="en-US" dirty="0" smtClean="0"/>
              <a:t>Bacterial Growth - </a:t>
            </a:r>
            <a:r>
              <a:rPr lang="en-US" sz="3200" dirty="0" smtClean="0"/>
              <a:t>increase in the number of cells</a:t>
            </a:r>
            <a:endParaRPr lang="en-US" dirty="0" smtClean="0"/>
          </a:p>
        </p:txBody>
      </p:sp>
      <p:sp>
        <p:nvSpPr>
          <p:cNvPr id="31747" name="Rectangle 3"/>
          <p:cNvSpPr>
            <a:spLocks noGrp="1" noChangeArrowheads="1"/>
          </p:cNvSpPr>
          <p:nvPr>
            <p:ph idx="1"/>
          </p:nvPr>
        </p:nvSpPr>
        <p:spPr/>
        <p:txBody>
          <a:bodyPr/>
          <a:lstStyle/>
          <a:p>
            <a:pPr eaLnBrk="1" hangingPunct="1"/>
            <a:r>
              <a:rPr lang="en-US" smtClean="0"/>
              <a:t>Binary Fission</a:t>
            </a:r>
          </a:p>
          <a:p>
            <a:pPr eaLnBrk="1" hangingPunct="1"/>
            <a:endParaRPr lang="en-US" smtClean="0"/>
          </a:p>
          <a:p>
            <a:pPr eaLnBrk="1" hangingPunct="1"/>
            <a:r>
              <a:rPr lang="en-US" smtClean="0"/>
              <a:t>Generation Time  (Doubling Time)</a:t>
            </a:r>
          </a:p>
          <a:p>
            <a:pPr lvl="1" eaLnBrk="1" hangingPunct="1"/>
            <a:r>
              <a:rPr lang="en-US" smtClean="0"/>
              <a:t>time required for a cell to divide</a:t>
            </a:r>
          </a:p>
          <a:p>
            <a:pPr lvl="1" eaLnBrk="1" hangingPunct="1"/>
            <a:r>
              <a:rPr lang="en-US" smtClean="0"/>
              <a:t>most about  1 Hr.  To  3  Hrs.</a:t>
            </a:r>
          </a:p>
          <a:p>
            <a:pPr lvl="2" eaLnBrk="1" hangingPunct="1"/>
            <a:r>
              <a:rPr lang="en-US" i="1" smtClean="0"/>
              <a:t>E. coli</a:t>
            </a:r>
            <a:r>
              <a:rPr lang="en-US" smtClean="0"/>
              <a:t>  -  20 minutes</a:t>
            </a:r>
          </a:p>
          <a:p>
            <a:pPr lvl="2" eaLnBrk="1" hangingPunct="1"/>
            <a:r>
              <a:rPr lang="en-US" i="1" smtClean="0"/>
              <a:t>Mycobacterium tuberculosis</a:t>
            </a:r>
            <a:r>
              <a:rPr lang="en-US" smtClean="0"/>
              <a:t> -  24  Hrs.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blinds(horizontal)">
                                      <p:cBhvr>
                                        <p:cTn id="7" dur="5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12" dur="500"/>
                                        <p:tgtEl>
                                          <p:spTgt spid="317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747">
                                            <p:txEl>
                                              <p:pRg st="3" end="3"/>
                                            </p:txEl>
                                          </p:spTgt>
                                        </p:tgtEl>
                                        <p:attrNameLst>
                                          <p:attrName>style.visibility</p:attrName>
                                        </p:attrNameLst>
                                      </p:cBhvr>
                                      <p:to>
                                        <p:strVal val="visible"/>
                                      </p:to>
                                    </p:set>
                                    <p:animEffect transition="in" filter="blinds(horizontal)">
                                      <p:cBhvr>
                                        <p:cTn id="17" dur="500"/>
                                        <p:tgtEl>
                                          <p:spTgt spid="3174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1747">
                                            <p:txEl>
                                              <p:pRg st="4" end="4"/>
                                            </p:txEl>
                                          </p:spTgt>
                                        </p:tgtEl>
                                        <p:attrNameLst>
                                          <p:attrName>style.visibility</p:attrName>
                                        </p:attrNameLst>
                                      </p:cBhvr>
                                      <p:to>
                                        <p:strVal val="visible"/>
                                      </p:to>
                                    </p:set>
                                    <p:animEffect transition="in" filter="blinds(horizontal)">
                                      <p:cBhvr>
                                        <p:cTn id="22" dur="500"/>
                                        <p:tgtEl>
                                          <p:spTgt spid="3174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1747">
                                            <p:txEl>
                                              <p:pRg st="5" end="5"/>
                                            </p:txEl>
                                          </p:spTgt>
                                        </p:tgtEl>
                                        <p:attrNameLst>
                                          <p:attrName>style.visibility</p:attrName>
                                        </p:attrNameLst>
                                      </p:cBhvr>
                                      <p:to>
                                        <p:strVal val="visible"/>
                                      </p:to>
                                    </p:set>
                                    <p:animEffect transition="in" filter="blinds(horizontal)">
                                      <p:cBhvr>
                                        <p:cTn id="27" dur="500"/>
                                        <p:tgtEl>
                                          <p:spTgt spid="3174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1747">
                                            <p:txEl>
                                              <p:pRg st="6" end="6"/>
                                            </p:txEl>
                                          </p:spTgt>
                                        </p:tgtEl>
                                        <p:attrNameLst>
                                          <p:attrName>style.visibility</p:attrName>
                                        </p:attrNameLst>
                                      </p:cBhvr>
                                      <p:to>
                                        <p:strVal val="visible"/>
                                      </p:to>
                                    </p:set>
                                    <p:animEffect transition="in" filter="blinds(horizontal)">
                                      <p:cBhvr>
                                        <p:cTn id="32" dur="500"/>
                                        <p:tgtEl>
                                          <p:spTgt spid="317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bldLvl="3"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descr="FG06_01.JPG                                                    0001B5CF WORKAS101                      B90835D4:"/>
          <p:cNvPicPr>
            <a:picLocks noChangeAspect="1" noChangeArrowheads="1"/>
          </p:cNvPicPr>
          <p:nvPr/>
        </p:nvPicPr>
        <p:blipFill>
          <a:blip r:embed="rId3"/>
          <a:srcRect/>
          <a:stretch>
            <a:fillRect/>
          </a:stretch>
        </p:blipFill>
        <p:spPr bwMode="auto">
          <a:xfrm>
            <a:off x="1066800" y="1498600"/>
            <a:ext cx="7135813" cy="5359400"/>
          </a:xfrm>
          <a:prstGeom prst="rect">
            <a:avLst/>
          </a:prstGeom>
          <a:noFill/>
          <a:ln w="9525">
            <a:noFill/>
            <a:miter lim="800000"/>
            <a:headEnd/>
            <a:tailEnd/>
          </a:ln>
        </p:spPr>
      </p:pic>
      <p:sp>
        <p:nvSpPr>
          <p:cNvPr id="50179" name="Rectangle 6"/>
          <p:cNvSpPr>
            <a:spLocks noGrp="1" noChangeArrowheads="1"/>
          </p:cNvSpPr>
          <p:nvPr>
            <p:ph type="title"/>
          </p:nvPr>
        </p:nvSpPr>
        <p:spPr>
          <a:xfrm>
            <a:off x="381000" y="533400"/>
            <a:ext cx="8382000" cy="641350"/>
          </a:xfrm>
        </p:spPr>
        <p:txBody>
          <a:bodyPr/>
          <a:lstStyle/>
          <a:p>
            <a:r>
              <a:rPr lang="en-US" sz="3600" smtClean="0">
                <a:cs typeface="Times New Roman" pitchFamily="18" charset="0"/>
              </a:rPr>
              <a:t>Bacterial Growth – binary fission</a:t>
            </a:r>
            <a:endParaRPr lang="en-GB" sz="3600" smtClean="0">
              <a:cs typeface="Times New Roman" pitchFamily="18" charset="0"/>
            </a:endParaRPr>
          </a:p>
        </p:txBody>
      </p:sp>
    </p:spTree>
  </p:cSld>
  <p:clrMapOvr>
    <a:masterClrMapping/>
  </p:clrMapOvr>
  <p:transition>
    <p:fade thruBlk="1"/>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smtClean="0"/>
              <a:t>Binary Fission - unchecked</a:t>
            </a:r>
          </a:p>
        </p:txBody>
      </p:sp>
      <p:sp>
        <p:nvSpPr>
          <p:cNvPr id="32771" name="Rectangle 3"/>
          <p:cNvSpPr>
            <a:spLocks noGrp="1" noChangeArrowheads="1"/>
          </p:cNvSpPr>
          <p:nvPr>
            <p:ph idx="1"/>
          </p:nvPr>
        </p:nvSpPr>
        <p:spPr/>
        <p:txBody>
          <a:bodyPr/>
          <a:lstStyle/>
          <a:p>
            <a:pPr eaLnBrk="1" hangingPunct="1"/>
            <a:r>
              <a:rPr lang="en-US" i="1" smtClean="0"/>
              <a:t>E. coli </a:t>
            </a:r>
            <a:r>
              <a:rPr lang="en-US" smtClean="0"/>
              <a:t>- generation time of  20 min.</a:t>
            </a:r>
          </a:p>
          <a:p>
            <a:pPr eaLnBrk="1" hangingPunct="1"/>
            <a:r>
              <a:rPr lang="en-US" smtClean="0"/>
              <a:t>20 generations (about 7 hrs.)</a:t>
            </a:r>
          </a:p>
          <a:p>
            <a:pPr lvl="1" eaLnBrk="1" hangingPunct="1"/>
            <a:r>
              <a:rPr lang="en-US" smtClean="0"/>
              <a:t>1 million cells</a:t>
            </a:r>
          </a:p>
          <a:p>
            <a:pPr eaLnBrk="1" hangingPunct="1"/>
            <a:r>
              <a:rPr lang="en-US" smtClean="0"/>
              <a:t>30 generations ( about 10 hrs.)</a:t>
            </a:r>
          </a:p>
          <a:p>
            <a:pPr lvl="1" eaLnBrk="1" hangingPunct="1"/>
            <a:r>
              <a:rPr lang="en-US" smtClean="0"/>
              <a:t>1 billion cells</a:t>
            </a:r>
          </a:p>
          <a:p>
            <a:pPr eaLnBrk="1" hangingPunct="1"/>
            <a:r>
              <a:rPr lang="en-US" smtClean="0"/>
              <a:t>72 generations ( about 24 hrs.)</a:t>
            </a:r>
          </a:p>
          <a:p>
            <a:pPr lvl="1" eaLnBrk="1" hangingPunct="1"/>
            <a:r>
              <a:rPr lang="en-US" smtClean="0"/>
              <a:t>1 x 10</a:t>
            </a:r>
            <a:r>
              <a:rPr lang="en-US" baseline="30000" smtClean="0"/>
              <a:t>21</a:t>
            </a:r>
            <a:r>
              <a:rPr lang="en-US" smtClean="0"/>
              <a:t>   </a:t>
            </a:r>
          </a:p>
          <a:p>
            <a:pPr lvl="2" eaLnBrk="1" hangingPunct="1"/>
            <a:r>
              <a:rPr lang="en-US" smtClean="0"/>
              <a:t>1,000,000,000,000,000,000,000  cells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27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27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27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27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27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27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327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bldLvl="3"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smtClean="0"/>
              <a:t>Limiting factors in the environment</a:t>
            </a:r>
          </a:p>
        </p:txBody>
      </p:sp>
      <p:sp>
        <p:nvSpPr>
          <p:cNvPr id="33795" name="Rectangle 3"/>
          <p:cNvSpPr>
            <a:spLocks noGrp="1" noChangeArrowheads="1"/>
          </p:cNvSpPr>
          <p:nvPr>
            <p:ph idx="1"/>
          </p:nvPr>
        </p:nvSpPr>
        <p:spPr/>
        <p:txBody>
          <a:bodyPr/>
          <a:lstStyle/>
          <a:p>
            <a:pPr eaLnBrk="1" hangingPunct="1"/>
            <a:r>
              <a:rPr lang="en-US" smtClean="0"/>
              <a:t>Lack of food, water or nutrients</a:t>
            </a:r>
          </a:p>
          <a:p>
            <a:pPr eaLnBrk="1" hangingPunct="1"/>
            <a:r>
              <a:rPr lang="en-US" smtClean="0"/>
              <a:t>space</a:t>
            </a:r>
          </a:p>
          <a:p>
            <a:pPr eaLnBrk="1" hangingPunct="1"/>
            <a:r>
              <a:rPr lang="en-US" smtClean="0"/>
              <a:t>accumulation of metabolic wastes</a:t>
            </a:r>
          </a:p>
          <a:p>
            <a:pPr eaLnBrk="1" hangingPunct="1"/>
            <a:r>
              <a:rPr lang="en-US" smtClean="0"/>
              <a:t>lack of oxygen</a:t>
            </a:r>
          </a:p>
          <a:p>
            <a:pPr eaLnBrk="1" hangingPunct="1"/>
            <a:r>
              <a:rPr lang="en-US" smtClean="0"/>
              <a:t>changes in pH</a:t>
            </a:r>
          </a:p>
          <a:p>
            <a:pPr eaLnBrk="1" hangingPunct="1"/>
            <a:r>
              <a:rPr lang="en-US" smtClean="0"/>
              <a:t>temperature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 calcmode="lin" valueType="num">
                                      <p:cBhvr>
                                        <p:cTn id="7" dur="1000" fill="hold"/>
                                        <p:tgtEl>
                                          <p:spTgt spid="33795">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3795">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3795">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3795">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33795">
                                            <p:txEl>
                                              <p:pRg st="1" end="1"/>
                                            </p:txEl>
                                          </p:spTgt>
                                        </p:tgtEl>
                                        <p:attrNameLst>
                                          <p:attrName>style.visibility</p:attrName>
                                        </p:attrNameLst>
                                      </p:cBhvr>
                                      <p:to>
                                        <p:strVal val="visible"/>
                                      </p:to>
                                    </p:set>
                                    <p:anim calcmode="lin" valueType="num">
                                      <p:cBhvr>
                                        <p:cTn id="15" dur="1000" fill="hold"/>
                                        <p:tgtEl>
                                          <p:spTgt spid="33795">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3795">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3795">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33795">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3795">
                                            <p:txEl>
                                              <p:pRg st="2" end="2"/>
                                            </p:txEl>
                                          </p:spTgt>
                                        </p:tgtEl>
                                        <p:attrNameLst>
                                          <p:attrName>style.visibility</p:attrName>
                                        </p:attrNameLst>
                                      </p:cBhvr>
                                      <p:to>
                                        <p:strVal val="visible"/>
                                      </p:to>
                                    </p:set>
                                    <p:anim calcmode="lin" valueType="num">
                                      <p:cBhvr>
                                        <p:cTn id="23" dur="1000" fill="hold"/>
                                        <p:tgtEl>
                                          <p:spTgt spid="33795">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3795">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3795">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3795">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33795">
                                            <p:txEl>
                                              <p:pRg st="3" end="3"/>
                                            </p:txEl>
                                          </p:spTgt>
                                        </p:tgtEl>
                                        <p:attrNameLst>
                                          <p:attrName>style.visibility</p:attrName>
                                        </p:attrNameLst>
                                      </p:cBhvr>
                                      <p:to>
                                        <p:strVal val="visible"/>
                                      </p:to>
                                    </p:set>
                                    <p:anim calcmode="lin" valueType="num">
                                      <p:cBhvr>
                                        <p:cTn id="31" dur="1000" fill="hold"/>
                                        <p:tgtEl>
                                          <p:spTgt spid="33795">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33795">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33795">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33795">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33795">
                                            <p:txEl>
                                              <p:pRg st="4" end="4"/>
                                            </p:txEl>
                                          </p:spTgt>
                                        </p:tgtEl>
                                        <p:attrNameLst>
                                          <p:attrName>style.visibility</p:attrName>
                                        </p:attrNameLst>
                                      </p:cBhvr>
                                      <p:to>
                                        <p:strVal val="visible"/>
                                      </p:to>
                                    </p:set>
                                    <p:anim calcmode="lin" valueType="num">
                                      <p:cBhvr>
                                        <p:cTn id="39" dur="1000" fill="hold"/>
                                        <p:tgtEl>
                                          <p:spTgt spid="33795">
                                            <p:txEl>
                                              <p:pRg st="4" end="4"/>
                                            </p:txEl>
                                          </p:spTgt>
                                        </p:tgtEl>
                                        <p:attrNameLst>
                                          <p:attrName>ppt_w</p:attrName>
                                        </p:attrNameLst>
                                      </p:cBhvr>
                                      <p:tavLst>
                                        <p:tav tm="0">
                                          <p:val>
                                            <p:fltVal val="0"/>
                                          </p:val>
                                        </p:tav>
                                        <p:tav tm="100000">
                                          <p:val>
                                            <p:strVal val="#ppt_w"/>
                                          </p:val>
                                        </p:tav>
                                      </p:tavLst>
                                    </p:anim>
                                    <p:anim calcmode="lin" valueType="num">
                                      <p:cBhvr>
                                        <p:cTn id="40" dur="1000" fill="hold"/>
                                        <p:tgtEl>
                                          <p:spTgt spid="33795">
                                            <p:txEl>
                                              <p:pRg st="4" end="4"/>
                                            </p:txEl>
                                          </p:spTgt>
                                        </p:tgtEl>
                                        <p:attrNameLst>
                                          <p:attrName>ppt_h</p:attrName>
                                        </p:attrNameLst>
                                      </p:cBhvr>
                                      <p:tavLst>
                                        <p:tav tm="0">
                                          <p:val>
                                            <p:fltVal val="0"/>
                                          </p:val>
                                        </p:tav>
                                        <p:tav tm="100000">
                                          <p:val>
                                            <p:strVal val="#ppt_h"/>
                                          </p:val>
                                        </p:tav>
                                      </p:tavLst>
                                    </p:anim>
                                    <p:anim calcmode="lin" valueType="num">
                                      <p:cBhvr>
                                        <p:cTn id="41" dur="1000" fill="hold"/>
                                        <p:tgtEl>
                                          <p:spTgt spid="33795">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33795">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grpId="0" nodeType="clickEffect">
                                  <p:stCondLst>
                                    <p:cond delay="0"/>
                                  </p:stCondLst>
                                  <p:childTnLst>
                                    <p:set>
                                      <p:cBhvr>
                                        <p:cTn id="46" dur="1" fill="hold">
                                          <p:stCondLst>
                                            <p:cond delay="0"/>
                                          </p:stCondLst>
                                        </p:cTn>
                                        <p:tgtEl>
                                          <p:spTgt spid="33795">
                                            <p:txEl>
                                              <p:pRg st="5" end="5"/>
                                            </p:txEl>
                                          </p:spTgt>
                                        </p:tgtEl>
                                        <p:attrNameLst>
                                          <p:attrName>style.visibility</p:attrName>
                                        </p:attrNameLst>
                                      </p:cBhvr>
                                      <p:to>
                                        <p:strVal val="visible"/>
                                      </p:to>
                                    </p:set>
                                    <p:anim calcmode="lin" valueType="num">
                                      <p:cBhvr>
                                        <p:cTn id="47" dur="1000" fill="hold"/>
                                        <p:tgtEl>
                                          <p:spTgt spid="33795">
                                            <p:txEl>
                                              <p:pRg st="5" end="5"/>
                                            </p:txEl>
                                          </p:spTgt>
                                        </p:tgtEl>
                                        <p:attrNameLst>
                                          <p:attrName>ppt_w</p:attrName>
                                        </p:attrNameLst>
                                      </p:cBhvr>
                                      <p:tavLst>
                                        <p:tav tm="0">
                                          <p:val>
                                            <p:fltVal val="0"/>
                                          </p:val>
                                        </p:tav>
                                        <p:tav tm="100000">
                                          <p:val>
                                            <p:strVal val="#ppt_w"/>
                                          </p:val>
                                        </p:tav>
                                      </p:tavLst>
                                    </p:anim>
                                    <p:anim calcmode="lin" valueType="num">
                                      <p:cBhvr>
                                        <p:cTn id="48" dur="1000" fill="hold"/>
                                        <p:tgtEl>
                                          <p:spTgt spid="33795">
                                            <p:txEl>
                                              <p:pRg st="5" end="5"/>
                                            </p:txEl>
                                          </p:spTgt>
                                        </p:tgtEl>
                                        <p:attrNameLst>
                                          <p:attrName>ppt_h</p:attrName>
                                        </p:attrNameLst>
                                      </p:cBhvr>
                                      <p:tavLst>
                                        <p:tav tm="0">
                                          <p:val>
                                            <p:fltVal val="0"/>
                                          </p:val>
                                        </p:tav>
                                        <p:tav tm="100000">
                                          <p:val>
                                            <p:strVal val="#ppt_h"/>
                                          </p:val>
                                        </p:tav>
                                      </p:tavLst>
                                    </p:anim>
                                    <p:anim calcmode="lin" valueType="num">
                                      <p:cBhvr>
                                        <p:cTn id="49" dur="1000" fill="hold"/>
                                        <p:tgtEl>
                                          <p:spTgt spid="33795">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33795">
                                            <p:txEl>
                                              <p:pRg st="5" end="5"/>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711200" y="304800"/>
            <a:ext cx="7769225" cy="1143000"/>
          </a:xfrm>
        </p:spPr>
        <p:txBody>
          <a:bodyPr/>
          <a:lstStyle/>
          <a:p>
            <a:r>
              <a:rPr lang="en-US" smtClean="0"/>
              <a:t>Bacterial Growth</a:t>
            </a:r>
          </a:p>
        </p:txBody>
      </p:sp>
      <p:sp>
        <p:nvSpPr>
          <p:cNvPr id="53251" name="Rectangle 3"/>
          <p:cNvSpPr>
            <a:spLocks noGrp="1" noChangeArrowheads="1"/>
          </p:cNvSpPr>
          <p:nvPr>
            <p:ph idx="1"/>
          </p:nvPr>
        </p:nvSpPr>
        <p:spPr>
          <a:xfrm>
            <a:off x="642938" y="1447800"/>
            <a:ext cx="7770812" cy="4800600"/>
          </a:xfrm>
        </p:spPr>
        <p:txBody>
          <a:bodyPr/>
          <a:lstStyle/>
          <a:p>
            <a:pPr marL="344488" indent="-344488" defTabSz="912813">
              <a:lnSpc>
                <a:spcPct val="90000"/>
              </a:lnSpc>
            </a:pPr>
            <a:r>
              <a:rPr lang="en-US" sz="2800" smtClean="0"/>
              <a:t>Exponential growth via </a:t>
            </a:r>
            <a:r>
              <a:rPr lang="en-US" sz="2800" b="1" smtClean="0"/>
              <a:t>binary fission</a:t>
            </a:r>
          </a:p>
          <a:p>
            <a:pPr marL="344488" indent="-344488" defTabSz="912813">
              <a:lnSpc>
                <a:spcPct val="90000"/>
              </a:lnSpc>
              <a:spcBef>
                <a:spcPct val="70000"/>
              </a:spcBef>
            </a:pPr>
            <a:r>
              <a:rPr lang="en-US" sz="2800" smtClean="0"/>
              <a:t>Generation or </a:t>
            </a:r>
            <a:r>
              <a:rPr lang="en-US" sz="2800" b="1" smtClean="0"/>
              <a:t>doubling time</a:t>
            </a:r>
            <a:r>
              <a:rPr lang="en-US" sz="2800" smtClean="0"/>
              <a:t> (from 20 min to 24 h)</a:t>
            </a:r>
          </a:p>
          <a:p>
            <a:pPr marL="344488" indent="-344488" defTabSz="912813">
              <a:lnSpc>
                <a:spcPct val="90000"/>
              </a:lnSpc>
              <a:spcBef>
                <a:spcPct val="70000"/>
              </a:spcBef>
            </a:pPr>
            <a:r>
              <a:rPr lang="en-US" sz="2800" b="1" smtClean="0"/>
              <a:t>Phases of growth</a:t>
            </a:r>
          </a:p>
          <a:p>
            <a:pPr marL="744538" lvl="1" defTabSz="912813">
              <a:lnSpc>
                <a:spcPct val="90000"/>
              </a:lnSpc>
            </a:pPr>
            <a:r>
              <a:rPr lang="en-US" sz="2400" smtClean="0"/>
              <a:t>Lag phase</a:t>
            </a:r>
          </a:p>
          <a:p>
            <a:pPr marL="744538" lvl="1" defTabSz="912813">
              <a:lnSpc>
                <a:spcPct val="90000"/>
              </a:lnSpc>
            </a:pPr>
            <a:r>
              <a:rPr lang="en-US" sz="2400" smtClean="0"/>
              <a:t>Exponential (logarithmic [log]) phase </a:t>
            </a:r>
          </a:p>
          <a:p>
            <a:pPr marL="744538" lvl="1" defTabSz="912813">
              <a:lnSpc>
                <a:spcPct val="90000"/>
              </a:lnSpc>
            </a:pPr>
            <a:r>
              <a:rPr lang="en-US" sz="2400" smtClean="0"/>
              <a:t>Stationary phase</a:t>
            </a:r>
          </a:p>
          <a:p>
            <a:pPr marL="744538" lvl="1" defTabSz="912813">
              <a:lnSpc>
                <a:spcPct val="90000"/>
              </a:lnSpc>
            </a:pPr>
            <a:r>
              <a:rPr lang="en-US" sz="2400" smtClean="0"/>
              <a:t>Death phase </a:t>
            </a:r>
          </a:p>
          <a:p>
            <a:pPr marL="344488" indent="-344488" defTabSz="912813">
              <a:lnSpc>
                <a:spcPct val="90000"/>
              </a:lnSpc>
              <a:spcBef>
                <a:spcPct val="70000"/>
              </a:spcBef>
              <a:buFontTx/>
              <a:buNone/>
            </a:pPr>
            <a:r>
              <a:rPr lang="en-US" sz="2800" smtClean="0"/>
              <a:t>Compare growth in liquid and on solid media</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1026" descr="FG06_08.JPG                                                    0001B5CF WORKAS101                      B90835D4:"/>
          <p:cNvPicPr>
            <a:picLocks noChangeAspect="1" noChangeArrowheads="1"/>
          </p:cNvPicPr>
          <p:nvPr/>
        </p:nvPicPr>
        <p:blipFill>
          <a:blip r:embed="rId3"/>
          <a:srcRect t="17561" b="18048"/>
          <a:stretch>
            <a:fillRect/>
          </a:stretch>
        </p:blipFill>
        <p:spPr bwMode="auto">
          <a:xfrm>
            <a:off x="457200" y="1752600"/>
            <a:ext cx="8229600" cy="4343400"/>
          </a:xfrm>
          <a:prstGeom prst="rect">
            <a:avLst/>
          </a:prstGeom>
          <a:noFill/>
          <a:ln w="9525">
            <a:noFill/>
            <a:miter lim="800000"/>
            <a:headEnd/>
            <a:tailEnd/>
          </a:ln>
        </p:spPr>
      </p:pic>
      <p:sp>
        <p:nvSpPr>
          <p:cNvPr id="54275" name="Text Box 1028"/>
          <p:cNvSpPr txBox="1">
            <a:spLocks noChangeArrowheads="1"/>
          </p:cNvSpPr>
          <p:nvPr/>
        </p:nvSpPr>
        <p:spPr bwMode="auto">
          <a:xfrm>
            <a:off x="2209800" y="6172200"/>
            <a:ext cx="4938713" cy="457200"/>
          </a:xfrm>
          <a:prstGeom prst="rect">
            <a:avLst/>
          </a:prstGeom>
          <a:noFill/>
          <a:ln w="9525">
            <a:noFill/>
            <a:miter lim="800000"/>
            <a:headEnd/>
            <a:tailEnd/>
          </a:ln>
        </p:spPr>
        <p:txBody>
          <a:bodyPr wrap="none">
            <a:spAutoFit/>
          </a:bodyPr>
          <a:lstStyle/>
          <a:p>
            <a:r>
              <a:rPr lang="en-US"/>
              <a:t>Exponential growth = balanced growth</a:t>
            </a:r>
          </a:p>
        </p:txBody>
      </p:sp>
      <p:sp>
        <p:nvSpPr>
          <p:cNvPr id="54276" name="Rectangle 1029"/>
          <p:cNvSpPr>
            <a:spLocks noGrp="1" noChangeArrowheads="1"/>
          </p:cNvSpPr>
          <p:nvPr>
            <p:ph type="title"/>
          </p:nvPr>
        </p:nvSpPr>
        <p:spPr>
          <a:xfrm>
            <a:off x="762000" y="304800"/>
            <a:ext cx="7772400" cy="1311275"/>
          </a:xfrm>
        </p:spPr>
        <p:txBody>
          <a:bodyPr/>
          <a:lstStyle/>
          <a:p>
            <a:r>
              <a:rPr lang="en-US" sz="4000" smtClean="0">
                <a:cs typeface="Times New Roman" pitchFamily="18" charset="0"/>
              </a:rPr>
              <a:t>Bacterial growth curve in batch culture</a:t>
            </a:r>
            <a:endParaRPr lang="en-GB" sz="4000" smtClean="0">
              <a:cs typeface="Times New Roman" pitchFamily="18" charset="0"/>
            </a:endParaRPr>
          </a:p>
        </p:txBody>
      </p:sp>
    </p:spTree>
  </p:cSld>
  <p:clrMapOvr>
    <a:masterClrMapping/>
  </p:clrMapOvr>
  <p:transition>
    <p:fade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descr="FG06_06a-b.JPG                                                 0001B5CF WORKAS101                      B90835D4:"/>
          <p:cNvPicPr>
            <a:picLocks noChangeAspect="1" noChangeArrowheads="1"/>
          </p:cNvPicPr>
          <p:nvPr/>
        </p:nvPicPr>
        <p:blipFill>
          <a:blip r:embed="rId3"/>
          <a:srcRect/>
          <a:stretch>
            <a:fillRect/>
          </a:stretch>
        </p:blipFill>
        <p:spPr bwMode="auto">
          <a:xfrm>
            <a:off x="914400" y="1292225"/>
            <a:ext cx="7410450" cy="5565775"/>
          </a:xfrm>
          <a:prstGeom prst="rect">
            <a:avLst/>
          </a:prstGeom>
          <a:noFill/>
          <a:ln w="9525">
            <a:noFill/>
            <a:miter lim="800000"/>
            <a:headEnd/>
            <a:tailEnd/>
          </a:ln>
        </p:spPr>
      </p:pic>
      <p:sp>
        <p:nvSpPr>
          <p:cNvPr id="55299" name="Rectangle 4"/>
          <p:cNvSpPr>
            <a:spLocks noGrp="1" noChangeArrowheads="1"/>
          </p:cNvSpPr>
          <p:nvPr>
            <p:ph type="title"/>
          </p:nvPr>
        </p:nvSpPr>
        <p:spPr>
          <a:xfrm>
            <a:off x="685800" y="381000"/>
            <a:ext cx="7772400" cy="762000"/>
          </a:xfrm>
        </p:spPr>
        <p:txBody>
          <a:bodyPr/>
          <a:lstStyle/>
          <a:p>
            <a:r>
              <a:rPr lang="en-GB" smtClean="0"/>
              <a:t>Bacterial growth rate</a:t>
            </a:r>
          </a:p>
        </p:txBody>
      </p:sp>
    </p:spTree>
  </p:cSld>
  <p:clrMapOvr>
    <a:masterClrMapping/>
  </p:clrMapOvr>
  <p:transition>
    <p:fade thruBlk="1"/>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descr="FG06_07a-b.JPG                                                 0001B5CF WORKAS101                      B90835D4:"/>
          <p:cNvPicPr>
            <a:picLocks noChangeAspect="1" noChangeArrowheads="1"/>
          </p:cNvPicPr>
          <p:nvPr/>
        </p:nvPicPr>
        <p:blipFill>
          <a:blip r:embed="rId3"/>
          <a:srcRect t="15768" b="17090"/>
          <a:stretch>
            <a:fillRect/>
          </a:stretch>
        </p:blipFill>
        <p:spPr bwMode="auto">
          <a:xfrm>
            <a:off x="762000" y="838200"/>
            <a:ext cx="7696200" cy="4117975"/>
          </a:xfrm>
          <a:prstGeom prst="rect">
            <a:avLst/>
          </a:prstGeom>
          <a:noFill/>
          <a:ln w="9525">
            <a:noFill/>
            <a:miter lim="800000"/>
            <a:headEnd/>
            <a:tailEnd/>
          </a:ln>
        </p:spPr>
      </p:pic>
      <p:sp>
        <p:nvSpPr>
          <p:cNvPr id="56323" name="Text Box 3"/>
          <p:cNvSpPr txBox="1">
            <a:spLocks noChangeArrowheads="1"/>
          </p:cNvSpPr>
          <p:nvPr/>
        </p:nvSpPr>
        <p:spPr bwMode="auto">
          <a:xfrm>
            <a:off x="1247775" y="209550"/>
            <a:ext cx="6735763" cy="692150"/>
          </a:xfrm>
          <a:prstGeom prst="rect">
            <a:avLst/>
          </a:prstGeom>
          <a:noFill/>
          <a:ln w="9525">
            <a:noFill/>
            <a:miter lim="800000"/>
            <a:headEnd/>
            <a:tailEnd/>
          </a:ln>
        </p:spPr>
        <p:txBody>
          <a:bodyPr wrap="none" lIns="82269" tIns="41134" rIns="82269" bIns="41134">
            <a:spAutoFit/>
          </a:bodyPr>
          <a:lstStyle/>
          <a:p>
            <a:pPr algn="ctr" defTabSz="822325"/>
            <a:r>
              <a:rPr lang="en-US" sz="4000">
                <a:solidFill>
                  <a:schemeClr val="tx2"/>
                </a:solidFill>
                <a:latin typeface="Arial Black" pitchFamily="34" charset="0"/>
              </a:rPr>
              <a:t>Calculating growth rate</a:t>
            </a:r>
          </a:p>
        </p:txBody>
      </p:sp>
      <p:sp>
        <p:nvSpPr>
          <p:cNvPr id="56324" name="Text Box 4"/>
          <p:cNvSpPr txBox="1">
            <a:spLocks noChangeArrowheads="1"/>
          </p:cNvSpPr>
          <p:nvPr/>
        </p:nvSpPr>
        <p:spPr bwMode="auto">
          <a:xfrm>
            <a:off x="304800" y="4953000"/>
            <a:ext cx="8534400" cy="760413"/>
          </a:xfrm>
          <a:prstGeom prst="rect">
            <a:avLst/>
          </a:prstGeom>
          <a:noFill/>
          <a:ln w="9525">
            <a:noFill/>
            <a:miter lim="800000"/>
            <a:headEnd/>
            <a:tailEnd/>
          </a:ln>
        </p:spPr>
        <p:txBody>
          <a:bodyPr lIns="82269" tIns="41134" rIns="82269" bIns="41134">
            <a:spAutoFit/>
          </a:bodyPr>
          <a:lstStyle/>
          <a:p>
            <a:pPr defTabSz="822325"/>
            <a:r>
              <a:rPr lang="en-US" sz="2200" b="1">
                <a:solidFill>
                  <a:schemeClr val="tx2"/>
                </a:solidFill>
              </a:rPr>
              <a:t>Generation time (g) = t/n</a:t>
            </a:r>
            <a:r>
              <a:rPr lang="en-US" sz="2200"/>
              <a:t>; where t = elapsed time (hr) and n= number of generations.	</a:t>
            </a:r>
          </a:p>
        </p:txBody>
      </p:sp>
    </p:spTree>
  </p:cSld>
  <p:clrMapOvr>
    <a:masterClrMapping/>
  </p:clrMapOvr>
  <p:transition>
    <p:fade thruBlk="1"/>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685800" y="228600"/>
            <a:ext cx="7772400" cy="762000"/>
          </a:xfrm>
        </p:spPr>
        <p:txBody>
          <a:bodyPr/>
          <a:lstStyle/>
          <a:p>
            <a:r>
              <a:rPr lang="en-GB" smtClean="0"/>
              <a:t>Generation times</a:t>
            </a:r>
          </a:p>
        </p:txBody>
      </p:sp>
      <p:sp>
        <p:nvSpPr>
          <p:cNvPr id="57347" name="Rectangle 3"/>
          <p:cNvSpPr>
            <a:spLocks noChangeArrowheads="1"/>
          </p:cNvSpPr>
          <p:nvPr/>
        </p:nvSpPr>
        <p:spPr bwMode="auto">
          <a:xfrm>
            <a:off x="1588" y="412750"/>
            <a:ext cx="9144000" cy="0"/>
          </a:xfrm>
          <a:prstGeom prst="rect">
            <a:avLst/>
          </a:prstGeom>
          <a:noFill/>
          <a:ln w="9525">
            <a:noFill/>
            <a:miter lim="800000"/>
            <a:headEnd/>
            <a:tailEnd/>
          </a:ln>
        </p:spPr>
        <p:txBody>
          <a:bodyPr>
            <a:spAutoFit/>
          </a:bodyPr>
          <a:lstStyle/>
          <a:p>
            <a:endParaRPr lang="en-US"/>
          </a:p>
        </p:txBody>
      </p:sp>
      <p:grpSp>
        <p:nvGrpSpPr>
          <p:cNvPr id="57348" name="Group 96"/>
          <p:cNvGrpSpPr>
            <a:grpSpLocks/>
          </p:cNvGrpSpPr>
          <p:nvPr/>
        </p:nvGrpSpPr>
        <p:grpSpPr bwMode="auto">
          <a:xfrm>
            <a:off x="228600" y="990600"/>
            <a:ext cx="8686800" cy="5867400"/>
            <a:chOff x="-3" y="-3"/>
            <a:chExt cx="5764" cy="3806"/>
          </a:xfrm>
        </p:grpSpPr>
        <p:grpSp>
          <p:nvGrpSpPr>
            <p:cNvPr id="57349" name="Group 94"/>
            <p:cNvGrpSpPr>
              <a:grpSpLocks/>
            </p:cNvGrpSpPr>
            <p:nvPr/>
          </p:nvGrpSpPr>
          <p:grpSpPr bwMode="auto">
            <a:xfrm>
              <a:off x="0" y="0"/>
              <a:ext cx="5758" cy="3800"/>
              <a:chOff x="0" y="0"/>
              <a:chExt cx="5758" cy="3800"/>
            </a:xfrm>
          </p:grpSpPr>
          <p:grpSp>
            <p:nvGrpSpPr>
              <p:cNvPr id="57351" name="Group 35"/>
              <p:cNvGrpSpPr>
                <a:grpSpLocks/>
              </p:cNvGrpSpPr>
              <p:nvPr/>
            </p:nvGrpSpPr>
            <p:grpSpPr bwMode="auto">
              <a:xfrm>
                <a:off x="0" y="0"/>
                <a:ext cx="1924" cy="518"/>
                <a:chOff x="0" y="0"/>
                <a:chExt cx="1924" cy="518"/>
              </a:xfrm>
            </p:grpSpPr>
            <p:sp>
              <p:nvSpPr>
                <p:cNvPr id="57439" name="Rectangle 4"/>
                <p:cNvSpPr>
                  <a:spLocks noChangeArrowheads="1"/>
                </p:cNvSpPr>
                <p:nvPr/>
              </p:nvSpPr>
              <p:spPr bwMode="auto">
                <a:xfrm>
                  <a:off x="0" y="0"/>
                  <a:ext cx="1924" cy="518"/>
                </a:xfrm>
                <a:prstGeom prst="rect">
                  <a:avLst/>
                </a:prstGeom>
                <a:noFill/>
                <a:ln w="9525">
                  <a:noFill/>
                  <a:miter lim="800000"/>
                  <a:headEnd/>
                  <a:tailEnd/>
                </a:ln>
              </p:spPr>
              <p:txBody>
                <a:bodyPr anchor="ctr"/>
                <a:lstStyle/>
                <a:p>
                  <a:r>
                    <a:rPr lang="en-US" b="1">
                      <a:solidFill>
                        <a:schemeClr val="tx2"/>
                      </a:solidFill>
                    </a:rPr>
                    <a:t>Bacterium</a:t>
                  </a:r>
                  <a:endParaRPr lang="en-US">
                    <a:solidFill>
                      <a:schemeClr val="tx2"/>
                    </a:solidFill>
                  </a:endParaRPr>
                </a:p>
              </p:txBody>
            </p:sp>
            <p:sp>
              <p:nvSpPr>
                <p:cNvPr id="57440" name="Rectangle 34"/>
                <p:cNvSpPr>
                  <a:spLocks noChangeArrowheads="1"/>
                </p:cNvSpPr>
                <p:nvPr/>
              </p:nvSpPr>
              <p:spPr bwMode="auto">
                <a:xfrm>
                  <a:off x="0" y="0"/>
                  <a:ext cx="1924" cy="518"/>
                </a:xfrm>
                <a:prstGeom prst="rect">
                  <a:avLst/>
                </a:prstGeom>
                <a:noFill/>
                <a:ln w="7">
                  <a:solidFill>
                    <a:srgbClr val="A0A0A0"/>
                  </a:solidFill>
                  <a:miter lim="800000"/>
                  <a:headEnd/>
                  <a:tailEnd/>
                </a:ln>
              </p:spPr>
              <p:txBody>
                <a:bodyPr wrap="none"/>
                <a:lstStyle/>
                <a:p>
                  <a:endParaRPr lang="en-US"/>
                </a:p>
              </p:txBody>
            </p:sp>
          </p:grpSp>
          <p:grpSp>
            <p:nvGrpSpPr>
              <p:cNvPr id="57352" name="Group 37"/>
              <p:cNvGrpSpPr>
                <a:grpSpLocks/>
              </p:cNvGrpSpPr>
              <p:nvPr/>
            </p:nvGrpSpPr>
            <p:grpSpPr bwMode="auto">
              <a:xfrm>
                <a:off x="1924" y="0"/>
                <a:ext cx="1878" cy="518"/>
                <a:chOff x="1924" y="0"/>
                <a:chExt cx="1878" cy="518"/>
              </a:xfrm>
            </p:grpSpPr>
            <p:sp>
              <p:nvSpPr>
                <p:cNvPr id="57437" name="Rectangle 5"/>
                <p:cNvSpPr>
                  <a:spLocks noChangeArrowheads="1"/>
                </p:cNvSpPr>
                <p:nvPr/>
              </p:nvSpPr>
              <p:spPr bwMode="auto">
                <a:xfrm>
                  <a:off x="1924" y="0"/>
                  <a:ext cx="1878" cy="518"/>
                </a:xfrm>
                <a:prstGeom prst="rect">
                  <a:avLst/>
                </a:prstGeom>
                <a:noFill/>
                <a:ln w="9525">
                  <a:noFill/>
                  <a:miter lim="800000"/>
                  <a:headEnd/>
                  <a:tailEnd/>
                </a:ln>
              </p:spPr>
              <p:txBody>
                <a:bodyPr anchor="ctr"/>
                <a:lstStyle/>
                <a:p>
                  <a:r>
                    <a:rPr lang="en-US" b="1">
                      <a:solidFill>
                        <a:schemeClr val="tx2"/>
                      </a:solidFill>
                    </a:rPr>
                    <a:t>Medium</a:t>
                  </a:r>
                  <a:endParaRPr lang="en-US">
                    <a:solidFill>
                      <a:schemeClr val="tx2"/>
                    </a:solidFill>
                  </a:endParaRPr>
                </a:p>
              </p:txBody>
            </p:sp>
            <p:sp>
              <p:nvSpPr>
                <p:cNvPr id="57438" name="Rectangle 36"/>
                <p:cNvSpPr>
                  <a:spLocks noChangeArrowheads="1"/>
                </p:cNvSpPr>
                <p:nvPr/>
              </p:nvSpPr>
              <p:spPr bwMode="auto">
                <a:xfrm>
                  <a:off x="1924" y="0"/>
                  <a:ext cx="1878" cy="518"/>
                </a:xfrm>
                <a:prstGeom prst="rect">
                  <a:avLst/>
                </a:prstGeom>
                <a:noFill/>
                <a:ln w="7">
                  <a:solidFill>
                    <a:srgbClr val="A0A0A0"/>
                  </a:solidFill>
                  <a:miter lim="800000"/>
                  <a:headEnd/>
                  <a:tailEnd/>
                </a:ln>
              </p:spPr>
              <p:txBody>
                <a:bodyPr wrap="none"/>
                <a:lstStyle/>
                <a:p>
                  <a:endParaRPr lang="en-US"/>
                </a:p>
              </p:txBody>
            </p:sp>
          </p:grpSp>
          <p:grpSp>
            <p:nvGrpSpPr>
              <p:cNvPr id="57353" name="Group 39"/>
              <p:cNvGrpSpPr>
                <a:grpSpLocks/>
              </p:cNvGrpSpPr>
              <p:nvPr/>
            </p:nvGrpSpPr>
            <p:grpSpPr bwMode="auto">
              <a:xfrm>
                <a:off x="3802" y="0"/>
                <a:ext cx="1956" cy="518"/>
                <a:chOff x="3802" y="0"/>
                <a:chExt cx="1956" cy="518"/>
              </a:xfrm>
            </p:grpSpPr>
            <p:sp>
              <p:nvSpPr>
                <p:cNvPr id="57435" name="Rectangle 6"/>
                <p:cNvSpPr>
                  <a:spLocks noChangeArrowheads="1"/>
                </p:cNvSpPr>
                <p:nvPr/>
              </p:nvSpPr>
              <p:spPr bwMode="auto">
                <a:xfrm>
                  <a:off x="3802" y="0"/>
                  <a:ext cx="1956" cy="518"/>
                </a:xfrm>
                <a:prstGeom prst="rect">
                  <a:avLst/>
                </a:prstGeom>
                <a:noFill/>
                <a:ln w="9525">
                  <a:noFill/>
                  <a:miter lim="800000"/>
                  <a:headEnd/>
                  <a:tailEnd/>
                </a:ln>
              </p:spPr>
              <p:txBody>
                <a:bodyPr anchor="ctr"/>
                <a:lstStyle/>
                <a:p>
                  <a:r>
                    <a:rPr lang="en-US" b="1">
                      <a:solidFill>
                        <a:schemeClr val="tx2"/>
                      </a:solidFill>
                    </a:rPr>
                    <a:t>Generation Time (minutes)</a:t>
                  </a:r>
                  <a:endParaRPr lang="en-US">
                    <a:solidFill>
                      <a:schemeClr val="tx2"/>
                    </a:solidFill>
                  </a:endParaRPr>
                </a:p>
              </p:txBody>
            </p:sp>
            <p:sp>
              <p:nvSpPr>
                <p:cNvPr id="57436" name="Rectangle 38"/>
                <p:cNvSpPr>
                  <a:spLocks noChangeArrowheads="1"/>
                </p:cNvSpPr>
                <p:nvPr/>
              </p:nvSpPr>
              <p:spPr bwMode="auto">
                <a:xfrm>
                  <a:off x="3802" y="0"/>
                  <a:ext cx="1956" cy="518"/>
                </a:xfrm>
                <a:prstGeom prst="rect">
                  <a:avLst/>
                </a:prstGeom>
                <a:noFill/>
                <a:ln w="7">
                  <a:solidFill>
                    <a:srgbClr val="A0A0A0"/>
                  </a:solidFill>
                  <a:miter lim="800000"/>
                  <a:headEnd/>
                  <a:tailEnd/>
                </a:ln>
              </p:spPr>
              <p:txBody>
                <a:bodyPr wrap="none"/>
                <a:lstStyle/>
                <a:p>
                  <a:endParaRPr lang="en-US"/>
                </a:p>
              </p:txBody>
            </p:sp>
          </p:grpSp>
          <p:grpSp>
            <p:nvGrpSpPr>
              <p:cNvPr id="57354" name="Group 41"/>
              <p:cNvGrpSpPr>
                <a:grpSpLocks/>
              </p:cNvGrpSpPr>
              <p:nvPr/>
            </p:nvGrpSpPr>
            <p:grpSpPr bwMode="auto">
              <a:xfrm>
                <a:off x="0" y="518"/>
                <a:ext cx="1924" cy="288"/>
                <a:chOff x="0" y="518"/>
                <a:chExt cx="1924" cy="288"/>
              </a:xfrm>
            </p:grpSpPr>
            <p:sp>
              <p:nvSpPr>
                <p:cNvPr id="57433" name="Rectangle 7"/>
                <p:cNvSpPr>
                  <a:spLocks noChangeArrowheads="1"/>
                </p:cNvSpPr>
                <p:nvPr/>
              </p:nvSpPr>
              <p:spPr bwMode="auto">
                <a:xfrm>
                  <a:off x="0" y="518"/>
                  <a:ext cx="1924" cy="288"/>
                </a:xfrm>
                <a:prstGeom prst="rect">
                  <a:avLst/>
                </a:prstGeom>
                <a:noFill/>
                <a:ln w="9525">
                  <a:noFill/>
                  <a:miter lim="800000"/>
                  <a:headEnd/>
                  <a:tailEnd/>
                </a:ln>
              </p:spPr>
              <p:txBody>
                <a:bodyPr anchor="ctr"/>
                <a:lstStyle/>
                <a:p>
                  <a:r>
                    <a:rPr lang="en-US" i="1"/>
                    <a:t>Escherichia coli</a:t>
                  </a:r>
                  <a:endParaRPr lang="en-US"/>
                </a:p>
              </p:txBody>
            </p:sp>
            <p:sp>
              <p:nvSpPr>
                <p:cNvPr id="57434" name="Rectangle 40"/>
                <p:cNvSpPr>
                  <a:spLocks noChangeArrowheads="1"/>
                </p:cNvSpPr>
                <p:nvPr/>
              </p:nvSpPr>
              <p:spPr bwMode="auto">
                <a:xfrm>
                  <a:off x="0" y="518"/>
                  <a:ext cx="1924" cy="288"/>
                </a:xfrm>
                <a:prstGeom prst="rect">
                  <a:avLst/>
                </a:prstGeom>
                <a:noFill/>
                <a:ln w="7">
                  <a:solidFill>
                    <a:srgbClr val="A0A0A0"/>
                  </a:solidFill>
                  <a:miter lim="800000"/>
                  <a:headEnd/>
                  <a:tailEnd/>
                </a:ln>
              </p:spPr>
              <p:txBody>
                <a:bodyPr wrap="none"/>
                <a:lstStyle/>
                <a:p>
                  <a:endParaRPr lang="en-US"/>
                </a:p>
              </p:txBody>
            </p:sp>
          </p:grpSp>
          <p:grpSp>
            <p:nvGrpSpPr>
              <p:cNvPr id="57355" name="Group 43"/>
              <p:cNvGrpSpPr>
                <a:grpSpLocks/>
              </p:cNvGrpSpPr>
              <p:nvPr/>
            </p:nvGrpSpPr>
            <p:grpSpPr bwMode="auto">
              <a:xfrm>
                <a:off x="1924" y="518"/>
                <a:ext cx="1878" cy="288"/>
                <a:chOff x="1924" y="518"/>
                <a:chExt cx="1878" cy="288"/>
              </a:xfrm>
            </p:grpSpPr>
            <p:sp>
              <p:nvSpPr>
                <p:cNvPr id="57431" name="Rectangle 8"/>
                <p:cNvSpPr>
                  <a:spLocks noChangeArrowheads="1"/>
                </p:cNvSpPr>
                <p:nvPr/>
              </p:nvSpPr>
              <p:spPr bwMode="auto">
                <a:xfrm>
                  <a:off x="1924" y="518"/>
                  <a:ext cx="1878" cy="288"/>
                </a:xfrm>
                <a:prstGeom prst="rect">
                  <a:avLst/>
                </a:prstGeom>
                <a:noFill/>
                <a:ln w="9525">
                  <a:noFill/>
                  <a:miter lim="800000"/>
                  <a:headEnd/>
                  <a:tailEnd/>
                </a:ln>
              </p:spPr>
              <p:txBody>
                <a:bodyPr anchor="ctr"/>
                <a:lstStyle/>
                <a:p>
                  <a:r>
                    <a:rPr lang="en-US"/>
                    <a:t>Glucose-salts</a:t>
                  </a:r>
                </a:p>
              </p:txBody>
            </p:sp>
            <p:sp>
              <p:nvSpPr>
                <p:cNvPr id="57432" name="Rectangle 42"/>
                <p:cNvSpPr>
                  <a:spLocks noChangeArrowheads="1"/>
                </p:cNvSpPr>
                <p:nvPr/>
              </p:nvSpPr>
              <p:spPr bwMode="auto">
                <a:xfrm>
                  <a:off x="1924" y="518"/>
                  <a:ext cx="1878" cy="288"/>
                </a:xfrm>
                <a:prstGeom prst="rect">
                  <a:avLst/>
                </a:prstGeom>
                <a:noFill/>
                <a:ln w="7">
                  <a:solidFill>
                    <a:srgbClr val="A0A0A0"/>
                  </a:solidFill>
                  <a:miter lim="800000"/>
                  <a:headEnd/>
                  <a:tailEnd/>
                </a:ln>
              </p:spPr>
              <p:txBody>
                <a:bodyPr wrap="none"/>
                <a:lstStyle/>
                <a:p>
                  <a:endParaRPr lang="en-US"/>
                </a:p>
              </p:txBody>
            </p:sp>
          </p:grpSp>
          <p:grpSp>
            <p:nvGrpSpPr>
              <p:cNvPr id="57356" name="Group 45"/>
              <p:cNvGrpSpPr>
                <a:grpSpLocks/>
              </p:cNvGrpSpPr>
              <p:nvPr/>
            </p:nvGrpSpPr>
            <p:grpSpPr bwMode="auto">
              <a:xfrm>
                <a:off x="3802" y="518"/>
                <a:ext cx="1956" cy="288"/>
                <a:chOff x="3802" y="518"/>
                <a:chExt cx="1956" cy="288"/>
              </a:xfrm>
            </p:grpSpPr>
            <p:sp>
              <p:nvSpPr>
                <p:cNvPr id="57429" name="Rectangle 9"/>
                <p:cNvSpPr>
                  <a:spLocks noChangeArrowheads="1"/>
                </p:cNvSpPr>
                <p:nvPr/>
              </p:nvSpPr>
              <p:spPr bwMode="auto">
                <a:xfrm>
                  <a:off x="3802" y="518"/>
                  <a:ext cx="1956" cy="288"/>
                </a:xfrm>
                <a:prstGeom prst="rect">
                  <a:avLst/>
                </a:prstGeom>
                <a:noFill/>
                <a:ln w="9525">
                  <a:noFill/>
                  <a:miter lim="800000"/>
                  <a:headEnd/>
                  <a:tailEnd/>
                </a:ln>
              </p:spPr>
              <p:txBody>
                <a:bodyPr anchor="ctr"/>
                <a:lstStyle/>
                <a:p>
                  <a:r>
                    <a:rPr lang="en-US"/>
                    <a:t>17</a:t>
                  </a:r>
                </a:p>
              </p:txBody>
            </p:sp>
            <p:sp>
              <p:nvSpPr>
                <p:cNvPr id="57430" name="Rectangle 44"/>
                <p:cNvSpPr>
                  <a:spLocks noChangeArrowheads="1"/>
                </p:cNvSpPr>
                <p:nvPr/>
              </p:nvSpPr>
              <p:spPr bwMode="auto">
                <a:xfrm>
                  <a:off x="3802" y="518"/>
                  <a:ext cx="1956" cy="288"/>
                </a:xfrm>
                <a:prstGeom prst="rect">
                  <a:avLst/>
                </a:prstGeom>
                <a:noFill/>
                <a:ln w="7">
                  <a:solidFill>
                    <a:srgbClr val="A0A0A0"/>
                  </a:solidFill>
                  <a:miter lim="800000"/>
                  <a:headEnd/>
                  <a:tailEnd/>
                </a:ln>
              </p:spPr>
              <p:txBody>
                <a:bodyPr wrap="none"/>
                <a:lstStyle/>
                <a:p>
                  <a:endParaRPr lang="en-US"/>
                </a:p>
              </p:txBody>
            </p:sp>
          </p:grpSp>
          <p:grpSp>
            <p:nvGrpSpPr>
              <p:cNvPr id="57357" name="Group 47"/>
              <p:cNvGrpSpPr>
                <a:grpSpLocks/>
              </p:cNvGrpSpPr>
              <p:nvPr/>
            </p:nvGrpSpPr>
            <p:grpSpPr bwMode="auto">
              <a:xfrm>
                <a:off x="0" y="806"/>
                <a:ext cx="1924" cy="288"/>
                <a:chOff x="0" y="806"/>
                <a:chExt cx="1924" cy="288"/>
              </a:xfrm>
            </p:grpSpPr>
            <p:sp>
              <p:nvSpPr>
                <p:cNvPr id="57427" name="Rectangle 10"/>
                <p:cNvSpPr>
                  <a:spLocks noChangeArrowheads="1"/>
                </p:cNvSpPr>
                <p:nvPr/>
              </p:nvSpPr>
              <p:spPr bwMode="auto">
                <a:xfrm>
                  <a:off x="0" y="806"/>
                  <a:ext cx="1924" cy="288"/>
                </a:xfrm>
                <a:prstGeom prst="rect">
                  <a:avLst/>
                </a:prstGeom>
                <a:noFill/>
                <a:ln w="9525">
                  <a:noFill/>
                  <a:miter lim="800000"/>
                  <a:headEnd/>
                  <a:tailEnd/>
                </a:ln>
              </p:spPr>
              <p:txBody>
                <a:bodyPr anchor="ctr"/>
                <a:lstStyle/>
                <a:p>
                  <a:r>
                    <a:rPr lang="en-US" i="1"/>
                    <a:t>Bacillus  megaterium</a:t>
                  </a:r>
                  <a:endParaRPr lang="en-US"/>
                </a:p>
              </p:txBody>
            </p:sp>
            <p:sp>
              <p:nvSpPr>
                <p:cNvPr id="57428" name="Rectangle 46"/>
                <p:cNvSpPr>
                  <a:spLocks noChangeArrowheads="1"/>
                </p:cNvSpPr>
                <p:nvPr/>
              </p:nvSpPr>
              <p:spPr bwMode="auto">
                <a:xfrm>
                  <a:off x="0" y="806"/>
                  <a:ext cx="1924" cy="288"/>
                </a:xfrm>
                <a:prstGeom prst="rect">
                  <a:avLst/>
                </a:prstGeom>
                <a:noFill/>
                <a:ln w="7">
                  <a:solidFill>
                    <a:srgbClr val="A0A0A0"/>
                  </a:solidFill>
                  <a:miter lim="800000"/>
                  <a:headEnd/>
                  <a:tailEnd/>
                </a:ln>
              </p:spPr>
              <p:txBody>
                <a:bodyPr wrap="none"/>
                <a:lstStyle/>
                <a:p>
                  <a:endParaRPr lang="en-US"/>
                </a:p>
              </p:txBody>
            </p:sp>
          </p:grpSp>
          <p:grpSp>
            <p:nvGrpSpPr>
              <p:cNvPr id="57358" name="Group 49"/>
              <p:cNvGrpSpPr>
                <a:grpSpLocks/>
              </p:cNvGrpSpPr>
              <p:nvPr/>
            </p:nvGrpSpPr>
            <p:grpSpPr bwMode="auto">
              <a:xfrm>
                <a:off x="1924" y="806"/>
                <a:ext cx="1878" cy="288"/>
                <a:chOff x="1924" y="806"/>
                <a:chExt cx="1878" cy="288"/>
              </a:xfrm>
            </p:grpSpPr>
            <p:sp>
              <p:nvSpPr>
                <p:cNvPr id="57425" name="Rectangle 11"/>
                <p:cNvSpPr>
                  <a:spLocks noChangeArrowheads="1"/>
                </p:cNvSpPr>
                <p:nvPr/>
              </p:nvSpPr>
              <p:spPr bwMode="auto">
                <a:xfrm>
                  <a:off x="1924" y="806"/>
                  <a:ext cx="1878" cy="288"/>
                </a:xfrm>
                <a:prstGeom prst="rect">
                  <a:avLst/>
                </a:prstGeom>
                <a:noFill/>
                <a:ln w="9525">
                  <a:noFill/>
                  <a:miter lim="800000"/>
                  <a:headEnd/>
                  <a:tailEnd/>
                </a:ln>
              </p:spPr>
              <p:txBody>
                <a:bodyPr anchor="ctr"/>
                <a:lstStyle/>
                <a:p>
                  <a:r>
                    <a:rPr lang="en-US"/>
                    <a:t>Sucrose-salts</a:t>
                  </a:r>
                </a:p>
              </p:txBody>
            </p:sp>
            <p:sp>
              <p:nvSpPr>
                <p:cNvPr id="57426" name="Rectangle 48"/>
                <p:cNvSpPr>
                  <a:spLocks noChangeArrowheads="1"/>
                </p:cNvSpPr>
                <p:nvPr/>
              </p:nvSpPr>
              <p:spPr bwMode="auto">
                <a:xfrm>
                  <a:off x="1924" y="806"/>
                  <a:ext cx="1878" cy="288"/>
                </a:xfrm>
                <a:prstGeom prst="rect">
                  <a:avLst/>
                </a:prstGeom>
                <a:noFill/>
                <a:ln w="7">
                  <a:solidFill>
                    <a:srgbClr val="A0A0A0"/>
                  </a:solidFill>
                  <a:miter lim="800000"/>
                  <a:headEnd/>
                  <a:tailEnd/>
                </a:ln>
              </p:spPr>
              <p:txBody>
                <a:bodyPr wrap="none"/>
                <a:lstStyle/>
                <a:p>
                  <a:endParaRPr lang="en-US"/>
                </a:p>
              </p:txBody>
            </p:sp>
          </p:grpSp>
          <p:grpSp>
            <p:nvGrpSpPr>
              <p:cNvPr id="57359" name="Group 51"/>
              <p:cNvGrpSpPr>
                <a:grpSpLocks/>
              </p:cNvGrpSpPr>
              <p:nvPr/>
            </p:nvGrpSpPr>
            <p:grpSpPr bwMode="auto">
              <a:xfrm>
                <a:off x="3802" y="806"/>
                <a:ext cx="1956" cy="288"/>
                <a:chOff x="3802" y="806"/>
                <a:chExt cx="1956" cy="288"/>
              </a:xfrm>
            </p:grpSpPr>
            <p:sp>
              <p:nvSpPr>
                <p:cNvPr id="57423" name="Rectangle 12"/>
                <p:cNvSpPr>
                  <a:spLocks noChangeArrowheads="1"/>
                </p:cNvSpPr>
                <p:nvPr/>
              </p:nvSpPr>
              <p:spPr bwMode="auto">
                <a:xfrm>
                  <a:off x="3802" y="806"/>
                  <a:ext cx="1956" cy="288"/>
                </a:xfrm>
                <a:prstGeom prst="rect">
                  <a:avLst/>
                </a:prstGeom>
                <a:noFill/>
                <a:ln w="9525">
                  <a:noFill/>
                  <a:miter lim="800000"/>
                  <a:headEnd/>
                  <a:tailEnd/>
                </a:ln>
              </p:spPr>
              <p:txBody>
                <a:bodyPr anchor="ctr"/>
                <a:lstStyle/>
                <a:p>
                  <a:r>
                    <a:rPr lang="en-US"/>
                    <a:t>25</a:t>
                  </a:r>
                </a:p>
              </p:txBody>
            </p:sp>
            <p:sp>
              <p:nvSpPr>
                <p:cNvPr id="57424" name="Rectangle 50"/>
                <p:cNvSpPr>
                  <a:spLocks noChangeArrowheads="1"/>
                </p:cNvSpPr>
                <p:nvPr/>
              </p:nvSpPr>
              <p:spPr bwMode="auto">
                <a:xfrm>
                  <a:off x="3802" y="806"/>
                  <a:ext cx="1956" cy="288"/>
                </a:xfrm>
                <a:prstGeom prst="rect">
                  <a:avLst/>
                </a:prstGeom>
                <a:noFill/>
                <a:ln w="7">
                  <a:solidFill>
                    <a:srgbClr val="A0A0A0"/>
                  </a:solidFill>
                  <a:miter lim="800000"/>
                  <a:headEnd/>
                  <a:tailEnd/>
                </a:ln>
              </p:spPr>
              <p:txBody>
                <a:bodyPr wrap="none"/>
                <a:lstStyle/>
                <a:p>
                  <a:endParaRPr lang="en-US"/>
                </a:p>
              </p:txBody>
            </p:sp>
          </p:grpSp>
          <p:grpSp>
            <p:nvGrpSpPr>
              <p:cNvPr id="57360" name="Group 53"/>
              <p:cNvGrpSpPr>
                <a:grpSpLocks/>
              </p:cNvGrpSpPr>
              <p:nvPr/>
            </p:nvGrpSpPr>
            <p:grpSpPr bwMode="auto">
              <a:xfrm>
                <a:off x="0" y="1094"/>
                <a:ext cx="1924" cy="288"/>
                <a:chOff x="0" y="1094"/>
                <a:chExt cx="1924" cy="288"/>
              </a:xfrm>
            </p:grpSpPr>
            <p:sp>
              <p:nvSpPr>
                <p:cNvPr id="57421" name="Rectangle 13"/>
                <p:cNvSpPr>
                  <a:spLocks noChangeArrowheads="1"/>
                </p:cNvSpPr>
                <p:nvPr/>
              </p:nvSpPr>
              <p:spPr bwMode="auto">
                <a:xfrm>
                  <a:off x="0" y="1094"/>
                  <a:ext cx="1924" cy="288"/>
                </a:xfrm>
                <a:prstGeom prst="rect">
                  <a:avLst/>
                </a:prstGeom>
                <a:noFill/>
                <a:ln w="9525">
                  <a:noFill/>
                  <a:miter lim="800000"/>
                  <a:headEnd/>
                  <a:tailEnd/>
                </a:ln>
              </p:spPr>
              <p:txBody>
                <a:bodyPr anchor="ctr"/>
                <a:lstStyle/>
                <a:p>
                  <a:r>
                    <a:rPr lang="en-US" i="1"/>
                    <a:t>Streptococcus lactis</a:t>
                  </a:r>
                  <a:endParaRPr lang="en-US"/>
                </a:p>
              </p:txBody>
            </p:sp>
            <p:sp>
              <p:nvSpPr>
                <p:cNvPr id="57422" name="Rectangle 52"/>
                <p:cNvSpPr>
                  <a:spLocks noChangeArrowheads="1"/>
                </p:cNvSpPr>
                <p:nvPr/>
              </p:nvSpPr>
              <p:spPr bwMode="auto">
                <a:xfrm>
                  <a:off x="0" y="1094"/>
                  <a:ext cx="1924" cy="288"/>
                </a:xfrm>
                <a:prstGeom prst="rect">
                  <a:avLst/>
                </a:prstGeom>
                <a:noFill/>
                <a:ln w="7">
                  <a:solidFill>
                    <a:srgbClr val="A0A0A0"/>
                  </a:solidFill>
                  <a:miter lim="800000"/>
                  <a:headEnd/>
                  <a:tailEnd/>
                </a:ln>
              </p:spPr>
              <p:txBody>
                <a:bodyPr wrap="none"/>
                <a:lstStyle/>
                <a:p>
                  <a:endParaRPr lang="en-US"/>
                </a:p>
              </p:txBody>
            </p:sp>
          </p:grpSp>
          <p:grpSp>
            <p:nvGrpSpPr>
              <p:cNvPr id="57361" name="Group 55"/>
              <p:cNvGrpSpPr>
                <a:grpSpLocks/>
              </p:cNvGrpSpPr>
              <p:nvPr/>
            </p:nvGrpSpPr>
            <p:grpSpPr bwMode="auto">
              <a:xfrm>
                <a:off x="1924" y="1094"/>
                <a:ext cx="1878" cy="288"/>
                <a:chOff x="1924" y="1094"/>
                <a:chExt cx="1878" cy="288"/>
              </a:xfrm>
            </p:grpSpPr>
            <p:sp>
              <p:nvSpPr>
                <p:cNvPr id="57419" name="Rectangle 14"/>
                <p:cNvSpPr>
                  <a:spLocks noChangeArrowheads="1"/>
                </p:cNvSpPr>
                <p:nvPr/>
              </p:nvSpPr>
              <p:spPr bwMode="auto">
                <a:xfrm>
                  <a:off x="1924" y="1094"/>
                  <a:ext cx="1878" cy="288"/>
                </a:xfrm>
                <a:prstGeom prst="rect">
                  <a:avLst/>
                </a:prstGeom>
                <a:noFill/>
                <a:ln w="9525">
                  <a:noFill/>
                  <a:miter lim="800000"/>
                  <a:headEnd/>
                  <a:tailEnd/>
                </a:ln>
              </p:spPr>
              <p:txBody>
                <a:bodyPr anchor="ctr"/>
                <a:lstStyle/>
                <a:p>
                  <a:r>
                    <a:rPr lang="en-US"/>
                    <a:t>Milk</a:t>
                  </a:r>
                </a:p>
              </p:txBody>
            </p:sp>
            <p:sp>
              <p:nvSpPr>
                <p:cNvPr id="57420" name="Rectangle 54"/>
                <p:cNvSpPr>
                  <a:spLocks noChangeArrowheads="1"/>
                </p:cNvSpPr>
                <p:nvPr/>
              </p:nvSpPr>
              <p:spPr bwMode="auto">
                <a:xfrm>
                  <a:off x="1924" y="1094"/>
                  <a:ext cx="1878" cy="288"/>
                </a:xfrm>
                <a:prstGeom prst="rect">
                  <a:avLst/>
                </a:prstGeom>
                <a:noFill/>
                <a:ln w="7">
                  <a:solidFill>
                    <a:srgbClr val="A0A0A0"/>
                  </a:solidFill>
                  <a:miter lim="800000"/>
                  <a:headEnd/>
                  <a:tailEnd/>
                </a:ln>
              </p:spPr>
              <p:txBody>
                <a:bodyPr wrap="none"/>
                <a:lstStyle/>
                <a:p>
                  <a:endParaRPr lang="en-US"/>
                </a:p>
              </p:txBody>
            </p:sp>
          </p:grpSp>
          <p:grpSp>
            <p:nvGrpSpPr>
              <p:cNvPr id="57362" name="Group 57"/>
              <p:cNvGrpSpPr>
                <a:grpSpLocks/>
              </p:cNvGrpSpPr>
              <p:nvPr/>
            </p:nvGrpSpPr>
            <p:grpSpPr bwMode="auto">
              <a:xfrm>
                <a:off x="3802" y="1094"/>
                <a:ext cx="1956" cy="288"/>
                <a:chOff x="3802" y="1094"/>
                <a:chExt cx="1956" cy="288"/>
              </a:xfrm>
            </p:grpSpPr>
            <p:sp>
              <p:nvSpPr>
                <p:cNvPr id="57417" name="Rectangle 15"/>
                <p:cNvSpPr>
                  <a:spLocks noChangeArrowheads="1"/>
                </p:cNvSpPr>
                <p:nvPr/>
              </p:nvSpPr>
              <p:spPr bwMode="auto">
                <a:xfrm>
                  <a:off x="3802" y="1094"/>
                  <a:ext cx="1956" cy="288"/>
                </a:xfrm>
                <a:prstGeom prst="rect">
                  <a:avLst/>
                </a:prstGeom>
                <a:noFill/>
                <a:ln w="9525">
                  <a:noFill/>
                  <a:miter lim="800000"/>
                  <a:headEnd/>
                  <a:tailEnd/>
                </a:ln>
              </p:spPr>
              <p:txBody>
                <a:bodyPr anchor="ctr"/>
                <a:lstStyle/>
                <a:p>
                  <a:r>
                    <a:rPr lang="en-US"/>
                    <a:t>26</a:t>
                  </a:r>
                </a:p>
              </p:txBody>
            </p:sp>
            <p:sp>
              <p:nvSpPr>
                <p:cNvPr id="57418" name="Rectangle 56"/>
                <p:cNvSpPr>
                  <a:spLocks noChangeArrowheads="1"/>
                </p:cNvSpPr>
                <p:nvPr/>
              </p:nvSpPr>
              <p:spPr bwMode="auto">
                <a:xfrm>
                  <a:off x="3802" y="1094"/>
                  <a:ext cx="1956" cy="288"/>
                </a:xfrm>
                <a:prstGeom prst="rect">
                  <a:avLst/>
                </a:prstGeom>
                <a:noFill/>
                <a:ln w="7">
                  <a:solidFill>
                    <a:srgbClr val="A0A0A0"/>
                  </a:solidFill>
                  <a:miter lim="800000"/>
                  <a:headEnd/>
                  <a:tailEnd/>
                </a:ln>
              </p:spPr>
              <p:txBody>
                <a:bodyPr wrap="none"/>
                <a:lstStyle/>
                <a:p>
                  <a:endParaRPr lang="en-US"/>
                </a:p>
              </p:txBody>
            </p:sp>
          </p:grpSp>
          <p:grpSp>
            <p:nvGrpSpPr>
              <p:cNvPr id="57363" name="Group 59"/>
              <p:cNvGrpSpPr>
                <a:grpSpLocks/>
              </p:cNvGrpSpPr>
              <p:nvPr/>
            </p:nvGrpSpPr>
            <p:grpSpPr bwMode="auto">
              <a:xfrm>
                <a:off x="0" y="1382"/>
                <a:ext cx="1924" cy="288"/>
                <a:chOff x="0" y="1382"/>
                <a:chExt cx="1924" cy="288"/>
              </a:xfrm>
            </p:grpSpPr>
            <p:sp>
              <p:nvSpPr>
                <p:cNvPr id="57415" name="Rectangle 16"/>
                <p:cNvSpPr>
                  <a:spLocks noChangeArrowheads="1"/>
                </p:cNvSpPr>
                <p:nvPr/>
              </p:nvSpPr>
              <p:spPr bwMode="auto">
                <a:xfrm>
                  <a:off x="0" y="1382"/>
                  <a:ext cx="1924" cy="288"/>
                </a:xfrm>
                <a:prstGeom prst="rect">
                  <a:avLst/>
                </a:prstGeom>
                <a:noFill/>
                <a:ln w="9525">
                  <a:noFill/>
                  <a:miter lim="800000"/>
                  <a:headEnd/>
                  <a:tailEnd/>
                </a:ln>
              </p:spPr>
              <p:txBody>
                <a:bodyPr anchor="ctr"/>
                <a:lstStyle/>
                <a:p>
                  <a:r>
                    <a:rPr lang="en-US" i="1"/>
                    <a:t>Streptococcus lactis</a:t>
                  </a:r>
                  <a:endParaRPr lang="en-US"/>
                </a:p>
              </p:txBody>
            </p:sp>
            <p:sp>
              <p:nvSpPr>
                <p:cNvPr id="57416" name="Rectangle 58"/>
                <p:cNvSpPr>
                  <a:spLocks noChangeArrowheads="1"/>
                </p:cNvSpPr>
                <p:nvPr/>
              </p:nvSpPr>
              <p:spPr bwMode="auto">
                <a:xfrm>
                  <a:off x="0" y="1382"/>
                  <a:ext cx="1924" cy="288"/>
                </a:xfrm>
                <a:prstGeom prst="rect">
                  <a:avLst/>
                </a:prstGeom>
                <a:noFill/>
                <a:ln w="7">
                  <a:solidFill>
                    <a:srgbClr val="A0A0A0"/>
                  </a:solidFill>
                  <a:miter lim="800000"/>
                  <a:headEnd/>
                  <a:tailEnd/>
                </a:ln>
              </p:spPr>
              <p:txBody>
                <a:bodyPr wrap="none"/>
                <a:lstStyle/>
                <a:p>
                  <a:endParaRPr lang="en-US"/>
                </a:p>
              </p:txBody>
            </p:sp>
          </p:grpSp>
          <p:grpSp>
            <p:nvGrpSpPr>
              <p:cNvPr id="57364" name="Group 61"/>
              <p:cNvGrpSpPr>
                <a:grpSpLocks/>
              </p:cNvGrpSpPr>
              <p:nvPr/>
            </p:nvGrpSpPr>
            <p:grpSpPr bwMode="auto">
              <a:xfrm>
                <a:off x="1924" y="1382"/>
                <a:ext cx="1878" cy="288"/>
                <a:chOff x="1924" y="1382"/>
                <a:chExt cx="1878" cy="288"/>
              </a:xfrm>
            </p:grpSpPr>
            <p:sp>
              <p:nvSpPr>
                <p:cNvPr id="57413" name="Rectangle 17"/>
                <p:cNvSpPr>
                  <a:spLocks noChangeArrowheads="1"/>
                </p:cNvSpPr>
                <p:nvPr/>
              </p:nvSpPr>
              <p:spPr bwMode="auto">
                <a:xfrm>
                  <a:off x="1924" y="1382"/>
                  <a:ext cx="1878" cy="288"/>
                </a:xfrm>
                <a:prstGeom prst="rect">
                  <a:avLst/>
                </a:prstGeom>
                <a:noFill/>
                <a:ln w="9525">
                  <a:noFill/>
                  <a:miter lim="800000"/>
                  <a:headEnd/>
                  <a:tailEnd/>
                </a:ln>
              </p:spPr>
              <p:txBody>
                <a:bodyPr anchor="ctr"/>
                <a:lstStyle/>
                <a:p>
                  <a:r>
                    <a:rPr lang="en-US"/>
                    <a:t>Lactose broth</a:t>
                  </a:r>
                </a:p>
              </p:txBody>
            </p:sp>
            <p:sp>
              <p:nvSpPr>
                <p:cNvPr id="57414" name="Rectangle 60"/>
                <p:cNvSpPr>
                  <a:spLocks noChangeArrowheads="1"/>
                </p:cNvSpPr>
                <p:nvPr/>
              </p:nvSpPr>
              <p:spPr bwMode="auto">
                <a:xfrm>
                  <a:off x="1924" y="1382"/>
                  <a:ext cx="1878" cy="288"/>
                </a:xfrm>
                <a:prstGeom prst="rect">
                  <a:avLst/>
                </a:prstGeom>
                <a:noFill/>
                <a:ln w="7">
                  <a:solidFill>
                    <a:srgbClr val="A0A0A0"/>
                  </a:solidFill>
                  <a:miter lim="800000"/>
                  <a:headEnd/>
                  <a:tailEnd/>
                </a:ln>
              </p:spPr>
              <p:txBody>
                <a:bodyPr wrap="none"/>
                <a:lstStyle/>
                <a:p>
                  <a:endParaRPr lang="en-US"/>
                </a:p>
              </p:txBody>
            </p:sp>
          </p:grpSp>
          <p:grpSp>
            <p:nvGrpSpPr>
              <p:cNvPr id="57365" name="Group 63"/>
              <p:cNvGrpSpPr>
                <a:grpSpLocks/>
              </p:cNvGrpSpPr>
              <p:nvPr/>
            </p:nvGrpSpPr>
            <p:grpSpPr bwMode="auto">
              <a:xfrm>
                <a:off x="3802" y="1382"/>
                <a:ext cx="1956" cy="288"/>
                <a:chOff x="3802" y="1382"/>
                <a:chExt cx="1956" cy="288"/>
              </a:xfrm>
            </p:grpSpPr>
            <p:sp>
              <p:nvSpPr>
                <p:cNvPr id="57411" name="Rectangle 18"/>
                <p:cNvSpPr>
                  <a:spLocks noChangeArrowheads="1"/>
                </p:cNvSpPr>
                <p:nvPr/>
              </p:nvSpPr>
              <p:spPr bwMode="auto">
                <a:xfrm>
                  <a:off x="3802" y="1382"/>
                  <a:ext cx="1956" cy="288"/>
                </a:xfrm>
                <a:prstGeom prst="rect">
                  <a:avLst/>
                </a:prstGeom>
                <a:noFill/>
                <a:ln w="9525">
                  <a:noFill/>
                  <a:miter lim="800000"/>
                  <a:headEnd/>
                  <a:tailEnd/>
                </a:ln>
              </p:spPr>
              <p:txBody>
                <a:bodyPr anchor="ctr"/>
                <a:lstStyle/>
                <a:p>
                  <a:r>
                    <a:rPr lang="en-US"/>
                    <a:t>48</a:t>
                  </a:r>
                </a:p>
              </p:txBody>
            </p:sp>
            <p:sp>
              <p:nvSpPr>
                <p:cNvPr id="57412" name="Rectangle 62"/>
                <p:cNvSpPr>
                  <a:spLocks noChangeArrowheads="1"/>
                </p:cNvSpPr>
                <p:nvPr/>
              </p:nvSpPr>
              <p:spPr bwMode="auto">
                <a:xfrm>
                  <a:off x="3802" y="1382"/>
                  <a:ext cx="1956" cy="288"/>
                </a:xfrm>
                <a:prstGeom prst="rect">
                  <a:avLst/>
                </a:prstGeom>
                <a:noFill/>
                <a:ln w="7">
                  <a:solidFill>
                    <a:srgbClr val="A0A0A0"/>
                  </a:solidFill>
                  <a:miter lim="800000"/>
                  <a:headEnd/>
                  <a:tailEnd/>
                </a:ln>
              </p:spPr>
              <p:txBody>
                <a:bodyPr wrap="none"/>
                <a:lstStyle/>
                <a:p>
                  <a:endParaRPr lang="en-US"/>
                </a:p>
              </p:txBody>
            </p:sp>
          </p:grpSp>
          <p:grpSp>
            <p:nvGrpSpPr>
              <p:cNvPr id="57366" name="Group 65"/>
              <p:cNvGrpSpPr>
                <a:grpSpLocks/>
              </p:cNvGrpSpPr>
              <p:nvPr/>
            </p:nvGrpSpPr>
            <p:grpSpPr bwMode="auto">
              <a:xfrm>
                <a:off x="0" y="1670"/>
                <a:ext cx="1924" cy="288"/>
                <a:chOff x="0" y="1670"/>
                <a:chExt cx="1924" cy="288"/>
              </a:xfrm>
            </p:grpSpPr>
            <p:sp>
              <p:nvSpPr>
                <p:cNvPr id="57409" name="Rectangle 19"/>
                <p:cNvSpPr>
                  <a:spLocks noChangeArrowheads="1"/>
                </p:cNvSpPr>
                <p:nvPr/>
              </p:nvSpPr>
              <p:spPr bwMode="auto">
                <a:xfrm>
                  <a:off x="0" y="1670"/>
                  <a:ext cx="1924" cy="288"/>
                </a:xfrm>
                <a:prstGeom prst="rect">
                  <a:avLst/>
                </a:prstGeom>
                <a:noFill/>
                <a:ln w="9525">
                  <a:noFill/>
                  <a:miter lim="800000"/>
                  <a:headEnd/>
                  <a:tailEnd/>
                </a:ln>
              </p:spPr>
              <p:txBody>
                <a:bodyPr anchor="ctr"/>
                <a:lstStyle/>
                <a:p>
                  <a:r>
                    <a:rPr lang="en-US" i="1"/>
                    <a:t>Staphylococcus aureus</a:t>
                  </a:r>
                  <a:endParaRPr lang="en-US"/>
                </a:p>
              </p:txBody>
            </p:sp>
            <p:sp>
              <p:nvSpPr>
                <p:cNvPr id="57410" name="Rectangle 64"/>
                <p:cNvSpPr>
                  <a:spLocks noChangeArrowheads="1"/>
                </p:cNvSpPr>
                <p:nvPr/>
              </p:nvSpPr>
              <p:spPr bwMode="auto">
                <a:xfrm>
                  <a:off x="0" y="1670"/>
                  <a:ext cx="1924" cy="288"/>
                </a:xfrm>
                <a:prstGeom prst="rect">
                  <a:avLst/>
                </a:prstGeom>
                <a:noFill/>
                <a:ln w="7">
                  <a:solidFill>
                    <a:srgbClr val="A0A0A0"/>
                  </a:solidFill>
                  <a:miter lim="800000"/>
                  <a:headEnd/>
                  <a:tailEnd/>
                </a:ln>
              </p:spPr>
              <p:txBody>
                <a:bodyPr wrap="none"/>
                <a:lstStyle/>
                <a:p>
                  <a:endParaRPr lang="en-US"/>
                </a:p>
              </p:txBody>
            </p:sp>
          </p:grpSp>
          <p:grpSp>
            <p:nvGrpSpPr>
              <p:cNvPr id="57367" name="Group 67"/>
              <p:cNvGrpSpPr>
                <a:grpSpLocks/>
              </p:cNvGrpSpPr>
              <p:nvPr/>
            </p:nvGrpSpPr>
            <p:grpSpPr bwMode="auto">
              <a:xfrm>
                <a:off x="1924" y="1670"/>
                <a:ext cx="1878" cy="288"/>
                <a:chOff x="1924" y="1670"/>
                <a:chExt cx="1878" cy="288"/>
              </a:xfrm>
            </p:grpSpPr>
            <p:sp>
              <p:nvSpPr>
                <p:cNvPr id="57407" name="Rectangle 20"/>
                <p:cNvSpPr>
                  <a:spLocks noChangeArrowheads="1"/>
                </p:cNvSpPr>
                <p:nvPr/>
              </p:nvSpPr>
              <p:spPr bwMode="auto">
                <a:xfrm>
                  <a:off x="1924" y="1670"/>
                  <a:ext cx="1878" cy="288"/>
                </a:xfrm>
                <a:prstGeom prst="rect">
                  <a:avLst/>
                </a:prstGeom>
                <a:noFill/>
                <a:ln w="9525">
                  <a:noFill/>
                  <a:miter lim="800000"/>
                  <a:headEnd/>
                  <a:tailEnd/>
                </a:ln>
              </p:spPr>
              <p:txBody>
                <a:bodyPr anchor="ctr"/>
                <a:lstStyle/>
                <a:p>
                  <a:r>
                    <a:rPr lang="en-US"/>
                    <a:t>Heart infusion broth</a:t>
                  </a:r>
                </a:p>
              </p:txBody>
            </p:sp>
            <p:sp>
              <p:nvSpPr>
                <p:cNvPr id="57408" name="Rectangle 66"/>
                <p:cNvSpPr>
                  <a:spLocks noChangeArrowheads="1"/>
                </p:cNvSpPr>
                <p:nvPr/>
              </p:nvSpPr>
              <p:spPr bwMode="auto">
                <a:xfrm>
                  <a:off x="1924" y="1670"/>
                  <a:ext cx="1878" cy="288"/>
                </a:xfrm>
                <a:prstGeom prst="rect">
                  <a:avLst/>
                </a:prstGeom>
                <a:noFill/>
                <a:ln w="7">
                  <a:solidFill>
                    <a:srgbClr val="A0A0A0"/>
                  </a:solidFill>
                  <a:miter lim="800000"/>
                  <a:headEnd/>
                  <a:tailEnd/>
                </a:ln>
              </p:spPr>
              <p:txBody>
                <a:bodyPr wrap="none"/>
                <a:lstStyle/>
                <a:p>
                  <a:endParaRPr lang="en-US"/>
                </a:p>
              </p:txBody>
            </p:sp>
          </p:grpSp>
          <p:grpSp>
            <p:nvGrpSpPr>
              <p:cNvPr id="57368" name="Group 69"/>
              <p:cNvGrpSpPr>
                <a:grpSpLocks/>
              </p:cNvGrpSpPr>
              <p:nvPr/>
            </p:nvGrpSpPr>
            <p:grpSpPr bwMode="auto">
              <a:xfrm>
                <a:off x="3802" y="1670"/>
                <a:ext cx="1956" cy="288"/>
                <a:chOff x="3802" y="1670"/>
                <a:chExt cx="1956" cy="288"/>
              </a:xfrm>
            </p:grpSpPr>
            <p:sp>
              <p:nvSpPr>
                <p:cNvPr id="57405" name="Rectangle 21"/>
                <p:cNvSpPr>
                  <a:spLocks noChangeArrowheads="1"/>
                </p:cNvSpPr>
                <p:nvPr/>
              </p:nvSpPr>
              <p:spPr bwMode="auto">
                <a:xfrm>
                  <a:off x="3802" y="1670"/>
                  <a:ext cx="1956" cy="288"/>
                </a:xfrm>
                <a:prstGeom prst="rect">
                  <a:avLst/>
                </a:prstGeom>
                <a:noFill/>
                <a:ln w="9525">
                  <a:noFill/>
                  <a:miter lim="800000"/>
                  <a:headEnd/>
                  <a:tailEnd/>
                </a:ln>
              </p:spPr>
              <p:txBody>
                <a:bodyPr anchor="ctr"/>
                <a:lstStyle/>
                <a:p>
                  <a:r>
                    <a:rPr lang="en-US"/>
                    <a:t>27-30</a:t>
                  </a:r>
                </a:p>
              </p:txBody>
            </p:sp>
            <p:sp>
              <p:nvSpPr>
                <p:cNvPr id="57406" name="Rectangle 68"/>
                <p:cNvSpPr>
                  <a:spLocks noChangeArrowheads="1"/>
                </p:cNvSpPr>
                <p:nvPr/>
              </p:nvSpPr>
              <p:spPr bwMode="auto">
                <a:xfrm>
                  <a:off x="3802" y="1670"/>
                  <a:ext cx="1956" cy="288"/>
                </a:xfrm>
                <a:prstGeom prst="rect">
                  <a:avLst/>
                </a:prstGeom>
                <a:noFill/>
                <a:ln w="7">
                  <a:solidFill>
                    <a:srgbClr val="A0A0A0"/>
                  </a:solidFill>
                  <a:miter lim="800000"/>
                  <a:headEnd/>
                  <a:tailEnd/>
                </a:ln>
              </p:spPr>
              <p:txBody>
                <a:bodyPr wrap="none"/>
                <a:lstStyle/>
                <a:p>
                  <a:endParaRPr lang="en-US"/>
                </a:p>
              </p:txBody>
            </p:sp>
          </p:grpSp>
          <p:grpSp>
            <p:nvGrpSpPr>
              <p:cNvPr id="57369" name="Group 71"/>
              <p:cNvGrpSpPr>
                <a:grpSpLocks/>
              </p:cNvGrpSpPr>
              <p:nvPr/>
            </p:nvGrpSpPr>
            <p:grpSpPr bwMode="auto">
              <a:xfrm>
                <a:off x="0" y="1958"/>
                <a:ext cx="1924" cy="518"/>
                <a:chOff x="0" y="1958"/>
                <a:chExt cx="1924" cy="518"/>
              </a:xfrm>
            </p:grpSpPr>
            <p:sp>
              <p:nvSpPr>
                <p:cNvPr id="57403" name="Rectangle 22"/>
                <p:cNvSpPr>
                  <a:spLocks noChangeArrowheads="1"/>
                </p:cNvSpPr>
                <p:nvPr/>
              </p:nvSpPr>
              <p:spPr bwMode="auto">
                <a:xfrm>
                  <a:off x="0" y="1958"/>
                  <a:ext cx="1924" cy="518"/>
                </a:xfrm>
                <a:prstGeom prst="rect">
                  <a:avLst/>
                </a:prstGeom>
                <a:noFill/>
                <a:ln w="9525">
                  <a:noFill/>
                  <a:miter lim="800000"/>
                  <a:headEnd/>
                  <a:tailEnd/>
                </a:ln>
              </p:spPr>
              <p:txBody>
                <a:bodyPr anchor="ctr"/>
                <a:lstStyle/>
                <a:p>
                  <a:r>
                    <a:rPr lang="en-US" i="1"/>
                    <a:t>Lactobacillus acidophilus</a:t>
                  </a:r>
                  <a:endParaRPr lang="en-US"/>
                </a:p>
              </p:txBody>
            </p:sp>
            <p:sp>
              <p:nvSpPr>
                <p:cNvPr id="57404" name="Rectangle 70"/>
                <p:cNvSpPr>
                  <a:spLocks noChangeArrowheads="1"/>
                </p:cNvSpPr>
                <p:nvPr/>
              </p:nvSpPr>
              <p:spPr bwMode="auto">
                <a:xfrm>
                  <a:off x="0" y="1958"/>
                  <a:ext cx="1924" cy="518"/>
                </a:xfrm>
                <a:prstGeom prst="rect">
                  <a:avLst/>
                </a:prstGeom>
                <a:noFill/>
                <a:ln w="7">
                  <a:solidFill>
                    <a:srgbClr val="A0A0A0"/>
                  </a:solidFill>
                  <a:miter lim="800000"/>
                  <a:headEnd/>
                  <a:tailEnd/>
                </a:ln>
              </p:spPr>
              <p:txBody>
                <a:bodyPr wrap="none"/>
                <a:lstStyle/>
                <a:p>
                  <a:endParaRPr lang="en-US"/>
                </a:p>
              </p:txBody>
            </p:sp>
          </p:grpSp>
          <p:grpSp>
            <p:nvGrpSpPr>
              <p:cNvPr id="57370" name="Group 73"/>
              <p:cNvGrpSpPr>
                <a:grpSpLocks/>
              </p:cNvGrpSpPr>
              <p:nvPr/>
            </p:nvGrpSpPr>
            <p:grpSpPr bwMode="auto">
              <a:xfrm>
                <a:off x="1924" y="1958"/>
                <a:ext cx="1878" cy="518"/>
                <a:chOff x="1924" y="1958"/>
                <a:chExt cx="1878" cy="518"/>
              </a:xfrm>
            </p:grpSpPr>
            <p:sp>
              <p:nvSpPr>
                <p:cNvPr id="57401" name="Rectangle 23"/>
                <p:cNvSpPr>
                  <a:spLocks noChangeArrowheads="1"/>
                </p:cNvSpPr>
                <p:nvPr/>
              </p:nvSpPr>
              <p:spPr bwMode="auto">
                <a:xfrm>
                  <a:off x="1924" y="1958"/>
                  <a:ext cx="1878" cy="518"/>
                </a:xfrm>
                <a:prstGeom prst="rect">
                  <a:avLst/>
                </a:prstGeom>
                <a:noFill/>
                <a:ln w="9525">
                  <a:noFill/>
                  <a:miter lim="800000"/>
                  <a:headEnd/>
                  <a:tailEnd/>
                </a:ln>
              </p:spPr>
              <p:txBody>
                <a:bodyPr anchor="ctr"/>
                <a:lstStyle/>
                <a:p>
                  <a:r>
                    <a:rPr lang="en-US"/>
                    <a:t>Milk</a:t>
                  </a:r>
                </a:p>
              </p:txBody>
            </p:sp>
            <p:sp>
              <p:nvSpPr>
                <p:cNvPr id="57402" name="Rectangle 72"/>
                <p:cNvSpPr>
                  <a:spLocks noChangeArrowheads="1"/>
                </p:cNvSpPr>
                <p:nvPr/>
              </p:nvSpPr>
              <p:spPr bwMode="auto">
                <a:xfrm>
                  <a:off x="1924" y="1958"/>
                  <a:ext cx="1878" cy="518"/>
                </a:xfrm>
                <a:prstGeom prst="rect">
                  <a:avLst/>
                </a:prstGeom>
                <a:noFill/>
                <a:ln w="7">
                  <a:solidFill>
                    <a:srgbClr val="A0A0A0"/>
                  </a:solidFill>
                  <a:miter lim="800000"/>
                  <a:headEnd/>
                  <a:tailEnd/>
                </a:ln>
              </p:spPr>
              <p:txBody>
                <a:bodyPr wrap="none"/>
                <a:lstStyle/>
                <a:p>
                  <a:endParaRPr lang="en-US"/>
                </a:p>
              </p:txBody>
            </p:sp>
          </p:grpSp>
          <p:grpSp>
            <p:nvGrpSpPr>
              <p:cNvPr id="57371" name="Group 75"/>
              <p:cNvGrpSpPr>
                <a:grpSpLocks/>
              </p:cNvGrpSpPr>
              <p:nvPr/>
            </p:nvGrpSpPr>
            <p:grpSpPr bwMode="auto">
              <a:xfrm>
                <a:off x="3802" y="1958"/>
                <a:ext cx="1956" cy="518"/>
                <a:chOff x="3802" y="1958"/>
                <a:chExt cx="1956" cy="518"/>
              </a:xfrm>
            </p:grpSpPr>
            <p:sp>
              <p:nvSpPr>
                <p:cNvPr id="57399" name="Rectangle 24"/>
                <p:cNvSpPr>
                  <a:spLocks noChangeArrowheads="1"/>
                </p:cNvSpPr>
                <p:nvPr/>
              </p:nvSpPr>
              <p:spPr bwMode="auto">
                <a:xfrm>
                  <a:off x="3802" y="1958"/>
                  <a:ext cx="1956" cy="518"/>
                </a:xfrm>
                <a:prstGeom prst="rect">
                  <a:avLst/>
                </a:prstGeom>
                <a:noFill/>
                <a:ln w="9525">
                  <a:noFill/>
                  <a:miter lim="800000"/>
                  <a:headEnd/>
                  <a:tailEnd/>
                </a:ln>
              </p:spPr>
              <p:txBody>
                <a:bodyPr anchor="ctr"/>
                <a:lstStyle/>
                <a:p>
                  <a:r>
                    <a:rPr lang="en-US"/>
                    <a:t>66-87</a:t>
                  </a:r>
                </a:p>
              </p:txBody>
            </p:sp>
            <p:sp>
              <p:nvSpPr>
                <p:cNvPr id="57400" name="Rectangle 74"/>
                <p:cNvSpPr>
                  <a:spLocks noChangeArrowheads="1"/>
                </p:cNvSpPr>
                <p:nvPr/>
              </p:nvSpPr>
              <p:spPr bwMode="auto">
                <a:xfrm>
                  <a:off x="3802" y="1958"/>
                  <a:ext cx="1956" cy="518"/>
                </a:xfrm>
                <a:prstGeom prst="rect">
                  <a:avLst/>
                </a:prstGeom>
                <a:noFill/>
                <a:ln w="7">
                  <a:solidFill>
                    <a:srgbClr val="A0A0A0"/>
                  </a:solidFill>
                  <a:miter lim="800000"/>
                  <a:headEnd/>
                  <a:tailEnd/>
                </a:ln>
              </p:spPr>
              <p:txBody>
                <a:bodyPr wrap="none"/>
                <a:lstStyle/>
                <a:p>
                  <a:endParaRPr lang="en-US"/>
                </a:p>
              </p:txBody>
            </p:sp>
          </p:grpSp>
          <p:grpSp>
            <p:nvGrpSpPr>
              <p:cNvPr id="57372" name="Group 77"/>
              <p:cNvGrpSpPr>
                <a:grpSpLocks/>
              </p:cNvGrpSpPr>
              <p:nvPr/>
            </p:nvGrpSpPr>
            <p:grpSpPr bwMode="auto">
              <a:xfrm>
                <a:off x="0" y="2476"/>
                <a:ext cx="1924" cy="518"/>
                <a:chOff x="0" y="2476"/>
                <a:chExt cx="1924" cy="518"/>
              </a:xfrm>
            </p:grpSpPr>
            <p:sp>
              <p:nvSpPr>
                <p:cNvPr id="57397" name="Rectangle 25"/>
                <p:cNvSpPr>
                  <a:spLocks noChangeArrowheads="1"/>
                </p:cNvSpPr>
                <p:nvPr/>
              </p:nvSpPr>
              <p:spPr bwMode="auto">
                <a:xfrm>
                  <a:off x="0" y="2476"/>
                  <a:ext cx="1924" cy="518"/>
                </a:xfrm>
                <a:prstGeom prst="rect">
                  <a:avLst/>
                </a:prstGeom>
                <a:noFill/>
                <a:ln w="9525">
                  <a:noFill/>
                  <a:miter lim="800000"/>
                  <a:headEnd/>
                  <a:tailEnd/>
                </a:ln>
              </p:spPr>
              <p:txBody>
                <a:bodyPr anchor="ctr"/>
                <a:lstStyle/>
                <a:p>
                  <a:r>
                    <a:rPr lang="en-US" i="1"/>
                    <a:t>Rhizobium japonicum</a:t>
                  </a:r>
                  <a:endParaRPr lang="en-US"/>
                </a:p>
              </p:txBody>
            </p:sp>
            <p:sp>
              <p:nvSpPr>
                <p:cNvPr id="57398" name="Rectangle 76"/>
                <p:cNvSpPr>
                  <a:spLocks noChangeArrowheads="1"/>
                </p:cNvSpPr>
                <p:nvPr/>
              </p:nvSpPr>
              <p:spPr bwMode="auto">
                <a:xfrm>
                  <a:off x="0" y="2476"/>
                  <a:ext cx="1924" cy="518"/>
                </a:xfrm>
                <a:prstGeom prst="rect">
                  <a:avLst/>
                </a:prstGeom>
                <a:noFill/>
                <a:ln w="7">
                  <a:solidFill>
                    <a:srgbClr val="A0A0A0"/>
                  </a:solidFill>
                  <a:miter lim="800000"/>
                  <a:headEnd/>
                  <a:tailEnd/>
                </a:ln>
              </p:spPr>
              <p:txBody>
                <a:bodyPr wrap="none"/>
                <a:lstStyle/>
                <a:p>
                  <a:endParaRPr lang="en-US"/>
                </a:p>
              </p:txBody>
            </p:sp>
          </p:grpSp>
          <p:grpSp>
            <p:nvGrpSpPr>
              <p:cNvPr id="57373" name="Group 79"/>
              <p:cNvGrpSpPr>
                <a:grpSpLocks/>
              </p:cNvGrpSpPr>
              <p:nvPr/>
            </p:nvGrpSpPr>
            <p:grpSpPr bwMode="auto">
              <a:xfrm>
                <a:off x="1924" y="2476"/>
                <a:ext cx="1878" cy="518"/>
                <a:chOff x="1924" y="2476"/>
                <a:chExt cx="1878" cy="518"/>
              </a:xfrm>
            </p:grpSpPr>
            <p:sp>
              <p:nvSpPr>
                <p:cNvPr id="57395" name="Rectangle 26"/>
                <p:cNvSpPr>
                  <a:spLocks noChangeArrowheads="1"/>
                </p:cNvSpPr>
                <p:nvPr/>
              </p:nvSpPr>
              <p:spPr bwMode="auto">
                <a:xfrm>
                  <a:off x="1924" y="2476"/>
                  <a:ext cx="1878" cy="518"/>
                </a:xfrm>
                <a:prstGeom prst="rect">
                  <a:avLst/>
                </a:prstGeom>
                <a:noFill/>
                <a:ln w="9525">
                  <a:noFill/>
                  <a:miter lim="800000"/>
                  <a:headEnd/>
                  <a:tailEnd/>
                </a:ln>
              </p:spPr>
              <p:txBody>
                <a:bodyPr anchor="ctr"/>
                <a:lstStyle/>
                <a:p>
                  <a:r>
                    <a:rPr lang="en-US"/>
                    <a:t>Mannitol-salts-yeast extract</a:t>
                  </a:r>
                </a:p>
              </p:txBody>
            </p:sp>
            <p:sp>
              <p:nvSpPr>
                <p:cNvPr id="57396" name="Rectangle 78"/>
                <p:cNvSpPr>
                  <a:spLocks noChangeArrowheads="1"/>
                </p:cNvSpPr>
                <p:nvPr/>
              </p:nvSpPr>
              <p:spPr bwMode="auto">
                <a:xfrm>
                  <a:off x="1924" y="2476"/>
                  <a:ext cx="1878" cy="518"/>
                </a:xfrm>
                <a:prstGeom prst="rect">
                  <a:avLst/>
                </a:prstGeom>
                <a:noFill/>
                <a:ln w="7">
                  <a:solidFill>
                    <a:srgbClr val="A0A0A0"/>
                  </a:solidFill>
                  <a:miter lim="800000"/>
                  <a:headEnd/>
                  <a:tailEnd/>
                </a:ln>
              </p:spPr>
              <p:txBody>
                <a:bodyPr wrap="none"/>
                <a:lstStyle/>
                <a:p>
                  <a:endParaRPr lang="en-US"/>
                </a:p>
              </p:txBody>
            </p:sp>
          </p:grpSp>
          <p:grpSp>
            <p:nvGrpSpPr>
              <p:cNvPr id="57374" name="Group 81"/>
              <p:cNvGrpSpPr>
                <a:grpSpLocks/>
              </p:cNvGrpSpPr>
              <p:nvPr/>
            </p:nvGrpSpPr>
            <p:grpSpPr bwMode="auto">
              <a:xfrm>
                <a:off x="3802" y="2476"/>
                <a:ext cx="1956" cy="518"/>
                <a:chOff x="3802" y="2476"/>
                <a:chExt cx="1956" cy="518"/>
              </a:xfrm>
            </p:grpSpPr>
            <p:sp>
              <p:nvSpPr>
                <p:cNvPr id="57393" name="Rectangle 27"/>
                <p:cNvSpPr>
                  <a:spLocks noChangeArrowheads="1"/>
                </p:cNvSpPr>
                <p:nvPr/>
              </p:nvSpPr>
              <p:spPr bwMode="auto">
                <a:xfrm>
                  <a:off x="3802" y="2476"/>
                  <a:ext cx="1956" cy="518"/>
                </a:xfrm>
                <a:prstGeom prst="rect">
                  <a:avLst/>
                </a:prstGeom>
                <a:noFill/>
                <a:ln w="9525">
                  <a:noFill/>
                  <a:miter lim="800000"/>
                  <a:headEnd/>
                  <a:tailEnd/>
                </a:ln>
              </p:spPr>
              <p:txBody>
                <a:bodyPr anchor="ctr"/>
                <a:lstStyle/>
                <a:p>
                  <a:r>
                    <a:rPr lang="en-US"/>
                    <a:t>344-461</a:t>
                  </a:r>
                </a:p>
              </p:txBody>
            </p:sp>
            <p:sp>
              <p:nvSpPr>
                <p:cNvPr id="57394" name="Rectangle 80"/>
                <p:cNvSpPr>
                  <a:spLocks noChangeArrowheads="1"/>
                </p:cNvSpPr>
                <p:nvPr/>
              </p:nvSpPr>
              <p:spPr bwMode="auto">
                <a:xfrm>
                  <a:off x="3802" y="2476"/>
                  <a:ext cx="1956" cy="518"/>
                </a:xfrm>
                <a:prstGeom prst="rect">
                  <a:avLst/>
                </a:prstGeom>
                <a:noFill/>
                <a:ln w="7">
                  <a:solidFill>
                    <a:srgbClr val="A0A0A0"/>
                  </a:solidFill>
                  <a:miter lim="800000"/>
                  <a:headEnd/>
                  <a:tailEnd/>
                </a:ln>
              </p:spPr>
              <p:txBody>
                <a:bodyPr wrap="none"/>
                <a:lstStyle/>
                <a:p>
                  <a:endParaRPr lang="en-US"/>
                </a:p>
              </p:txBody>
            </p:sp>
          </p:grpSp>
          <p:grpSp>
            <p:nvGrpSpPr>
              <p:cNvPr id="57375" name="Group 83"/>
              <p:cNvGrpSpPr>
                <a:grpSpLocks/>
              </p:cNvGrpSpPr>
              <p:nvPr/>
            </p:nvGrpSpPr>
            <p:grpSpPr bwMode="auto">
              <a:xfrm>
                <a:off x="0" y="2994"/>
                <a:ext cx="1924" cy="518"/>
                <a:chOff x="0" y="2994"/>
                <a:chExt cx="1924" cy="518"/>
              </a:xfrm>
            </p:grpSpPr>
            <p:sp>
              <p:nvSpPr>
                <p:cNvPr id="57391" name="Rectangle 28"/>
                <p:cNvSpPr>
                  <a:spLocks noChangeArrowheads="1"/>
                </p:cNvSpPr>
                <p:nvPr/>
              </p:nvSpPr>
              <p:spPr bwMode="auto">
                <a:xfrm>
                  <a:off x="0" y="2994"/>
                  <a:ext cx="1924" cy="518"/>
                </a:xfrm>
                <a:prstGeom prst="rect">
                  <a:avLst/>
                </a:prstGeom>
                <a:noFill/>
                <a:ln w="9525">
                  <a:noFill/>
                  <a:miter lim="800000"/>
                  <a:headEnd/>
                  <a:tailEnd/>
                </a:ln>
              </p:spPr>
              <p:txBody>
                <a:bodyPr anchor="ctr"/>
                <a:lstStyle/>
                <a:p>
                  <a:r>
                    <a:rPr lang="en-US" i="1"/>
                    <a:t>Mycobacterium tuberculosis</a:t>
                  </a:r>
                  <a:endParaRPr lang="en-US"/>
                </a:p>
              </p:txBody>
            </p:sp>
            <p:sp>
              <p:nvSpPr>
                <p:cNvPr id="57392" name="Rectangle 82"/>
                <p:cNvSpPr>
                  <a:spLocks noChangeArrowheads="1"/>
                </p:cNvSpPr>
                <p:nvPr/>
              </p:nvSpPr>
              <p:spPr bwMode="auto">
                <a:xfrm>
                  <a:off x="0" y="2994"/>
                  <a:ext cx="1924" cy="518"/>
                </a:xfrm>
                <a:prstGeom prst="rect">
                  <a:avLst/>
                </a:prstGeom>
                <a:noFill/>
                <a:ln w="7">
                  <a:solidFill>
                    <a:srgbClr val="A0A0A0"/>
                  </a:solidFill>
                  <a:miter lim="800000"/>
                  <a:headEnd/>
                  <a:tailEnd/>
                </a:ln>
              </p:spPr>
              <p:txBody>
                <a:bodyPr wrap="none"/>
                <a:lstStyle/>
                <a:p>
                  <a:endParaRPr lang="en-US"/>
                </a:p>
              </p:txBody>
            </p:sp>
          </p:grpSp>
          <p:grpSp>
            <p:nvGrpSpPr>
              <p:cNvPr id="57376" name="Group 85"/>
              <p:cNvGrpSpPr>
                <a:grpSpLocks/>
              </p:cNvGrpSpPr>
              <p:nvPr/>
            </p:nvGrpSpPr>
            <p:grpSpPr bwMode="auto">
              <a:xfrm>
                <a:off x="1924" y="2994"/>
                <a:ext cx="1878" cy="518"/>
                <a:chOff x="1924" y="2994"/>
                <a:chExt cx="1878" cy="518"/>
              </a:xfrm>
            </p:grpSpPr>
            <p:sp>
              <p:nvSpPr>
                <p:cNvPr id="57389" name="Rectangle 29"/>
                <p:cNvSpPr>
                  <a:spLocks noChangeArrowheads="1"/>
                </p:cNvSpPr>
                <p:nvPr/>
              </p:nvSpPr>
              <p:spPr bwMode="auto">
                <a:xfrm>
                  <a:off x="1924" y="2994"/>
                  <a:ext cx="1878" cy="518"/>
                </a:xfrm>
                <a:prstGeom prst="rect">
                  <a:avLst/>
                </a:prstGeom>
                <a:noFill/>
                <a:ln w="9525">
                  <a:noFill/>
                  <a:miter lim="800000"/>
                  <a:headEnd/>
                  <a:tailEnd/>
                </a:ln>
              </p:spPr>
              <p:txBody>
                <a:bodyPr anchor="ctr"/>
                <a:lstStyle/>
                <a:p>
                  <a:r>
                    <a:rPr lang="en-US"/>
                    <a:t>Synthetic</a:t>
                  </a:r>
                </a:p>
              </p:txBody>
            </p:sp>
            <p:sp>
              <p:nvSpPr>
                <p:cNvPr id="57390" name="Rectangle 84"/>
                <p:cNvSpPr>
                  <a:spLocks noChangeArrowheads="1"/>
                </p:cNvSpPr>
                <p:nvPr/>
              </p:nvSpPr>
              <p:spPr bwMode="auto">
                <a:xfrm>
                  <a:off x="1924" y="2994"/>
                  <a:ext cx="1878" cy="518"/>
                </a:xfrm>
                <a:prstGeom prst="rect">
                  <a:avLst/>
                </a:prstGeom>
                <a:noFill/>
                <a:ln w="7">
                  <a:solidFill>
                    <a:srgbClr val="A0A0A0"/>
                  </a:solidFill>
                  <a:miter lim="800000"/>
                  <a:headEnd/>
                  <a:tailEnd/>
                </a:ln>
              </p:spPr>
              <p:txBody>
                <a:bodyPr wrap="none"/>
                <a:lstStyle/>
                <a:p>
                  <a:endParaRPr lang="en-US"/>
                </a:p>
              </p:txBody>
            </p:sp>
          </p:grpSp>
          <p:grpSp>
            <p:nvGrpSpPr>
              <p:cNvPr id="57377" name="Group 87"/>
              <p:cNvGrpSpPr>
                <a:grpSpLocks/>
              </p:cNvGrpSpPr>
              <p:nvPr/>
            </p:nvGrpSpPr>
            <p:grpSpPr bwMode="auto">
              <a:xfrm>
                <a:off x="3802" y="2994"/>
                <a:ext cx="1956" cy="518"/>
                <a:chOff x="3802" y="2994"/>
                <a:chExt cx="1956" cy="518"/>
              </a:xfrm>
            </p:grpSpPr>
            <p:sp>
              <p:nvSpPr>
                <p:cNvPr id="57387" name="Rectangle 30"/>
                <p:cNvSpPr>
                  <a:spLocks noChangeArrowheads="1"/>
                </p:cNvSpPr>
                <p:nvPr/>
              </p:nvSpPr>
              <p:spPr bwMode="auto">
                <a:xfrm>
                  <a:off x="3802" y="2994"/>
                  <a:ext cx="1956" cy="518"/>
                </a:xfrm>
                <a:prstGeom prst="rect">
                  <a:avLst/>
                </a:prstGeom>
                <a:noFill/>
                <a:ln w="9525">
                  <a:noFill/>
                  <a:miter lim="800000"/>
                  <a:headEnd/>
                  <a:tailEnd/>
                </a:ln>
              </p:spPr>
              <p:txBody>
                <a:bodyPr anchor="ctr"/>
                <a:lstStyle/>
                <a:p>
                  <a:r>
                    <a:rPr lang="en-US"/>
                    <a:t>792-932</a:t>
                  </a:r>
                </a:p>
              </p:txBody>
            </p:sp>
            <p:sp>
              <p:nvSpPr>
                <p:cNvPr id="57388" name="Rectangle 86"/>
                <p:cNvSpPr>
                  <a:spLocks noChangeArrowheads="1"/>
                </p:cNvSpPr>
                <p:nvPr/>
              </p:nvSpPr>
              <p:spPr bwMode="auto">
                <a:xfrm>
                  <a:off x="3802" y="2994"/>
                  <a:ext cx="1956" cy="518"/>
                </a:xfrm>
                <a:prstGeom prst="rect">
                  <a:avLst/>
                </a:prstGeom>
                <a:noFill/>
                <a:ln w="7">
                  <a:solidFill>
                    <a:srgbClr val="A0A0A0"/>
                  </a:solidFill>
                  <a:miter lim="800000"/>
                  <a:headEnd/>
                  <a:tailEnd/>
                </a:ln>
              </p:spPr>
              <p:txBody>
                <a:bodyPr wrap="none"/>
                <a:lstStyle/>
                <a:p>
                  <a:endParaRPr lang="en-US"/>
                </a:p>
              </p:txBody>
            </p:sp>
          </p:grpSp>
          <p:grpSp>
            <p:nvGrpSpPr>
              <p:cNvPr id="57378" name="Group 89"/>
              <p:cNvGrpSpPr>
                <a:grpSpLocks/>
              </p:cNvGrpSpPr>
              <p:nvPr/>
            </p:nvGrpSpPr>
            <p:grpSpPr bwMode="auto">
              <a:xfrm>
                <a:off x="0" y="3512"/>
                <a:ext cx="1924" cy="288"/>
                <a:chOff x="0" y="3512"/>
                <a:chExt cx="1924" cy="288"/>
              </a:xfrm>
            </p:grpSpPr>
            <p:sp>
              <p:nvSpPr>
                <p:cNvPr id="57385" name="Rectangle 31"/>
                <p:cNvSpPr>
                  <a:spLocks noChangeArrowheads="1"/>
                </p:cNvSpPr>
                <p:nvPr/>
              </p:nvSpPr>
              <p:spPr bwMode="auto">
                <a:xfrm>
                  <a:off x="0" y="3512"/>
                  <a:ext cx="1924" cy="288"/>
                </a:xfrm>
                <a:prstGeom prst="rect">
                  <a:avLst/>
                </a:prstGeom>
                <a:noFill/>
                <a:ln w="9525">
                  <a:noFill/>
                  <a:miter lim="800000"/>
                  <a:headEnd/>
                  <a:tailEnd/>
                </a:ln>
              </p:spPr>
              <p:txBody>
                <a:bodyPr anchor="ctr"/>
                <a:lstStyle/>
                <a:p>
                  <a:r>
                    <a:rPr lang="en-US" i="1"/>
                    <a:t>Treponema pallidum</a:t>
                  </a:r>
                  <a:endParaRPr lang="en-US"/>
                </a:p>
              </p:txBody>
            </p:sp>
            <p:sp>
              <p:nvSpPr>
                <p:cNvPr id="57386" name="Rectangle 88"/>
                <p:cNvSpPr>
                  <a:spLocks noChangeArrowheads="1"/>
                </p:cNvSpPr>
                <p:nvPr/>
              </p:nvSpPr>
              <p:spPr bwMode="auto">
                <a:xfrm>
                  <a:off x="0" y="3512"/>
                  <a:ext cx="1924" cy="288"/>
                </a:xfrm>
                <a:prstGeom prst="rect">
                  <a:avLst/>
                </a:prstGeom>
                <a:noFill/>
                <a:ln w="7">
                  <a:solidFill>
                    <a:srgbClr val="A0A0A0"/>
                  </a:solidFill>
                  <a:miter lim="800000"/>
                  <a:headEnd/>
                  <a:tailEnd/>
                </a:ln>
              </p:spPr>
              <p:txBody>
                <a:bodyPr wrap="none"/>
                <a:lstStyle/>
                <a:p>
                  <a:endParaRPr lang="en-US"/>
                </a:p>
              </p:txBody>
            </p:sp>
          </p:grpSp>
          <p:grpSp>
            <p:nvGrpSpPr>
              <p:cNvPr id="57379" name="Group 91"/>
              <p:cNvGrpSpPr>
                <a:grpSpLocks/>
              </p:cNvGrpSpPr>
              <p:nvPr/>
            </p:nvGrpSpPr>
            <p:grpSpPr bwMode="auto">
              <a:xfrm>
                <a:off x="1924" y="3512"/>
                <a:ext cx="1878" cy="288"/>
                <a:chOff x="1924" y="3512"/>
                <a:chExt cx="1878" cy="288"/>
              </a:xfrm>
            </p:grpSpPr>
            <p:sp>
              <p:nvSpPr>
                <p:cNvPr id="57383" name="Rectangle 32"/>
                <p:cNvSpPr>
                  <a:spLocks noChangeArrowheads="1"/>
                </p:cNvSpPr>
                <p:nvPr/>
              </p:nvSpPr>
              <p:spPr bwMode="auto">
                <a:xfrm>
                  <a:off x="1924" y="3512"/>
                  <a:ext cx="1878" cy="288"/>
                </a:xfrm>
                <a:prstGeom prst="rect">
                  <a:avLst/>
                </a:prstGeom>
                <a:noFill/>
                <a:ln w="9525">
                  <a:noFill/>
                  <a:miter lim="800000"/>
                  <a:headEnd/>
                  <a:tailEnd/>
                </a:ln>
              </p:spPr>
              <p:txBody>
                <a:bodyPr anchor="ctr"/>
                <a:lstStyle/>
                <a:p>
                  <a:r>
                    <a:rPr lang="en-US"/>
                    <a:t>Rabbit testes</a:t>
                  </a:r>
                </a:p>
              </p:txBody>
            </p:sp>
            <p:sp>
              <p:nvSpPr>
                <p:cNvPr id="57384" name="Rectangle 90"/>
                <p:cNvSpPr>
                  <a:spLocks noChangeArrowheads="1"/>
                </p:cNvSpPr>
                <p:nvPr/>
              </p:nvSpPr>
              <p:spPr bwMode="auto">
                <a:xfrm>
                  <a:off x="1924" y="3512"/>
                  <a:ext cx="1878" cy="288"/>
                </a:xfrm>
                <a:prstGeom prst="rect">
                  <a:avLst/>
                </a:prstGeom>
                <a:noFill/>
                <a:ln w="7">
                  <a:solidFill>
                    <a:srgbClr val="A0A0A0"/>
                  </a:solidFill>
                  <a:miter lim="800000"/>
                  <a:headEnd/>
                  <a:tailEnd/>
                </a:ln>
              </p:spPr>
              <p:txBody>
                <a:bodyPr wrap="none"/>
                <a:lstStyle/>
                <a:p>
                  <a:endParaRPr lang="en-US"/>
                </a:p>
              </p:txBody>
            </p:sp>
          </p:grpSp>
          <p:grpSp>
            <p:nvGrpSpPr>
              <p:cNvPr id="57380" name="Group 93"/>
              <p:cNvGrpSpPr>
                <a:grpSpLocks/>
              </p:cNvGrpSpPr>
              <p:nvPr/>
            </p:nvGrpSpPr>
            <p:grpSpPr bwMode="auto">
              <a:xfrm>
                <a:off x="3802" y="3512"/>
                <a:ext cx="1956" cy="288"/>
                <a:chOff x="3802" y="3512"/>
                <a:chExt cx="1956" cy="288"/>
              </a:xfrm>
            </p:grpSpPr>
            <p:sp>
              <p:nvSpPr>
                <p:cNvPr id="57381" name="Rectangle 33"/>
                <p:cNvSpPr>
                  <a:spLocks noChangeArrowheads="1"/>
                </p:cNvSpPr>
                <p:nvPr/>
              </p:nvSpPr>
              <p:spPr bwMode="auto">
                <a:xfrm>
                  <a:off x="3802" y="3512"/>
                  <a:ext cx="1956" cy="288"/>
                </a:xfrm>
                <a:prstGeom prst="rect">
                  <a:avLst/>
                </a:prstGeom>
                <a:noFill/>
                <a:ln w="9525">
                  <a:noFill/>
                  <a:miter lim="800000"/>
                  <a:headEnd/>
                  <a:tailEnd/>
                </a:ln>
              </p:spPr>
              <p:txBody>
                <a:bodyPr anchor="ctr"/>
                <a:lstStyle/>
                <a:p>
                  <a:r>
                    <a:rPr lang="en-US"/>
                    <a:t>1980</a:t>
                  </a:r>
                </a:p>
              </p:txBody>
            </p:sp>
            <p:sp>
              <p:nvSpPr>
                <p:cNvPr id="57382" name="Rectangle 92"/>
                <p:cNvSpPr>
                  <a:spLocks noChangeArrowheads="1"/>
                </p:cNvSpPr>
                <p:nvPr/>
              </p:nvSpPr>
              <p:spPr bwMode="auto">
                <a:xfrm>
                  <a:off x="3802" y="3512"/>
                  <a:ext cx="1956" cy="288"/>
                </a:xfrm>
                <a:prstGeom prst="rect">
                  <a:avLst/>
                </a:prstGeom>
                <a:noFill/>
                <a:ln w="7">
                  <a:solidFill>
                    <a:srgbClr val="A0A0A0"/>
                  </a:solidFill>
                  <a:miter lim="800000"/>
                  <a:headEnd/>
                  <a:tailEnd/>
                </a:ln>
              </p:spPr>
              <p:txBody>
                <a:bodyPr wrap="none"/>
                <a:lstStyle/>
                <a:p>
                  <a:endParaRPr lang="en-US"/>
                </a:p>
              </p:txBody>
            </p:sp>
          </p:grpSp>
        </p:grpSp>
        <p:sp>
          <p:nvSpPr>
            <p:cNvPr id="57350" name="Rectangle 95"/>
            <p:cNvSpPr>
              <a:spLocks noChangeArrowheads="1"/>
            </p:cNvSpPr>
            <p:nvPr/>
          </p:nvSpPr>
          <p:spPr bwMode="auto">
            <a:xfrm>
              <a:off x="-3" y="-3"/>
              <a:ext cx="5764" cy="3806"/>
            </a:xfrm>
            <a:prstGeom prst="rect">
              <a:avLst/>
            </a:prstGeom>
            <a:noFill/>
            <a:ln w="9525">
              <a:solidFill>
                <a:srgbClr val="A0A0A0"/>
              </a:solidFill>
              <a:miter lim="800000"/>
              <a:headEnd/>
              <a:tailEnd/>
            </a:ln>
          </p:spPr>
          <p:txBody>
            <a:bodyPr wrap="none"/>
            <a:lstStyle/>
            <a:p>
              <a:endParaRPr lang="en-US"/>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smtClean="0"/>
              <a:t>Phases of Growth</a:t>
            </a:r>
          </a:p>
        </p:txBody>
      </p:sp>
      <p:sp>
        <p:nvSpPr>
          <p:cNvPr id="34819" name="Rectangle 3"/>
          <p:cNvSpPr>
            <a:spLocks noGrp="1" noChangeArrowheads="1"/>
          </p:cNvSpPr>
          <p:nvPr>
            <p:ph idx="1"/>
          </p:nvPr>
        </p:nvSpPr>
        <p:spPr/>
        <p:txBody>
          <a:bodyPr/>
          <a:lstStyle/>
          <a:p>
            <a:pPr eaLnBrk="1" hangingPunct="1"/>
            <a:r>
              <a:rPr lang="en-US" smtClean="0"/>
              <a:t>4 Phases</a:t>
            </a:r>
          </a:p>
          <a:p>
            <a:pPr eaLnBrk="1" hangingPunct="1"/>
            <a:endParaRPr lang="en-US" smtClean="0"/>
          </a:p>
          <a:p>
            <a:pPr eaLnBrk="1" hangingPunct="1"/>
            <a:r>
              <a:rPr lang="en-US" smtClean="0"/>
              <a:t>1. Lag Phase</a:t>
            </a:r>
          </a:p>
          <a:p>
            <a:pPr eaLnBrk="1" hangingPunct="1"/>
            <a:r>
              <a:rPr lang="en-US" smtClean="0"/>
              <a:t>2. Log Phase</a:t>
            </a:r>
          </a:p>
          <a:p>
            <a:pPr eaLnBrk="1" hangingPunct="1"/>
            <a:r>
              <a:rPr lang="en-US" smtClean="0"/>
              <a:t>3. Stationary Phase</a:t>
            </a:r>
          </a:p>
          <a:p>
            <a:pPr eaLnBrk="1" hangingPunct="1"/>
            <a:r>
              <a:rPr lang="en-US" smtClean="0"/>
              <a:t>4. Death Phase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8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481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481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48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smtClean="0"/>
              <a:t>1. Lag Phase</a:t>
            </a:r>
          </a:p>
        </p:txBody>
      </p:sp>
      <p:sp>
        <p:nvSpPr>
          <p:cNvPr id="35843" name="Rectangle 3"/>
          <p:cNvSpPr>
            <a:spLocks noGrp="1" noChangeArrowheads="1"/>
          </p:cNvSpPr>
          <p:nvPr>
            <p:ph idx="1"/>
          </p:nvPr>
        </p:nvSpPr>
        <p:spPr/>
        <p:txBody>
          <a:bodyPr/>
          <a:lstStyle/>
          <a:p>
            <a:pPr eaLnBrk="1" hangingPunct="1"/>
            <a:r>
              <a:rPr lang="en-US" smtClean="0"/>
              <a:t>Bacteria are first introduced into an environment or media</a:t>
            </a:r>
          </a:p>
          <a:p>
            <a:pPr eaLnBrk="1" hangingPunct="1"/>
            <a:r>
              <a:rPr lang="en-US" smtClean="0"/>
              <a:t>Bacteria are “checking out” their surroundings</a:t>
            </a:r>
          </a:p>
          <a:p>
            <a:pPr eaLnBrk="1" hangingPunct="1"/>
            <a:r>
              <a:rPr lang="en-US" smtClean="0"/>
              <a:t>cells are very active metabolically</a:t>
            </a:r>
          </a:p>
          <a:p>
            <a:pPr eaLnBrk="1" hangingPunct="1"/>
            <a:r>
              <a:rPr lang="en-US" smtClean="0"/>
              <a:t># of cells changes very little</a:t>
            </a:r>
          </a:p>
          <a:p>
            <a:pPr eaLnBrk="1" hangingPunct="1"/>
            <a:r>
              <a:rPr lang="en-US" smtClean="0"/>
              <a:t>1 hour to several days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58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58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58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58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smtClean="0"/>
              <a:t>2. Log Phase</a:t>
            </a:r>
          </a:p>
        </p:txBody>
      </p:sp>
      <p:sp>
        <p:nvSpPr>
          <p:cNvPr id="36867" name="Rectangle 3"/>
          <p:cNvSpPr>
            <a:spLocks noGrp="1" noChangeArrowheads="1"/>
          </p:cNvSpPr>
          <p:nvPr>
            <p:ph idx="1"/>
          </p:nvPr>
        </p:nvSpPr>
        <p:spPr/>
        <p:txBody>
          <a:bodyPr/>
          <a:lstStyle/>
          <a:p>
            <a:pPr eaLnBrk="1" hangingPunct="1"/>
            <a:r>
              <a:rPr lang="en-US" smtClean="0"/>
              <a:t>Rapid cell growth  (exponential growth)</a:t>
            </a:r>
          </a:p>
          <a:p>
            <a:pPr eaLnBrk="1" hangingPunct="1"/>
            <a:r>
              <a:rPr lang="en-US" smtClean="0"/>
              <a:t>population </a:t>
            </a:r>
            <a:r>
              <a:rPr lang="en-US" b="1" smtClean="0"/>
              <a:t>doubles</a:t>
            </a:r>
            <a:r>
              <a:rPr lang="en-US" smtClean="0"/>
              <a:t> every generation</a:t>
            </a:r>
          </a:p>
          <a:p>
            <a:pPr eaLnBrk="1" hangingPunct="1"/>
            <a:r>
              <a:rPr lang="en-US" smtClean="0"/>
              <a:t>microbes are sensitive to adverse conditions</a:t>
            </a:r>
          </a:p>
          <a:p>
            <a:pPr lvl="1" eaLnBrk="1" hangingPunct="1"/>
            <a:r>
              <a:rPr lang="en-US" smtClean="0"/>
              <a:t>antibiotics</a:t>
            </a:r>
          </a:p>
          <a:p>
            <a:pPr lvl="1" eaLnBrk="1" hangingPunct="1"/>
            <a:r>
              <a:rPr lang="en-US" smtClean="0"/>
              <a:t>anti-microbial agents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68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68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68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68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bldLvl="2"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371600" y="0"/>
            <a:ext cx="7772400" cy="1143000"/>
          </a:xfrm>
        </p:spPr>
        <p:txBody>
          <a:bodyPr/>
          <a:lstStyle/>
          <a:p>
            <a:pPr eaLnBrk="1" hangingPunct="1"/>
            <a:r>
              <a:rPr lang="en-US" smtClean="0"/>
              <a:t>3. Stationary Phase</a:t>
            </a:r>
          </a:p>
        </p:txBody>
      </p:sp>
      <p:sp>
        <p:nvSpPr>
          <p:cNvPr id="37891" name="Rectangle 3"/>
          <p:cNvSpPr>
            <a:spLocks noGrp="1" noChangeArrowheads="1"/>
          </p:cNvSpPr>
          <p:nvPr>
            <p:ph idx="1"/>
          </p:nvPr>
        </p:nvSpPr>
        <p:spPr>
          <a:xfrm>
            <a:off x="1371600" y="990600"/>
            <a:ext cx="7772400" cy="4724400"/>
          </a:xfrm>
        </p:spPr>
        <p:txBody>
          <a:bodyPr/>
          <a:lstStyle/>
          <a:p>
            <a:pPr eaLnBrk="1" hangingPunct="1"/>
            <a:r>
              <a:rPr lang="en-US" smtClean="0"/>
              <a:t>Death rate = rate of reproduction</a:t>
            </a:r>
          </a:p>
          <a:p>
            <a:pPr eaLnBrk="1" hangingPunct="1"/>
            <a:r>
              <a:rPr lang="en-US" smtClean="0"/>
              <a:t>cells begin to encounter environmental stress</a:t>
            </a:r>
          </a:p>
          <a:p>
            <a:pPr lvl="1" eaLnBrk="1" hangingPunct="1"/>
            <a:r>
              <a:rPr lang="en-US" smtClean="0"/>
              <a:t>lack of nutrients</a:t>
            </a:r>
          </a:p>
          <a:p>
            <a:pPr lvl="1" eaLnBrk="1" hangingPunct="1"/>
            <a:r>
              <a:rPr lang="en-US" smtClean="0"/>
              <a:t>lack of water</a:t>
            </a:r>
          </a:p>
          <a:p>
            <a:pPr lvl="1" eaLnBrk="1" hangingPunct="1"/>
            <a:r>
              <a:rPr lang="en-US" smtClean="0"/>
              <a:t>not enough space</a:t>
            </a:r>
          </a:p>
          <a:p>
            <a:pPr lvl="1" eaLnBrk="1" hangingPunct="1"/>
            <a:r>
              <a:rPr lang="en-US" smtClean="0"/>
              <a:t>metabolic wastes</a:t>
            </a:r>
          </a:p>
          <a:p>
            <a:pPr lvl="1" eaLnBrk="1" hangingPunct="1"/>
            <a:r>
              <a:rPr lang="en-US" smtClean="0"/>
              <a:t>oxygen</a:t>
            </a:r>
          </a:p>
          <a:p>
            <a:pPr lvl="1" eaLnBrk="1" hangingPunct="1"/>
            <a:r>
              <a:rPr lang="en-US" smtClean="0"/>
              <a:t>pH</a:t>
            </a:r>
          </a:p>
        </p:txBody>
      </p:sp>
      <p:sp>
        <p:nvSpPr>
          <p:cNvPr id="37892" name="Text Box 4"/>
          <p:cNvSpPr txBox="1">
            <a:spLocks noChangeArrowheads="1"/>
          </p:cNvSpPr>
          <p:nvPr/>
        </p:nvSpPr>
        <p:spPr bwMode="auto">
          <a:xfrm>
            <a:off x="1524000" y="5791200"/>
            <a:ext cx="6781800" cy="519113"/>
          </a:xfrm>
          <a:prstGeom prst="rect">
            <a:avLst/>
          </a:prstGeom>
          <a:noFill/>
          <a:ln w="12700">
            <a:noFill/>
            <a:miter lim="800000"/>
            <a:headEnd type="none" w="sm" len="sm"/>
            <a:tailEnd type="none" w="sm" len="sm"/>
          </a:ln>
        </p:spPr>
        <p:txBody>
          <a:bodyPr>
            <a:spAutoFit/>
          </a:bodyPr>
          <a:lstStyle/>
          <a:p>
            <a:pPr>
              <a:spcBef>
                <a:spcPct val="50000"/>
              </a:spcBef>
            </a:pPr>
            <a:r>
              <a:rPr lang="en-US" sz="2800"/>
              <a:t>Endospores would form now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7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7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78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78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789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789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789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3789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378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bldLvl="2" autoUpdateAnimBg="0"/>
      <p:bldP spid="37892"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smtClean="0"/>
              <a:t>4. Death Phase</a:t>
            </a:r>
          </a:p>
        </p:txBody>
      </p:sp>
      <p:sp>
        <p:nvSpPr>
          <p:cNvPr id="38915" name="Rectangle 3"/>
          <p:cNvSpPr>
            <a:spLocks noGrp="1" noChangeArrowheads="1"/>
          </p:cNvSpPr>
          <p:nvPr>
            <p:ph idx="1"/>
          </p:nvPr>
        </p:nvSpPr>
        <p:spPr/>
        <p:txBody>
          <a:bodyPr/>
          <a:lstStyle/>
          <a:p>
            <a:pPr eaLnBrk="1" hangingPunct="1"/>
            <a:r>
              <a:rPr lang="en-US" smtClean="0"/>
              <a:t>Death rate &gt; rate of reproduction</a:t>
            </a:r>
          </a:p>
          <a:p>
            <a:pPr eaLnBrk="1" hangingPunct="1"/>
            <a:r>
              <a:rPr lang="en-US" smtClean="0"/>
              <a:t>Due to limiting factors in the environment</a:t>
            </a:r>
          </a:p>
          <a:p>
            <a:pPr eaLnBrk="1" hangingPunct="1"/>
            <a:endParaRPr lang="en-US" smtClean="0"/>
          </a:p>
          <a:p>
            <a:pPr eaLnBrk="1" hangingPunct="1"/>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89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smtClean="0"/>
              <a:t>Enumeration of Bacteria</a:t>
            </a:r>
          </a:p>
        </p:txBody>
      </p:sp>
      <p:sp>
        <p:nvSpPr>
          <p:cNvPr id="39939" name="Rectangle 3"/>
          <p:cNvSpPr>
            <a:spLocks noGrp="1" noChangeArrowheads="1"/>
          </p:cNvSpPr>
          <p:nvPr>
            <p:ph idx="1"/>
          </p:nvPr>
        </p:nvSpPr>
        <p:spPr/>
        <p:txBody>
          <a:bodyPr/>
          <a:lstStyle/>
          <a:p>
            <a:pPr eaLnBrk="1" hangingPunct="1"/>
            <a:r>
              <a:rPr lang="en-US" smtClean="0"/>
              <a:t>Turbid culture  -  </a:t>
            </a:r>
            <a:r>
              <a:rPr lang="en-US" sz="2400" smtClean="0"/>
              <a:t>10 million bacterial cells per ml</a:t>
            </a:r>
            <a:endParaRPr lang="en-US" smtClean="0"/>
          </a:p>
          <a:p>
            <a:pPr eaLnBrk="1" hangingPunct="1"/>
            <a:endParaRPr lang="en-US" smtClean="0"/>
          </a:p>
          <a:p>
            <a:pPr eaLnBrk="1" hangingPunct="1"/>
            <a:r>
              <a:rPr lang="en-US" smtClean="0"/>
              <a:t>Serial Dilution</a:t>
            </a:r>
            <a:endParaRPr lang="en-US"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9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99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4"/>
          <p:cNvSpPr txBox="1">
            <a:spLocks noChangeArrowheads="1"/>
          </p:cNvSpPr>
          <p:nvPr/>
        </p:nvSpPr>
        <p:spPr bwMode="auto">
          <a:xfrm>
            <a:off x="609600" y="228600"/>
            <a:ext cx="8077200" cy="1311275"/>
          </a:xfrm>
          <a:prstGeom prst="rect">
            <a:avLst/>
          </a:prstGeom>
          <a:noFill/>
          <a:ln w="9525">
            <a:noFill/>
            <a:miter lim="800000"/>
            <a:headEnd/>
            <a:tailEnd/>
          </a:ln>
        </p:spPr>
        <p:txBody>
          <a:bodyPr>
            <a:spAutoFit/>
          </a:bodyPr>
          <a:lstStyle/>
          <a:p>
            <a:pPr>
              <a:spcBef>
                <a:spcPct val="50000"/>
              </a:spcBef>
            </a:pPr>
            <a:r>
              <a:rPr lang="en-US" sz="4000">
                <a:solidFill>
                  <a:schemeClr val="accent2"/>
                </a:solidFill>
                <a:latin typeface="Comic Sans MS" pitchFamily="66" charset="0"/>
              </a:rPr>
              <a:t>Enumeration of soil microbial population:</a:t>
            </a:r>
          </a:p>
        </p:txBody>
      </p:sp>
      <p:sp>
        <p:nvSpPr>
          <p:cNvPr id="64515" name="Text Box 5"/>
          <p:cNvSpPr txBox="1">
            <a:spLocks noChangeArrowheads="1"/>
          </p:cNvSpPr>
          <p:nvPr/>
        </p:nvSpPr>
        <p:spPr bwMode="auto">
          <a:xfrm>
            <a:off x="762000" y="1547813"/>
            <a:ext cx="8382000" cy="4246562"/>
          </a:xfrm>
          <a:prstGeom prst="rect">
            <a:avLst/>
          </a:prstGeom>
          <a:noFill/>
          <a:ln w="9525">
            <a:noFill/>
            <a:miter lim="800000"/>
            <a:headEnd/>
            <a:tailEnd/>
          </a:ln>
        </p:spPr>
        <p:txBody>
          <a:bodyPr>
            <a:spAutoFit/>
          </a:bodyPr>
          <a:lstStyle/>
          <a:p>
            <a:pPr>
              <a:spcBef>
                <a:spcPct val="50000"/>
              </a:spcBef>
              <a:buClr>
                <a:srgbClr val="3333FF"/>
              </a:buClr>
            </a:pPr>
            <a:r>
              <a:rPr lang="en-US">
                <a:latin typeface="Calibri" pitchFamily="34" charset="0"/>
              </a:rPr>
              <a:t> </a:t>
            </a:r>
            <a:r>
              <a:rPr lang="en-US" sz="3600">
                <a:latin typeface="Calibri" pitchFamily="34" charset="0"/>
              </a:rPr>
              <a:t>Soil microbial distribution is  extremely heterogeneous.</a:t>
            </a:r>
          </a:p>
          <a:p>
            <a:pPr>
              <a:spcBef>
                <a:spcPct val="50000"/>
              </a:spcBef>
              <a:buClr>
                <a:srgbClr val="3333FF"/>
              </a:buClr>
            </a:pPr>
            <a:r>
              <a:rPr lang="en-US" sz="3600">
                <a:latin typeface="Calibri" pitchFamily="34" charset="0"/>
              </a:rPr>
              <a:t> When enumerating the soil microbes  we have to take following precautions</a:t>
            </a:r>
            <a:r>
              <a:rPr lang="en-US" sz="2800">
                <a:latin typeface="Calibri" pitchFamily="34" charset="0"/>
              </a:rPr>
              <a:t>.</a:t>
            </a:r>
          </a:p>
          <a:p>
            <a:pPr lvl="1">
              <a:spcBef>
                <a:spcPct val="50000"/>
              </a:spcBef>
              <a:buClr>
                <a:srgbClr val="3333FF"/>
              </a:buClr>
            </a:pPr>
            <a:r>
              <a:rPr lang="en-US" sz="3600">
                <a:latin typeface="Calibri" pitchFamily="34" charset="0"/>
              </a:rPr>
              <a:t> take soil samples as much as possible </a:t>
            </a:r>
          </a:p>
          <a:p>
            <a:pPr lvl="1">
              <a:spcBef>
                <a:spcPct val="50000"/>
              </a:spcBef>
              <a:buClr>
                <a:srgbClr val="3333FF"/>
              </a:buClr>
            </a:pPr>
            <a:r>
              <a:rPr lang="en-US" sz="3600">
                <a:latin typeface="Calibri" pitchFamily="34" charset="0"/>
              </a:rPr>
              <a:t>different growth media to grow them</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p:cNvGraphicFramePr>
            <a:graphicFrameLocks noChangeAspect="1"/>
          </p:cNvGraphicFramePr>
          <p:nvPr/>
        </p:nvGraphicFramePr>
        <p:xfrm>
          <a:off x="2286000" y="1676400"/>
          <a:ext cx="5105400" cy="4872038"/>
        </p:xfrm>
        <a:graphic>
          <a:graphicData uri="http://schemas.openxmlformats.org/presentationml/2006/ole">
            <mc:AlternateContent xmlns:mc="http://schemas.openxmlformats.org/markup-compatibility/2006">
              <mc:Choice xmlns:v="urn:schemas-microsoft-com:vml" Requires="v">
                <p:oleObj spid="_x0000_s3078" name="Photo Editor Photo" r:id="rId3" imgW="9980952" imgH="9523810" progId="">
                  <p:embed/>
                </p:oleObj>
              </mc:Choice>
              <mc:Fallback>
                <p:oleObj name="Photo Editor Photo" r:id="rId3" imgW="9980952" imgH="952381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676400"/>
                        <a:ext cx="5105400" cy="487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5" name="Text Box 3"/>
          <p:cNvSpPr txBox="1">
            <a:spLocks noChangeArrowheads="1"/>
          </p:cNvSpPr>
          <p:nvPr/>
        </p:nvSpPr>
        <p:spPr bwMode="auto">
          <a:xfrm>
            <a:off x="1676400" y="762000"/>
            <a:ext cx="6096000" cy="457200"/>
          </a:xfrm>
          <a:prstGeom prst="rect">
            <a:avLst/>
          </a:prstGeom>
          <a:noFill/>
          <a:ln w="12700">
            <a:noFill/>
            <a:miter lim="800000"/>
            <a:headEnd type="none" w="sm" len="sm"/>
            <a:tailEnd type="none" w="sm" len="sm"/>
          </a:ln>
        </p:spPr>
        <p:txBody>
          <a:bodyPr>
            <a:spAutoFit/>
          </a:bodyPr>
          <a:lstStyle/>
          <a:p>
            <a:pPr>
              <a:spcBef>
                <a:spcPct val="50000"/>
              </a:spcBef>
            </a:pPr>
            <a:r>
              <a:rPr lang="en-US" b="1">
                <a:latin typeface="Calibri" pitchFamily="34" charset="0"/>
              </a:rPr>
              <a:t>STANDARD PLATE COUNT TECHNIQUE</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026"/>
          <p:cNvSpPr>
            <a:spLocks noGrp="1" noChangeArrowheads="1"/>
          </p:cNvSpPr>
          <p:nvPr>
            <p:ph type="title"/>
          </p:nvPr>
        </p:nvSpPr>
        <p:spPr/>
        <p:txBody>
          <a:bodyPr/>
          <a:lstStyle/>
          <a:p>
            <a:pPr eaLnBrk="1" hangingPunct="1"/>
            <a:r>
              <a:rPr lang="en-US" smtClean="0"/>
              <a:t>Ecological Concepts</a:t>
            </a:r>
          </a:p>
        </p:txBody>
      </p:sp>
      <p:sp>
        <p:nvSpPr>
          <p:cNvPr id="65539" name="Rectangle 1027"/>
          <p:cNvSpPr>
            <a:spLocks noGrp="1" noChangeArrowheads="1"/>
          </p:cNvSpPr>
          <p:nvPr>
            <p:ph idx="1"/>
          </p:nvPr>
        </p:nvSpPr>
        <p:spPr/>
        <p:txBody>
          <a:bodyPr/>
          <a:lstStyle/>
          <a:p>
            <a:pPr eaLnBrk="1" hangingPunct="1"/>
            <a:endParaRPr lang="en-US" sz="2300" smtClean="0">
              <a:latin typeface="Arial" charset="0"/>
            </a:endParaRPr>
          </a:p>
          <a:p>
            <a:pPr eaLnBrk="1" hangingPunct="1"/>
            <a:r>
              <a:rPr lang="en-US" smtClean="0">
                <a:latin typeface="Arial" charset="0"/>
              </a:rPr>
              <a:t>Microbes account for ~ 50% of all biomass on Earth</a:t>
            </a:r>
          </a:p>
          <a:p>
            <a:pPr lvl="1" eaLnBrk="1" hangingPunct="1"/>
            <a:r>
              <a:rPr lang="en-US" smtClean="0">
                <a:latin typeface="Arial" charset="0"/>
              </a:rPr>
              <a:t>They are ubiquitous on the surface and deep within the earth</a:t>
            </a:r>
          </a:p>
          <a:p>
            <a:pPr eaLnBrk="1" hangingPunct="1">
              <a:buFont typeface="Wingdings" pitchFamily="2" charset="2"/>
              <a:buNone/>
            </a:pPr>
            <a:endParaRPr lang="en-US" smtClean="0">
              <a:latin typeface="Arial"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smtClean="0"/>
              <a:t>Ecological Concepts</a:t>
            </a:r>
          </a:p>
        </p:txBody>
      </p:sp>
      <p:sp>
        <p:nvSpPr>
          <p:cNvPr id="66563" name="Rectangle 3"/>
          <p:cNvSpPr>
            <a:spLocks noGrp="1" noChangeArrowheads="1"/>
          </p:cNvSpPr>
          <p:nvPr>
            <p:ph idx="1"/>
          </p:nvPr>
        </p:nvSpPr>
        <p:spPr>
          <a:xfrm>
            <a:off x="442913" y="1087438"/>
            <a:ext cx="8204200" cy="5184775"/>
          </a:xfrm>
        </p:spPr>
        <p:txBody>
          <a:bodyPr/>
          <a:lstStyle/>
          <a:p>
            <a:pPr eaLnBrk="1" hangingPunct="1"/>
            <a:r>
              <a:rPr lang="en-US" sz="2700" i="1" u="sng" smtClean="0">
                <a:latin typeface="Arial" charset="0"/>
              </a:rPr>
              <a:t>Population</a:t>
            </a:r>
            <a:endParaRPr lang="en-US" sz="2200" smtClean="0"/>
          </a:p>
          <a:p>
            <a:pPr marL="611188" lvl="1" eaLnBrk="1" hangingPunct="1"/>
            <a:r>
              <a:rPr lang="en-US" sz="2200" smtClean="0"/>
              <a:t>A collection of organisms of the same species living within a localized area.</a:t>
            </a:r>
          </a:p>
          <a:p>
            <a:pPr eaLnBrk="1" hangingPunct="1"/>
            <a:r>
              <a:rPr lang="en-US" sz="2700" i="1" u="sng" smtClean="0">
                <a:latin typeface="Arial" charset="0"/>
              </a:rPr>
              <a:t>Ecosystem</a:t>
            </a:r>
            <a:endParaRPr lang="en-US" sz="2700" smtClean="0">
              <a:latin typeface="Arial" charset="0"/>
            </a:endParaRPr>
          </a:p>
          <a:p>
            <a:pPr marL="611188" lvl="1" eaLnBrk="1" hangingPunct="1"/>
            <a:r>
              <a:rPr lang="en-US" sz="2200" smtClean="0">
                <a:latin typeface="Arial" charset="0"/>
              </a:rPr>
              <a:t>The sum total of all organisms and abiotic factors in a particular environment </a:t>
            </a:r>
          </a:p>
          <a:p>
            <a:pPr eaLnBrk="1" hangingPunct="1"/>
            <a:r>
              <a:rPr lang="en-US" sz="2700" i="1" u="sng" smtClean="0">
                <a:latin typeface="Arial" charset="0"/>
              </a:rPr>
              <a:t>Habitat</a:t>
            </a:r>
            <a:endParaRPr lang="en-US" sz="2700" smtClean="0">
              <a:latin typeface="Arial" charset="0"/>
            </a:endParaRPr>
          </a:p>
          <a:p>
            <a:pPr marL="611188" lvl="1" eaLnBrk="1" hangingPunct="1"/>
            <a:r>
              <a:rPr lang="en-US" sz="2200" smtClean="0">
                <a:latin typeface="Arial" charset="0"/>
              </a:rPr>
              <a:t>Portion of an ecosystem where a microbial community could reside</a:t>
            </a:r>
          </a:p>
          <a:p>
            <a:pPr eaLnBrk="1" hangingPunct="1"/>
            <a:r>
              <a:rPr lang="en-US" sz="2200" smtClean="0">
                <a:latin typeface="Arial" charset="0"/>
              </a:rPr>
              <a:t>An ecosystem contains many different habitats</a:t>
            </a:r>
          </a:p>
          <a:p>
            <a:pPr eaLnBrk="1" hangingPunct="1">
              <a:buFont typeface="Wingdings" pitchFamily="2" charset="2"/>
              <a:buNone/>
            </a:pPr>
            <a:endParaRPr lang="en-US" sz="2200" smtClean="0">
              <a:latin typeface="Arial"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title"/>
          </p:nvPr>
        </p:nvSpPr>
        <p:spPr/>
        <p:txBody>
          <a:bodyPr/>
          <a:lstStyle/>
          <a:p>
            <a:pPr eaLnBrk="1" hangingPunct="1"/>
            <a:r>
              <a:rPr lang="en-US" smtClean="0"/>
              <a:t>Ecological Concepts</a:t>
            </a:r>
          </a:p>
        </p:txBody>
      </p:sp>
      <p:sp>
        <p:nvSpPr>
          <p:cNvPr id="67587" name="Rectangle 1027"/>
          <p:cNvSpPr>
            <a:spLocks noGrp="1" noChangeArrowheads="1"/>
          </p:cNvSpPr>
          <p:nvPr>
            <p:ph idx="1"/>
          </p:nvPr>
        </p:nvSpPr>
        <p:spPr>
          <a:xfrm>
            <a:off x="428625" y="995363"/>
            <a:ext cx="8204200" cy="5321300"/>
          </a:xfrm>
        </p:spPr>
        <p:txBody>
          <a:bodyPr/>
          <a:lstStyle/>
          <a:p>
            <a:pPr eaLnBrk="1" hangingPunct="1">
              <a:lnSpc>
                <a:spcPct val="140000"/>
              </a:lnSpc>
            </a:pPr>
            <a:r>
              <a:rPr lang="en-US" sz="2700" smtClean="0">
                <a:latin typeface="Arial" charset="0"/>
              </a:rPr>
              <a:t>Many microbes establish relationships with other organisms (symbioses) </a:t>
            </a:r>
          </a:p>
          <a:p>
            <a:pPr lvl="1" eaLnBrk="1" hangingPunct="1">
              <a:lnSpc>
                <a:spcPct val="140000"/>
              </a:lnSpc>
            </a:pPr>
            <a:r>
              <a:rPr lang="en-US" sz="2300" i="1" u="sng" smtClean="0">
                <a:latin typeface="Arial" charset="0"/>
              </a:rPr>
              <a:t>Parasitism</a:t>
            </a:r>
            <a:endParaRPr lang="en-US" sz="2300" smtClean="0">
              <a:latin typeface="Arial" charset="0"/>
            </a:endParaRPr>
          </a:p>
          <a:p>
            <a:pPr lvl="2" eaLnBrk="1" hangingPunct="1">
              <a:lnSpc>
                <a:spcPct val="140000"/>
              </a:lnSpc>
            </a:pPr>
            <a:r>
              <a:rPr lang="en-US" sz="2000" smtClean="0">
                <a:latin typeface="Arial" charset="0"/>
              </a:rPr>
              <a:t>One member in the relationship is harmed and the other benefits</a:t>
            </a:r>
          </a:p>
          <a:p>
            <a:pPr lvl="1" eaLnBrk="1" hangingPunct="1">
              <a:lnSpc>
                <a:spcPct val="140000"/>
              </a:lnSpc>
            </a:pPr>
            <a:r>
              <a:rPr lang="en-US" sz="2300" i="1" u="sng" smtClean="0">
                <a:latin typeface="Arial" charset="0"/>
              </a:rPr>
              <a:t>Mutualism</a:t>
            </a:r>
            <a:endParaRPr lang="en-US" sz="2300" smtClean="0">
              <a:latin typeface="Arial" charset="0"/>
            </a:endParaRPr>
          </a:p>
          <a:p>
            <a:pPr lvl="2" eaLnBrk="1" hangingPunct="1">
              <a:lnSpc>
                <a:spcPct val="140000"/>
              </a:lnSpc>
            </a:pPr>
            <a:r>
              <a:rPr lang="en-US" sz="2000" smtClean="0">
                <a:latin typeface="Arial" charset="0"/>
              </a:rPr>
              <a:t>Both species benefit</a:t>
            </a:r>
          </a:p>
          <a:p>
            <a:pPr lvl="1" eaLnBrk="1" hangingPunct="1">
              <a:lnSpc>
                <a:spcPct val="140000"/>
              </a:lnSpc>
            </a:pPr>
            <a:r>
              <a:rPr lang="en-US" sz="2300" i="1" u="sng" smtClean="0">
                <a:latin typeface="Arial" charset="0"/>
              </a:rPr>
              <a:t>Commensalism</a:t>
            </a:r>
            <a:endParaRPr lang="en-US" sz="2300" smtClean="0">
              <a:latin typeface="Arial" charset="0"/>
            </a:endParaRPr>
          </a:p>
          <a:p>
            <a:pPr lvl="2" eaLnBrk="1" hangingPunct="1">
              <a:lnSpc>
                <a:spcPct val="140000"/>
              </a:lnSpc>
            </a:pPr>
            <a:r>
              <a:rPr lang="en-US" sz="2000" smtClean="0">
                <a:latin typeface="Arial" charset="0"/>
              </a:rPr>
              <a:t>One species benefits and the other is neither harmed nor helped</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p:cNvSpPr>
            <a:spLocks noGrp="1" noChangeArrowheads="1"/>
          </p:cNvSpPr>
          <p:nvPr>
            <p:ph type="title"/>
          </p:nvPr>
        </p:nvSpPr>
        <p:spPr/>
        <p:txBody>
          <a:bodyPr/>
          <a:lstStyle/>
          <a:p>
            <a:pPr eaLnBrk="1" hangingPunct="1"/>
            <a:r>
              <a:rPr lang="en-US" smtClean="0"/>
              <a:t>Ecological Concepts</a:t>
            </a:r>
          </a:p>
        </p:txBody>
      </p:sp>
      <p:sp>
        <p:nvSpPr>
          <p:cNvPr id="68611" name="Rectangle 1027"/>
          <p:cNvSpPr>
            <a:spLocks noGrp="1" noChangeArrowheads="1"/>
          </p:cNvSpPr>
          <p:nvPr>
            <p:ph idx="1"/>
          </p:nvPr>
        </p:nvSpPr>
        <p:spPr>
          <a:xfrm>
            <a:off x="414338" y="1042988"/>
            <a:ext cx="8204200" cy="5297487"/>
          </a:xfrm>
        </p:spPr>
        <p:txBody>
          <a:bodyPr/>
          <a:lstStyle/>
          <a:p>
            <a:pPr eaLnBrk="1" hangingPunct="1"/>
            <a:r>
              <a:rPr lang="en-US" smtClean="0">
                <a:latin typeface="Arial" charset="0"/>
              </a:rPr>
              <a:t>The diversity of microbial species in an ecosystem can be expressed in two ways </a:t>
            </a:r>
          </a:p>
          <a:p>
            <a:pPr lvl="1" eaLnBrk="1" hangingPunct="1"/>
            <a:r>
              <a:rPr lang="en-US" sz="2200" i="1" u="sng" smtClean="0">
                <a:latin typeface="Arial" charset="0"/>
              </a:rPr>
              <a:t>Species richness</a:t>
            </a:r>
            <a:r>
              <a:rPr lang="en-US" sz="2200" smtClean="0">
                <a:latin typeface="Arial" charset="0"/>
              </a:rPr>
              <a:t>: the total number of different species present</a:t>
            </a:r>
          </a:p>
          <a:p>
            <a:pPr lvl="1" eaLnBrk="1" hangingPunct="1"/>
            <a:r>
              <a:rPr lang="en-US" sz="2200" i="1" u="sng" smtClean="0">
                <a:latin typeface="Arial" charset="0"/>
              </a:rPr>
              <a:t>Species abundance</a:t>
            </a:r>
            <a:r>
              <a:rPr lang="en-US" sz="2200" smtClean="0">
                <a:latin typeface="Arial" charset="0"/>
              </a:rPr>
              <a:t>: the proportion of each species in an ecosystem</a:t>
            </a:r>
          </a:p>
          <a:p>
            <a:pPr eaLnBrk="1" hangingPunct="1"/>
            <a:r>
              <a:rPr lang="en-US" smtClean="0">
                <a:latin typeface="Arial" charset="0"/>
              </a:rPr>
              <a:t>Microbial species richness and abundance is a function of the kinds and amounts of nutrients available in a given habitat</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r>
              <a:rPr lang="en-US" sz="2900">
                <a:solidFill>
                  <a:srgbClr val="404040"/>
                </a:solidFill>
                <a:latin typeface="Arial Narrow" pitchFamily="34" charset="0"/>
              </a:rPr>
              <a:t>Microbial Species Diversity</a:t>
            </a:r>
          </a:p>
        </p:txBody>
      </p:sp>
      <p:sp>
        <p:nvSpPr>
          <p:cNvPr id="69635" name="Text Box 4"/>
          <p:cNvSpPr txBox="1">
            <a:spLocks noChangeArrowheads="1"/>
          </p:cNvSpPr>
          <p:nvPr/>
        </p:nvSpPr>
        <p:spPr bwMode="auto">
          <a:xfrm>
            <a:off x="7959725" y="6107113"/>
            <a:ext cx="906463" cy="252412"/>
          </a:xfrm>
          <a:prstGeom prst="rect">
            <a:avLst/>
          </a:prstGeom>
          <a:noFill/>
          <a:ln w="9525">
            <a:noFill/>
            <a:miter lim="800000"/>
            <a:headEnd/>
            <a:tailEnd/>
          </a:ln>
        </p:spPr>
        <p:txBody>
          <a:bodyPr lIns="82058" tIns="41029" rIns="82058" bIns="41029">
            <a:spAutoFit/>
          </a:bodyPr>
          <a:lstStyle/>
          <a:p>
            <a:pPr algn="r"/>
            <a:r>
              <a:rPr lang="en-US" sz="1100">
                <a:ea typeface="ＭＳ Ｐゴシック" pitchFamily="1" charset="-128"/>
              </a:rPr>
              <a:t>Figure 23.1</a:t>
            </a:r>
          </a:p>
        </p:txBody>
      </p:sp>
      <p:pic>
        <p:nvPicPr>
          <p:cNvPr id="69636" name="Picture 5" descr="23_01Figure-L"/>
          <p:cNvPicPr>
            <a:picLocks noChangeAspect="1" noChangeArrowheads="1"/>
          </p:cNvPicPr>
          <p:nvPr/>
        </p:nvPicPr>
        <p:blipFill>
          <a:blip r:embed="rId3"/>
          <a:srcRect b="3140"/>
          <a:stretch>
            <a:fillRect/>
          </a:stretch>
        </p:blipFill>
        <p:spPr bwMode="auto">
          <a:xfrm>
            <a:off x="523875" y="1338263"/>
            <a:ext cx="8093075" cy="4181475"/>
          </a:xfrm>
          <a:prstGeom prst="rect">
            <a:avLst/>
          </a:prstGeom>
          <a:noFill/>
          <a:ln w="9525">
            <a:noFill/>
            <a:miter lim="800000"/>
            <a:headEnd/>
            <a:tailEnd/>
          </a:ln>
        </p:spPr>
      </p:pic>
      <p:sp>
        <p:nvSpPr>
          <p:cNvPr id="69637" name="Text Box 6"/>
          <p:cNvSpPr txBox="1">
            <a:spLocks noChangeArrowheads="1"/>
          </p:cNvSpPr>
          <p:nvPr/>
        </p:nvSpPr>
        <p:spPr bwMode="auto">
          <a:xfrm>
            <a:off x="981075" y="5189538"/>
            <a:ext cx="4540250" cy="822325"/>
          </a:xfrm>
          <a:prstGeom prst="rect">
            <a:avLst/>
          </a:prstGeom>
          <a:noFill/>
          <a:ln w="9525">
            <a:noFill/>
            <a:miter lim="800000"/>
            <a:headEnd/>
            <a:tailEnd/>
          </a:ln>
        </p:spPr>
        <p:txBody>
          <a:bodyPr wrap="none" lIns="82058" tIns="41029" rIns="82058" bIns="41029">
            <a:spAutoFit/>
          </a:bodyPr>
          <a:lstStyle/>
          <a:p>
            <a:r>
              <a:rPr lang="en-US"/>
              <a:t>High Species Richness and Low to </a:t>
            </a:r>
          </a:p>
          <a:p>
            <a:r>
              <a:rPr lang="en-US"/>
              <a:t>Moderate Abundance</a:t>
            </a:r>
          </a:p>
        </p:txBody>
      </p:sp>
      <p:sp>
        <p:nvSpPr>
          <p:cNvPr id="69638" name="Text Box 7"/>
          <p:cNvSpPr txBox="1">
            <a:spLocks noChangeArrowheads="1"/>
          </p:cNvSpPr>
          <p:nvPr/>
        </p:nvSpPr>
        <p:spPr bwMode="auto">
          <a:xfrm>
            <a:off x="5081588" y="5202238"/>
            <a:ext cx="5608637" cy="452437"/>
          </a:xfrm>
          <a:prstGeom prst="rect">
            <a:avLst/>
          </a:prstGeom>
          <a:noFill/>
          <a:ln w="9525">
            <a:noFill/>
            <a:miter lim="800000"/>
            <a:headEnd/>
            <a:tailEnd/>
          </a:ln>
        </p:spPr>
        <p:txBody>
          <a:bodyPr wrap="none" lIns="82058" tIns="41029" rIns="82058" bIns="41029">
            <a:spAutoFit/>
          </a:bodyPr>
          <a:lstStyle/>
          <a:p>
            <a:r>
              <a:rPr lang="en-US"/>
              <a:t>Low Species Richness and High Abundance</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p:cNvSpPr>
            <a:spLocks noGrp="1" noChangeArrowheads="1"/>
          </p:cNvSpPr>
          <p:nvPr>
            <p:ph type="title"/>
          </p:nvPr>
        </p:nvSpPr>
        <p:spPr/>
        <p:txBody>
          <a:bodyPr/>
          <a:lstStyle/>
          <a:p>
            <a:pPr eaLnBrk="1" hangingPunct="1"/>
            <a:r>
              <a:rPr lang="en-US" smtClean="0"/>
              <a:t>Microbial Ecosystems</a:t>
            </a:r>
          </a:p>
        </p:txBody>
      </p:sp>
      <p:sp>
        <p:nvSpPr>
          <p:cNvPr id="70659" name="Rectangle 1027"/>
          <p:cNvSpPr>
            <a:spLocks noGrp="1" noChangeArrowheads="1"/>
          </p:cNvSpPr>
          <p:nvPr>
            <p:ph idx="1"/>
          </p:nvPr>
        </p:nvSpPr>
        <p:spPr>
          <a:xfrm>
            <a:off x="442913" y="1182688"/>
            <a:ext cx="8204200" cy="4983162"/>
          </a:xfrm>
        </p:spPr>
        <p:txBody>
          <a:bodyPr/>
          <a:lstStyle/>
          <a:p>
            <a:pPr eaLnBrk="1" hangingPunct="1"/>
            <a:r>
              <a:rPr lang="en-US" sz="2300" i="1" u="sng" smtClean="0">
                <a:latin typeface="Arial" charset="0"/>
              </a:rPr>
              <a:t>Guilds</a:t>
            </a:r>
            <a:endParaRPr lang="en-US" sz="2300" smtClean="0">
              <a:latin typeface="Arial" charset="0"/>
            </a:endParaRPr>
          </a:p>
          <a:p>
            <a:pPr lvl="1" eaLnBrk="1" hangingPunct="1"/>
            <a:r>
              <a:rPr lang="en-US" sz="2000" smtClean="0">
                <a:latin typeface="Arial" charset="0"/>
              </a:rPr>
              <a:t>Metabolically related microbial populations</a:t>
            </a:r>
          </a:p>
          <a:p>
            <a:pPr eaLnBrk="1" hangingPunct="1"/>
            <a:r>
              <a:rPr lang="en-US" sz="2300" smtClean="0">
                <a:latin typeface="Arial" charset="0"/>
              </a:rPr>
              <a:t>Sets of guilds form microbial communities that interact with other larger organisms and abiotic factors in the ecosystem</a:t>
            </a:r>
          </a:p>
          <a:p>
            <a:pPr eaLnBrk="1" hangingPunct="1"/>
            <a:endParaRPr lang="en-US" sz="2300" smtClean="0">
              <a:latin typeface="Arial" charset="0"/>
            </a:endParaRPr>
          </a:p>
          <a:p>
            <a:pPr eaLnBrk="1" hangingPunct="1"/>
            <a:endParaRPr lang="en-US" sz="2000" smtClean="0">
              <a:latin typeface="Arial" charset="0"/>
            </a:endParaRPr>
          </a:p>
          <a:p>
            <a:pPr eaLnBrk="1" hangingPunct="1"/>
            <a:endParaRPr lang="en-US" sz="2000" smtClean="0">
              <a:latin typeface="Arial" charset="0"/>
            </a:endParaRPr>
          </a:p>
          <a:p>
            <a:pPr eaLnBrk="1" hangingPunct="1">
              <a:buFont typeface="Wingdings" pitchFamily="2" charset="2"/>
              <a:buNone/>
            </a:pPr>
            <a:endParaRPr lang="en-US" sz="2000" smtClean="0">
              <a:latin typeface="Arial"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r>
              <a:rPr lang="en-US" sz="2900">
                <a:solidFill>
                  <a:srgbClr val="404040"/>
                </a:solidFill>
                <a:latin typeface="Arial Narrow" pitchFamily="34" charset="0"/>
              </a:rPr>
              <a:t>Populations, Guilds, and Communities</a:t>
            </a:r>
          </a:p>
        </p:txBody>
      </p:sp>
      <p:pic>
        <p:nvPicPr>
          <p:cNvPr id="71683" name="Picture 6" descr="23_02Figure-L"/>
          <p:cNvPicPr>
            <a:picLocks noChangeAspect="1" noChangeArrowheads="1"/>
          </p:cNvPicPr>
          <p:nvPr/>
        </p:nvPicPr>
        <p:blipFill>
          <a:blip r:embed="rId3"/>
          <a:srcRect/>
          <a:stretch>
            <a:fillRect/>
          </a:stretch>
        </p:blipFill>
        <p:spPr bwMode="auto">
          <a:xfrm>
            <a:off x="2011363" y="1050925"/>
            <a:ext cx="5118100" cy="5257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US" smtClean="0"/>
              <a:t>Environments and Microenvironments</a:t>
            </a:r>
          </a:p>
        </p:txBody>
      </p:sp>
      <p:sp>
        <p:nvSpPr>
          <p:cNvPr id="72707" name="Rectangle 3"/>
          <p:cNvSpPr>
            <a:spLocks noGrp="1" noChangeArrowheads="1"/>
          </p:cNvSpPr>
          <p:nvPr>
            <p:ph idx="1"/>
          </p:nvPr>
        </p:nvSpPr>
        <p:spPr>
          <a:xfrm>
            <a:off x="442913" y="1143000"/>
            <a:ext cx="8204200" cy="5075238"/>
          </a:xfrm>
        </p:spPr>
        <p:txBody>
          <a:bodyPr/>
          <a:lstStyle/>
          <a:p>
            <a:pPr eaLnBrk="1" hangingPunct="1"/>
            <a:r>
              <a:rPr lang="en-US" sz="2200" smtClean="0">
                <a:latin typeface="Arial" charset="0"/>
              </a:rPr>
              <a:t>The growth of microbes depends on resources and growth conditions </a:t>
            </a:r>
          </a:p>
          <a:p>
            <a:pPr eaLnBrk="1" hangingPunct="1"/>
            <a:r>
              <a:rPr lang="en-US" sz="2200" smtClean="0">
                <a:latin typeface="Arial" charset="0"/>
              </a:rPr>
              <a:t>Difference in the type and quantity of resources and the physiochemical conditions of a habitat define the </a:t>
            </a:r>
            <a:r>
              <a:rPr lang="en-US" sz="2200" b="1" u="sng" smtClean="0">
                <a:latin typeface="Arial" charset="0"/>
              </a:rPr>
              <a:t>niche</a:t>
            </a:r>
            <a:r>
              <a:rPr lang="en-US" sz="2200" smtClean="0">
                <a:latin typeface="Arial" charset="0"/>
              </a:rPr>
              <a:t> for each microbe</a:t>
            </a:r>
          </a:p>
          <a:p>
            <a:pPr eaLnBrk="1" hangingPunct="1"/>
            <a:r>
              <a:rPr lang="en-US" sz="2200" smtClean="0">
                <a:latin typeface="Arial" charset="0"/>
              </a:rPr>
              <a:t>For each organism there exists at least one niche in which that organism is most successful (</a:t>
            </a:r>
            <a:r>
              <a:rPr lang="en-US" sz="2200" i="1" u="sng" smtClean="0">
                <a:latin typeface="Arial" charset="0"/>
              </a:rPr>
              <a:t>prime niche</a:t>
            </a:r>
            <a:r>
              <a:rPr lang="en-US" sz="2200" smtClean="0">
                <a:latin typeface="Arial" charset="0"/>
              </a:rPr>
              <a:t>)</a:t>
            </a:r>
          </a:p>
          <a:p>
            <a:pPr eaLnBrk="1" hangingPunct="1"/>
            <a:r>
              <a:rPr lang="en-US" sz="2200" b="1" i="1" u="sng" smtClean="0">
                <a:latin typeface="Arial" charset="0"/>
              </a:rPr>
              <a:t>Microenvironment</a:t>
            </a:r>
            <a:endParaRPr lang="en-US" sz="2200" b="1" smtClean="0">
              <a:latin typeface="Arial" charset="0"/>
            </a:endParaRPr>
          </a:p>
          <a:p>
            <a:pPr lvl="1" eaLnBrk="1" hangingPunct="1"/>
            <a:r>
              <a:rPr lang="en-US" sz="2200" smtClean="0">
                <a:latin typeface="Arial" charset="0"/>
              </a:rPr>
              <a:t>The immediate environmental surroundings of a microbial cell or group of cells </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r>
              <a:rPr lang="en-US" sz="2900">
                <a:solidFill>
                  <a:srgbClr val="404040"/>
                </a:solidFill>
                <a:latin typeface="Arial Narrow" pitchFamily="34" charset="0"/>
              </a:rPr>
              <a:t>Oxygen Microenvironment</a:t>
            </a:r>
          </a:p>
        </p:txBody>
      </p:sp>
      <p:sp>
        <p:nvSpPr>
          <p:cNvPr id="73731" name="Text Box 4"/>
          <p:cNvSpPr txBox="1">
            <a:spLocks noChangeArrowheads="1"/>
          </p:cNvSpPr>
          <p:nvPr/>
        </p:nvSpPr>
        <p:spPr bwMode="auto">
          <a:xfrm>
            <a:off x="7959725" y="6107113"/>
            <a:ext cx="906463" cy="252412"/>
          </a:xfrm>
          <a:prstGeom prst="rect">
            <a:avLst/>
          </a:prstGeom>
          <a:noFill/>
          <a:ln w="9525">
            <a:noFill/>
            <a:miter lim="800000"/>
            <a:headEnd/>
            <a:tailEnd/>
          </a:ln>
        </p:spPr>
        <p:txBody>
          <a:bodyPr lIns="82058" tIns="41029" rIns="82058" bIns="41029">
            <a:spAutoFit/>
          </a:bodyPr>
          <a:lstStyle/>
          <a:p>
            <a:pPr algn="r"/>
            <a:r>
              <a:rPr lang="en-US" sz="1100">
                <a:ea typeface="ＭＳ Ｐゴシック" pitchFamily="1" charset="-128"/>
              </a:rPr>
              <a:t>Figure 23.3</a:t>
            </a:r>
          </a:p>
        </p:txBody>
      </p:sp>
      <p:pic>
        <p:nvPicPr>
          <p:cNvPr id="73732" name="Picture 5" descr="23_03Figure-L"/>
          <p:cNvPicPr>
            <a:picLocks noChangeAspect="1" noChangeArrowheads="1"/>
          </p:cNvPicPr>
          <p:nvPr/>
        </p:nvPicPr>
        <p:blipFill>
          <a:blip r:embed="rId3"/>
          <a:srcRect b="2435"/>
          <a:stretch>
            <a:fillRect/>
          </a:stretch>
        </p:blipFill>
        <p:spPr bwMode="auto">
          <a:xfrm>
            <a:off x="1841500" y="803275"/>
            <a:ext cx="5459413" cy="5668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smtClean="0"/>
              <a:t>Environments and Microenvironments</a:t>
            </a:r>
          </a:p>
        </p:txBody>
      </p:sp>
      <p:sp>
        <p:nvSpPr>
          <p:cNvPr id="74755" name="Rectangle 3"/>
          <p:cNvSpPr>
            <a:spLocks noGrp="1" noChangeArrowheads="1"/>
          </p:cNvSpPr>
          <p:nvPr>
            <p:ph idx="1"/>
          </p:nvPr>
        </p:nvSpPr>
        <p:spPr>
          <a:xfrm>
            <a:off x="442913" y="1198563"/>
            <a:ext cx="8204200" cy="4972050"/>
          </a:xfrm>
        </p:spPr>
        <p:txBody>
          <a:bodyPr/>
          <a:lstStyle/>
          <a:p>
            <a:pPr eaLnBrk="1" hangingPunct="1"/>
            <a:r>
              <a:rPr lang="en-US" sz="2200" smtClean="0">
                <a:latin typeface="Arial" charset="0"/>
              </a:rPr>
              <a:t>Physiological and chemical conditions in a microenvironment are subject to rapid change, both spatially and temporally</a:t>
            </a:r>
          </a:p>
          <a:p>
            <a:pPr eaLnBrk="1" hangingPunct="1"/>
            <a:r>
              <a:rPr lang="en-US" sz="2200" smtClean="0">
                <a:latin typeface="Arial" charset="0"/>
              </a:rPr>
              <a:t>Resources in natural environments are highly variable and many microbes in nature face a </a:t>
            </a:r>
            <a:r>
              <a:rPr lang="en-US" sz="2200" i="1" u="sng" smtClean="0">
                <a:latin typeface="Arial" charset="0"/>
              </a:rPr>
              <a:t>feast-or-famine</a:t>
            </a:r>
            <a:r>
              <a:rPr lang="en-US" sz="2200" smtClean="0">
                <a:latin typeface="Arial" charset="0"/>
              </a:rPr>
              <a:t> existence</a:t>
            </a:r>
          </a:p>
          <a:p>
            <a:pPr eaLnBrk="1" hangingPunct="1"/>
            <a:r>
              <a:rPr lang="en-US" sz="2200" smtClean="0">
                <a:latin typeface="Arial" charset="0"/>
              </a:rPr>
              <a:t>Growth rates of microbes in nature are usually well below maximum growth rates defined in the laboratory</a:t>
            </a:r>
          </a:p>
          <a:p>
            <a:pPr eaLnBrk="1" hangingPunct="1"/>
            <a:r>
              <a:rPr lang="en-US" sz="2200" smtClean="0">
                <a:latin typeface="Arial" charset="0"/>
              </a:rPr>
              <a:t>Competition and cooperation occur between microbes in natural systems</a:t>
            </a:r>
          </a:p>
          <a:p>
            <a:pPr eaLnBrk="1" hangingPunct="1"/>
            <a:r>
              <a:rPr lang="en-US" sz="2200" smtClean="0">
                <a:latin typeface="Arial" charset="0"/>
              </a:rPr>
              <a:t>To isolate a species from a mixture of species for laboratory study enrichment and selection are often necessary</a:t>
            </a: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n-US" smtClean="0"/>
              <a:t>Biofilms: Microbial Growth on Surfaces</a:t>
            </a:r>
          </a:p>
        </p:txBody>
      </p:sp>
      <p:sp>
        <p:nvSpPr>
          <p:cNvPr id="75779" name="Rectangle 3"/>
          <p:cNvSpPr>
            <a:spLocks noGrp="1" noChangeArrowheads="1"/>
          </p:cNvSpPr>
          <p:nvPr>
            <p:ph idx="1"/>
          </p:nvPr>
        </p:nvSpPr>
        <p:spPr/>
        <p:txBody>
          <a:bodyPr/>
          <a:lstStyle/>
          <a:p>
            <a:pPr eaLnBrk="1" hangingPunct="1"/>
            <a:endParaRPr lang="en-US" sz="2300" smtClean="0">
              <a:latin typeface="Arial" charset="0"/>
            </a:endParaRPr>
          </a:p>
          <a:p>
            <a:pPr eaLnBrk="1" hangingPunct="1"/>
            <a:r>
              <a:rPr lang="en-US" sz="2700" smtClean="0">
                <a:latin typeface="Arial" charset="0"/>
              </a:rPr>
              <a:t>Surfaces are important microbial habitats because</a:t>
            </a:r>
          </a:p>
          <a:p>
            <a:pPr lvl="1" eaLnBrk="1" hangingPunct="1"/>
            <a:r>
              <a:rPr lang="en-US" sz="2300" smtClean="0">
                <a:latin typeface="Arial" charset="0"/>
              </a:rPr>
              <a:t>Nutrients adsorb to surfaces</a:t>
            </a:r>
          </a:p>
          <a:p>
            <a:pPr lvl="1" eaLnBrk="1" hangingPunct="1"/>
            <a:r>
              <a:rPr lang="en-US" sz="2300" smtClean="0">
                <a:latin typeface="Arial" charset="0"/>
              </a:rPr>
              <a:t>Microbial cells can attach to surfaces </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smtClean="0"/>
              <a:t>Biofilms: Microbial Growth on Surfaces</a:t>
            </a:r>
          </a:p>
        </p:txBody>
      </p:sp>
      <p:sp>
        <p:nvSpPr>
          <p:cNvPr id="76803" name="Rectangle 3"/>
          <p:cNvSpPr>
            <a:spLocks noGrp="1" noChangeArrowheads="1"/>
          </p:cNvSpPr>
          <p:nvPr>
            <p:ph idx="1"/>
          </p:nvPr>
        </p:nvSpPr>
        <p:spPr>
          <a:xfrm>
            <a:off x="457200" y="1254125"/>
            <a:ext cx="8204200" cy="5184775"/>
          </a:xfrm>
        </p:spPr>
        <p:txBody>
          <a:bodyPr/>
          <a:lstStyle/>
          <a:p>
            <a:pPr eaLnBrk="1" hangingPunct="1">
              <a:lnSpc>
                <a:spcPct val="140000"/>
              </a:lnSpc>
            </a:pPr>
            <a:r>
              <a:rPr lang="en-US" sz="2700" i="1" u="sng" smtClean="0">
                <a:latin typeface="Arial" charset="0"/>
              </a:rPr>
              <a:t>Biofilms</a:t>
            </a:r>
            <a:endParaRPr lang="en-US" sz="2700" smtClean="0">
              <a:latin typeface="Arial" charset="0"/>
            </a:endParaRPr>
          </a:p>
          <a:p>
            <a:pPr lvl="1" eaLnBrk="1" hangingPunct="1">
              <a:lnSpc>
                <a:spcPct val="140000"/>
              </a:lnSpc>
            </a:pPr>
            <a:r>
              <a:rPr lang="en-US" sz="2300" smtClean="0">
                <a:latin typeface="Arial" charset="0"/>
              </a:rPr>
              <a:t>Assemblages of bacterial cells adhered to a surface and enclosed in an adhesive matrix excreted by the cells</a:t>
            </a:r>
          </a:p>
          <a:p>
            <a:pPr lvl="1" eaLnBrk="1" hangingPunct="1">
              <a:lnSpc>
                <a:spcPct val="140000"/>
              </a:lnSpc>
            </a:pPr>
            <a:r>
              <a:rPr lang="en-US" sz="2300" smtClean="0">
                <a:latin typeface="Arial" charset="0"/>
              </a:rPr>
              <a:t>The matrix is typically a mixture of polysaccharides</a:t>
            </a:r>
          </a:p>
          <a:p>
            <a:pPr lvl="1" eaLnBrk="1" hangingPunct="1">
              <a:lnSpc>
                <a:spcPct val="140000"/>
              </a:lnSpc>
            </a:pPr>
            <a:r>
              <a:rPr lang="en-US" sz="2300" smtClean="0">
                <a:latin typeface="Arial" charset="0"/>
              </a:rPr>
              <a:t>Biofilms trap nutrients for microbial growth and help prevent detachment of cells in flowing systems</a:t>
            </a:r>
          </a:p>
          <a:p>
            <a:pPr eaLnBrk="1" hangingPunct="1">
              <a:lnSpc>
                <a:spcPct val="140000"/>
              </a:lnSpc>
            </a:pPr>
            <a:endParaRPr lang="en-US" sz="2300" smtClean="0">
              <a:latin typeface="Arial" charset="0"/>
            </a:endParaRPr>
          </a:p>
          <a:p>
            <a:pPr eaLnBrk="1" hangingPunct="1">
              <a:lnSpc>
                <a:spcPct val="140000"/>
              </a:lnSpc>
            </a:pPr>
            <a:endParaRPr lang="en-US" sz="2300" smtClean="0">
              <a:latin typeface="Arial" charset="0"/>
            </a:endParaRPr>
          </a:p>
          <a:p>
            <a:pPr eaLnBrk="1" hangingPunct="1">
              <a:lnSpc>
                <a:spcPct val="140000"/>
              </a:lnSpc>
            </a:pPr>
            <a:endParaRPr lang="en-US" sz="2300" smtClean="0">
              <a:latin typeface="Arial" charset="0"/>
            </a:endParaRPr>
          </a:p>
          <a:p>
            <a:pPr eaLnBrk="1" hangingPunct="1">
              <a:lnSpc>
                <a:spcPct val="140000"/>
              </a:lnSpc>
              <a:buFont typeface="Wingdings" pitchFamily="2" charset="2"/>
              <a:buNone/>
            </a:pPr>
            <a:endParaRPr lang="en-US" sz="2300" smtClean="0">
              <a:latin typeface="Arial"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r>
              <a:rPr lang="en-US" sz="2900">
                <a:solidFill>
                  <a:srgbClr val="404040"/>
                </a:solidFill>
                <a:latin typeface="Arial Narrow" pitchFamily="34" charset="0"/>
              </a:rPr>
              <a:t>Examples of Microbial Biofilms</a:t>
            </a:r>
          </a:p>
        </p:txBody>
      </p:sp>
      <p:pic>
        <p:nvPicPr>
          <p:cNvPr id="77827" name="Picture 5" descr="23_05Figure-L"/>
          <p:cNvPicPr>
            <a:picLocks noChangeAspect="1" noChangeArrowheads="1"/>
          </p:cNvPicPr>
          <p:nvPr/>
        </p:nvPicPr>
        <p:blipFill>
          <a:blip r:embed="rId3"/>
          <a:srcRect r="49986" b="50000"/>
          <a:stretch>
            <a:fillRect/>
          </a:stretch>
        </p:blipFill>
        <p:spPr bwMode="auto">
          <a:xfrm>
            <a:off x="211138" y="911225"/>
            <a:ext cx="2928937" cy="3201988"/>
          </a:xfrm>
          <a:prstGeom prst="rect">
            <a:avLst/>
          </a:prstGeom>
          <a:noFill/>
          <a:ln w="9525">
            <a:noFill/>
            <a:miter lim="800000"/>
            <a:headEnd/>
            <a:tailEnd/>
          </a:ln>
        </p:spPr>
      </p:pic>
      <p:sp>
        <p:nvSpPr>
          <p:cNvPr id="77828" name="Text Box 6"/>
          <p:cNvSpPr txBox="1">
            <a:spLocks noChangeArrowheads="1"/>
          </p:cNvSpPr>
          <p:nvPr/>
        </p:nvSpPr>
        <p:spPr bwMode="auto">
          <a:xfrm>
            <a:off x="814388" y="3770313"/>
            <a:ext cx="3243262" cy="822325"/>
          </a:xfrm>
          <a:prstGeom prst="rect">
            <a:avLst/>
          </a:prstGeom>
          <a:noFill/>
          <a:ln w="9525">
            <a:noFill/>
            <a:miter lim="800000"/>
            <a:headEnd/>
            <a:tailEnd/>
          </a:ln>
        </p:spPr>
        <p:txBody>
          <a:bodyPr wrap="none" lIns="82058" tIns="41029" rIns="82058" bIns="41029">
            <a:spAutoFit/>
          </a:bodyPr>
          <a:lstStyle/>
          <a:p>
            <a:r>
              <a:rPr lang="en-US"/>
              <a:t>Cross-Sectional View of </a:t>
            </a:r>
          </a:p>
          <a:p>
            <a:r>
              <a:rPr lang="en-US"/>
              <a:t>Experimental Biofilm</a:t>
            </a:r>
          </a:p>
        </p:txBody>
      </p:sp>
      <p:pic>
        <p:nvPicPr>
          <p:cNvPr id="77829" name="Picture 1029" descr="23_05Figure-L"/>
          <p:cNvPicPr>
            <a:picLocks noChangeAspect="1" noChangeArrowheads="1"/>
          </p:cNvPicPr>
          <p:nvPr/>
        </p:nvPicPr>
        <p:blipFill>
          <a:blip r:embed="rId3"/>
          <a:srcRect l="50014" b="50000"/>
          <a:stretch>
            <a:fillRect/>
          </a:stretch>
        </p:blipFill>
        <p:spPr bwMode="auto">
          <a:xfrm>
            <a:off x="6399213" y="809625"/>
            <a:ext cx="2451100" cy="2678113"/>
          </a:xfrm>
          <a:prstGeom prst="rect">
            <a:avLst/>
          </a:prstGeom>
          <a:noFill/>
          <a:ln w="9525">
            <a:noFill/>
            <a:miter lim="800000"/>
            <a:headEnd/>
            <a:tailEnd/>
          </a:ln>
        </p:spPr>
      </p:pic>
      <p:sp>
        <p:nvSpPr>
          <p:cNvPr id="77830" name="Text Box 1030"/>
          <p:cNvSpPr txBox="1">
            <a:spLocks noChangeArrowheads="1"/>
          </p:cNvSpPr>
          <p:nvPr/>
        </p:nvSpPr>
        <p:spPr bwMode="auto">
          <a:xfrm>
            <a:off x="6435725" y="3503613"/>
            <a:ext cx="4373563" cy="452437"/>
          </a:xfrm>
          <a:prstGeom prst="rect">
            <a:avLst/>
          </a:prstGeom>
          <a:noFill/>
          <a:ln w="9525">
            <a:noFill/>
            <a:miter lim="800000"/>
            <a:headEnd/>
            <a:tailEnd/>
          </a:ln>
        </p:spPr>
        <p:txBody>
          <a:bodyPr wrap="none" lIns="82058" tIns="41029" rIns="82058" bIns="41029">
            <a:spAutoFit/>
          </a:bodyPr>
          <a:lstStyle/>
          <a:p>
            <a:r>
              <a:rPr lang="en-US"/>
              <a:t>Natural Biofilm on a Leaf Surface</a:t>
            </a:r>
          </a:p>
        </p:txBody>
      </p:sp>
      <p:pic>
        <p:nvPicPr>
          <p:cNvPr id="77831" name="Picture 5" descr="23_05Figure-L"/>
          <p:cNvPicPr>
            <a:picLocks noChangeAspect="1" noChangeArrowheads="1"/>
          </p:cNvPicPr>
          <p:nvPr/>
        </p:nvPicPr>
        <p:blipFill>
          <a:blip r:embed="rId3"/>
          <a:srcRect t="50000" b="2437"/>
          <a:stretch>
            <a:fillRect/>
          </a:stretch>
        </p:blipFill>
        <p:spPr bwMode="auto">
          <a:xfrm>
            <a:off x="3417888" y="4097338"/>
            <a:ext cx="5308600" cy="2760662"/>
          </a:xfrm>
          <a:prstGeom prst="rect">
            <a:avLst/>
          </a:prstGeom>
          <a:noFill/>
          <a:ln w="9525">
            <a:noFill/>
            <a:miter lim="800000"/>
            <a:headEnd/>
            <a:tailEnd/>
          </a:ln>
        </p:spPr>
      </p:pic>
      <p:sp>
        <p:nvSpPr>
          <p:cNvPr id="77832" name="Text Box 6"/>
          <p:cNvSpPr txBox="1">
            <a:spLocks noChangeArrowheads="1"/>
          </p:cNvSpPr>
          <p:nvPr/>
        </p:nvSpPr>
        <p:spPr bwMode="auto">
          <a:xfrm>
            <a:off x="3500438" y="4056063"/>
            <a:ext cx="7254875" cy="452437"/>
          </a:xfrm>
          <a:prstGeom prst="rect">
            <a:avLst/>
          </a:prstGeom>
          <a:noFill/>
          <a:ln w="9525">
            <a:noFill/>
            <a:miter lim="800000"/>
            <a:headEnd/>
            <a:tailEnd/>
          </a:ln>
        </p:spPr>
        <p:txBody>
          <a:bodyPr wrap="none" lIns="82058" tIns="41029" rIns="82058" bIns="41029">
            <a:spAutoFit/>
          </a:bodyPr>
          <a:lstStyle/>
          <a:p>
            <a:r>
              <a:rPr lang="en-US"/>
              <a:t>Biofilm of Iron-Oxidizing Prokaryotes Attached to Rocks</a:t>
            </a:r>
          </a:p>
        </p:txBody>
      </p:sp>
      <p:pic>
        <p:nvPicPr>
          <p:cNvPr id="77833" name="Picture 11" descr="http://img.photobucket.com/albums/v159/skdevitt/catheter_biofilm.gif"/>
          <p:cNvPicPr>
            <a:picLocks noChangeAspect="1" noChangeArrowheads="1"/>
          </p:cNvPicPr>
          <p:nvPr/>
        </p:nvPicPr>
        <p:blipFill>
          <a:blip r:embed="rId4"/>
          <a:srcRect/>
          <a:stretch>
            <a:fillRect/>
          </a:stretch>
        </p:blipFill>
        <p:spPr bwMode="auto">
          <a:xfrm>
            <a:off x="3884613" y="989013"/>
            <a:ext cx="1814512" cy="2071687"/>
          </a:xfrm>
          <a:prstGeom prst="rect">
            <a:avLst/>
          </a:prstGeom>
          <a:noFill/>
          <a:ln w="9525">
            <a:noFill/>
            <a:miter lim="800000"/>
            <a:headEnd/>
            <a:tailEnd/>
          </a:ln>
        </p:spPr>
      </p:pic>
      <p:sp>
        <p:nvSpPr>
          <p:cNvPr id="77834" name="TextBox 9"/>
          <p:cNvSpPr txBox="1">
            <a:spLocks noChangeArrowheads="1"/>
          </p:cNvSpPr>
          <p:nvPr/>
        </p:nvSpPr>
        <p:spPr bwMode="auto">
          <a:xfrm>
            <a:off x="3773488" y="3125788"/>
            <a:ext cx="1979612" cy="1190625"/>
          </a:xfrm>
          <a:prstGeom prst="rect">
            <a:avLst/>
          </a:prstGeom>
          <a:noFill/>
          <a:ln w="9525">
            <a:noFill/>
            <a:miter lim="800000"/>
            <a:headEnd/>
            <a:tailEnd/>
          </a:ln>
        </p:spPr>
        <p:txBody>
          <a:bodyPr lIns="82058" tIns="41029" rIns="82058" bIns="41029">
            <a:spAutoFit/>
          </a:bodyPr>
          <a:lstStyle/>
          <a:p>
            <a:r>
              <a:rPr lang="en-US"/>
              <a:t>Biofilm on medical catheter</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r>
              <a:rPr lang="en-US" sz="2900">
                <a:solidFill>
                  <a:srgbClr val="404040"/>
                </a:solidFill>
                <a:latin typeface="Arial Narrow" pitchFamily="34" charset="0"/>
              </a:rPr>
              <a:t>Biofilm Formation</a:t>
            </a:r>
          </a:p>
        </p:txBody>
      </p:sp>
      <p:pic>
        <p:nvPicPr>
          <p:cNvPr id="78851" name="Picture 5" descr="23_06Figure-L"/>
          <p:cNvPicPr>
            <a:picLocks noChangeAspect="1" noChangeArrowheads="1"/>
          </p:cNvPicPr>
          <p:nvPr/>
        </p:nvPicPr>
        <p:blipFill>
          <a:blip r:embed="rId3"/>
          <a:srcRect b="46332"/>
          <a:stretch>
            <a:fillRect/>
          </a:stretch>
        </p:blipFill>
        <p:spPr bwMode="auto">
          <a:xfrm>
            <a:off x="1631950" y="1411288"/>
            <a:ext cx="5876925" cy="4035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en-US" smtClean="0"/>
              <a:t>Biofilms: Advantages and Control</a:t>
            </a:r>
          </a:p>
        </p:txBody>
      </p:sp>
      <p:sp>
        <p:nvSpPr>
          <p:cNvPr id="79875" name="Rectangle 3"/>
          <p:cNvSpPr>
            <a:spLocks noGrp="1" noChangeArrowheads="1"/>
          </p:cNvSpPr>
          <p:nvPr>
            <p:ph idx="1"/>
          </p:nvPr>
        </p:nvSpPr>
        <p:spPr>
          <a:xfrm>
            <a:off x="442913" y="762001"/>
            <a:ext cx="8204200" cy="5245100"/>
          </a:xfrm>
        </p:spPr>
        <p:txBody>
          <a:bodyPr>
            <a:normAutofit/>
          </a:bodyPr>
          <a:lstStyle/>
          <a:p>
            <a:pPr eaLnBrk="1" hangingPunct="1">
              <a:lnSpc>
                <a:spcPct val="140000"/>
              </a:lnSpc>
            </a:pPr>
            <a:endParaRPr lang="en-US" sz="2700" dirty="0" smtClean="0">
              <a:latin typeface="Arial" charset="0"/>
            </a:endParaRPr>
          </a:p>
          <a:p>
            <a:pPr eaLnBrk="1" hangingPunct="1">
              <a:lnSpc>
                <a:spcPct val="140000"/>
              </a:lnSpc>
            </a:pPr>
            <a:r>
              <a:rPr lang="en-US" sz="2700" dirty="0" smtClean="0">
                <a:latin typeface="Arial" charset="0"/>
              </a:rPr>
              <a:t>Bacteria form </a:t>
            </a:r>
            <a:r>
              <a:rPr lang="en-US" sz="2700" dirty="0" err="1" smtClean="0">
                <a:latin typeface="Arial" charset="0"/>
              </a:rPr>
              <a:t>biofilms</a:t>
            </a:r>
            <a:r>
              <a:rPr lang="en-US" sz="2700" dirty="0" smtClean="0">
                <a:latin typeface="Arial" charset="0"/>
              </a:rPr>
              <a:t> for several reasons</a:t>
            </a:r>
          </a:p>
          <a:p>
            <a:pPr lvl="1" eaLnBrk="1" hangingPunct="1">
              <a:lnSpc>
                <a:spcPct val="140000"/>
              </a:lnSpc>
            </a:pPr>
            <a:r>
              <a:rPr lang="en-US" sz="2300" dirty="0" smtClean="0">
                <a:latin typeface="Arial" charset="0"/>
              </a:rPr>
              <a:t>Self-defense</a:t>
            </a:r>
          </a:p>
          <a:p>
            <a:pPr lvl="2" eaLnBrk="1" hangingPunct="1">
              <a:lnSpc>
                <a:spcPct val="140000"/>
              </a:lnSpc>
            </a:pPr>
            <a:r>
              <a:rPr lang="en-US" sz="2200" dirty="0" err="1" smtClean="0">
                <a:latin typeface="Arial" charset="0"/>
              </a:rPr>
              <a:t>Biofilms</a:t>
            </a:r>
            <a:r>
              <a:rPr lang="en-US" sz="2200" dirty="0" smtClean="0">
                <a:latin typeface="Arial" charset="0"/>
              </a:rPr>
              <a:t> resist physical forces that sweep away unattached cells, </a:t>
            </a:r>
            <a:r>
              <a:rPr lang="en-US" sz="2200" dirty="0" err="1" smtClean="0">
                <a:latin typeface="Arial" charset="0"/>
              </a:rPr>
              <a:t>phagocytosis</a:t>
            </a:r>
            <a:r>
              <a:rPr lang="en-US" sz="2200" dirty="0" smtClean="0">
                <a:latin typeface="Arial" charset="0"/>
              </a:rPr>
              <a:t> by immune system cells, and penetration of toxins (e.g., antibiotics)</a:t>
            </a:r>
          </a:p>
          <a:p>
            <a:pPr lvl="1" eaLnBrk="1" hangingPunct="1">
              <a:lnSpc>
                <a:spcPct val="140000"/>
              </a:lnSpc>
            </a:pPr>
            <a:r>
              <a:rPr lang="en-US" sz="2300" dirty="0" smtClean="0">
                <a:latin typeface="Arial" charset="0"/>
              </a:rPr>
              <a:t>Allows cells to remain in a favorable niche</a:t>
            </a:r>
          </a:p>
          <a:p>
            <a:pPr lvl="1" eaLnBrk="1" hangingPunct="1">
              <a:lnSpc>
                <a:spcPct val="140000"/>
              </a:lnSpc>
            </a:pPr>
            <a:r>
              <a:rPr lang="en-US" sz="2300" dirty="0" smtClean="0">
                <a:latin typeface="Arial" charset="0"/>
              </a:rPr>
              <a:t>Allows bacterial cells to live in close association with one another</a:t>
            </a:r>
          </a:p>
          <a:p>
            <a:pPr lvl="1" eaLnBrk="1" hangingPunct="1">
              <a:lnSpc>
                <a:spcPct val="140000"/>
              </a:lnSpc>
            </a:pPr>
            <a:endParaRPr lang="en-US" sz="2300" dirty="0" smtClean="0">
              <a:latin typeface="Arial" charset="0"/>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26"/>
          <p:cNvSpPr>
            <a:spLocks noGrp="1" noChangeArrowheads="1"/>
          </p:cNvSpPr>
          <p:nvPr>
            <p:ph type="title"/>
          </p:nvPr>
        </p:nvSpPr>
        <p:spPr/>
        <p:txBody>
          <a:bodyPr/>
          <a:lstStyle/>
          <a:p>
            <a:pPr eaLnBrk="1" hangingPunct="1"/>
            <a:r>
              <a:rPr lang="en-US" smtClean="0"/>
              <a:t>Biofilms: Advantages and Control</a:t>
            </a:r>
          </a:p>
        </p:txBody>
      </p:sp>
      <p:sp>
        <p:nvSpPr>
          <p:cNvPr id="80899" name="Rectangle 1027"/>
          <p:cNvSpPr>
            <a:spLocks noGrp="1" noChangeArrowheads="1"/>
          </p:cNvSpPr>
          <p:nvPr>
            <p:ph idx="1"/>
          </p:nvPr>
        </p:nvSpPr>
        <p:spPr>
          <a:xfrm>
            <a:off x="442913" y="685801"/>
            <a:ext cx="8204200" cy="5702300"/>
          </a:xfrm>
        </p:spPr>
        <p:txBody>
          <a:bodyPr/>
          <a:lstStyle/>
          <a:p>
            <a:pPr eaLnBrk="1" hangingPunct="1"/>
            <a:endParaRPr lang="en-US" sz="2300" dirty="0" smtClean="0">
              <a:latin typeface="Arial" charset="0"/>
            </a:endParaRPr>
          </a:p>
          <a:p>
            <a:pPr eaLnBrk="1" hangingPunct="1"/>
            <a:endParaRPr lang="en-US" sz="2300" dirty="0" smtClean="0">
              <a:latin typeface="Arial" charset="0"/>
            </a:endParaRPr>
          </a:p>
          <a:p>
            <a:pPr eaLnBrk="1" hangingPunct="1"/>
            <a:endParaRPr lang="en-US" sz="2300" dirty="0" smtClean="0">
              <a:latin typeface="Arial" charset="0"/>
            </a:endParaRPr>
          </a:p>
          <a:p>
            <a:pPr eaLnBrk="1" hangingPunct="1"/>
            <a:r>
              <a:rPr lang="en-US" sz="2300" dirty="0" err="1" smtClean="0">
                <a:latin typeface="Arial" charset="0"/>
              </a:rPr>
              <a:t>Biofilms</a:t>
            </a:r>
            <a:r>
              <a:rPr lang="en-US" sz="2300" dirty="0" smtClean="0">
                <a:latin typeface="Arial" charset="0"/>
              </a:rPr>
              <a:t> are important in human health </a:t>
            </a:r>
          </a:p>
          <a:p>
            <a:pPr eaLnBrk="1" hangingPunct="1"/>
            <a:r>
              <a:rPr lang="en-US" sz="2300" dirty="0" err="1" smtClean="0">
                <a:latin typeface="Arial" charset="0"/>
              </a:rPr>
              <a:t>Biofilms</a:t>
            </a:r>
            <a:r>
              <a:rPr lang="en-US" sz="2300" dirty="0" smtClean="0">
                <a:latin typeface="Arial" charset="0"/>
              </a:rPr>
              <a:t> have been implicated in several medical and dental conditions</a:t>
            </a:r>
          </a:p>
          <a:p>
            <a:pPr lvl="1" eaLnBrk="1" hangingPunct="1"/>
            <a:r>
              <a:rPr lang="en-US" sz="2200" dirty="0" smtClean="0">
                <a:latin typeface="Arial" charset="0"/>
              </a:rPr>
              <a:t>Including periodontal disease, kidney stones, tuberculosis, Legionnaire’s disease, and Staphylococcus infections</a:t>
            </a:r>
          </a:p>
          <a:p>
            <a:pPr eaLnBrk="1" hangingPunct="1"/>
            <a:r>
              <a:rPr lang="en-US" sz="2300" dirty="0" smtClean="0">
                <a:latin typeface="Arial" charset="0"/>
              </a:rPr>
              <a:t>In industrial settings, </a:t>
            </a:r>
            <a:r>
              <a:rPr lang="en-US" sz="2300" dirty="0" err="1" smtClean="0">
                <a:latin typeface="Arial" charset="0"/>
              </a:rPr>
              <a:t>biofilms</a:t>
            </a:r>
            <a:r>
              <a:rPr lang="en-US" sz="2300" dirty="0" smtClean="0">
                <a:latin typeface="Arial" charset="0"/>
              </a:rPr>
              <a:t> can slow the flow of liquids through pipelines and can accelerate corrosion of inert surfaces</a:t>
            </a:r>
          </a:p>
          <a:p>
            <a:pPr eaLnBrk="1" hangingPunct="1"/>
            <a:r>
              <a:rPr lang="en-US" sz="2300" dirty="0" smtClean="0">
                <a:latin typeface="Arial" charset="0"/>
              </a:rPr>
              <a:t>Few highly effective </a:t>
            </a:r>
            <a:r>
              <a:rPr lang="en-US" sz="2300" dirty="0" err="1" smtClean="0">
                <a:latin typeface="Arial" charset="0"/>
              </a:rPr>
              <a:t>antibiofilm</a:t>
            </a:r>
            <a:r>
              <a:rPr lang="en-US" sz="2300" dirty="0" smtClean="0">
                <a:latin typeface="Arial" charset="0"/>
              </a:rPr>
              <a:t> agents are available</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en-US" smtClean="0"/>
              <a:t>Terrestrial Environments</a:t>
            </a:r>
          </a:p>
        </p:txBody>
      </p:sp>
      <p:sp>
        <p:nvSpPr>
          <p:cNvPr id="81923" name="Rectangle 3"/>
          <p:cNvSpPr>
            <a:spLocks noGrp="1" noChangeArrowheads="1"/>
          </p:cNvSpPr>
          <p:nvPr>
            <p:ph idx="1"/>
          </p:nvPr>
        </p:nvSpPr>
        <p:spPr>
          <a:xfrm>
            <a:off x="430213" y="1041400"/>
            <a:ext cx="8204200" cy="5156200"/>
          </a:xfrm>
        </p:spPr>
        <p:txBody>
          <a:bodyPr>
            <a:normAutofit fontScale="92500" lnSpcReduction="20000"/>
          </a:bodyPr>
          <a:lstStyle/>
          <a:p>
            <a:pPr eaLnBrk="1" hangingPunct="1">
              <a:lnSpc>
                <a:spcPct val="140000"/>
              </a:lnSpc>
            </a:pPr>
            <a:endParaRPr lang="en-US" sz="2700" i="1" u="sng" dirty="0" smtClean="0">
              <a:latin typeface="Arial" charset="0"/>
            </a:endParaRPr>
          </a:p>
          <a:p>
            <a:pPr eaLnBrk="1" hangingPunct="1">
              <a:lnSpc>
                <a:spcPct val="140000"/>
              </a:lnSpc>
            </a:pPr>
            <a:endParaRPr lang="en-US" sz="2700" i="1" u="sng" dirty="0" smtClean="0">
              <a:latin typeface="Arial" charset="0"/>
            </a:endParaRPr>
          </a:p>
          <a:p>
            <a:pPr eaLnBrk="1" hangingPunct="1">
              <a:lnSpc>
                <a:spcPct val="140000"/>
              </a:lnSpc>
            </a:pPr>
            <a:r>
              <a:rPr lang="en-US" sz="2700" i="1" u="sng" dirty="0" smtClean="0">
                <a:latin typeface="Arial" charset="0"/>
              </a:rPr>
              <a:t>Soil</a:t>
            </a:r>
            <a:endParaRPr lang="en-US" sz="2700" dirty="0" smtClean="0">
              <a:latin typeface="Arial" charset="0"/>
            </a:endParaRPr>
          </a:p>
          <a:p>
            <a:pPr lvl="1" eaLnBrk="1" hangingPunct="1">
              <a:lnSpc>
                <a:spcPct val="140000"/>
              </a:lnSpc>
            </a:pPr>
            <a:r>
              <a:rPr lang="en-US" sz="2300" dirty="0" smtClean="0">
                <a:latin typeface="Arial" charset="0"/>
              </a:rPr>
              <a:t>The loose outer material of Earth’s surface</a:t>
            </a:r>
          </a:p>
          <a:p>
            <a:pPr lvl="1" eaLnBrk="1" hangingPunct="1">
              <a:lnSpc>
                <a:spcPct val="140000"/>
              </a:lnSpc>
            </a:pPr>
            <a:r>
              <a:rPr lang="en-US" sz="2300" dirty="0" smtClean="0">
                <a:latin typeface="Arial" charset="0"/>
              </a:rPr>
              <a:t>Distinct from bedrock</a:t>
            </a:r>
          </a:p>
          <a:p>
            <a:pPr eaLnBrk="1" hangingPunct="1">
              <a:lnSpc>
                <a:spcPct val="140000"/>
              </a:lnSpc>
            </a:pPr>
            <a:r>
              <a:rPr lang="en-US" sz="2700" dirty="0" smtClean="0">
                <a:latin typeface="Arial" charset="0"/>
              </a:rPr>
              <a:t>Soils are composed of</a:t>
            </a:r>
          </a:p>
          <a:p>
            <a:pPr lvl="1" eaLnBrk="1" hangingPunct="1">
              <a:lnSpc>
                <a:spcPct val="140000"/>
              </a:lnSpc>
            </a:pPr>
            <a:r>
              <a:rPr lang="en-US" sz="2300" dirty="0" smtClean="0">
                <a:latin typeface="Arial" charset="0"/>
              </a:rPr>
              <a:t>Inorganic mineral matter (~40% of soil volume)</a:t>
            </a:r>
          </a:p>
          <a:p>
            <a:pPr lvl="1" eaLnBrk="1" hangingPunct="1">
              <a:lnSpc>
                <a:spcPct val="140000"/>
              </a:lnSpc>
            </a:pPr>
            <a:r>
              <a:rPr lang="en-US" sz="2300" dirty="0" smtClean="0">
                <a:latin typeface="Arial" charset="0"/>
              </a:rPr>
              <a:t>Organic matter (~5%)</a:t>
            </a:r>
          </a:p>
          <a:p>
            <a:pPr lvl="1" eaLnBrk="1" hangingPunct="1">
              <a:lnSpc>
                <a:spcPct val="140000"/>
              </a:lnSpc>
            </a:pPr>
            <a:r>
              <a:rPr lang="en-US" sz="2300" dirty="0" smtClean="0">
                <a:latin typeface="Arial" charset="0"/>
              </a:rPr>
              <a:t>Air and water (~50%)</a:t>
            </a:r>
          </a:p>
          <a:p>
            <a:pPr lvl="1" eaLnBrk="1" hangingPunct="1">
              <a:lnSpc>
                <a:spcPct val="140000"/>
              </a:lnSpc>
            </a:pPr>
            <a:r>
              <a:rPr lang="en-US" sz="2300" dirty="0" smtClean="0">
                <a:latin typeface="Arial" charset="0"/>
              </a:rPr>
              <a:t>Living organisms</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r>
              <a:rPr lang="en-US" sz="2900">
                <a:solidFill>
                  <a:srgbClr val="404040"/>
                </a:solidFill>
                <a:latin typeface="Arial Narrow" pitchFamily="34" charset="0"/>
              </a:rPr>
              <a:t>Profile of a Mature Soil</a:t>
            </a:r>
          </a:p>
        </p:txBody>
      </p:sp>
      <p:pic>
        <p:nvPicPr>
          <p:cNvPr id="82947" name="Picture 5" descr="23_10Figure-L"/>
          <p:cNvPicPr>
            <a:picLocks noChangeAspect="1" noChangeArrowheads="1"/>
          </p:cNvPicPr>
          <p:nvPr/>
        </p:nvPicPr>
        <p:blipFill>
          <a:blip r:embed="rId3"/>
          <a:srcRect r="50000" b="3638"/>
          <a:stretch>
            <a:fillRect/>
          </a:stretch>
        </p:blipFill>
        <p:spPr bwMode="auto">
          <a:xfrm>
            <a:off x="223838" y="858838"/>
            <a:ext cx="4476750" cy="4635500"/>
          </a:xfrm>
          <a:prstGeom prst="rect">
            <a:avLst/>
          </a:prstGeom>
          <a:noFill/>
          <a:ln w="9525">
            <a:noFill/>
            <a:miter lim="800000"/>
            <a:headEnd/>
            <a:tailEnd/>
          </a:ln>
        </p:spPr>
      </p:pic>
      <p:pic>
        <p:nvPicPr>
          <p:cNvPr id="82948" name="Picture 5" descr="23_10Figure-L"/>
          <p:cNvPicPr>
            <a:picLocks noChangeAspect="1" noChangeArrowheads="1"/>
          </p:cNvPicPr>
          <p:nvPr/>
        </p:nvPicPr>
        <p:blipFill>
          <a:blip r:embed="rId3"/>
          <a:srcRect l="50000" b="35414"/>
          <a:stretch>
            <a:fillRect/>
          </a:stretch>
        </p:blipFill>
        <p:spPr bwMode="auto">
          <a:xfrm>
            <a:off x="4854575" y="3879850"/>
            <a:ext cx="4289425" cy="2978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26"/>
          <p:cNvSpPr>
            <a:spLocks noGrp="1" noChangeArrowheads="1"/>
          </p:cNvSpPr>
          <p:nvPr>
            <p:ph type="title"/>
          </p:nvPr>
        </p:nvSpPr>
        <p:spPr/>
        <p:txBody>
          <a:bodyPr/>
          <a:lstStyle/>
          <a:p>
            <a:pPr eaLnBrk="1" hangingPunct="1"/>
            <a:r>
              <a:rPr lang="en-US" smtClean="0"/>
              <a:t>Terrestrial Environments</a:t>
            </a:r>
          </a:p>
        </p:txBody>
      </p:sp>
      <p:sp>
        <p:nvSpPr>
          <p:cNvPr id="83971" name="Rectangle 1027"/>
          <p:cNvSpPr>
            <a:spLocks noGrp="1" noChangeArrowheads="1"/>
          </p:cNvSpPr>
          <p:nvPr>
            <p:ph idx="1"/>
          </p:nvPr>
        </p:nvSpPr>
        <p:spPr>
          <a:xfrm>
            <a:off x="477838" y="541338"/>
            <a:ext cx="4016375" cy="2774950"/>
          </a:xfrm>
        </p:spPr>
        <p:txBody>
          <a:bodyPr>
            <a:normAutofit fontScale="77500" lnSpcReduction="20000"/>
          </a:bodyPr>
          <a:lstStyle/>
          <a:p>
            <a:pPr eaLnBrk="1" hangingPunct="1">
              <a:lnSpc>
                <a:spcPct val="140000"/>
              </a:lnSpc>
            </a:pPr>
            <a:endParaRPr lang="en-US" sz="2300" smtClean="0">
              <a:latin typeface="Arial" charset="0"/>
            </a:endParaRPr>
          </a:p>
          <a:p>
            <a:pPr eaLnBrk="1" hangingPunct="1">
              <a:lnSpc>
                <a:spcPct val="140000"/>
              </a:lnSpc>
            </a:pPr>
            <a:r>
              <a:rPr lang="en-US" smtClean="0">
                <a:latin typeface="Arial" charset="0"/>
              </a:rPr>
              <a:t>Most microbial growth takes place on the surfaces of soil particles</a:t>
            </a:r>
          </a:p>
          <a:p>
            <a:pPr eaLnBrk="1" hangingPunct="1">
              <a:lnSpc>
                <a:spcPct val="140000"/>
              </a:lnSpc>
              <a:buFont typeface="Wingdings" pitchFamily="2" charset="2"/>
              <a:buNone/>
            </a:pPr>
            <a:endParaRPr lang="en-US" sz="700" smtClean="0">
              <a:latin typeface="Arial" charset="0"/>
            </a:endParaRPr>
          </a:p>
          <a:p>
            <a:pPr eaLnBrk="1" hangingPunct="1">
              <a:lnSpc>
                <a:spcPct val="140000"/>
              </a:lnSpc>
            </a:pPr>
            <a:r>
              <a:rPr lang="en-US" smtClean="0">
                <a:latin typeface="Arial" charset="0"/>
              </a:rPr>
              <a:t>Soil aggregates can contain many different microenvironments supporting the growth of several types of microbes</a:t>
            </a:r>
          </a:p>
          <a:p>
            <a:pPr eaLnBrk="1" hangingPunct="1">
              <a:lnSpc>
                <a:spcPct val="140000"/>
              </a:lnSpc>
            </a:pPr>
            <a:endParaRPr lang="en-US" smtClean="0">
              <a:latin typeface="Arial" charset="0"/>
            </a:endParaRPr>
          </a:p>
          <a:p>
            <a:pPr eaLnBrk="1" hangingPunct="1">
              <a:lnSpc>
                <a:spcPct val="140000"/>
              </a:lnSpc>
            </a:pPr>
            <a:endParaRPr lang="en-US" smtClean="0">
              <a:latin typeface="Arial" charset="0"/>
            </a:endParaRPr>
          </a:p>
          <a:p>
            <a:pPr eaLnBrk="1" hangingPunct="1">
              <a:lnSpc>
                <a:spcPct val="140000"/>
              </a:lnSpc>
              <a:buFont typeface="Wingdings" pitchFamily="2" charset="2"/>
              <a:buNone/>
            </a:pPr>
            <a:endParaRPr lang="en-US" smtClean="0">
              <a:latin typeface="Arial" charset="0"/>
            </a:endParaRPr>
          </a:p>
        </p:txBody>
      </p:sp>
      <p:pic>
        <p:nvPicPr>
          <p:cNvPr id="83972" name="Picture 9" descr="23_11Figure-L"/>
          <p:cNvPicPr>
            <a:picLocks noChangeAspect="1" noChangeArrowheads="1"/>
          </p:cNvPicPr>
          <p:nvPr/>
        </p:nvPicPr>
        <p:blipFill>
          <a:blip r:embed="rId3"/>
          <a:srcRect b="3127"/>
          <a:stretch>
            <a:fillRect/>
          </a:stretch>
        </p:blipFill>
        <p:spPr bwMode="auto">
          <a:xfrm>
            <a:off x="4198938" y="2843213"/>
            <a:ext cx="4945062" cy="34559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en-US" smtClean="0"/>
              <a:t>Terrestrial Environments</a:t>
            </a:r>
          </a:p>
        </p:txBody>
      </p:sp>
      <p:sp>
        <p:nvSpPr>
          <p:cNvPr id="84995" name="Rectangle 3"/>
          <p:cNvSpPr>
            <a:spLocks noGrp="1" noChangeArrowheads="1"/>
          </p:cNvSpPr>
          <p:nvPr>
            <p:ph idx="1"/>
          </p:nvPr>
        </p:nvSpPr>
        <p:spPr/>
        <p:txBody>
          <a:bodyPr/>
          <a:lstStyle/>
          <a:p>
            <a:pPr eaLnBrk="1" hangingPunct="1"/>
            <a:endParaRPr lang="en-US" sz="2300" smtClean="0">
              <a:latin typeface="Arial" charset="0"/>
            </a:endParaRPr>
          </a:p>
          <a:p>
            <a:pPr eaLnBrk="1" hangingPunct="1"/>
            <a:r>
              <a:rPr lang="en-US" sz="2700" smtClean="0">
                <a:latin typeface="Arial" charset="0"/>
              </a:rPr>
              <a:t>The availability of water is the most important factor in influencing microbial activity in surface soils</a:t>
            </a:r>
          </a:p>
          <a:p>
            <a:pPr lvl="1" eaLnBrk="1" hangingPunct="1"/>
            <a:r>
              <a:rPr lang="en-US" sz="2300" smtClean="0">
                <a:latin typeface="Arial" charset="0"/>
              </a:rPr>
              <a:t>Nutrient availability is the most important factor in subsurface environments</a:t>
            </a:r>
          </a:p>
          <a:p>
            <a:pPr eaLnBrk="1" hangingPunct="1"/>
            <a:endParaRPr lang="en-US" sz="2300" smtClean="0">
              <a:latin typeface="Arial" charset="0"/>
            </a:endParaRPr>
          </a:p>
          <a:p>
            <a:pPr eaLnBrk="1" hangingPunct="1"/>
            <a:endParaRPr lang="en-US" sz="2300" smtClean="0">
              <a:latin typeface="Arial" charset="0"/>
            </a:endParaRPr>
          </a:p>
          <a:p>
            <a:pPr eaLnBrk="1" hangingPunct="1"/>
            <a:endParaRPr lang="en-US" sz="2300" smtClean="0">
              <a:latin typeface="Arial" charset="0"/>
            </a:endParaRPr>
          </a:p>
          <a:p>
            <a:pPr eaLnBrk="1" hangingPunct="1">
              <a:buFont typeface="Wingdings" pitchFamily="2" charset="2"/>
              <a:buNone/>
            </a:pPr>
            <a:endParaRPr lang="en-US" sz="2300" smtClean="0">
              <a:latin typeface="Arial" charset="0"/>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6"/>
          <p:cNvSpPr>
            <a:spLocks noGrp="1" noChangeArrowheads="1"/>
          </p:cNvSpPr>
          <p:nvPr>
            <p:ph type="title"/>
          </p:nvPr>
        </p:nvSpPr>
        <p:spPr/>
        <p:txBody>
          <a:bodyPr/>
          <a:lstStyle/>
          <a:p>
            <a:pPr eaLnBrk="1" hangingPunct="1"/>
            <a:r>
              <a:rPr lang="en-US" smtClean="0"/>
              <a:t>Plants as Microbial Habitats</a:t>
            </a:r>
          </a:p>
        </p:txBody>
      </p:sp>
      <p:sp>
        <p:nvSpPr>
          <p:cNvPr id="86019" name="Rectangle 1027"/>
          <p:cNvSpPr>
            <a:spLocks noGrp="1" noChangeArrowheads="1"/>
          </p:cNvSpPr>
          <p:nvPr>
            <p:ph idx="1"/>
          </p:nvPr>
        </p:nvSpPr>
        <p:spPr>
          <a:xfrm>
            <a:off x="431800" y="815975"/>
            <a:ext cx="8204200" cy="4964113"/>
          </a:xfrm>
        </p:spPr>
        <p:txBody>
          <a:bodyPr>
            <a:normAutofit fontScale="85000" lnSpcReduction="20000"/>
          </a:bodyPr>
          <a:lstStyle/>
          <a:p>
            <a:pPr eaLnBrk="1" hangingPunct="1">
              <a:lnSpc>
                <a:spcPct val="130000"/>
              </a:lnSpc>
            </a:pPr>
            <a:endParaRPr lang="en-US" sz="2700" i="1" u="sng" dirty="0" smtClean="0">
              <a:latin typeface="Arial" charset="0"/>
            </a:endParaRPr>
          </a:p>
          <a:p>
            <a:pPr eaLnBrk="1" hangingPunct="1">
              <a:lnSpc>
                <a:spcPct val="130000"/>
              </a:lnSpc>
            </a:pPr>
            <a:endParaRPr lang="en-US" sz="2700" i="1" u="sng" dirty="0" smtClean="0">
              <a:latin typeface="Arial" charset="0"/>
            </a:endParaRPr>
          </a:p>
          <a:p>
            <a:pPr eaLnBrk="1" hangingPunct="1">
              <a:lnSpc>
                <a:spcPct val="130000"/>
              </a:lnSpc>
            </a:pPr>
            <a:r>
              <a:rPr lang="en-US" sz="2700" i="1" u="sng" dirty="0" err="1" smtClean="0">
                <a:latin typeface="Arial" charset="0"/>
              </a:rPr>
              <a:t>Rhizosphere</a:t>
            </a:r>
            <a:endParaRPr lang="en-US" sz="2700" dirty="0" smtClean="0">
              <a:latin typeface="Arial" charset="0"/>
            </a:endParaRPr>
          </a:p>
          <a:p>
            <a:pPr lvl="1" eaLnBrk="1" hangingPunct="1">
              <a:lnSpc>
                <a:spcPct val="130000"/>
              </a:lnSpc>
            </a:pPr>
            <a:r>
              <a:rPr lang="en-US" sz="2300" dirty="0" smtClean="0">
                <a:latin typeface="Arial" charset="0"/>
              </a:rPr>
              <a:t>The region immediately outside the root</a:t>
            </a:r>
          </a:p>
          <a:p>
            <a:pPr lvl="1" eaLnBrk="1" hangingPunct="1">
              <a:lnSpc>
                <a:spcPct val="130000"/>
              </a:lnSpc>
            </a:pPr>
            <a:r>
              <a:rPr lang="en-US" sz="2300" dirty="0" smtClean="0">
                <a:latin typeface="Arial" charset="0"/>
              </a:rPr>
              <a:t>Soil zone where microbial activity is usually high</a:t>
            </a:r>
          </a:p>
          <a:p>
            <a:pPr eaLnBrk="1" hangingPunct="1">
              <a:lnSpc>
                <a:spcPct val="130000"/>
              </a:lnSpc>
            </a:pPr>
            <a:r>
              <a:rPr lang="en-US" sz="2700" i="1" u="sng" dirty="0" err="1" smtClean="0">
                <a:latin typeface="Arial" charset="0"/>
              </a:rPr>
              <a:t>Phyllosphere</a:t>
            </a:r>
            <a:endParaRPr lang="en-US" sz="2700" dirty="0" smtClean="0">
              <a:latin typeface="Arial" charset="0"/>
            </a:endParaRPr>
          </a:p>
          <a:p>
            <a:pPr lvl="1" eaLnBrk="1" hangingPunct="1">
              <a:lnSpc>
                <a:spcPct val="130000"/>
              </a:lnSpc>
            </a:pPr>
            <a:r>
              <a:rPr lang="en-US" sz="2300" dirty="0" smtClean="0">
                <a:latin typeface="Arial" charset="0"/>
              </a:rPr>
              <a:t>The surface of plant leaf</a:t>
            </a:r>
          </a:p>
          <a:p>
            <a:pPr eaLnBrk="1" hangingPunct="1">
              <a:lnSpc>
                <a:spcPct val="130000"/>
              </a:lnSpc>
            </a:pPr>
            <a:r>
              <a:rPr lang="en-US" sz="2700" dirty="0" smtClean="0">
                <a:latin typeface="Arial" charset="0"/>
              </a:rPr>
              <a:t>Microbial communities form in both the </a:t>
            </a:r>
            <a:r>
              <a:rPr lang="en-US" sz="2700" dirty="0" err="1" smtClean="0">
                <a:latin typeface="Arial" charset="0"/>
              </a:rPr>
              <a:t>rhizosphere</a:t>
            </a:r>
            <a:r>
              <a:rPr lang="en-US" sz="2700" dirty="0" smtClean="0">
                <a:latin typeface="Arial" charset="0"/>
              </a:rPr>
              <a:t> and </a:t>
            </a:r>
            <a:r>
              <a:rPr lang="en-US" sz="2700" dirty="0" err="1" smtClean="0">
                <a:latin typeface="Arial" charset="0"/>
              </a:rPr>
              <a:t>phyllosphere</a:t>
            </a:r>
            <a:r>
              <a:rPr lang="en-US" sz="2700" dirty="0" smtClean="0">
                <a:latin typeface="Arial" charset="0"/>
              </a:rPr>
              <a:t> of plants</a:t>
            </a:r>
          </a:p>
          <a:p>
            <a:pPr eaLnBrk="1" hangingPunct="1">
              <a:lnSpc>
                <a:spcPct val="130000"/>
              </a:lnSpc>
            </a:pPr>
            <a:r>
              <a:rPr lang="en-US" sz="2200" dirty="0" smtClean="0">
                <a:latin typeface="Arial" charset="0"/>
              </a:rPr>
              <a:t>Microbes can prove both beneficial and harmful to plants</a:t>
            </a:r>
          </a:p>
          <a:p>
            <a:pPr eaLnBrk="1" hangingPunct="1">
              <a:lnSpc>
                <a:spcPct val="130000"/>
              </a:lnSpc>
            </a:pPr>
            <a:r>
              <a:rPr lang="en-US" sz="2200" dirty="0" smtClean="0">
                <a:latin typeface="Arial" charset="0"/>
              </a:rPr>
              <a:t>Many bacterial and fungal </a:t>
            </a:r>
            <a:r>
              <a:rPr lang="en-US" sz="2200" dirty="0" err="1" smtClean="0">
                <a:latin typeface="Arial" charset="0"/>
              </a:rPr>
              <a:t>phytopathogens</a:t>
            </a:r>
            <a:r>
              <a:rPr lang="en-US" sz="2200" dirty="0" smtClean="0">
                <a:latin typeface="Arial" charset="0"/>
              </a:rPr>
              <a:t> are known</a:t>
            </a:r>
            <a:endParaRPr lang="en-US" sz="2700" dirty="0" smtClean="0">
              <a:latin typeface="Arial" charset="0"/>
            </a:endParaRPr>
          </a:p>
          <a:p>
            <a:pPr eaLnBrk="1" hangingPunct="1">
              <a:lnSpc>
                <a:spcPct val="130000"/>
              </a:lnSpc>
            </a:pPr>
            <a:endParaRPr lang="en-US" sz="2700" dirty="0" smtClean="0">
              <a:latin typeface="Arial" charset="0"/>
            </a:endParaRPr>
          </a:p>
          <a:p>
            <a:pPr eaLnBrk="1" hangingPunct="1">
              <a:lnSpc>
                <a:spcPct val="130000"/>
              </a:lnSpc>
            </a:pPr>
            <a:endParaRPr lang="en-US" sz="2300" dirty="0" smtClean="0">
              <a:latin typeface="Arial" charset="0"/>
            </a:endParaRPr>
          </a:p>
          <a:p>
            <a:pPr eaLnBrk="1" hangingPunct="1">
              <a:lnSpc>
                <a:spcPct val="130000"/>
              </a:lnSpc>
            </a:pPr>
            <a:endParaRPr lang="en-US" sz="2300" dirty="0" smtClean="0">
              <a:latin typeface="Arial" charset="0"/>
            </a:endParaRPr>
          </a:p>
          <a:p>
            <a:pPr eaLnBrk="1" hangingPunct="1">
              <a:lnSpc>
                <a:spcPct val="130000"/>
              </a:lnSpc>
              <a:buFont typeface="Wingdings" pitchFamily="2" charset="2"/>
              <a:buNone/>
            </a:pPr>
            <a:endParaRPr lang="en-US" sz="2300" dirty="0" smtClean="0">
              <a:latin typeface="Arial" charset="0"/>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en-US" smtClean="0"/>
              <a:t>Freshwater Environments</a:t>
            </a:r>
          </a:p>
        </p:txBody>
      </p:sp>
      <p:sp>
        <p:nvSpPr>
          <p:cNvPr id="87043" name="Rectangle 3"/>
          <p:cNvSpPr>
            <a:spLocks noGrp="1" noChangeArrowheads="1"/>
          </p:cNvSpPr>
          <p:nvPr>
            <p:ph idx="1"/>
          </p:nvPr>
        </p:nvSpPr>
        <p:spPr>
          <a:xfrm>
            <a:off x="442913" y="838201"/>
            <a:ext cx="8204200" cy="5392738"/>
          </a:xfrm>
        </p:spPr>
        <p:txBody>
          <a:bodyPr/>
          <a:lstStyle/>
          <a:p>
            <a:pPr eaLnBrk="1" hangingPunct="1"/>
            <a:endParaRPr lang="en-US" sz="2300" dirty="0" smtClean="0">
              <a:latin typeface="Arial" charset="0"/>
            </a:endParaRPr>
          </a:p>
          <a:p>
            <a:pPr eaLnBrk="1" hangingPunct="1"/>
            <a:endParaRPr lang="en-US" sz="2300" dirty="0" smtClean="0">
              <a:latin typeface="Arial" charset="0"/>
            </a:endParaRPr>
          </a:p>
          <a:p>
            <a:pPr eaLnBrk="1" hangingPunct="1"/>
            <a:r>
              <a:rPr lang="en-US" sz="2300" dirty="0" smtClean="0">
                <a:latin typeface="Arial" charset="0"/>
              </a:rPr>
              <a:t>Freshwater environments are highly variable in the resources and conditions available for microbial growth</a:t>
            </a:r>
          </a:p>
          <a:p>
            <a:pPr eaLnBrk="1" hangingPunct="1">
              <a:buFont typeface="Wingdings" pitchFamily="2" charset="2"/>
              <a:buNone/>
            </a:pPr>
            <a:endParaRPr lang="en-US" sz="700" dirty="0" smtClean="0">
              <a:latin typeface="Arial" charset="0"/>
            </a:endParaRPr>
          </a:p>
          <a:p>
            <a:pPr eaLnBrk="1" hangingPunct="1"/>
            <a:r>
              <a:rPr lang="en-US" sz="2300" dirty="0" smtClean="0">
                <a:latin typeface="Arial" charset="0"/>
              </a:rPr>
              <a:t>The balance between photosynthesis and respiration controls the oxygen and carbon cycles </a:t>
            </a:r>
          </a:p>
          <a:p>
            <a:pPr eaLnBrk="1" hangingPunct="1">
              <a:buFont typeface="Wingdings" pitchFamily="2" charset="2"/>
              <a:buNone/>
            </a:pPr>
            <a:endParaRPr lang="en-US" sz="700" dirty="0" smtClean="0">
              <a:latin typeface="Arial" charset="0"/>
            </a:endParaRPr>
          </a:p>
          <a:p>
            <a:pPr eaLnBrk="1" hangingPunct="1"/>
            <a:r>
              <a:rPr lang="en-US" sz="2300" i="1" u="sng" dirty="0" smtClean="0">
                <a:latin typeface="Arial" charset="0"/>
              </a:rPr>
              <a:t>Phytoplankton</a:t>
            </a:r>
            <a:r>
              <a:rPr lang="en-US" sz="2300" dirty="0" smtClean="0">
                <a:latin typeface="Arial" charset="0"/>
              </a:rPr>
              <a:t>: oxygenic </a:t>
            </a:r>
            <a:r>
              <a:rPr lang="en-US" sz="2300" dirty="0" err="1" smtClean="0">
                <a:latin typeface="Arial" charset="0"/>
              </a:rPr>
              <a:t>phototrophs</a:t>
            </a:r>
            <a:r>
              <a:rPr lang="en-US" sz="2300" dirty="0" smtClean="0">
                <a:latin typeface="Arial" charset="0"/>
              </a:rPr>
              <a:t> suspended freely in water; include algae and </a:t>
            </a:r>
            <a:r>
              <a:rPr lang="en-US" sz="2300" dirty="0" err="1" smtClean="0">
                <a:latin typeface="Arial" charset="0"/>
              </a:rPr>
              <a:t>cyanobacteria</a:t>
            </a:r>
            <a:endParaRPr lang="en-US" sz="2300" dirty="0" smtClean="0">
              <a:latin typeface="Arial" charset="0"/>
            </a:endParaRPr>
          </a:p>
          <a:p>
            <a:pPr eaLnBrk="1" hangingPunct="1">
              <a:buFont typeface="Wingdings" pitchFamily="2" charset="2"/>
              <a:buNone/>
            </a:pPr>
            <a:endParaRPr lang="en-US" sz="700" dirty="0" smtClean="0">
              <a:latin typeface="Arial" charset="0"/>
            </a:endParaRPr>
          </a:p>
          <a:p>
            <a:pPr eaLnBrk="1" hangingPunct="1"/>
            <a:r>
              <a:rPr lang="en-US" sz="2300" i="1" u="sng" dirty="0" smtClean="0">
                <a:latin typeface="Arial" charset="0"/>
              </a:rPr>
              <a:t>Benthic species</a:t>
            </a:r>
            <a:r>
              <a:rPr lang="en-US" sz="2300" dirty="0" smtClean="0">
                <a:latin typeface="Arial" charset="0"/>
              </a:rPr>
              <a:t> are attached to the bottom or sides of a lake or stream</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026"/>
          <p:cNvSpPr>
            <a:spLocks noGrp="1" noChangeArrowheads="1"/>
          </p:cNvSpPr>
          <p:nvPr>
            <p:ph type="title"/>
          </p:nvPr>
        </p:nvSpPr>
        <p:spPr/>
        <p:txBody>
          <a:bodyPr/>
          <a:lstStyle/>
          <a:p>
            <a:pPr eaLnBrk="1" hangingPunct="1"/>
            <a:r>
              <a:rPr lang="en-US" smtClean="0"/>
              <a:t>Freshwater Environments</a:t>
            </a:r>
          </a:p>
        </p:txBody>
      </p:sp>
      <p:sp>
        <p:nvSpPr>
          <p:cNvPr id="88067" name="Rectangle 1027"/>
          <p:cNvSpPr>
            <a:spLocks noGrp="1" noChangeArrowheads="1"/>
          </p:cNvSpPr>
          <p:nvPr>
            <p:ph idx="1"/>
          </p:nvPr>
        </p:nvSpPr>
        <p:spPr>
          <a:xfrm>
            <a:off x="442913" y="1073150"/>
            <a:ext cx="8204200" cy="5184775"/>
          </a:xfrm>
        </p:spPr>
        <p:txBody>
          <a:bodyPr/>
          <a:lstStyle/>
          <a:p>
            <a:pPr eaLnBrk="1" hangingPunct="1"/>
            <a:r>
              <a:rPr lang="en-US" sz="2300" smtClean="0">
                <a:latin typeface="Arial" charset="0"/>
              </a:rPr>
              <a:t>The activity of heterotrophic microbes in aquatic systems is highly dependent upon activity of </a:t>
            </a:r>
            <a:r>
              <a:rPr lang="en-US" sz="2300" i="1" u="sng" smtClean="0">
                <a:latin typeface="Arial" charset="0"/>
              </a:rPr>
              <a:t>primary producers</a:t>
            </a:r>
            <a:r>
              <a:rPr lang="en-US" sz="2300" smtClean="0">
                <a:latin typeface="Arial" charset="0"/>
              </a:rPr>
              <a:t>; oxygenic phototrophs produce organic material and oxygen</a:t>
            </a:r>
          </a:p>
          <a:p>
            <a:pPr eaLnBrk="1" hangingPunct="1">
              <a:buFont typeface="Wingdings" pitchFamily="2" charset="2"/>
              <a:buNone/>
            </a:pPr>
            <a:endParaRPr lang="en-US" sz="700" smtClean="0">
              <a:latin typeface="Arial" charset="0"/>
            </a:endParaRPr>
          </a:p>
          <a:p>
            <a:pPr eaLnBrk="1" hangingPunct="1"/>
            <a:r>
              <a:rPr lang="en-US" sz="2300" smtClean="0">
                <a:latin typeface="Arial" charset="0"/>
              </a:rPr>
              <a:t>Oxygen has limited solubility in water; once consumed in freshwater lakes the deep layers can become anoxic</a:t>
            </a:r>
          </a:p>
          <a:p>
            <a:pPr eaLnBrk="1" hangingPunct="1">
              <a:buFont typeface="Wingdings" pitchFamily="2" charset="2"/>
              <a:buNone/>
            </a:pPr>
            <a:endParaRPr lang="en-US" sz="700" smtClean="0">
              <a:latin typeface="Arial" charset="0"/>
            </a:endParaRPr>
          </a:p>
          <a:p>
            <a:pPr eaLnBrk="1" hangingPunct="1"/>
            <a:r>
              <a:rPr lang="en-US" sz="2300" smtClean="0">
                <a:latin typeface="Arial" charset="0"/>
              </a:rPr>
              <a:t>Oxygen concentrations in aquatic systems is dependent on the amount of organic matter present and the physical mixing of the system</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26"/>
          <p:cNvSpPr>
            <a:spLocks noGrp="1" noChangeArrowheads="1"/>
          </p:cNvSpPr>
          <p:nvPr>
            <p:ph type="title"/>
          </p:nvPr>
        </p:nvSpPr>
        <p:spPr/>
        <p:txBody>
          <a:bodyPr/>
          <a:lstStyle/>
          <a:p>
            <a:pPr eaLnBrk="1" hangingPunct="1"/>
            <a:r>
              <a:rPr lang="en-US" smtClean="0"/>
              <a:t>Freshwater Environments</a:t>
            </a:r>
          </a:p>
        </p:txBody>
      </p:sp>
      <p:sp>
        <p:nvSpPr>
          <p:cNvPr id="89091" name="Rectangle 1027"/>
          <p:cNvSpPr>
            <a:spLocks noGrp="1" noChangeArrowheads="1"/>
          </p:cNvSpPr>
          <p:nvPr>
            <p:ph idx="1"/>
          </p:nvPr>
        </p:nvSpPr>
        <p:spPr>
          <a:xfrm>
            <a:off x="338138" y="438150"/>
            <a:ext cx="8197850" cy="2149475"/>
          </a:xfrm>
        </p:spPr>
        <p:txBody>
          <a:bodyPr>
            <a:normAutofit fontScale="92500"/>
          </a:bodyPr>
          <a:lstStyle/>
          <a:p>
            <a:pPr eaLnBrk="1" hangingPunct="1"/>
            <a:endParaRPr lang="en-US" sz="2300" dirty="0" smtClean="0">
              <a:latin typeface="Arial" charset="0"/>
            </a:endParaRPr>
          </a:p>
          <a:p>
            <a:pPr eaLnBrk="1" hangingPunct="1"/>
            <a:endParaRPr lang="en-US" sz="2700" i="1" u="sng" dirty="0" smtClean="0">
              <a:latin typeface="Arial" charset="0"/>
            </a:endParaRPr>
          </a:p>
          <a:p>
            <a:pPr eaLnBrk="1" hangingPunct="1"/>
            <a:endParaRPr lang="en-US" sz="2700" i="1" u="sng" dirty="0" smtClean="0">
              <a:latin typeface="Arial" charset="0"/>
            </a:endParaRPr>
          </a:p>
          <a:p>
            <a:pPr eaLnBrk="1" hangingPunct="1"/>
            <a:r>
              <a:rPr lang="en-US" sz="2700" i="1" u="sng" dirty="0" smtClean="0">
                <a:latin typeface="Arial" charset="0"/>
              </a:rPr>
              <a:t>Biochemical Oxygen Demand (BOD)</a:t>
            </a:r>
            <a:endParaRPr lang="en-US" sz="2700" dirty="0" smtClean="0">
              <a:latin typeface="Arial" charset="0"/>
            </a:endParaRPr>
          </a:p>
          <a:p>
            <a:pPr lvl="1" eaLnBrk="1" hangingPunct="1"/>
            <a:r>
              <a:rPr lang="en-US" sz="2300" dirty="0" smtClean="0">
                <a:latin typeface="Arial" charset="0"/>
              </a:rPr>
              <a:t>The microbial oxygen-consuming capacity of a body of water</a:t>
            </a:r>
          </a:p>
          <a:p>
            <a:pPr eaLnBrk="1" hangingPunct="1"/>
            <a:endParaRPr lang="en-US" sz="2300" dirty="0" smtClean="0">
              <a:latin typeface="Arial" charset="0"/>
            </a:endParaRPr>
          </a:p>
          <a:p>
            <a:pPr eaLnBrk="1" hangingPunct="1"/>
            <a:endParaRPr lang="en-US" sz="2300" dirty="0" smtClean="0">
              <a:latin typeface="Arial" charset="0"/>
            </a:endParaRPr>
          </a:p>
          <a:p>
            <a:pPr eaLnBrk="1" hangingPunct="1"/>
            <a:endParaRPr lang="en-US" sz="2300" dirty="0" smtClean="0">
              <a:latin typeface="Arial" charset="0"/>
            </a:endParaRPr>
          </a:p>
          <a:p>
            <a:pPr eaLnBrk="1" hangingPunct="1">
              <a:buFont typeface="Wingdings" pitchFamily="2" charset="2"/>
              <a:buNone/>
            </a:pPr>
            <a:endParaRPr lang="en-US" sz="2300" dirty="0" smtClean="0">
              <a:latin typeface="Arial" charset="0"/>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26"/>
          <p:cNvSpPr>
            <a:spLocks noGrp="1" noChangeArrowheads="1"/>
          </p:cNvSpPr>
          <p:nvPr>
            <p:ph type="title"/>
          </p:nvPr>
        </p:nvSpPr>
        <p:spPr/>
        <p:txBody>
          <a:bodyPr/>
          <a:lstStyle/>
          <a:p>
            <a:pPr eaLnBrk="1" hangingPunct="1"/>
            <a:r>
              <a:rPr lang="en-US" smtClean="0"/>
              <a:t>Open Oceans</a:t>
            </a:r>
          </a:p>
        </p:txBody>
      </p:sp>
      <p:sp>
        <p:nvSpPr>
          <p:cNvPr id="90115" name="Rectangle 1027"/>
          <p:cNvSpPr>
            <a:spLocks noGrp="1" noChangeArrowheads="1"/>
          </p:cNvSpPr>
          <p:nvPr>
            <p:ph idx="1"/>
          </p:nvPr>
        </p:nvSpPr>
        <p:spPr>
          <a:xfrm>
            <a:off x="442913" y="1030288"/>
            <a:ext cx="8204200" cy="5102225"/>
          </a:xfrm>
        </p:spPr>
        <p:txBody>
          <a:bodyPr/>
          <a:lstStyle/>
          <a:p>
            <a:pPr eaLnBrk="1" hangingPunct="1">
              <a:lnSpc>
                <a:spcPct val="130000"/>
              </a:lnSpc>
            </a:pPr>
            <a:r>
              <a:rPr lang="en-US" smtClean="0">
                <a:latin typeface="Arial" charset="0"/>
              </a:rPr>
              <a:t>Compared with most freshwater environments, the open ocean environment is </a:t>
            </a:r>
          </a:p>
          <a:p>
            <a:pPr lvl="1" eaLnBrk="1" hangingPunct="1">
              <a:lnSpc>
                <a:spcPct val="140000"/>
              </a:lnSpc>
            </a:pPr>
            <a:r>
              <a:rPr lang="en-US" sz="2200" smtClean="0">
                <a:latin typeface="Arial" charset="0"/>
              </a:rPr>
              <a:t>Saline</a:t>
            </a:r>
          </a:p>
          <a:p>
            <a:pPr lvl="1" eaLnBrk="1" hangingPunct="1">
              <a:lnSpc>
                <a:spcPct val="140000"/>
              </a:lnSpc>
            </a:pPr>
            <a:r>
              <a:rPr lang="en-US" sz="2200" smtClean="0">
                <a:latin typeface="Arial" charset="0"/>
              </a:rPr>
              <a:t>Low nutrient; especially with respect to nitrogen, phosphorus, and iron</a:t>
            </a:r>
          </a:p>
          <a:p>
            <a:pPr lvl="1" eaLnBrk="1" hangingPunct="1">
              <a:lnSpc>
                <a:spcPct val="140000"/>
              </a:lnSpc>
            </a:pPr>
            <a:r>
              <a:rPr lang="en-US" sz="2200" smtClean="0">
                <a:latin typeface="Arial" charset="0"/>
              </a:rPr>
              <a:t>Cooler</a:t>
            </a:r>
          </a:p>
          <a:p>
            <a:pPr eaLnBrk="1" hangingPunct="1">
              <a:lnSpc>
                <a:spcPct val="140000"/>
              </a:lnSpc>
            </a:pPr>
            <a:r>
              <a:rPr lang="en-US" smtClean="0">
                <a:latin typeface="Arial" charset="0"/>
              </a:rPr>
              <a:t>Nearshore marine waters typically contain higher microbial numbers than the open ocean because of higher nutrient levels</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r>
              <a:rPr lang="en-US" sz="2900">
                <a:solidFill>
                  <a:srgbClr val="404040"/>
                </a:solidFill>
                <a:latin typeface="Arial Narrow" pitchFamily="34" charset="0"/>
              </a:rPr>
              <a:t>Distribution of Chlorophyll in the Western North Atlantic</a:t>
            </a:r>
          </a:p>
        </p:txBody>
      </p:sp>
      <p:sp>
        <p:nvSpPr>
          <p:cNvPr id="91139" name="Text Box 4"/>
          <p:cNvSpPr txBox="1">
            <a:spLocks noChangeArrowheads="1"/>
          </p:cNvSpPr>
          <p:nvPr/>
        </p:nvSpPr>
        <p:spPr bwMode="auto">
          <a:xfrm>
            <a:off x="7791450" y="6107113"/>
            <a:ext cx="1074738" cy="252412"/>
          </a:xfrm>
          <a:prstGeom prst="rect">
            <a:avLst/>
          </a:prstGeom>
          <a:noFill/>
          <a:ln w="9525">
            <a:noFill/>
            <a:miter lim="800000"/>
            <a:headEnd/>
            <a:tailEnd/>
          </a:ln>
        </p:spPr>
        <p:txBody>
          <a:bodyPr lIns="82058" tIns="41029" rIns="82058" bIns="41029">
            <a:spAutoFit/>
          </a:bodyPr>
          <a:lstStyle/>
          <a:p>
            <a:pPr algn="r"/>
            <a:r>
              <a:rPr lang="en-US" sz="1100">
                <a:ea typeface="ＭＳ Ｐゴシック" pitchFamily="1" charset="-128"/>
              </a:rPr>
              <a:t>Figure 23.14</a:t>
            </a:r>
          </a:p>
        </p:txBody>
      </p:sp>
      <p:pic>
        <p:nvPicPr>
          <p:cNvPr id="91140" name="Picture 5" descr="23_14Figure-L"/>
          <p:cNvPicPr>
            <a:picLocks noChangeAspect="1" noChangeArrowheads="1"/>
          </p:cNvPicPr>
          <p:nvPr/>
        </p:nvPicPr>
        <p:blipFill>
          <a:blip r:embed="rId3"/>
          <a:srcRect b="2905"/>
          <a:stretch>
            <a:fillRect/>
          </a:stretch>
        </p:blipFill>
        <p:spPr bwMode="auto">
          <a:xfrm>
            <a:off x="1706563" y="1011238"/>
            <a:ext cx="5730875" cy="5149850"/>
          </a:xfrm>
          <a:prstGeom prst="rect">
            <a:avLst/>
          </a:prstGeom>
          <a:noFill/>
          <a:ln w="9525">
            <a:noFill/>
            <a:miter lim="800000"/>
            <a:headEnd/>
            <a:tailEnd/>
          </a:ln>
        </p:spPr>
      </p:pic>
      <p:sp>
        <p:nvSpPr>
          <p:cNvPr id="91141" name="TextBox 4"/>
          <p:cNvSpPr txBox="1">
            <a:spLocks noChangeArrowheads="1"/>
          </p:cNvSpPr>
          <p:nvPr/>
        </p:nvSpPr>
        <p:spPr bwMode="auto">
          <a:xfrm>
            <a:off x="7310438" y="1458913"/>
            <a:ext cx="1833562" cy="1930400"/>
          </a:xfrm>
          <a:prstGeom prst="rect">
            <a:avLst/>
          </a:prstGeom>
          <a:noFill/>
          <a:ln w="9525">
            <a:noFill/>
            <a:miter lim="800000"/>
            <a:headEnd/>
            <a:tailEnd/>
          </a:ln>
        </p:spPr>
        <p:txBody>
          <a:bodyPr lIns="82058" tIns="41029" rIns="82058" bIns="41029">
            <a:spAutoFit/>
          </a:bodyPr>
          <a:lstStyle/>
          <a:p>
            <a:r>
              <a:rPr lang="en-US"/>
              <a:t>Red areas are high in Chlorophyll. (phytoplankton)</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n-US" smtClean="0"/>
              <a:t>Open Oceans</a:t>
            </a:r>
          </a:p>
        </p:txBody>
      </p:sp>
      <p:sp>
        <p:nvSpPr>
          <p:cNvPr id="92163" name="Rectangle 3"/>
          <p:cNvSpPr>
            <a:spLocks noGrp="1" noChangeArrowheads="1"/>
          </p:cNvSpPr>
          <p:nvPr>
            <p:ph idx="1"/>
          </p:nvPr>
        </p:nvSpPr>
        <p:spPr>
          <a:xfrm>
            <a:off x="442913" y="838200"/>
            <a:ext cx="8204200" cy="5378450"/>
          </a:xfrm>
        </p:spPr>
        <p:txBody>
          <a:bodyPr/>
          <a:lstStyle/>
          <a:p>
            <a:pPr eaLnBrk="1" hangingPunct="1"/>
            <a:endParaRPr lang="en-US" sz="2700" dirty="0" smtClean="0">
              <a:latin typeface="Arial" charset="0"/>
            </a:endParaRPr>
          </a:p>
          <a:p>
            <a:pPr eaLnBrk="1" hangingPunct="1"/>
            <a:endParaRPr lang="en-US" sz="2700" dirty="0" smtClean="0">
              <a:latin typeface="Arial" charset="0"/>
            </a:endParaRPr>
          </a:p>
          <a:p>
            <a:pPr eaLnBrk="1" hangingPunct="1"/>
            <a:r>
              <a:rPr lang="en-US" sz="2700" dirty="0" smtClean="0">
                <a:latin typeface="Arial" charset="0"/>
              </a:rPr>
              <a:t>Most of the primary productivity in the open oceans is due to photosynthesis by </a:t>
            </a:r>
            <a:r>
              <a:rPr lang="en-US" sz="2700" dirty="0" err="1" smtClean="0">
                <a:latin typeface="Arial" charset="0"/>
              </a:rPr>
              <a:t>prochlorophytes</a:t>
            </a:r>
            <a:endParaRPr lang="en-US" sz="2700" dirty="0" smtClean="0">
              <a:latin typeface="Arial" charset="0"/>
            </a:endParaRPr>
          </a:p>
          <a:p>
            <a:pPr eaLnBrk="1" hangingPunct="1"/>
            <a:r>
              <a:rPr lang="en-US" sz="2700" b="1" i="1" dirty="0" err="1" smtClean="0">
                <a:latin typeface="Arial" charset="0"/>
              </a:rPr>
              <a:t>Prochlorococcus</a:t>
            </a:r>
            <a:r>
              <a:rPr lang="en-US" sz="2700" dirty="0" smtClean="0">
                <a:latin typeface="Arial" charset="0"/>
              </a:rPr>
              <a:t> accounts for</a:t>
            </a:r>
          </a:p>
          <a:p>
            <a:pPr lvl="1" eaLnBrk="1" hangingPunct="1"/>
            <a:r>
              <a:rPr lang="en-US" sz="2300" dirty="0" smtClean="0">
                <a:latin typeface="Arial" charset="0"/>
              </a:rPr>
              <a:t>&gt; 40% of the biomass of marine </a:t>
            </a:r>
            <a:r>
              <a:rPr lang="en-US" sz="2300" dirty="0" err="1" smtClean="0">
                <a:latin typeface="Arial" charset="0"/>
              </a:rPr>
              <a:t>phototrophs</a:t>
            </a:r>
            <a:r>
              <a:rPr lang="en-US" sz="2300" dirty="0" smtClean="0">
                <a:latin typeface="Arial" charset="0"/>
              </a:rPr>
              <a:t> </a:t>
            </a:r>
          </a:p>
          <a:p>
            <a:pPr lvl="1" eaLnBrk="1" hangingPunct="1"/>
            <a:r>
              <a:rPr lang="en-US" sz="2300" dirty="0" smtClean="0">
                <a:latin typeface="Arial" charset="0"/>
              </a:rPr>
              <a:t>~50% of the net primary production</a:t>
            </a:r>
          </a:p>
          <a:p>
            <a:pPr eaLnBrk="1" hangingPunct="1">
              <a:buFont typeface="Wingdings" pitchFamily="2" charset="2"/>
              <a:buNone/>
            </a:pPr>
            <a:endParaRPr lang="en-US" sz="2300" dirty="0" smtClean="0">
              <a:latin typeface="Arial" charset="0"/>
            </a:endParaRPr>
          </a:p>
          <a:p>
            <a:pPr eaLnBrk="1" hangingPunct="1"/>
            <a:endParaRPr lang="en-US" sz="2300" dirty="0" smtClean="0">
              <a:latin typeface="Arial" charset="0"/>
            </a:endParaRPr>
          </a:p>
          <a:p>
            <a:pPr eaLnBrk="1" hangingPunct="1"/>
            <a:endParaRPr lang="en-US" sz="2300" dirty="0" smtClean="0">
              <a:latin typeface="Arial" charset="0"/>
            </a:endParaRPr>
          </a:p>
          <a:p>
            <a:pPr eaLnBrk="1" hangingPunct="1">
              <a:buFont typeface="Wingdings" pitchFamily="2" charset="2"/>
              <a:buNone/>
            </a:pPr>
            <a:endParaRPr lang="en-US" sz="2300" dirty="0" smtClean="0">
              <a:latin typeface="Arial" charset="0"/>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US" smtClean="0"/>
              <a:t>Open Oceans</a:t>
            </a:r>
          </a:p>
        </p:txBody>
      </p:sp>
      <p:sp>
        <p:nvSpPr>
          <p:cNvPr id="93187" name="Rectangle 3"/>
          <p:cNvSpPr>
            <a:spLocks noGrp="1" noChangeArrowheads="1"/>
          </p:cNvSpPr>
          <p:nvPr>
            <p:ph idx="1"/>
          </p:nvPr>
        </p:nvSpPr>
        <p:spPr>
          <a:xfrm>
            <a:off x="392113" y="1695450"/>
            <a:ext cx="8204200" cy="5573713"/>
          </a:xfrm>
        </p:spPr>
        <p:txBody>
          <a:bodyPr/>
          <a:lstStyle/>
          <a:p>
            <a:pPr eaLnBrk="1" hangingPunct="1"/>
            <a:endParaRPr lang="en-US" sz="2300" smtClean="0">
              <a:latin typeface="Arial" charset="0"/>
            </a:endParaRPr>
          </a:p>
          <a:p>
            <a:pPr eaLnBrk="1" hangingPunct="1"/>
            <a:r>
              <a:rPr lang="en-US" smtClean="0">
                <a:latin typeface="Arial" charset="0"/>
              </a:rPr>
              <a:t>The planktonic filamentous cyanobacterium </a:t>
            </a:r>
            <a:r>
              <a:rPr lang="en-US" i="1" smtClean="0">
                <a:latin typeface="Arial" charset="0"/>
              </a:rPr>
              <a:t>Trichodesmium</a:t>
            </a:r>
            <a:r>
              <a:rPr lang="en-US" smtClean="0">
                <a:latin typeface="Arial" charset="0"/>
              </a:rPr>
              <a:t> is an abundant phototroph in tropical and subtropical oceans</a:t>
            </a:r>
          </a:p>
          <a:p>
            <a:pPr eaLnBrk="1" hangingPunct="1"/>
            <a:r>
              <a:rPr lang="en-US" smtClean="0">
                <a:latin typeface="Arial" charset="0"/>
              </a:rPr>
              <a:t>Small phototrophic eukaryotes, such as </a:t>
            </a:r>
            <a:r>
              <a:rPr lang="en-US" i="1" smtClean="0">
                <a:latin typeface="Arial" charset="0"/>
              </a:rPr>
              <a:t>Ostreococcus</a:t>
            </a:r>
            <a:r>
              <a:rPr lang="en-US" smtClean="0">
                <a:latin typeface="Arial" charset="0"/>
              </a:rPr>
              <a:t>, inhabit coastal and marine waters and are likely important primary producers</a:t>
            </a:r>
          </a:p>
          <a:p>
            <a:pPr eaLnBrk="1" hangingPunct="1"/>
            <a:endParaRPr lang="en-US" smtClean="0">
              <a:latin typeface="Arial" charset="0"/>
            </a:endParaRPr>
          </a:p>
          <a:p>
            <a:pPr eaLnBrk="1" hangingPunct="1">
              <a:buFont typeface="Wingdings" pitchFamily="2" charset="2"/>
              <a:buNone/>
            </a:pPr>
            <a:endParaRPr lang="en-US" smtClean="0">
              <a:latin typeface="Arial" charset="0"/>
            </a:endParaRP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smtClean="0"/>
              <a:t>Open Oceans</a:t>
            </a:r>
          </a:p>
        </p:txBody>
      </p:sp>
      <p:sp>
        <p:nvSpPr>
          <p:cNvPr id="94211" name="Rectangle 3"/>
          <p:cNvSpPr>
            <a:spLocks noGrp="1" noChangeArrowheads="1"/>
          </p:cNvSpPr>
          <p:nvPr>
            <p:ph idx="1"/>
          </p:nvPr>
        </p:nvSpPr>
        <p:spPr/>
        <p:txBody>
          <a:bodyPr/>
          <a:lstStyle/>
          <a:p>
            <a:pPr eaLnBrk="1" hangingPunct="1">
              <a:lnSpc>
                <a:spcPct val="140000"/>
              </a:lnSpc>
            </a:pPr>
            <a:endParaRPr lang="en-US" smtClean="0">
              <a:latin typeface="Arial" charset="0"/>
            </a:endParaRPr>
          </a:p>
          <a:p>
            <a:pPr eaLnBrk="1" hangingPunct="1">
              <a:lnSpc>
                <a:spcPct val="140000"/>
              </a:lnSpc>
            </a:pPr>
            <a:r>
              <a:rPr lang="en-US" smtClean="0">
                <a:latin typeface="Arial" charset="0"/>
              </a:rPr>
              <a:t>Prokaryote densities in the open ocean decrease with depth</a:t>
            </a:r>
          </a:p>
          <a:p>
            <a:pPr eaLnBrk="1" hangingPunct="1">
              <a:lnSpc>
                <a:spcPct val="140000"/>
              </a:lnSpc>
            </a:pPr>
            <a:r>
              <a:rPr lang="en-US" smtClean="0">
                <a:latin typeface="Arial" charset="0"/>
              </a:rPr>
              <a:t>Surface waters contain ~10</a:t>
            </a:r>
            <a:r>
              <a:rPr lang="en-US" baseline="30000" smtClean="0">
                <a:latin typeface="Arial" charset="0"/>
              </a:rPr>
              <a:t>6</a:t>
            </a:r>
            <a:r>
              <a:rPr lang="en-US" smtClean="0">
                <a:latin typeface="Arial" charset="0"/>
              </a:rPr>
              <a:t> cells/ml; below 1,000 m cell numbers drop to 10</a:t>
            </a:r>
            <a:r>
              <a:rPr lang="en-US" baseline="30000" smtClean="0">
                <a:latin typeface="Arial" charset="0"/>
              </a:rPr>
              <a:t>3</a:t>
            </a:r>
            <a:r>
              <a:rPr lang="en-US" smtClean="0">
                <a:latin typeface="Arial" charset="0"/>
              </a:rPr>
              <a:t>–10</a:t>
            </a:r>
            <a:r>
              <a:rPr lang="en-US" baseline="30000" smtClean="0">
                <a:latin typeface="Arial" charset="0"/>
              </a:rPr>
              <a:t>5</a:t>
            </a:r>
            <a:r>
              <a:rPr lang="en-US" smtClean="0">
                <a:latin typeface="Arial" charset="0"/>
              </a:rPr>
              <a:t>/ml</a:t>
            </a:r>
          </a:p>
          <a:p>
            <a:pPr eaLnBrk="1" hangingPunct="1">
              <a:lnSpc>
                <a:spcPct val="140000"/>
              </a:lnSpc>
            </a:pPr>
            <a:r>
              <a:rPr lang="en-US" smtClean="0">
                <a:latin typeface="Arial" charset="0"/>
              </a:rPr>
              <a:t>Bacterial species tend to dominate in surface waters and Archaeal species dominate in deeper waters</a:t>
            </a:r>
          </a:p>
          <a:p>
            <a:pPr lvl="1" eaLnBrk="1" hangingPunct="1">
              <a:lnSpc>
                <a:spcPct val="140000"/>
              </a:lnSpc>
            </a:pPr>
            <a:endParaRPr lang="en-US" smtClean="0">
              <a:latin typeface="Arial" charset="0"/>
            </a:endParaRPr>
          </a:p>
          <a:p>
            <a:pPr eaLnBrk="1" hangingPunct="1">
              <a:lnSpc>
                <a:spcPct val="140000"/>
              </a:lnSpc>
            </a:pPr>
            <a:endParaRPr lang="en-US" smtClean="0">
              <a:latin typeface="Arial" charset="0"/>
            </a:endParaRPr>
          </a:p>
          <a:p>
            <a:pPr eaLnBrk="1" hangingPunct="1">
              <a:lnSpc>
                <a:spcPct val="140000"/>
              </a:lnSpc>
            </a:pPr>
            <a:endParaRPr lang="en-US" smtClean="0">
              <a:latin typeface="Arial" charset="0"/>
            </a:endParaRPr>
          </a:p>
          <a:p>
            <a:pPr eaLnBrk="1" hangingPunct="1">
              <a:lnSpc>
                <a:spcPct val="140000"/>
              </a:lnSpc>
              <a:buFont typeface="Wingdings" pitchFamily="2" charset="2"/>
              <a:buNone/>
            </a:pPr>
            <a:endParaRPr lang="en-US" smtClean="0">
              <a:latin typeface="Arial" charset="0"/>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nvSpPr>
        <p:spPr bwMode="auto">
          <a:xfrm>
            <a:off x="200025" y="90488"/>
            <a:ext cx="8943975" cy="466725"/>
          </a:xfrm>
          <a:prstGeom prst="rect">
            <a:avLst/>
          </a:prstGeom>
          <a:noFill/>
          <a:ln w="9525">
            <a:noFill/>
            <a:miter lim="800000"/>
            <a:headEnd/>
            <a:tailEnd/>
          </a:ln>
        </p:spPr>
        <p:txBody>
          <a:bodyPr lIns="91429" tIns="0" rIns="91429" bIns="0"/>
          <a:lstStyle/>
          <a:p>
            <a:r>
              <a:rPr lang="en-US" sz="2900">
                <a:solidFill>
                  <a:srgbClr val="404040"/>
                </a:solidFill>
                <a:latin typeface="Arial Narrow" pitchFamily="34" charset="0"/>
              </a:rPr>
              <a:t>Percentage of Total Prokaryotes in the North Pacific Ocean</a:t>
            </a:r>
          </a:p>
        </p:txBody>
      </p:sp>
      <p:sp>
        <p:nvSpPr>
          <p:cNvPr id="95235" name="Text Box 4"/>
          <p:cNvSpPr txBox="1">
            <a:spLocks noChangeArrowheads="1"/>
          </p:cNvSpPr>
          <p:nvPr/>
        </p:nvSpPr>
        <p:spPr bwMode="auto">
          <a:xfrm>
            <a:off x="7812088" y="6107113"/>
            <a:ext cx="1054100" cy="252412"/>
          </a:xfrm>
          <a:prstGeom prst="rect">
            <a:avLst/>
          </a:prstGeom>
          <a:noFill/>
          <a:ln w="9525">
            <a:noFill/>
            <a:miter lim="800000"/>
            <a:headEnd/>
            <a:tailEnd/>
          </a:ln>
        </p:spPr>
        <p:txBody>
          <a:bodyPr lIns="82058" tIns="41029" rIns="82058" bIns="41029">
            <a:spAutoFit/>
          </a:bodyPr>
          <a:lstStyle/>
          <a:p>
            <a:pPr algn="r"/>
            <a:r>
              <a:rPr lang="en-US" sz="1100">
                <a:ea typeface="ＭＳ Ｐゴシック" pitchFamily="1" charset="-128"/>
              </a:rPr>
              <a:t>Figure 23.19</a:t>
            </a:r>
          </a:p>
        </p:txBody>
      </p:sp>
      <p:pic>
        <p:nvPicPr>
          <p:cNvPr id="95236" name="Picture 5" descr="23_19Figure-L"/>
          <p:cNvPicPr>
            <a:picLocks noChangeAspect="1" noChangeArrowheads="1"/>
          </p:cNvPicPr>
          <p:nvPr/>
        </p:nvPicPr>
        <p:blipFill>
          <a:blip r:embed="rId3"/>
          <a:srcRect b="2652"/>
          <a:stretch>
            <a:fillRect/>
          </a:stretch>
        </p:blipFill>
        <p:spPr bwMode="auto">
          <a:xfrm>
            <a:off x="2166938" y="781050"/>
            <a:ext cx="4810125" cy="56562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n-US" smtClean="0"/>
              <a:t>Open Oceans</a:t>
            </a:r>
          </a:p>
        </p:txBody>
      </p:sp>
      <p:sp>
        <p:nvSpPr>
          <p:cNvPr id="96259" name="Rectangle 3"/>
          <p:cNvSpPr>
            <a:spLocks noGrp="1" noChangeArrowheads="1"/>
          </p:cNvSpPr>
          <p:nvPr>
            <p:ph idx="1"/>
          </p:nvPr>
        </p:nvSpPr>
        <p:spPr/>
        <p:txBody>
          <a:bodyPr/>
          <a:lstStyle/>
          <a:p>
            <a:pPr eaLnBrk="1" hangingPunct="1"/>
            <a:endParaRPr lang="en-US" sz="2300" smtClean="0">
              <a:latin typeface="Arial" charset="0"/>
            </a:endParaRPr>
          </a:p>
          <a:p>
            <a:pPr eaLnBrk="1" hangingPunct="1"/>
            <a:r>
              <a:rPr lang="en-US" smtClean="0">
                <a:latin typeface="Arial" charset="0"/>
              </a:rPr>
              <a:t>Viruses are the most abundant microorganisms in the oceans (10</a:t>
            </a:r>
            <a:r>
              <a:rPr lang="en-US" baseline="30000" smtClean="0">
                <a:latin typeface="Arial" charset="0"/>
              </a:rPr>
              <a:t>7</a:t>
            </a:r>
            <a:r>
              <a:rPr lang="en-US" smtClean="0">
                <a:latin typeface="Arial" charset="0"/>
              </a:rPr>
              <a:t> virion particles/ml)</a:t>
            </a:r>
          </a:p>
          <a:p>
            <a:pPr eaLnBrk="1" hangingPunct="1">
              <a:buFont typeface="Wingdings" pitchFamily="2" charset="2"/>
              <a:buNone/>
            </a:pPr>
            <a:endParaRPr lang="en-US" sz="700" smtClean="0">
              <a:latin typeface="Arial" charset="0"/>
            </a:endParaRPr>
          </a:p>
          <a:p>
            <a:pPr eaLnBrk="1" hangingPunct="1"/>
            <a:r>
              <a:rPr lang="en-US" smtClean="0">
                <a:latin typeface="Arial" charset="0"/>
              </a:rPr>
              <a:t>Viruses affect prokaryotic populations and are highly diverse</a:t>
            </a:r>
          </a:p>
          <a:p>
            <a:pPr eaLnBrk="1" hangingPunct="1"/>
            <a:endParaRPr lang="en-US" smtClean="0">
              <a:latin typeface="Arial" charset="0"/>
            </a:endParaRPr>
          </a:p>
          <a:p>
            <a:pPr eaLnBrk="1" hangingPunct="1"/>
            <a:endParaRPr lang="en-US" sz="2300" smtClean="0">
              <a:latin typeface="Arial" charset="0"/>
            </a:endParaRPr>
          </a:p>
          <a:p>
            <a:pPr eaLnBrk="1" hangingPunct="1"/>
            <a:endParaRPr lang="en-US" sz="2300" smtClean="0">
              <a:latin typeface="Arial" charset="0"/>
            </a:endParaRPr>
          </a:p>
          <a:p>
            <a:pPr eaLnBrk="1" hangingPunct="1">
              <a:buFont typeface="Wingdings" pitchFamily="2" charset="2"/>
              <a:buNone/>
            </a:pPr>
            <a:endParaRPr lang="en-US" sz="2300" smtClean="0">
              <a:latin typeface="Arial" charset="0"/>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en-US" dirty="0" smtClean="0"/>
              <a:t>The Deep Sea and </a:t>
            </a:r>
            <a:r>
              <a:rPr lang="en-US" dirty="0" err="1" smtClean="0"/>
              <a:t>Barophilism</a:t>
            </a:r>
            <a:endParaRPr lang="en-US" dirty="0" smtClean="0"/>
          </a:p>
        </p:txBody>
      </p:sp>
      <p:sp>
        <p:nvSpPr>
          <p:cNvPr id="97283" name="Rectangle 3"/>
          <p:cNvSpPr>
            <a:spLocks noGrp="1" noChangeArrowheads="1"/>
          </p:cNvSpPr>
          <p:nvPr>
            <p:ph idx="1"/>
          </p:nvPr>
        </p:nvSpPr>
        <p:spPr>
          <a:xfrm>
            <a:off x="414338" y="609600"/>
            <a:ext cx="8204200" cy="5592763"/>
          </a:xfrm>
        </p:spPr>
        <p:txBody>
          <a:bodyPr/>
          <a:lstStyle/>
          <a:p>
            <a:pPr eaLnBrk="1" hangingPunct="1"/>
            <a:endParaRPr lang="en-US" sz="2700" dirty="0" smtClean="0">
              <a:latin typeface="Arial" charset="0"/>
            </a:endParaRPr>
          </a:p>
          <a:p>
            <a:pPr eaLnBrk="1" hangingPunct="1"/>
            <a:endParaRPr lang="en-US" sz="2700" dirty="0" smtClean="0">
              <a:latin typeface="Arial" charset="0"/>
            </a:endParaRPr>
          </a:p>
          <a:p>
            <a:pPr eaLnBrk="1" hangingPunct="1"/>
            <a:r>
              <a:rPr lang="en-US" sz="2700" dirty="0" smtClean="0">
                <a:latin typeface="Arial" charset="0"/>
              </a:rPr>
              <a:t>&gt; 75% of all ocean water is deep sea, lying primarily between 1000 and 6000 m</a:t>
            </a:r>
          </a:p>
          <a:p>
            <a:pPr eaLnBrk="1" hangingPunct="1"/>
            <a:r>
              <a:rPr lang="en-US" sz="2700" dirty="0" smtClean="0">
                <a:latin typeface="Arial" charset="0"/>
              </a:rPr>
              <a:t>Organisms that inhabit the deep sea must deal with</a:t>
            </a:r>
          </a:p>
          <a:p>
            <a:pPr lvl="1" eaLnBrk="1" hangingPunct="1"/>
            <a:r>
              <a:rPr lang="en-US" sz="2300" dirty="0" smtClean="0">
                <a:latin typeface="Arial" charset="0"/>
              </a:rPr>
              <a:t>Low temperature</a:t>
            </a:r>
          </a:p>
          <a:p>
            <a:pPr lvl="1" eaLnBrk="1" hangingPunct="1"/>
            <a:r>
              <a:rPr lang="en-US" sz="2300" dirty="0" smtClean="0">
                <a:latin typeface="Arial" charset="0"/>
              </a:rPr>
              <a:t>High pressure</a:t>
            </a:r>
          </a:p>
          <a:p>
            <a:pPr lvl="1" eaLnBrk="1" hangingPunct="1"/>
            <a:r>
              <a:rPr lang="en-US" sz="2300" dirty="0" smtClean="0">
                <a:latin typeface="Arial" charset="0"/>
              </a:rPr>
              <a:t>Low nutrient levels</a:t>
            </a:r>
          </a:p>
          <a:p>
            <a:pPr lvl="1" eaLnBrk="1" hangingPunct="1"/>
            <a:r>
              <a:rPr lang="en-US" sz="2300" dirty="0" smtClean="0">
                <a:latin typeface="Arial" charset="0"/>
              </a:rPr>
              <a:t>Absence of light energy</a:t>
            </a:r>
          </a:p>
          <a:p>
            <a:pPr eaLnBrk="1" hangingPunct="1">
              <a:buFont typeface="Wingdings" pitchFamily="2" charset="2"/>
              <a:buNone/>
            </a:pPr>
            <a:endParaRPr lang="en-US" sz="2300" dirty="0" smtClean="0">
              <a:latin typeface="Arial" charset="0"/>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en-US" smtClean="0"/>
              <a:t>The Deep Sea and Barophilism</a:t>
            </a:r>
          </a:p>
        </p:txBody>
      </p:sp>
      <p:sp>
        <p:nvSpPr>
          <p:cNvPr id="98307" name="Rectangle 3"/>
          <p:cNvSpPr>
            <a:spLocks noGrp="1" noChangeArrowheads="1"/>
          </p:cNvSpPr>
          <p:nvPr>
            <p:ph idx="1"/>
          </p:nvPr>
        </p:nvSpPr>
        <p:spPr>
          <a:xfrm>
            <a:off x="392113" y="427038"/>
            <a:ext cx="8204200" cy="5575300"/>
          </a:xfrm>
        </p:spPr>
        <p:txBody>
          <a:bodyPr/>
          <a:lstStyle/>
          <a:p>
            <a:pPr eaLnBrk="1" hangingPunct="1"/>
            <a:endParaRPr lang="en-US" sz="2300" dirty="0" smtClean="0">
              <a:latin typeface="Arial" charset="0"/>
            </a:endParaRPr>
          </a:p>
          <a:p>
            <a:pPr eaLnBrk="1" hangingPunct="1"/>
            <a:endParaRPr lang="en-US" sz="2700" dirty="0" smtClean="0">
              <a:latin typeface="Arial" charset="0"/>
            </a:endParaRPr>
          </a:p>
          <a:p>
            <a:pPr eaLnBrk="1" hangingPunct="1"/>
            <a:r>
              <a:rPr lang="en-US" sz="2700" dirty="0" smtClean="0">
                <a:latin typeface="Arial" charset="0"/>
              </a:rPr>
              <a:t>Deep sea microbes are </a:t>
            </a:r>
          </a:p>
          <a:p>
            <a:pPr lvl="1" eaLnBrk="1" hangingPunct="1"/>
            <a:r>
              <a:rPr lang="en-US" sz="2300" i="1" u="sng" dirty="0" err="1" smtClean="0">
                <a:latin typeface="Arial" charset="0"/>
              </a:rPr>
              <a:t>Psychrophilic</a:t>
            </a:r>
            <a:r>
              <a:rPr lang="en-US" sz="2300" dirty="0" smtClean="0">
                <a:latin typeface="Arial" charset="0"/>
              </a:rPr>
              <a:t> (cold-loving) or </a:t>
            </a:r>
            <a:r>
              <a:rPr lang="en-US" sz="2300" i="1" u="sng" dirty="0" err="1" smtClean="0">
                <a:latin typeface="Arial" charset="0"/>
              </a:rPr>
              <a:t>psychrotolerant</a:t>
            </a:r>
            <a:endParaRPr lang="en-US" sz="2300" i="1" u="sng" dirty="0" smtClean="0">
              <a:latin typeface="Arial" charset="0"/>
            </a:endParaRPr>
          </a:p>
          <a:p>
            <a:pPr lvl="1" eaLnBrk="1" hangingPunct="1"/>
            <a:r>
              <a:rPr lang="en-US" sz="2300" i="1" u="sng" dirty="0" err="1" smtClean="0">
                <a:latin typeface="Arial" charset="0"/>
              </a:rPr>
              <a:t>Barophilic</a:t>
            </a:r>
            <a:r>
              <a:rPr lang="en-US" sz="2300" dirty="0" smtClean="0">
                <a:latin typeface="Arial" charset="0"/>
              </a:rPr>
              <a:t> (pressure-loving) or </a:t>
            </a:r>
            <a:r>
              <a:rPr lang="en-US" sz="2300" i="1" u="sng" dirty="0" err="1" smtClean="0">
                <a:latin typeface="Arial" charset="0"/>
              </a:rPr>
              <a:t>barotolerant</a:t>
            </a:r>
            <a:endParaRPr lang="en-US" sz="2300" i="1" u="sng" dirty="0" smtClean="0">
              <a:latin typeface="Arial" charset="0"/>
            </a:endParaRPr>
          </a:p>
        </p:txBody>
      </p:sp>
      <p:pic>
        <p:nvPicPr>
          <p:cNvPr id="98308" name="Picture 6" descr="A%20black%20smoker"/>
          <p:cNvPicPr>
            <a:picLocks noChangeAspect="1" noChangeArrowheads="1"/>
          </p:cNvPicPr>
          <p:nvPr/>
        </p:nvPicPr>
        <p:blipFill>
          <a:blip r:embed="rId3"/>
          <a:srcRect/>
          <a:stretch>
            <a:fillRect/>
          </a:stretch>
        </p:blipFill>
        <p:spPr bwMode="auto">
          <a:xfrm>
            <a:off x="5999163" y="2971801"/>
            <a:ext cx="2935287" cy="3276600"/>
          </a:xfrm>
          <a:prstGeom prst="rect">
            <a:avLst/>
          </a:prstGeom>
          <a:noFill/>
          <a:ln w="9525">
            <a:noFill/>
            <a:miter lim="800000"/>
            <a:headEnd/>
            <a:tailEnd/>
          </a:ln>
        </p:spPr>
      </p:pic>
      <p:sp>
        <p:nvSpPr>
          <p:cNvPr id="98309" name="Text Box 7"/>
          <p:cNvSpPr txBox="1">
            <a:spLocks noChangeArrowheads="1"/>
          </p:cNvSpPr>
          <p:nvPr/>
        </p:nvSpPr>
        <p:spPr bwMode="auto">
          <a:xfrm>
            <a:off x="6396038" y="6400800"/>
            <a:ext cx="2747962" cy="452191"/>
          </a:xfrm>
          <a:prstGeom prst="rect">
            <a:avLst/>
          </a:prstGeom>
          <a:noFill/>
          <a:ln w="9525">
            <a:noFill/>
            <a:miter lim="800000"/>
            <a:headEnd/>
            <a:tailEnd/>
          </a:ln>
        </p:spPr>
        <p:txBody>
          <a:bodyPr wrap="square" lIns="82058" tIns="41029" rIns="82058" bIns="41029">
            <a:spAutoFit/>
          </a:bodyPr>
          <a:lstStyle/>
          <a:p>
            <a:pPr>
              <a:spcBef>
                <a:spcPct val="50000"/>
              </a:spcBef>
            </a:pPr>
            <a:r>
              <a:rPr lang="en-US" dirty="0"/>
              <a:t>Black Smoker</a:t>
            </a:r>
          </a:p>
        </p:txBody>
      </p:sp>
      <p:pic>
        <p:nvPicPr>
          <p:cNvPr id="98310" name="Picture 9" descr="mono3"/>
          <p:cNvPicPr>
            <a:picLocks noChangeAspect="1" noChangeArrowheads="1"/>
          </p:cNvPicPr>
          <p:nvPr/>
        </p:nvPicPr>
        <p:blipFill>
          <a:blip r:embed="rId4"/>
          <a:srcRect/>
          <a:stretch>
            <a:fillRect/>
          </a:stretch>
        </p:blipFill>
        <p:spPr bwMode="auto">
          <a:xfrm>
            <a:off x="0" y="2895600"/>
            <a:ext cx="3149600" cy="3124200"/>
          </a:xfrm>
          <a:prstGeom prst="rect">
            <a:avLst/>
          </a:prstGeom>
          <a:noFill/>
          <a:ln w="9525">
            <a:noFill/>
            <a:miter lim="800000"/>
            <a:headEnd/>
            <a:tailEnd/>
          </a:ln>
        </p:spPr>
      </p:pic>
      <p:sp>
        <p:nvSpPr>
          <p:cNvPr id="98311" name="Text Box 10"/>
          <p:cNvSpPr txBox="1">
            <a:spLocks noChangeArrowheads="1"/>
          </p:cNvSpPr>
          <p:nvPr/>
        </p:nvSpPr>
        <p:spPr bwMode="auto">
          <a:xfrm>
            <a:off x="0" y="6172200"/>
            <a:ext cx="3138488" cy="452191"/>
          </a:xfrm>
          <a:prstGeom prst="rect">
            <a:avLst/>
          </a:prstGeom>
          <a:noFill/>
          <a:ln w="9525">
            <a:noFill/>
            <a:miter lim="800000"/>
            <a:headEnd/>
            <a:tailEnd/>
          </a:ln>
        </p:spPr>
        <p:txBody>
          <a:bodyPr wrap="square" lIns="82058" tIns="41029" rIns="82058" bIns="41029">
            <a:spAutoFit/>
          </a:bodyPr>
          <a:lstStyle/>
          <a:p>
            <a:pPr>
              <a:spcBef>
                <a:spcPct val="50000"/>
              </a:spcBef>
            </a:pPr>
            <a:r>
              <a:rPr lang="en-US"/>
              <a:t>Hydrothermal vent</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29" tIns="0" rIns="91429" bIns="0"/>
          <a:lstStyle/>
          <a:p>
            <a:r>
              <a:rPr lang="en-US" sz="2900">
                <a:solidFill>
                  <a:srgbClr val="404040"/>
                </a:solidFill>
                <a:latin typeface="Arial Narrow" pitchFamily="34" charset="0"/>
              </a:rPr>
              <a:t>Growth of Barotolerant and Barophilic Bacteria</a:t>
            </a:r>
          </a:p>
        </p:txBody>
      </p:sp>
      <p:sp>
        <p:nvSpPr>
          <p:cNvPr id="99331" name="Text Box 4"/>
          <p:cNvSpPr txBox="1">
            <a:spLocks noChangeArrowheads="1"/>
          </p:cNvSpPr>
          <p:nvPr/>
        </p:nvSpPr>
        <p:spPr bwMode="auto">
          <a:xfrm>
            <a:off x="7727950" y="6107113"/>
            <a:ext cx="1138238" cy="252412"/>
          </a:xfrm>
          <a:prstGeom prst="rect">
            <a:avLst/>
          </a:prstGeom>
          <a:noFill/>
          <a:ln w="9525">
            <a:noFill/>
            <a:miter lim="800000"/>
            <a:headEnd/>
            <a:tailEnd/>
          </a:ln>
        </p:spPr>
        <p:txBody>
          <a:bodyPr lIns="82058" tIns="41029" rIns="82058" bIns="41029">
            <a:spAutoFit/>
          </a:bodyPr>
          <a:lstStyle/>
          <a:p>
            <a:pPr algn="r"/>
            <a:r>
              <a:rPr lang="en-US" sz="1100">
                <a:ea typeface="ＭＳ Ｐゴシック" pitchFamily="1" charset="-128"/>
              </a:rPr>
              <a:t>Figure 23.20</a:t>
            </a:r>
          </a:p>
        </p:txBody>
      </p:sp>
      <p:pic>
        <p:nvPicPr>
          <p:cNvPr id="99332" name="Picture 5" descr="23_20Figure-L"/>
          <p:cNvPicPr>
            <a:picLocks noChangeAspect="1" noChangeArrowheads="1"/>
          </p:cNvPicPr>
          <p:nvPr/>
        </p:nvPicPr>
        <p:blipFill>
          <a:blip r:embed="rId3"/>
          <a:srcRect b="2628"/>
          <a:stretch>
            <a:fillRect/>
          </a:stretch>
        </p:blipFill>
        <p:spPr bwMode="auto">
          <a:xfrm>
            <a:off x="1468438" y="803275"/>
            <a:ext cx="6207125" cy="56578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en-US" smtClean="0"/>
              <a:t>Hydrothermal Vent Microbial Ecosystems</a:t>
            </a:r>
          </a:p>
        </p:txBody>
      </p:sp>
      <p:sp>
        <p:nvSpPr>
          <p:cNvPr id="100355" name="Rectangle 3"/>
          <p:cNvSpPr>
            <a:spLocks noGrp="1" noChangeArrowheads="1"/>
          </p:cNvSpPr>
          <p:nvPr>
            <p:ph idx="1"/>
          </p:nvPr>
        </p:nvSpPr>
        <p:spPr>
          <a:xfrm>
            <a:off x="442913" y="822325"/>
            <a:ext cx="3529012" cy="5575300"/>
          </a:xfrm>
        </p:spPr>
        <p:txBody>
          <a:bodyPr/>
          <a:lstStyle/>
          <a:p>
            <a:pPr eaLnBrk="1" hangingPunct="1"/>
            <a:endParaRPr lang="en-US" sz="2300" dirty="0" smtClean="0">
              <a:latin typeface="Arial" charset="0"/>
            </a:endParaRPr>
          </a:p>
          <a:p>
            <a:pPr eaLnBrk="1" hangingPunct="1"/>
            <a:endParaRPr lang="en-US" dirty="0" smtClean="0">
              <a:latin typeface="Arial" charset="0"/>
            </a:endParaRPr>
          </a:p>
          <a:p>
            <a:pPr eaLnBrk="1" hangingPunct="1"/>
            <a:r>
              <a:rPr lang="en-US" dirty="0" smtClean="0">
                <a:latin typeface="Arial" charset="0"/>
              </a:rPr>
              <a:t>Deep-sea hot springs (</a:t>
            </a:r>
            <a:r>
              <a:rPr lang="en-US" i="1" u="sng" dirty="0" smtClean="0">
                <a:latin typeface="Arial" charset="0"/>
              </a:rPr>
              <a:t>hydrothermal vents</a:t>
            </a:r>
            <a:r>
              <a:rPr lang="en-US" dirty="0" smtClean="0">
                <a:latin typeface="Arial" charset="0"/>
              </a:rPr>
              <a:t>) support thriving animal communities that are fueled by </a:t>
            </a:r>
            <a:r>
              <a:rPr lang="en-US" dirty="0" err="1" smtClean="0">
                <a:latin typeface="Arial" charset="0"/>
              </a:rPr>
              <a:t>chemolithotrophic</a:t>
            </a:r>
            <a:r>
              <a:rPr lang="en-US" dirty="0" smtClean="0">
                <a:latin typeface="Arial" charset="0"/>
              </a:rPr>
              <a:t> microbes</a:t>
            </a:r>
          </a:p>
          <a:p>
            <a:pPr eaLnBrk="1" hangingPunct="1"/>
            <a:endParaRPr lang="en-US" dirty="0" smtClean="0">
              <a:latin typeface="Arial" charset="0"/>
            </a:endParaRPr>
          </a:p>
          <a:p>
            <a:pPr eaLnBrk="1" hangingPunct="1"/>
            <a:endParaRPr lang="en-US" sz="2300" dirty="0" smtClean="0">
              <a:latin typeface="Arial" charset="0"/>
            </a:endParaRPr>
          </a:p>
          <a:p>
            <a:pPr eaLnBrk="1" hangingPunct="1"/>
            <a:endParaRPr lang="en-US" sz="2300" dirty="0" smtClean="0">
              <a:latin typeface="Arial" charset="0"/>
            </a:endParaRPr>
          </a:p>
          <a:p>
            <a:pPr eaLnBrk="1" hangingPunct="1">
              <a:buFont typeface="Wingdings" pitchFamily="2" charset="2"/>
              <a:buNone/>
            </a:pPr>
            <a:endParaRPr lang="en-US" sz="2300" dirty="0" smtClean="0">
              <a:latin typeface="Arial" charset="0"/>
            </a:endParaRPr>
          </a:p>
        </p:txBody>
      </p:sp>
      <p:pic>
        <p:nvPicPr>
          <p:cNvPr id="100356" name="Picture 5" descr="24_29Figure-L"/>
          <p:cNvPicPr>
            <a:picLocks noChangeAspect="1" noChangeArrowheads="1"/>
          </p:cNvPicPr>
          <p:nvPr/>
        </p:nvPicPr>
        <p:blipFill>
          <a:blip r:embed="rId3"/>
          <a:srcRect b="2786"/>
          <a:stretch>
            <a:fillRect/>
          </a:stretch>
        </p:blipFill>
        <p:spPr bwMode="auto">
          <a:xfrm>
            <a:off x="4011613" y="925513"/>
            <a:ext cx="5132387" cy="56689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en-US" smtClean="0"/>
              <a:t>Hydrothermal Vent Microbial Ecosystems</a:t>
            </a:r>
          </a:p>
        </p:txBody>
      </p:sp>
      <p:sp>
        <p:nvSpPr>
          <p:cNvPr id="101379" name="Rectangle 3"/>
          <p:cNvSpPr>
            <a:spLocks noGrp="1" noChangeArrowheads="1"/>
          </p:cNvSpPr>
          <p:nvPr>
            <p:ph idx="1"/>
          </p:nvPr>
        </p:nvSpPr>
        <p:spPr>
          <a:xfrm>
            <a:off x="184150" y="796925"/>
            <a:ext cx="4592638" cy="5575300"/>
          </a:xfrm>
        </p:spPr>
        <p:txBody>
          <a:bodyPr/>
          <a:lstStyle/>
          <a:p>
            <a:pPr eaLnBrk="1" hangingPunct="1"/>
            <a:r>
              <a:rPr lang="en-US" sz="2200" smtClean="0">
                <a:latin typeface="Arial" charset="0"/>
              </a:rPr>
              <a:t>Diverse invertebrate communities develop near hydrothermal vents, including large tube worms, clams, mussels</a:t>
            </a:r>
          </a:p>
          <a:p>
            <a:pPr eaLnBrk="1" hangingPunct="1"/>
            <a:r>
              <a:rPr lang="en-US" sz="2200" smtClean="0">
                <a:latin typeface="Arial" charset="0"/>
              </a:rPr>
              <a:t>Chemolithotrophic prokaryotes that utilize reduced inorganic materials emitting from the vents form endosymbiotic relationships with vent invertebrates such as vent tube worms</a:t>
            </a:r>
          </a:p>
          <a:p>
            <a:pPr eaLnBrk="1" hangingPunct="1"/>
            <a:endParaRPr lang="en-US" sz="2200" smtClean="0">
              <a:latin typeface="Arial" charset="0"/>
            </a:endParaRPr>
          </a:p>
          <a:p>
            <a:pPr eaLnBrk="1" hangingPunct="1"/>
            <a:endParaRPr lang="en-US" sz="2200" smtClean="0">
              <a:latin typeface="Arial" charset="0"/>
            </a:endParaRPr>
          </a:p>
          <a:p>
            <a:pPr eaLnBrk="1" hangingPunct="1"/>
            <a:endParaRPr lang="en-US" sz="2200" smtClean="0">
              <a:latin typeface="Arial" charset="0"/>
            </a:endParaRPr>
          </a:p>
          <a:p>
            <a:pPr eaLnBrk="1" hangingPunct="1">
              <a:buFont typeface="Wingdings" pitchFamily="2" charset="2"/>
              <a:buNone/>
            </a:pPr>
            <a:endParaRPr lang="en-US" sz="2300" smtClean="0">
              <a:latin typeface="Arial" charset="0"/>
            </a:endParaRPr>
          </a:p>
        </p:txBody>
      </p:sp>
      <p:pic>
        <p:nvPicPr>
          <p:cNvPr id="101380" name="Picture 5" descr="24_30Figure-L"/>
          <p:cNvPicPr>
            <a:picLocks noChangeAspect="1" noChangeArrowheads="1"/>
          </p:cNvPicPr>
          <p:nvPr/>
        </p:nvPicPr>
        <p:blipFill>
          <a:blip r:embed="rId3"/>
          <a:srcRect r="50000" b="53183"/>
          <a:stretch>
            <a:fillRect/>
          </a:stretch>
        </p:blipFill>
        <p:spPr bwMode="auto">
          <a:xfrm>
            <a:off x="5213350" y="3136900"/>
            <a:ext cx="3930650" cy="2747963"/>
          </a:xfrm>
          <a:prstGeom prst="rect">
            <a:avLst/>
          </a:prstGeom>
          <a:noFill/>
          <a:ln w="9525">
            <a:noFill/>
            <a:miter lim="800000"/>
            <a:headEnd/>
            <a:tailEnd/>
          </a:ln>
        </p:spPr>
      </p:pic>
      <p:sp>
        <p:nvSpPr>
          <p:cNvPr id="101381" name="Rectangle 3"/>
          <p:cNvSpPr>
            <a:spLocks noGrp="1" noChangeArrowheads="1"/>
          </p:cNvSpPr>
          <p:nvPr/>
        </p:nvSpPr>
        <p:spPr bwMode="auto">
          <a:xfrm>
            <a:off x="6483350" y="2311400"/>
            <a:ext cx="1366838" cy="542925"/>
          </a:xfrm>
          <a:prstGeom prst="rect">
            <a:avLst/>
          </a:prstGeom>
          <a:noFill/>
          <a:ln w="9525">
            <a:noFill/>
            <a:miter lim="800000"/>
            <a:headEnd/>
            <a:tailEnd/>
          </a:ln>
        </p:spPr>
        <p:txBody>
          <a:bodyPr lIns="0" tIns="18283" rIns="0" bIns="18283"/>
          <a:lstStyle/>
          <a:p>
            <a:r>
              <a:rPr lang="en-US" sz="1600">
                <a:ea typeface="ＭＳ Ｐゴシック" pitchFamily="1" charset="-128"/>
              </a:rPr>
              <a:t>Tube Worms </a:t>
            </a:r>
            <a:endParaRPr lang="en-US" sz="2500">
              <a:latin typeface="Arial Narrow" pitchFamily="34" charset="0"/>
              <a:ea typeface="ＭＳ Ｐゴシック" pitchFamily="1" charset="-128"/>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4"/>
          <p:cNvSpPr>
            <a:spLocks noGrp="1" noChangeArrowheads="1"/>
          </p:cNvSpPr>
          <p:nvPr>
            <p:ph type="title" idx="4294967295"/>
          </p:nvPr>
        </p:nvSpPr>
        <p:spPr>
          <a:xfrm>
            <a:off x="512763" y="2789238"/>
            <a:ext cx="8631237" cy="466725"/>
          </a:xfrm>
        </p:spPr>
        <p:txBody>
          <a:bodyPr lIns="91418" rIns="91418">
            <a:normAutofit fontScale="90000"/>
          </a:bodyPr>
          <a:lstStyle/>
          <a:p>
            <a:r>
              <a:rPr lang="en-US" sz="3900" smtClean="0"/>
              <a:t>Microbial Ecology: Biogeochemical Cycles</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r>
              <a:rPr lang="en-US" sz="2900">
                <a:solidFill>
                  <a:srgbClr val="404040"/>
                </a:solidFill>
                <a:latin typeface="Arial Narrow" pitchFamily="34" charset="0"/>
              </a:rPr>
              <a:t>The Carbon Cycle</a:t>
            </a:r>
          </a:p>
        </p:txBody>
      </p:sp>
      <p:pic>
        <p:nvPicPr>
          <p:cNvPr id="104451" name="Picture 5" descr="24_01Figure-L"/>
          <p:cNvPicPr>
            <a:picLocks noChangeAspect="1" noChangeArrowheads="1"/>
          </p:cNvPicPr>
          <p:nvPr/>
        </p:nvPicPr>
        <p:blipFill>
          <a:blip r:embed="rId3"/>
          <a:srcRect b="3882"/>
          <a:stretch>
            <a:fillRect/>
          </a:stretch>
        </p:blipFill>
        <p:spPr bwMode="auto">
          <a:xfrm>
            <a:off x="328613" y="882650"/>
            <a:ext cx="8591550" cy="4445000"/>
          </a:xfrm>
          <a:prstGeom prst="rect">
            <a:avLst/>
          </a:prstGeom>
          <a:noFill/>
          <a:ln w="9525">
            <a:noFill/>
            <a:miter lim="800000"/>
            <a:headEnd/>
            <a:tailEnd/>
          </a:ln>
        </p:spPr>
      </p:pic>
      <p:sp>
        <p:nvSpPr>
          <p:cNvPr id="104452" name="Text Box 6"/>
          <p:cNvSpPr txBox="1">
            <a:spLocks noChangeArrowheads="1"/>
          </p:cNvSpPr>
          <p:nvPr/>
        </p:nvSpPr>
        <p:spPr bwMode="auto">
          <a:xfrm>
            <a:off x="319088" y="5527675"/>
            <a:ext cx="8542337" cy="1098550"/>
          </a:xfrm>
          <a:prstGeom prst="rect">
            <a:avLst/>
          </a:prstGeom>
          <a:noFill/>
          <a:ln w="9525">
            <a:noFill/>
            <a:miter lim="800000"/>
            <a:headEnd/>
            <a:tailEnd/>
          </a:ln>
        </p:spPr>
        <p:txBody>
          <a:bodyPr lIns="82058" tIns="41029" rIns="82058" bIns="41029">
            <a:spAutoFit/>
          </a:bodyPr>
          <a:lstStyle/>
          <a:p>
            <a:pPr>
              <a:lnSpc>
                <a:spcPct val="150000"/>
              </a:lnSpc>
              <a:spcBef>
                <a:spcPct val="20000"/>
              </a:spcBef>
              <a:buClr>
                <a:schemeClr val="tx1"/>
              </a:buClr>
            </a:pPr>
            <a:r>
              <a:rPr lang="en-US" sz="2200"/>
              <a:t>Carbon is cycled through all of Earth’s major carbon reservoirs (atmosphere, land, oceans, sediments, rocks, and biomass)</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The Carbon Cycle</a:t>
            </a:r>
          </a:p>
        </p:txBody>
      </p:sp>
      <p:sp>
        <p:nvSpPr>
          <p:cNvPr id="105475" name="Rectangle 3"/>
          <p:cNvSpPr>
            <a:spLocks noGrp="1" noChangeArrowheads="1"/>
          </p:cNvSpPr>
          <p:nvPr>
            <p:ph type="body" idx="4294967295"/>
          </p:nvPr>
        </p:nvSpPr>
        <p:spPr>
          <a:xfrm>
            <a:off x="0" y="793750"/>
            <a:ext cx="8204200" cy="5105400"/>
          </a:xfrm>
        </p:spPr>
        <p:txBody>
          <a:bodyPr tIns="18283" bIns="18283"/>
          <a:lstStyle/>
          <a:p>
            <a:pPr eaLnBrk="1" hangingPunct="1"/>
            <a:r>
              <a:rPr lang="en-US" sz="2300" smtClean="0">
                <a:latin typeface="Arial" charset="0"/>
              </a:rPr>
              <a:t>CO</a:t>
            </a:r>
            <a:r>
              <a:rPr lang="en-US" sz="2300" baseline="-25000" smtClean="0">
                <a:latin typeface="Arial" charset="0"/>
              </a:rPr>
              <a:t>2</a:t>
            </a:r>
            <a:r>
              <a:rPr lang="en-US" sz="2300" smtClean="0">
                <a:latin typeface="Arial" charset="0"/>
              </a:rPr>
              <a:t> </a:t>
            </a:r>
            <a:r>
              <a:rPr lang="en-US" sz="2300" dirty="0" smtClean="0">
                <a:latin typeface="Arial" charset="0"/>
              </a:rPr>
              <a:t>in the atmosphere is the most rapidly transferred carbon reservoir</a:t>
            </a:r>
          </a:p>
          <a:p>
            <a:pPr eaLnBrk="1" hangingPunct="1"/>
            <a:r>
              <a:rPr lang="en-US" sz="2300" dirty="0" smtClean="0">
                <a:latin typeface="Arial" charset="0"/>
              </a:rPr>
              <a:t>CO</a:t>
            </a:r>
            <a:r>
              <a:rPr lang="en-US" sz="2300" baseline="-25000" dirty="0" smtClean="0">
                <a:latin typeface="Arial" charset="0"/>
              </a:rPr>
              <a:t>2</a:t>
            </a:r>
            <a:r>
              <a:rPr lang="en-US" sz="2300" dirty="0" smtClean="0">
                <a:latin typeface="Arial" charset="0"/>
              </a:rPr>
              <a:t> is fixed primarily by photosynthetic land plants and marine microbes (</a:t>
            </a:r>
            <a:r>
              <a:rPr lang="en-US" sz="2300" dirty="0" err="1" smtClean="0">
                <a:latin typeface="Arial" charset="0"/>
              </a:rPr>
              <a:t>autotrophs</a:t>
            </a:r>
            <a:r>
              <a:rPr lang="en-US" sz="2300" dirty="0" smtClean="0">
                <a:latin typeface="Arial" charset="0"/>
              </a:rPr>
              <a:t> fix carbon dioxide)</a:t>
            </a:r>
          </a:p>
          <a:p>
            <a:pPr eaLnBrk="1" hangingPunct="1"/>
            <a:r>
              <a:rPr lang="en-US" sz="2300" dirty="0" smtClean="0">
                <a:latin typeface="Arial" charset="0"/>
              </a:rPr>
              <a:t>CO</a:t>
            </a:r>
            <a:r>
              <a:rPr lang="en-US" sz="2300" baseline="-25000" dirty="0" smtClean="0">
                <a:latin typeface="Arial" charset="0"/>
              </a:rPr>
              <a:t>2</a:t>
            </a:r>
            <a:r>
              <a:rPr lang="en-US" sz="2300" dirty="0" smtClean="0">
                <a:latin typeface="Arial" charset="0"/>
              </a:rPr>
              <a:t> is returned to the atmosphere by respiration of animals and </a:t>
            </a:r>
            <a:r>
              <a:rPr lang="en-US" sz="2300" dirty="0" err="1" smtClean="0">
                <a:latin typeface="Arial" charset="0"/>
              </a:rPr>
              <a:t>chemoorganotrophic</a:t>
            </a:r>
            <a:r>
              <a:rPr lang="en-US" sz="2300" dirty="0" smtClean="0">
                <a:latin typeface="Arial" charset="0"/>
              </a:rPr>
              <a:t> microbes as well as by the activities of humans.</a:t>
            </a:r>
          </a:p>
          <a:p>
            <a:pPr lvl="1" eaLnBrk="1" hangingPunct="1"/>
            <a:r>
              <a:rPr lang="en-US" sz="2200" dirty="0" smtClean="0">
                <a:latin typeface="Arial" charset="0"/>
              </a:rPr>
              <a:t>Microbial decomposition is the largest source of CO</a:t>
            </a:r>
            <a:r>
              <a:rPr lang="en-US" sz="2200" baseline="-25000" dirty="0" smtClean="0">
                <a:latin typeface="Arial" charset="0"/>
              </a:rPr>
              <a:t>2</a:t>
            </a:r>
            <a:r>
              <a:rPr lang="en-US" sz="2200" dirty="0" smtClean="0">
                <a:latin typeface="Arial" charset="0"/>
              </a:rPr>
              <a:t> released to the atmosphere</a:t>
            </a:r>
          </a:p>
          <a:p>
            <a:pPr eaLnBrk="1" hangingPunct="1"/>
            <a:endParaRPr lang="en-US" sz="2200" dirty="0" smtClean="0">
              <a:latin typeface="Arial" charset="0"/>
            </a:endParaRPr>
          </a:p>
        </p:txBody>
      </p:sp>
      <p:pic>
        <p:nvPicPr>
          <p:cNvPr id="105476" name="Picture 5" descr="24_01Figure-L"/>
          <p:cNvPicPr>
            <a:picLocks noChangeAspect="1" noChangeArrowheads="1"/>
          </p:cNvPicPr>
          <p:nvPr/>
        </p:nvPicPr>
        <p:blipFill>
          <a:blip r:embed="rId3"/>
          <a:srcRect b="3882"/>
          <a:stretch>
            <a:fillRect/>
          </a:stretch>
        </p:blipFill>
        <p:spPr bwMode="auto">
          <a:xfrm>
            <a:off x="5765800" y="5110163"/>
            <a:ext cx="3378200" cy="17478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a:xfrm>
            <a:off x="0" y="274638"/>
            <a:ext cx="8229600" cy="1143000"/>
          </a:xfrm>
        </p:spPr>
        <p:txBody>
          <a:bodyPr lIns="91418" rIns="91418"/>
          <a:lstStyle/>
          <a:p>
            <a:r>
              <a:rPr lang="en-US" smtClean="0"/>
              <a:t>Carbon Cycle</a:t>
            </a:r>
          </a:p>
        </p:txBody>
      </p:sp>
      <p:sp>
        <p:nvSpPr>
          <p:cNvPr id="106499" name="Rectangle 3"/>
          <p:cNvSpPr>
            <a:spLocks noGrp="1" noChangeArrowheads="1"/>
          </p:cNvSpPr>
          <p:nvPr>
            <p:ph type="body" idx="4294967295"/>
          </p:nvPr>
        </p:nvSpPr>
        <p:spPr>
          <a:xfrm>
            <a:off x="0" y="1600200"/>
            <a:ext cx="8229600" cy="4525963"/>
          </a:xfrm>
        </p:spPr>
        <p:txBody>
          <a:bodyPr tIns="18283" bIns="18283"/>
          <a:lstStyle/>
          <a:p>
            <a:r>
              <a:rPr lang="en-US" smtClean="0"/>
              <a:t>Autotrophs fix carbon dioxide into organic molecules</a:t>
            </a:r>
          </a:p>
          <a:p>
            <a:r>
              <a:rPr lang="en-US" smtClean="0"/>
              <a:t>Chemoheterotrophs eat autotrophs and each other (This moves the carbon atoms around the food chain)</a:t>
            </a:r>
          </a:p>
          <a:p>
            <a:r>
              <a:rPr lang="en-US" smtClean="0"/>
              <a:t>As carbon containing organic compounds are used for energy (respiration) carbon dioxide is released into the atmosphere to start the cycle over again.</a:t>
            </a:r>
          </a:p>
          <a:p>
            <a:r>
              <a:rPr lang="en-US" smtClean="0"/>
              <a:t>Also: when organisms die their remains are acted upon by bacteria and fungi (decomposers).Decomposition oxidizes the organic remains and carbon dioxide is liberated to reenter the cycle.</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The Carbon Cycle….photosynthesis</a:t>
            </a:r>
          </a:p>
        </p:txBody>
      </p:sp>
      <p:sp>
        <p:nvSpPr>
          <p:cNvPr id="107523" name="Rectangle 3"/>
          <p:cNvSpPr>
            <a:spLocks noGrp="1" noChangeArrowheads="1"/>
          </p:cNvSpPr>
          <p:nvPr>
            <p:ph type="body" idx="4294967295"/>
          </p:nvPr>
        </p:nvSpPr>
        <p:spPr>
          <a:xfrm>
            <a:off x="0" y="1119188"/>
            <a:ext cx="8362950" cy="4956175"/>
          </a:xfrm>
        </p:spPr>
        <p:txBody>
          <a:bodyPr tIns="18283" bIns="18283"/>
          <a:lstStyle/>
          <a:p>
            <a:pPr eaLnBrk="1" hangingPunct="1">
              <a:lnSpc>
                <a:spcPct val="140000"/>
              </a:lnSpc>
            </a:pPr>
            <a:r>
              <a:rPr lang="en-US" sz="2700" smtClean="0">
                <a:latin typeface="Arial" charset="0"/>
              </a:rPr>
              <a:t>Phototrophic </a:t>
            </a:r>
            <a:r>
              <a:rPr lang="en-US" sz="2700" dirty="0" smtClean="0">
                <a:latin typeface="Arial" charset="0"/>
              </a:rPr>
              <a:t>organisms are the foundation of the carbon cycle</a:t>
            </a:r>
          </a:p>
          <a:p>
            <a:pPr eaLnBrk="1" hangingPunct="1">
              <a:lnSpc>
                <a:spcPct val="140000"/>
              </a:lnSpc>
            </a:pPr>
            <a:r>
              <a:rPr lang="en-US" sz="2700" dirty="0" smtClean="0">
                <a:latin typeface="Arial" charset="0"/>
              </a:rPr>
              <a:t>Oxygenic phototrophic organisms can be divided into two groups: </a:t>
            </a:r>
            <a:r>
              <a:rPr lang="en-US" sz="2700" u="sng" dirty="0" smtClean="0">
                <a:latin typeface="Arial" charset="0"/>
              </a:rPr>
              <a:t>plants</a:t>
            </a:r>
            <a:r>
              <a:rPr lang="en-US" sz="2700" dirty="0" smtClean="0">
                <a:latin typeface="Arial" charset="0"/>
              </a:rPr>
              <a:t> and </a:t>
            </a:r>
            <a:r>
              <a:rPr lang="en-US" sz="2700" u="sng" dirty="0" smtClean="0">
                <a:latin typeface="Arial" charset="0"/>
              </a:rPr>
              <a:t>microorganisms</a:t>
            </a:r>
          </a:p>
          <a:p>
            <a:pPr eaLnBrk="1" hangingPunct="1">
              <a:lnSpc>
                <a:spcPct val="140000"/>
              </a:lnSpc>
            </a:pPr>
            <a:r>
              <a:rPr lang="en-US" sz="2700" dirty="0" smtClean="0">
                <a:latin typeface="Arial" charset="0"/>
              </a:rPr>
              <a:t>Plants are the dominant phototrophic organisms of terrestrial environments</a:t>
            </a:r>
          </a:p>
          <a:p>
            <a:pPr eaLnBrk="1" hangingPunct="1">
              <a:lnSpc>
                <a:spcPct val="140000"/>
              </a:lnSpc>
            </a:pPr>
            <a:r>
              <a:rPr lang="en-US" sz="2700" dirty="0" smtClean="0">
                <a:latin typeface="Arial" charset="0"/>
              </a:rPr>
              <a:t>Phototrophic microbes dominate aquatic environments</a:t>
            </a:r>
          </a:p>
          <a:p>
            <a:pPr eaLnBrk="1" hangingPunct="1">
              <a:lnSpc>
                <a:spcPct val="140000"/>
              </a:lnSpc>
            </a:pPr>
            <a:endParaRPr lang="en-US" sz="2700" dirty="0" smtClean="0">
              <a:latin typeface="Arial" charset="0"/>
            </a:endParaRPr>
          </a:p>
          <a:p>
            <a:pPr eaLnBrk="1" hangingPunct="1">
              <a:lnSpc>
                <a:spcPct val="140000"/>
              </a:lnSpc>
              <a:buFont typeface="Wingdings" pitchFamily="2" charset="2"/>
              <a:buNone/>
            </a:pPr>
            <a:endParaRPr lang="en-US" sz="2700" dirty="0" smtClean="0">
              <a:latin typeface="Arial" charset="0"/>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The Carbon Cycle</a:t>
            </a:r>
          </a:p>
        </p:txBody>
      </p:sp>
      <p:sp>
        <p:nvSpPr>
          <p:cNvPr id="108547" name="Rectangle 3"/>
          <p:cNvSpPr>
            <a:spLocks noGrp="1" noChangeArrowheads="1"/>
          </p:cNvSpPr>
          <p:nvPr>
            <p:ph type="body" idx="4294967295"/>
          </p:nvPr>
        </p:nvSpPr>
        <p:spPr>
          <a:xfrm>
            <a:off x="0" y="1600200"/>
            <a:ext cx="8229600" cy="4525963"/>
          </a:xfrm>
        </p:spPr>
        <p:txBody>
          <a:bodyPr tIns="18283" bIns="18283"/>
          <a:lstStyle/>
          <a:p>
            <a:pPr eaLnBrk="1" hangingPunct="1"/>
            <a:endParaRPr lang="en-US" sz="2300" dirty="0" smtClean="0">
              <a:latin typeface="Arial" charset="0"/>
            </a:endParaRPr>
          </a:p>
          <a:p>
            <a:pPr eaLnBrk="1" hangingPunct="1"/>
            <a:r>
              <a:rPr lang="en-US" dirty="0" smtClean="0">
                <a:latin typeface="Arial" charset="0"/>
              </a:rPr>
              <a:t>Photosynthesis and respiration are reverse reactions</a:t>
            </a:r>
          </a:p>
          <a:p>
            <a:pPr eaLnBrk="1" hangingPunct="1"/>
            <a:r>
              <a:rPr lang="en-US" dirty="0" smtClean="0">
                <a:latin typeface="Arial" charset="0"/>
              </a:rPr>
              <a:t>Photosynthesis</a:t>
            </a:r>
          </a:p>
          <a:p>
            <a:pPr lvl="1" eaLnBrk="1" hangingPunct="1">
              <a:buFontTx/>
              <a:buNone/>
            </a:pPr>
            <a:r>
              <a:rPr lang="en-US" sz="2300" dirty="0" smtClean="0">
                <a:latin typeface="Arial" charset="0"/>
              </a:rPr>
              <a:t>CO</a:t>
            </a:r>
            <a:r>
              <a:rPr lang="en-US" sz="2300" baseline="-25000" dirty="0" smtClean="0">
                <a:latin typeface="Arial" charset="0"/>
              </a:rPr>
              <a:t>2</a:t>
            </a:r>
            <a:r>
              <a:rPr lang="en-US" sz="2300" dirty="0" smtClean="0">
                <a:latin typeface="Arial" charset="0"/>
              </a:rPr>
              <a:t> + H</a:t>
            </a:r>
            <a:r>
              <a:rPr lang="en-US" sz="2300" baseline="-25000" dirty="0" smtClean="0">
                <a:latin typeface="Arial" charset="0"/>
              </a:rPr>
              <a:t>2</a:t>
            </a:r>
            <a:r>
              <a:rPr lang="en-US" sz="2300" dirty="0" smtClean="0">
                <a:latin typeface="Arial" charset="0"/>
              </a:rPr>
              <a:t>O        (CH</a:t>
            </a:r>
            <a:r>
              <a:rPr lang="en-US" sz="2300" baseline="-25000" dirty="0" smtClean="0">
                <a:latin typeface="Arial" charset="0"/>
              </a:rPr>
              <a:t>2</a:t>
            </a:r>
            <a:r>
              <a:rPr lang="en-US" sz="2300" dirty="0" smtClean="0">
                <a:latin typeface="Arial" charset="0"/>
              </a:rPr>
              <a:t>O) + O</a:t>
            </a:r>
            <a:r>
              <a:rPr lang="en-US" sz="2300" baseline="-25000" dirty="0" smtClean="0">
                <a:latin typeface="Arial" charset="0"/>
              </a:rPr>
              <a:t>2</a:t>
            </a:r>
          </a:p>
          <a:p>
            <a:pPr lvl="1" eaLnBrk="1" hangingPunct="1">
              <a:buFontTx/>
              <a:buNone/>
            </a:pPr>
            <a:r>
              <a:rPr lang="en-US" sz="2300" baseline="-25000" dirty="0" err="1" smtClean="0">
                <a:latin typeface="Arial" charset="0"/>
              </a:rPr>
              <a:t>Photsynthesis</a:t>
            </a:r>
            <a:r>
              <a:rPr lang="en-US" sz="2300" baseline="-25000" dirty="0" smtClean="0">
                <a:latin typeface="Arial" charset="0"/>
              </a:rPr>
              <a:t> can be </a:t>
            </a:r>
            <a:r>
              <a:rPr lang="en-US" sz="2300" b="1" baseline="-25000" dirty="0" smtClean="0">
                <a:latin typeface="Arial" charset="0"/>
              </a:rPr>
              <a:t>oxygenic</a:t>
            </a:r>
            <a:r>
              <a:rPr lang="en-US" sz="2300" baseline="-25000" dirty="0" smtClean="0">
                <a:latin typeface="Arial" charset="0"/>
              </a:rPr>
              <a:t> or </a:t>
            </a:r>
            <a:r>
              <a:rPr lang="en-US" sz="2300" b="1" baseline="-25000" dirty="0" err="1" smtClean="0">
                <a:latin typeface="Arial" charset="0"/>
              </a:rPr>
              <a:t>anoxygenic</a:t>
            </a:r>
            <a:endParaRPr lang="en-US" sz="2300" b="1" dirty="0" smtClean="0">
              <a:latin typeface="Arial" charset="0"/>
            </a:endParaRPr>
          </a:p>
          <a:p>
            <a:pPr eaLnBrk="1" hangingPunct="1"/>
            <a:r>
              <a:rPr lang="en-US" dirty="0" smtClean="0">
                <a:latin typeface="Arial" charset="0"/>
              </a:rPr>
              <a:t>Respiration</a:t>
            </a:r>
          </a:p>
          <a:p>
            <a:pPr lvl="1" eaLnBrk="1" hangingPunct="1">
              <a:buFontTx/>
              <a:buNone/>
            </a:pPr>
            <a:r>
              <a:rPr lang="en-US" sz="2300" dirty="0" smtClean="0">
                <a:latin typeface="Arial" charset="0"/>
              </a:rPr>
              <a:t>(CH</a:t>
            </a:r>
            <a:r>
              <a:rPr lang="en-US" sz="2300" baseline="-25000" dirty="0" smtClean="0">
                <a:latin typeface="Arial" charset="0"/>
              </a:rPr>
              <a:t>2</a:t>
            </a:r>
            <a:r>
              <a:rPr lang="en-US" sz="2300" dirty="0" smtClean="0">
                <a:latin typeface="Arial" charset="0"/>
              </a:rPr>
              <a:t>O) + O</a:t>
            </a:r>
            <a:r>
              <a:rPr lang="en-US" sz="2300" baseline="-25000" dirty="0" smtClean="0">
                <a:latin typeface="Arial" charset="0"/>
              </a:rPr>
              <a:t>2</a:t>
            </a:r>
            <a:r>
              <a:rPr lang="en-US" sz="2300" dirty="0" smtClean="0">
                <a:latin typeface="Arial" charset="0"/>
              </a:rPr>
              <a:t>          CO</a:t>
            </a:r>
            <a:r>
              <a:rPr lang="en-US" sz="2300" baseline="-25000" dirty="0" smtClean="0">
                <a:latin typeface="Arial" charset="0"/>
              </a:rPr>
              <a:t>2</a:t>
            </a:r>
            <a:r>
              <a:rPr lang="en-US" sz="2300" dirty="0" smtClean="0">
                <a:latin typeface="Arial" charset="0"/>
              </a:rPr>
              <a:t> + H</a:t>
            </a:r>
            <a:r>
              <a:rPr lang="en-US" sz="2300" baseline="-25000" dirty="0" smtClean="0">
                <a:latin typeface="Arial" charset="0"/>
              </a:rPr>
              <a:t>2</a:t>
            </a:r>
            <a:r>
              <a:rPr lang="en-US" sz="2300" dirty="0" smtClean="0">
                <a:latin typeface="Arial" charset="0"/>
              </a:rPr>
              <a:t>O </a:t>
            </a:r>
          </a:p>
          <a:p>
            <a:pPr lvl="1" eaLnBrk="1" hangingPunct="1"/>
            <a:endParaRPr lang="en-US" sz="2300" dirty="0" smtClean="0">
              <a:latin typeface="Arial" charset="0"/>
            </a:endParaRPr>
          </a:p>
          <a:p>
            <a:pPr eaLnBrk="1" hangingPunct="1"/>
            <a:endParaRPr lang="en-US" sz="2300" dirty="0" smtClean="0">
              <a:latin typeface="Arial" charset="0"/>
            </a:endParaRPr>
          </a:p>
          <a:p>
            <a:pPr eaLnBrk="1" hangingPunct="1">
              <a:buFont typeface="Wingdings" pitchFamily="2" charset="2"/>
              <a:buNone/>
            </a:pPr>
            <a:endParaRPr lang="en-US" sz="2300" dirty="0" smtClean="0">
              <a:latin typeface="Arial" charset="0"/>
            </a:endParaRPr>
          </a:p>
        </p:txBody>
      </p:sp>
      <p:sp>
        <p:nvSpPr>
          <p:cNvPr id="108548" name="Line 4"/>
          <p:cNvSpPr>
            <a:spLocks noChangeShapeType="1"/>
          </p:cNvSpPr>
          <p:nvPr/>
        </p:nvSpPr>
        <p:spPr bwMode="auto">
          <a:xfrm>
            <a:off x="2209801" y="3073080"/>
            <a:ext cx="228600" cy="127319"/>
          </a:xfrm>
          <a:prstGeom prst="line">
            <a:avLst/>
          </a:prstGeom>
          <a:noFill/>
          <a:ln w="76200">
            <a:solidFill>
              <a:schemeClr val="tx1"/>
            </a:solidFill>
            <a:round/>
            <a:headEnd/>
            <a:tailEnd type="triangle" w="med" len="med"/>
          </a:ln>
        </p:spPr>
        <p:txBody>
          <a:bodyPr wrap="none" lIns="82058" tIns="41029" rIns="82058" bIns="41029" anchor="ctr"/>
          <a:lstStyle/>
          <a:p>
            <a:endParaRPr lang="en-US"/>
          </a:p>
        </p:txBody>
      </p:sp>
      <p:sp>
        <p:nvSpPr>
          <p:cNvPr id="108549" name="Line 5"/>
          <p:cNvSpPr>
            <a:spLocks noChangeShapeType="1"/>
          </p:cNvSpPr>
          <p:nvPr/>
        </p:nvSpPr>
        <p:spPr bwMode="auto">
          <a:xfrm>
            <a:off x="2782888" y="4818063"/>
            <a:ext cx="452437" cy="0"/>
          </a:xfrm>
          <a:prstGeom prst="line">
            <a:avLst/>
          </a:prstGeom>
          <a:noFill/>
          <a:ln w="76200">
            <a:solidFill>
              <a:schemeClr val="tx1"/>
            </a:solidFill>
            <a:round/>
            <a:headEnd/>
            <a:tailEnd type="triangle" w="med" len="med"/>
          </a:ln>
        </p:spPr>
        <p:txBody>
          <a:bodyPr wrap="none" lIns="82058" tIns="41029" rIns="82058" bIns="41029" anchor="ctr"/>
          <a:lstStyle/>
          <a:p>
            <a:endParaRPr lang="en-US"/>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idx="4294967295"/>
          </p:nvPr>
        </p:nvSpPr>
        <p:spPr>
          <a:xfrm>
            <a:off x="0" y="274638"/>
            <a:ext cx="8229600" cy="1143000"/>
          </a:xfrm>
        </p:spPr>
        <p:txBody>
          <a:bodyPr lIns="91418" rIns="91418"/>
          <a:lstStyle/>
          <a:p>
            <a:pPr eaLnBrk="1" hangingPunct="1"/>
            <a:r>
              <a:rPr lang="en-US" dirty="0" err="1" smtClean="0"/>
              <a:t>Methanogenesis</a:t>
            </a:r>
            <a:r>
              <a:rPr lang="en-US" dirty="0" smtClean="0"/>
              <a:t> and </a:t>
            </a:r>
            <a:r>
              <a:rPr lang="en-US" dirty="0" err="1" smtClean="0"/>
              <a:t>Syntrophy</a:t>
            </a:r>
            <a:endParaRPr lang="en-US" dirty="0" smtClean="0"/>
          </a:p>
        </p:txBody>
      </p:sp>
      <p:sp>
        <p:nvSpPr>
          <p:cNvPr id="110595" name="Rectangle 3"/>
          <p:cNvSpPr>
            <a:spLocks noGrp="1" noChangeArrowheads="1"/>
          </p:cNvSpPr>
          <p:nvPr>
            <p:ph type="body" idx="4294967295"/>
          </p:nvPr>
        </p:nvSpPr>
        <p:spPr>
          <a:xfrm>
            <a:off x="0" y="1103313"/>
            <a:ext cx="8204200" cy="5053012"/>
          </a:xfrm>
        </p:spPr>
        <p:txBody>
          <a:bodyPr tIns="18283" bIns="18283"/>
          <a:lstStyle/>
          <a:p>
            <a:pPr eaLnBrk="1" hangingPunct="1"/>
            <a:endParaRPr lang="en-US" dirty="0" smtClean="0">
              <a:latin typeface="Arial" charset="0"/>
            </a:endParaRPr>
          </a:p>
          <a:p>
            <a:pPr eaLnBrk="1" hangingPunct="1"/>
            <a:endParaRPr lang="en-US" dirty="0" smtClean="0">
              <a:latin typeface="Arial" charset="0"/>
            </a:endParaRPr>
          </a:p>
          <a:p>
            <a:pPr eaLnBrk="1" hangingPunct="1"/>
            <a:r>
              <a:rPr lang="en-US" dirty="0" smtClean="0">
                <a:latin typeface="Arial" charset="0"/>
              </a:rPr>
              <a:t>Most </a:t>
            </a:r>
            <a:r>
              <a:rPr lang="en-US" dirty="0" err="1" smtClean="0">
                <a:latin typeface="Arial" charset="0"/>
              </a:rPr>
              <a:t>methanogens</a:t>
            </a:r>
            <a:r>
              <a:rPr lang="en-US" dirty="0" smtClean="0">
                <a:latin typeface="Arial" charset="0"/>
              </a:rPr>
              <a:t> reduce CO</a:t>
            </a:r>
            <a:r>
              <a:rPr lang="en-US" baseline="-25000" dirty="0" smtClean="0">
                <a:latin typeface="Arial" charset="0"/>
              </a:rPr>
              <a:t>2</a:t>
            </a:r>
            <a:r>
              <a:rPr lang="en-US" dirty="0" smtClean="0">
                <a:latin typeface="Arial" charset="0"/>
              </a:rPr>
              <a:t> to CH</a:t>
            </a:r>
            <a:r>
              <a:rPr lang="en-US" baseline="-25000" dirty="0" smtClean="0">
                <a:latin typeface="Arial" charset="0"/>
              </a:rPr>
              <a:t>4</a:t>
            </a:r>
            <a:r>
              <a:rPr lang="en-US" dirty="0" smtClean="0">
                <a:latin typeface="Arial" charset="0"/>
              </a:rPr>
              <a:t> with H</a:t>
            </a:r>
            <a:r>
              <a:rPr lang="en-US" baseline="-25000" dirty="0" smtClean="0">
                <a:latin typeface="Arial" charset="0"/>
              </a:rPr>
              <a:t>2</a:t>
            </a:r>
            <a:r>
              <a:rPr lang="en-US" dirty="0" smtClean="0">
                <a:latin typeface="Arial" charset="0"/>
              </a:rPr>
              <a:t> as an electron donor; some can reduce other substrates to CH</a:t>
            </a:r>
            <a:r>
              <a:rPr lang="en-US" baseline="-25000" dirty="0" smtClean="0">
                <a:latin typeface="Arial" charset="0"/>
              </a:rPr>
              <a:t>4</a:t>
            </a:r>
            <a:r>
              <a:rPr lang="en-US" dirty="0" smtClean="0">
                <a:latin typeface="Arial" charset="0"/>
              </a:rPr>
              <a:t> (e.g., acetate)</a:t>
            </a:r>
          </a:p>
          <a:p>
            <a:pPr eaLnBrk="1" hangingPunct="1"/>
            <a:r>
              <a:rPr lang="en-US" dirty="0" err="1" smtClean="0">
                <a:latin typeface="Arial" charset="0"/>
              </a:rPr>
              <a:t>Methanogens</a:t>
            </a:r>
            <a:r>
              <a:rPr lang="en-US" dirty="0" smtClean="0">
                <a:latin typeface="Arial" charset="0"/>
              </a:rPr>
              <a:t> may team up with partners (</a:t>
            </a:r>
            <a:r>
              <a:rPr lang="en-US" dirty="0" err="1" smtClean="0">
                <a:latin typeface="Arial" charset="0"/>
              </a:rPr>
              <a:t>syntrophs</a:t>
            </a:r>
            <a:r>
              <a:rPr lang="en-US" dirty="0" smtClean="0">
                <a:latin typeface="Arial" charset="0"/>
              </a:rPr>
              <a:t>) that supply them with necessary substrates</a:t>
            </a:r>
          </a:p>
          <a:p>
            <a:pPr eaLnBrk="1" hangingPunct="1"/>
            <a:r>
              <a:rPr lang="en-US" sz="4000" b="1" u="sng" baseline="-25000" dirty="0" err="1" smtClean="0">
                <a:latin typeface="Arial" pitchFamily="34" charset="0"/>
                <a:cs typeface="Arial" pitchFamily="34" charset="0"/>
              </a:rPr>
              <a:t>Syntrophy</a:t>
            </a:r>
            <a:r>
              <a:rPr lang="en-US" sz="4000" baseline="-25000" dirty="0" smtClean="0">
                <a:latin typeface="Arial" pitchFamily="34" charset="0"/>
                <a:cs typeface="Arial" pitchFamily="34" charset="0"/>
              </a:rPr>
              <a:t>:</a:t>
            </a:r>
            <a:r>
              <a:rPr lang="en-US" sz="4000" dirty="0" smtClean="0">
                <a:latin typeface="Arial" pitchFamily="34" charset="0"/>
                <a:cs typeface="Arial" pitchFamily="34" charset="0"/>
              </a:rPr>
              <a:t> </a:t>
            </a:r>
            <a:r>
              <a:rPr lang="en-US" sz="4000" baseline="-25000" dirty="0" smtClean="0">
                <a:latin typeface="Arial" pitchFamily="34" charset="0"/>
                <a:cs typeface="Arial" pitchFamily="34" charset="0"/>
              </a:rPr>
              <a:t>A process whereby 2 or more microbes cooperate to degrade a substance neither can degrade</a:t>
            </a:r>
            <a:r>
              <a:rPr lang="en-US" sz="4000" dirty="0" smtClean="0">
                <a:latin typeface="Arial" pitchFamily="34" charset="0"/>
                <a:cs typeface="Arial" pitchFamily="34" charset="0"/>
              </a:rPr>
              <a:t> </a:t>
            </a:r>
            <a:r>
              <a:rPr lang="en-US" sz="4000" baseline="-25000" dirty="0" smtClean="0">
                <a:latin typeface="Arial" pitchFamily="34" charset="0"/>
                <a:cs typeface="Arial" pitchFamily="34" charset="0"/>
              </a:rPr>
              <a:t>alone</a:t>
            </a:r>
            <a:endParaRPr lang="en-US" sz="4000" dirty="0" smtClean="0">
              <a:latin typeface="Arial" pitchFamily="34" charset="0"/>
              <a:cs typeface="Arial" pitchFamily="34" charset="0"/>
            </a:endParaRPr>
          </a:p>
          <a:p>
            <a:pPr eaLnBrk="1" hangingPunct="1"/>
            <a:endParaRPr lang="en-US" sz="4000"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idx="4294967295"/>
          </p:nvPr>
        </p:nvSpPr>
        <p:spPr>
          <a:xfrm>
            <a:off x="0" y="160338"/>
            <a:ext cx="8631238" cy="466725"/>
          </a:xfrm>
        </p:spPr>
        <p:txBody>
          <a:bodyPr lIns="91418" rIns="91418">
            <a:normAutofit fontScale="90000"/>
          </a:bodyPr>
          <a:lstStyle/>
          <a:p>
            <a:pPr eaLnBrk="1" hangingPunct="1"/>
            <a:r>
              <a:rPr lang="en-US" smtClean="0"/>
              <a:t>Methanogenesis</a:t>
            </a:r>
          </a:p>
        </p:txBody>
      </p:sp>
      <p:sp>
        <p:nvSpPr>
          <p:cNvPr id="111619" name="Rectangle 3"/>
          <p:cNvSpPr>
            <a:spLocks noGrp="1" noChangeArrowheads="1"/>
          </p:cNvSpPr>
          <p:nvPr>
            <p:ph type="body" idx="4294967295"/>
          </p:nvPr>
        </p:nvSpPr>
        <p:spPr>
          <a:xfrm>
            <a:off x="0" y="836613"/>
            <a:ext cx="4029075" cy="5575300"/>
          </a:xfrm>
        </p:spPr>
        <p:txBody>
          <a:bodyPr tIns="18283" bIns="18283"/>
          <a:lstStyle/>
          <a:p>
            <a:pPr eaLnBrk="1" hangingPunct="1"/>
            <a:endParaRPr lang="en-US" sz="2300" smtClean="0">
              <a:latin typeface="Arial" charset="0"/>
            </a:endParaRPr>
          </a:p>
          <a:p>
            <a:pPr eaLnBrk="1" hangingPunct="1"/>
            <a:r>
              <a:rPr lang="en-US" smtClean="0">
                <a:latin typeface="Arial" charset="0"/>
              </a:rPr>
              <a:t>Methanogenic symbionts can be found in some protists that live in the gut of termites and ruminants</a:t>
            </a:r>
          </a:p>
          <a:p>
            <a:pPr eaLnBrk="1" hangingPunct="1"/>
            <a:r>
              <a:rPr lang="en-US" smtClean="0">
                <a:latin typeface="Arial" charset="0"/>
              </a:rPr>
              <a:t>On a global basis, biotic processes release more CH</a:t>
            </a:r>
            <a:r>
              <a:rPr lang="en-US" baseline="-25000" smtClean="0">
                <a:latin typeface="Arial" charset="0"/>
              </a:rPr>
              <a:t>4</a:t>
            </a:r>
            <a:r>
              <a:rPr lang="en-US" smtClean="0">
                <a:latin typeface="Arial" charset="0"/>
              </a:rPr>
              <a:t> than abiotic processes</a:t>
            </a:r>
          </a:p>
          <a:p>
            <a:pPr eaLnBrk="1" hangingPunct="1"/>
            <a:endParaRPr lang="en-US" smtClean="0">
              <a:latin typeface="Arial" charset="0"/>
            </a:endParaRPr>
          </a:p>
          <a:p>
            <a:pPr eaLnBrk="1" hangingPunct="1"/>
            <a:endParaRPr lang="en-US" smtClean="0">
              <a:latin typeface="Arial" charset="0"/>
            </a:endParaRPr>
          </a:p>
          <a:p>
            <a:pPr eaLnBrk="1" hangingPunct="1"/>
            <a:endParaRPr lang="en-US" sz="2300" smtClean="0">
              <a:latin typeface="Arial" charset="0"/>
            </a:endParaRPr>
          </a:p>
          <a:p>
            <a:pPr eaLnBrk="1" hangingPunct="1"/>
            <a:endParaRPr lang="en-US" sz="2300" smtClean="0">
              <a:latin typeface="Arial" charset="0"/>
            </a:endParaRPr>
          </a:p>
          <a:p>
            <a:pPr eaLnBrk="1" hangingPunct="1"/>
            <a:endParaRPr lang="en-US" sz="2300" smtClean="0">
              <a:latin typeface="Arial" charset="0"/>
            </a:endParaRPr>
          </a:p>
          <a:p>
            <a:pPr eaLnBrk="1" hangingPunct="1">
              <a:buFont typeface="Wingdings" pitchFamily="2" charset="2"/>
              <a:buNone/>
            </a:pPr>
            <a:endParaRPr lang="en-US" sz="2300" smtClean="0">
              <a:latin typeface="Arial" charset="0"/>
            </a:endParaRPr>
          </a:p>
        </p:txBody>
      </p:sp>
      <p:pic>
        <p:nvPicPr>
          <p:cNvPr id="111620" name="Picture 5" descr="24_Table03-T"/>
          <p:cNvPicPr>
            <a:picLocks noChangeAspect="1" noChangeArrowheads="1"/>
          </p:cNvPicPr>
          <p:nvPr/>
        </p:nvPicPr>
        <p:blipFill>
          <a:blip r:embed="rId3"/>
          <a:srcRect b="2580"/>
          <a:stretch>
            <a:fillRect/>
          </a:stretch>
        </p:blipFill>
        <p:spPr bwMode="auto">
          <a:xfrm>
            <a:off x="4581525" y="800100"/>
            <a:ext cx="4562475" cy="56594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The Rumen and Ruminant Animals</a:t>
            </a:r>
          </a:p>
        </p:txBody>
      </p:sp>
      <p:sp>
        <p:nvSpPr>
          <p:cNvPr id="112643" name="Rectangle 3"/>
          <p:cNvSpPr>
            <a:spLocks noGrp="1" noChangeArrowheads="1"/>
          </p:cNvSpPr>
          <p:nvPr>
            <p:ph type="body" idx="4294967295"/>
          </p:nvPr>
        </p:nvSpPr>
        <p:spPr>
          <a:xfrm>
            <a:off x="0" y="1600200"/>
            <a:ext cx="8229600" cy="4525963"/>
          </a:xfrm>
        </p:spPr>
        <p:txBody>
          <a:bodyPr tIns="18283" bIns="18283"/>
          <a:lstStyle/>
          <a:p>
            <a:pPr eaLnBrk="1" hangingPunct="1"/>
            <a:r>
              <a:rPr lang="en-US" sz="3100" smtClean="0">
                <a:latin typeface="Arial" charset="0"/>
              </a:rPr>
              <a:t>Microbes form intimate symbiotic relationships with higher organisms</a:t>
            </a:r>
          </a:p>
          <a:p>
            <a:pPr eaLnBrk="1" hangingPunct="1"/>
            <a:r>
              <a:rPr lang="en-US" sz="3100" i="1" u="sng" smtClean="0">
                <a:latin typeface="Arial" charset="0"/>
              </a:rPr>
              <a:t>Ruminants</a:t>
            </a:r>
            <a:endParaRPr lang="en-US" sz="3100" smtClean="0">
              <a:latin typeface="Arial" charset="0"/>
            </a:endParaRPr>
          </a:p>
          <a:p>
            <a:pPr lvl="1" eaLnBrk="1" hangingPunct="1"/>
            <a:r>
              <a:rPr lang="en-US" smtClean="0">
                <a:latin typeface="Arial" charset="0"/>
              </a:rPr>
              <a:t>Herbivorous mammals (e.g., cows, sheep, goats)</a:t>
            </a:r>
          </a:p>
          <a:p>
            <a:pPr lvl="1" eaLnBrk="1" hangingPunct="1"/>
            <a:r>
              <a:rPr lang="en-US" smtClean="0">
                <a:latin typeface="Arial" charset="0"/>
              </a:rPr>
              <a:t>Possess a special digestive organ (the </a:t>
            </a:r>
            <a:r>
              <a:rPr lang="en-US" i="1" u="sng" smtClean="0">
                <a:latin typeface="Arial" charset="0"/>
              </a:rPr>
              <a:t>rumen</a:t>
            </a:r>
            <a:r>
              <a:rPr lang="en-US" smtClean="0">
                <a:latin typeface="Arial" charset="0"/>
              </a:rPr>
              <a:t>) within which cellulose and other plant polysaccharides are digested with the help of microbes</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p:cNvSpPr>
            <a:spLocks noGrp="1"/>
          </p:cNvSpPr>
          <p:nvPr>
            <p:ph type="title" idx="4294967295"/>
          </p:nvPr>
        </p:nvSpPr>
        <p:spPr>
          <a:xfrm>
            <a:off x="0" y="274638"/>
            <a:ext cx="8229600" cy="1143000"/>
          </a:xfrm>
        </p:spPr>
        <p:txBody>
          <a:bodyPr lIns="91418" rIns="91418"/>
          <a:lstStyle/>
          <a:p>
            <a:r>
              <a:rPr lang="en-US" smtClean="0"/>
              <a:t>Nitrogen Cycle</a:t>
            </a:r>
          </a:p>
        </p:txBody>
      </p:sp>
      <p:sp>
        <p:nvSpPr>
          <p:cNvPr id="114691" name="Content Placeholder 2"/>
          <p:cNvSpPr>
            <a:spLocks noGrp="1"/>
          </p:cNvSpPr>
          <p:nvPr>
            <p:ph idx="4294967295"/>
          </p:nvPr>
        </p:nvSpPr>
        <p:spPr>
          <a:xfrm>
            <a:off x="0" y="1600200"/>
            <a:ext cx="8229600" cy="4525963"/>
          </a:xfrm>
        </p:spPr>
        <p:txBody>
          <a:bodyPr tIns="18283" bIns="18283"/>
          <a:lstStyle/>
          <a:p>
            <a:r>
              <a:rPr lang="en-US" smtClean="0"/>
              <a:t>Nitrogen is essential for amino acids, nucleic acids, etc.</a:t>
            </a:r>
          </a:p>
          <a:p>
            <a:r>
              <a:rPr lang="en-US" smtClean="0"/>
              <a:t>80% of atmosphere is molecular nitrogen N</a:t>
            </a:r>
            <a:r>
              <a:rPr lang="en-US" baseline="-25000" smtClean="0"/>
              <a:t>2</a:t>
            </a:r>
            <a:endParaRPr lang="en-US" smtClean="0"/>
          </a:p>
          <a:p>
            <a:r>
              <a:rPr lang="en-US" smtClean="0"/>
              <a:t>For plants to use nitrogen it must be fixed (combined with other elements). Only a few species of bacteria can fix nitrogen!!</a:t>
            </a:r>
          </a:p>
          <a:p>
            <a:r>
              <a:rPr lang="en-US" b="1" smtClean="0"/>
              <a:t>Nitrogen fixation</a:t>
            </a:r>
            <a:r>
              <a:rPr lang="en-US" smtClean="0"/>
              <a:t>: nitrogen gas is converted to ammonia (requires enzyme nitrogenase)</a:t>
            </a:r>
          </a:p>
          <a:p>
            <a:pPr lvl="1"/>
            <a:r>
              <a:rPr lang="en-US" smtClean="0"/>
              <a:t>Free-living nitrogen-fixing bacteria</a:t>
            </a:r>
          </a:p>
          <a:p>
            <a:pPr lvl="1"/>
            <a:r>
              <a:rPr lang="en-US" smtClean="0"/>
              <a:t>Symbiotic nitrogen-fixing bacteria</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r>
              <a:rPr lang="en-US" sz="2900">
                <a:solidFill>
                  <a:srgbClr val="404040"/>
                </a:solidFill>
                <a:latin typeface="Arial Narrow" pitchFamily="34" charset="0"/>
              </a:rPr>
              <a:t>Redox Cycle for Nitrogen</a:t>
            </a:r>
          </a:p>
        </p:txBody>
      </p:sp>
      <p:pic>
        <p:nvPicPr>
          <p:cNvPr id="115715" name="Picture 5" descr="24_05Figure-L"/>
          <p:cNvPicPr>
            <a:picLocks noChangeAspect="1" noChangeArrowheads="1"/>
          </p:cNvPicPr>
          <p:nvPr/>
        </p:nvPicPr>
        <p:blipFill>
          <a:blip r:embed="rId3"/>
          <a:srcRect b="4970"/>
          <a:stretch>
            <a:fillRect/>
          </a:stretch>
        </p:blipFill>
        <p:spPr bwMode="auto">
          <a:xfrm>
            <a:off x="231775" y="1631950"/>
            <a:ext cx="8680450" cy="37195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The Nitrogen Cycle</a:t>
            </a:r>
          </a:p>
        </p:txBody>
      </p:sp>
      <p:sp>
        <p:nvSpPr>
          <p:cNvPr id="116739" name="Rectangle 3"/>
          <p:cNvSpPr>
            <a:spLocks noGrp="1" noChangeArrowheads="1"/>
          </p:cNvSpPr>
          <p:nvPr>
            <p:ph type="body" idx="4294967295"/>
          </p:nvPr>
        </p:nvSpPr>
        <p:spPr>
          <a:xfrm>
            <a:off x="0" y="996950"/>
            <a:ext cx="8177213" cy="5078413"/>
          </a:xfrm>
        </p:spPr>
        <p:txBody>
          <a:bodyPr tIns="18283" bIns="18283"/>
          <a:lstStyle/>
          <a:p>
            <a:pPr eaLnBrk="1" hangingPunct="1"/>
            <a:endParaRPr lang="en-US" sz="2300" i="1" u="sng" dirty="0" smtClean="0">
              <a:latin typeface="Arial" charset="0"/>
            </a:endParaRPr>
          </a:p>
          <a:p>
            <a:pPr eaLnBrk="1" hangingPunct="1"/>
            <a:endParaRPr lang="en-US" sz="2300" i="1" u="sng" dirty="0" smtClean="0">
              <a:latin typeface="Arial" charset="0"/>
            </a:endParaRPr>
          </a:p>
          <a:p>
            <a:pPr eaLnBrk="1" hangingPunct="1"/>
            <a:r>
              <a:rPr lang="en-US" sz="2300" i="1" u="sng" dirty="0" err="1" smtClean="0">
                <a:latin typeface="Arial" charset="0"/>
              </a:rPr>
              <a:t>Ammonification</a:t>
            </a:r>
            <a:endParaRPr lang="en-US" sz="2300" i="1" u="sng" dirty="0" smtClean="0">
              <a:latin typeface="Arial" charset="0"/>
            </a:endParaRPr>
          </a:p>
          <a:p>
            <a:pPr lvl="1" eaLnBrk="1" hangingPunct="1"/>
            <a:r>
              <a:rPr lang="en-US" sz="2200" dirty="0" smtClean="0">
                <a:latin typeface="Arial" charset="0"/>
              </a:rPr>
              <a:t>Microbes decompose proteins to amino acids. The amino acids can undergo </a:t>
            </a:r>
            <a:r>
              <a:rPr lang="en-US" sz="2200" dirty="0" err="1" smtClean="0">
                <a:latin typeface="Arial" charset="0"/>
              </a:rPr>
              <a:t>deamination</a:t>
            </a:r>
            <a:r>
              <a:rPr lang="en-US" sz="2200" dirty="0" smtClean="0">
                <a:latin typeface="Arial" charset="0"/>
              </a:rPr>
              <a:t> which produces ammonia (NH</a:t>
            </a:r>
            <a:r>
              <a:rPr lang="en-US" sz="2200" baseline="-25000" dirty="0" smtClean="0">
                <a:latin typeface="Arial" charset="0"/>
              </a:rPr>
              <a:t>3</a:t>
            </a:r>
            <a:r>
              <a:rPr lang="en-US" sz="2200" dirty="0" smtClean="0">
                <a:latin typeface="Arial" charset="0"/>
              </a:rPr>
              <a:t>)</a:t>
            </a:r>
          </a:p>
          <a:p>
            <a:pPr eaLnBrk="1" hangingPunct="1"/>
            <a:r>
              <a:rPr lang="en-US" sz="2300" dirty="0" smtClean="0">
                <a:latin typeface="Arial" charset="0"/>
              </a:rPr>
              <a:t>Ammonia produced by </a:t>
            </a:r>
            <a:r>
              <a:rPr lang="en-US" sz="2300" i="1" u="sng" dirty="0" smtClean="0">
                <a:latin typeface="Arial" charset="0"/>
              </a:rPr>
              <a:t>nitrogen fixation</a:t>
            </a:r>
            <a:r>
              <a:rPr lang="en-US" sz="2300" dirty="0" smtClean="0">
                <a:latin typeface="Arial" charset="0"/>
              </a:rPr>
              <a:t> or </a:t>
            </a:r>
            <a:r>
              <a:rPr lang="en-US" sz="2300" i="1" u="sng" dirty="0" err="1" smtClean="0">
                <a:latin typeface="Arial" charset="0"/>
              </a:rPr>
              <a:t>ammonification</a:t>
            </a:r>
            <a:r>
              <a:rPr lang="en-US" sz="2300" dirty="0" smtClean="0">
                <a:latin typeface="Arial" charset="0"/>
              </a:rPr>
              <a:t> can be assimilated into organic matter or oxidized to nitrate</a:t>
            </a:r>
          </a:p>
          <a:p>
            <a:pPr eaLnBrk="1" hangingPunct="1"/>
            <a:r>
              <a:rPr lang="en-US" sz="2300" i="1" u="sng" dirty="0" smtClean="0">
                <a:latin typeface="Arial" charset="0"/>
              </a:rPr>
              <a:t>Nitrification</a:t>
            </a:r>
            <a:r>
              <a:rPr lang="en-US" sz="2300" dirty="0" smtClean="0">
                <a:latin typeface="Arial" charset="0"/>
              </a:rPr>
              <a:t> the oxidation of ammonia to produce nitrate.</a:t>
            </a:r>
          </a:p>
          <a:p>
            <a:pPr lvl="1" eaLnBrk="1" hangingPunct="1"/>
            <a:r>
              <a:rPr lang="en-US" sz="2200" dirty="0" smtClean="0">
                <a:latin typeface="Arial" charset="0"/>
              </a:rPr>
              <a:t>Plants use nitrate as their principle source of nitrogen</a:t>
            </a:r>
          </a:p>
          <a:p>
            <a:pPr lvl="1" eaLnBrk="1" hangingPunct="1"/>
            <a:r>
              <a:rPr lang="en-US" sz="2200" i="1" dirty="0" err="1" smtClean="0">
                <a:latin typeface="Arial" charset="0"/>
              </a:rPr>
              <a:t>Nitrobacter</a:t>
            </a:r>
            <a:r>
              <a:rPr lang="en-US" sz="2200" dirty="0" smtClean="0">
                <a:latin typeface="Arial" charset="0"/>
              </a:rPr>
              <a:t> and </a:t>
            </a:r>
            <a:r>
              <a:rPr lang="en-US" sz="2200" i="1" dirty="0" err="1" smtClean="0">
                <a:latin typeface="Arial" charset="0"/>
              </a:rPr>
              <a:t>Nitrosomonas</a:t>
            </a:r>
            <a:r>
              <a:rPr lang="en-US" sz="2200" dirty="0" smtClean="0">
                <a:latin typeface="Arial" charset="0"/>
              </a:rPr>
              <a:t> are genera of nitrifying bacteria</a:t>
            </a:r>
          </a:p>
          <a:p>
            <a:pPr eaLnBrk="1" hangingPunct="1">
              <a:buFont typeface="Wingdings" pitchFamily="2" charset="2"/>
              <a:buNone/>
            </a:pPr>
            <a:endParaRPr lang="en-US" sz="2300" dirty="0" smtClean="0">
              <a:latin typeface="Arial" charset="0"/>
            </a:endParaRPr>
          </a:p>
          <a:p>
            <a:pPr eaLnBrk="1" hangingPunct="1">
              <a:buFont typeface="Wingdings" pitchFamily="2" charset="2"/>
              <a:buNone/>
            </a:pPr>
            <a:endParaRPr lang="en-US" sz="2300" dirty="0" smtClean="0">
              <a:latin typeface="Arial" charset="0"/>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1"/>
          <p:cNvSpPr>
            <a:spLocks noGrp="1"/>
          </p:cNvSpPr>
          <p:nvPr>
            <p:ph type="title" idx="4294967295"/>
          </p:nvPr>
        </p:nvSpPr>
        <p:spPr>
          <a:xfrm>
            <a:off x="0" y="274638"/>
            <a:ext cx="8229600" cy="1143000"/>
          </a:xfrm>
        </p:spPr>
        <p:txBody>
          <a:bodyPr lIns="91418" rIns="91418"/>
          <a:lstStyle/>
          <a:p>
            <a:r>
              <a:rPr lang="en-US" smtClean="0"/>
              <a:t>Nitrogen Cycle</a:t>
            </a:r>
          </a:p>
        </p:txBody>
      </p:sp>
      <p:sp>
        <p:nvSpPr>
          <p:cNvPr id="117763" name="Content Placeholder 2"/>
          <p:cNvSpPr>
            <a:spLocks noGrp="1"/>
          </p:cNvSpPr>
          <p:nvPr>
            <p:ph idx="4294967295"/>
          </p:nvPr>
        </p:nvSpPr>
        <p:spPr>
          <a:xfrm>
            <a:off x="0" y="1600200"/>
            <a:ext cx="8229600" cy="4525963"/>
          </a:xfrm>
        </p:spPr>
        <p:txBody>
          <a:bodyPr tIns="18283" bIns="18283"/>
          <a:lstStyle/>
          <a:p>
            <a:r>
              <a:rPr lang="en-US" i="1" u="sng" smtClean="0">
                <a:latin typeface="Arial" charset="0"/>
              </a:rPr>
              <a:t>Denitrification</a:t>
            </a:r>
            <a:r>
              <a:rPr lang="en-US" smtClean="0">
                <a:latin typeface="Arial" charset="0"/>
              </a:rPr>
              <a:t> is the reduction of nitrate (NO</a:t>
            </a:r>
            <a:r>
              <a:rPr lang="en-US" baseline="-25000" smtClean="0">
                <a:latin typeface="Arial" charset="0"/>
              </a:rPr>
              <a:t>3 </a:t>
            </a:r>
            <a:r>
              <a:rPr lang="en-US" smtClean="0">
                <a:latin typeface="Arial" charset="0"/>
              </a:rPr>
              <a:t>) to gaseous nitrogen products (N</a:t>
            </a:r>
            <a:r>
              <a:rPr lang="en-US" baseline="-25000" smtClean="0">
                <a:latin typeface="Arial" charset="0"/>
              </a:rPr>
              <a:t>2 </a:t>
            </a:r>
            <a:r>
              <a:rPr lang="en-US" smtClean="0">
                <a:latin typeface="Arial" charset="0"/>
              </a:rPr>
              <a:t>O and N</a:t>
            </a:r>
            <a:r>
              <a:rPr lang="en-US" baseline="-25000" smtClean="0">
                <a:latin typeface="Arial" charset="0"/>
              </a:rPr>
              <a:t>2 </a:t>
            </a:r>
            <a:r>
              <a:rPr lang="en-US" smtClean="0">
                <a:latin typeface="Arial" charset="0"/>
              </a:rPr>
              <a:t>) and is the primary mechanism by which N</a:t>
            </a:r>
            <a:r>
              <a:rPr lang="en-US" baseline="-25000" smtClean="0">
                <a:latin typeface="Arial" charset="0"/>
              </a:rPr>
              <a:t>2</a:t>
            </a:r>
            <a:r>
              <a:rPr lang="en-US" smtClean="0">
                <a:latin typeface="Arial" charset="0"/>
              </a:rPr>
              <a:t> is produced biologically</a:t>
            </a:r>
          </a:p>
          <a:p>
            <a:pPr lvl="1"/>
            <a:r>
              <a:rPr lang="en-US" sz="2200" i="1" smtClean="0">
                <a:latin typeface="Arial" charset="0"/>
              </a:rPr>
              <a:t>Pseudomonas</a:t>
            </a:r>
            <a:r>
              <a:rPr lang="en-US" sz="2200" smtClean="0">
                <a:latin typeface="Arial" charset="0"/>
              </a:rPr>
              <a:t> spp. are important bacteria in the denitrification of soils</a:t>
            </a:r>
            <a:endParaRPr lang="en-US" sz="2300" smtClean="0">
              <a:latin typeface="Arial" charset="0"/>
            </a:endParaRPr>
          </a:p>
          <a:p>
            <a:pPr eaLnBrk="1" hangingPunct="1"/>
            <a:r>
              <a:rPr lang="en-US" i="1" u="sng" smtClean="0">
                <a:latin typeface="Arial" charset="0"/>
              </a:rPr>
              <a:t>Anammox</a:t>
            </a:r>
            <a:r>
              <a:rPr lang="en-US" smtClean="0">
                <a:latin typeface="Arial" charset="0"/>
              </a:rPr>
              <a:t> is the anaerobic oxidation of ammonia to N</a:t>
            </a:r>
            <a:r>
              <a:rPr lang="en-US" baseline="-25000" smtClean="0">
                <a:latin typeface="Arial" charset="0"/>
              </a:rPr>
              <a:t>2</a:t>
            </a:r>
            <a:r>
              <a:rPr lang="en-US" smtClean="0">
                <a:latin typeface="Arial" charset="0"/>
              </a:rPr>
              <a:t> gas</a:t>
            </a:r>
          </a:p>
          <a:p>
            <a:pPr eaLnBrk="1" hangingPunct="1"/>
            <a:r>
              <a:rPr lang="en-US" smtClean="0">
                <a:latin typeface="Arial" charset="0"/>
              </a:rPr>
              <a:t>Denitrification and anammox result in losses of nitrogen from the biosphere</a:t>
            </a:r>
          </a:p>
          <a:p>
            <a:pPr>
              <a:buFont typeface="Wingdings" pitchFamily="2" charset="2"/>
              <a:buNone/>
            </a:pPr>
            <a:endParaRPr lang="en-US" smtClean="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The Sulfur Cycle</a:t>
            </a:r>
          </a:p>
        </p:txBody>
      </p:sp>
      <p:sp>
        <p:nvSpPr>
          <p:cNvPr id="118787" name="Rectangle 3"/>
          <p:cNvSpPr>
            <a:spLocks noGrp="1" noChangeArrowheads="1"/>
          </p:cNvSpPr>
          <p:nvPr>
            <p:ph type="body" idx="4294967295"/>
          </p:nvPr>
        </p:nvSpPr>
        <p:spPr>
          <a:xfrm>
            <a:off x="0" y="1600200"/>
            <a:ext cx="8229600" cy="4525963"/>
          </a:xfrm>
        </p:spPr>
        <p:txBody>
          <a:bodyPr tIns="18283" bIns="18283"/>
          <a:lstStyle/>
          <a:p>
            <a:pPr eaLnBrk="1" hangingPunct="1"/>
            <a:r>
              <a:rPr lang="en-US" sz="2200" smtClean="0">
                <a:latin typeface="Arial" charset="0"/>
              </a:rPr>
              <a:t> H</a:t>
            </a:r>
            <a:r>
              <a:rPr lang="en-US" sz="2200" baseline="-25000" smtClean="0">
                <a:latin typeface="Arial" charset="0"/>
              </a:rPr>
              <a:t>2</a:t>
            </a:r>
            <a:r>
              <a:rPr lang="en-US" sz="2200" smtClean="0">
                <a:latin typeface="Arial" charset="0"/>
              </a:rPr>
              <a:t>S (</a:t>
            </a:r>
            <a:r>
              <a:rPr lang="en-US" sz="2300" smtClean="0">
                <a:latin typeface="Arial" charset="0"/>
              </a:rPr>
              <a:t>Hydrogen sulfide…reduced form of sulfur) is an energy source for some autotrophs</a:t>
            </a:r>
          </a:p>
          <a:p>
            <a:pPr lvl="1" eaLnBrk="1" hangingPunct="1"/>
            <a:r>
              <a:rPr lang="en-US" sz="2300" smtClean="0">
                <a:latin typeface="Arial" charset="0"/>
              </a:rPr>
              <a:t>Photoautrophs (green and purple bacteria groups)</a:t>
            </a:r>
          </a:p>
          <a:p>
            <a:pPr lvl="1" eaLnBrk="1" hangingPunct="1"/>
            <a:r>
              <a:rPr lang="en-US" sz="2300" smtClean="0">
                <a:latin typeface="Arial" charset="0"/>
              </a:rPr>
              <a:t>Chemoautoatrophs (</a:t>
            </a:r>
            <a:r>
              <a:rPr lang="en-US" sz="2300" i="1" smtClean="0">
                <a:latin typeface="Arial" charset="0"/>
              </a:rPr>
              <a:t>Beggiatoa</a:t>
            </a:r>
            <a:r>
              <a:rPr lang="en-US" sz="2300" smtClean="0">
                <a:latin typeface="Arial" charset="0"/>
              </a:rPr>
              <a:t> and </a:t>
            </a:r>
            <a:r>
              <a:rPr lang="en-US" sz="2300" i="1" smtClean="0">
                <a:latin typeface="Arial" charset="0"/>
              </a:rPr>
              <a:t>Thiobacillus</a:t>
            </a:r>
            <a:r>
              <a:rPr lang="en-US" sz="2300" smtClean="0">
                <a:latin typeface="Arial" charset="0"/>
              </a:rPr>
              <a:t>)</a:t>
            </a:r>
          </a:p>
          <a:p>
            <a:pPr eaLnBrk="1" hangingPunct="1"/>
            <a:r>
              <a:rPr lang="en-US" sz="2200" smtClean="0">
                <a:latin typeface="Arial" charset="0"/>
              </a:rPr>
              <a:t> Oxidation of sulfur</a:t>
            </a:r>
          </a:p>
          <a:p>
            <a:pPr lvl="1" eaLnBrk="1" hangingPunct="1"/>
            <a:r>
              <a:rPr lang="en-US" sz="2200" smtClean="0">
                <a:latin typeface="Arial" charset="0"/>
              </a:rPr>
              <a:t>H</a:t>
            </a:r>
            <a:r>
              <a:rPr lang="en-US" sz="2200" baseline="-25000" smtClean="0">
                <a:latin typeface="Arial" charset="0"/>
              </a:rPr>
              <a:t>2</a:t>
            </a:r>
            <a:r>
              <a:rPr lang="en-US" sz="2200" smtClean="0">
                <a:latin typeface="Arial" charset="0"/>
              </a:rPr>
              <a:t>S ----------</a:t>
            </a:r>
            <a:r>
              <a:rPr lang="en-US" sz="2200" smtClean="0">
                <a:latin typeface="Arial" charset="0"/>
                <a:sym typeface="Wingdings" pitchFamily="2" charset="2"/>
              </a:rPr>
              <a:t> elemental sulfur (S) ---------- </a:t>
            </a:r>
            <a:r>
              <a:rPr lang="en-US" sz="2200" smtClean="0">
                <a:latin typeface="Arial" charset="0"/>
              </a:rPr>
              <a:t>SO</a:t>
            </a:r>
            <a:r>
              <a:rPr lang="en-US" sz="2200" baseline="-25000" smtClean="0">
                <a:latin typeface="Arial" charset="0"/>
              </a:rPr>
              <a:t>4</a:t>
            </a:r>
            <a:endParaRPr lang="en-US" sz="2300" smtClean="0">
              <a:latin typeface="Arial" charset="0"/>
            </a:endParaRPr>
          </a:p>
          <a:p>
            <a:pPr eaLnBrk="1" hangingPunct="1"/>
            <a:r>
              <a:rPr lang="en-US" sz="2300" smtClean="0">
                <a:latin typeface="Arial" charset="0"/>
              </a:rPr>
              <a:t>Sulfate </a:t>
            </a:r>
            <a:r>
              <a:rPr lang="en-US" sz="2200" smtClean="0">
                <a:latin typeface="Arial" charset="0"/>
              </a:rPr>
              <a:t>(SO</a:t>
            </a:r>
            <a:r>
              <a:rPr lang="en-US" sz="2200" baseline="-25000" smtClean="0">
                <a:latin typeface="Arial" charset="0"/>
              </a:rPr>
              <a:t>4</a:t>
            </a:r>
            <a:r>
              <a:rPr lang="en-US" sz="2200" smtClean="0">
                <a:latin typeface="Arial" charset="0"/>
              </a:rPr>
              <a:t>) </a:t>
            </a:r>
            <a:r>
              <a:rPr lang="en-US" sz="2300" smtClean="0">
                <a:latin typeface="Arial" charset="0"/>
              </a:rPr>
              <a:t>is assimilated by plants and bacteria into proteins</a:t>
            </a:r>
          </a:p>
          <a:p>
            <a:pPr eaLnBrk="1" hangingPunct="1"/>
            <a:r>
              <a:rPr lang="en-US" sz="2300" smtClean="0">
                <a:latin typeface="Arial" charset="0"/>
              </a:rPr>
              <a:t>Decomposition by microbes releases sulfur (dissimulation) as </a:t>
            </a:r>
            <a:r>
              <a:rPr lang="en-US" sz="2200" smtClean="0">
                <a:latin typeface="Arial" charset="0"/>
              </a:rPr>
              <a:t>H</a:t>
            </a:r>
            <a:r>
              <a:rPr lang="en-US" sz="2200" baseline="-25000" smtClean="0">
                <a:latin typeface="Arial" charset="0"/>
              </a:rPr>
              <a:t>2</a:t>
            </a:r>
            <a:r>
              <a:rPr lang="en-US" sz="2200" smtClean="0">
                <a:latin typeface="Arial" charset="0"/>
              </a:rPr>
              <a:t>S to reenter the cycle</a:t>
            </a:r>
            <a:endParaRPr lang="en-US" sz="2300" smtClean="0">
              <a:latin typeface="Arial" charset="0"/>
            </a:endParaRPr>
          </a:p>
          <a:p>
            <a:pPr lvl="1" eaLnBrk="1" hangingPunct="1"/>
            <a:endParaRPr lang="en-US" sz="2300" smtClean="0">
              <a:latin typeface="Arial" charset="0"/>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r>
              <a:rPr lang="en-US" sz="2900">
                <a:solidFill>
                  <a:srgbClr val="404040"/>
                </a:solidFill>
                <a:latin typeface="Arial Narrow" pitchFamily="34" charset="0"/>
              </a:rPr>
              <a:t>Redox Cycle for Sulfur</a:t>
            </a:r>
          </a:p>
        </p:txBody>
      </p:sp>
      <p:sp>
        <p:nvSpPr>
          <p:cNvPr id="119811" name="Text Box 4"/>
          <p:cNvSpPr txBox="1">
            <a:spLocks noChangeArrowheads="1"/>
          </p:cNvSpPr>
          <p:nvPr/>
        </p:nvSpPr>
        <p:spPr bwMode="auto">
          <a:xfrm>
            <a:off x="7959725" y="6107113"/>
            <a:ext cx="906463" cy="252412"/>
          </a:xfrm>
          <a:prstGeom prst="rect">
            <a:avLst/>
          </a:prstGeom>
          <a:noFill/>
          <a:ln w="9525">
            <a:noFill/>
            <a:miter lim="800000"/>
            <a:headEnd/>
            <a:tailEnd/>
          </a:ln>
        </p:spPr>
        <p:txBody>
          <a:bodyPr lIns="82048" tIns="41025" rIns="82048" bIns="41025">
            <a:spAutoFit/>
          </a:bodyPr>
          <a:lstStyle/>
          <a:p>
            <a:pPr algn="r"/>
            <a:r>
              <a:rPr lang="en-US" sz="1100">
                <a:ea typeface="ＭＳ Ｐゴシック" pitchFamily="1" charset="-128"/>
              </a:rPr>
              <a:t>Figure 24.6</a:t>
            </a:r>
          </a:p>
        </p:txBody>
      </p:sp>
      <p:pic>
        <p:nvPicPr>
          <p:cNvPr id="119812" name="Picture 5" descr="24_06Figure-L"/>
          <p:cNvPicPr>
            <a:picLocks noChangeAspect="1" noChangeArrowheads="1"/>
          </p:cNvPicPr>
          <p:nvPr/>
        </p:nvPicPr>
        <p:blipFill>
          <a:blip r:embed="rId3"/>
          <a:srcRect b="4805"/>
          <a:stretch>
            <a:fillRect/>
          </a:stretch>
        </p:blipFill>
        <p:spPr bwMode="auto">
          <a:xfrm>
            <a:off x="292100" y="1544638"/>
            <a:ext cx="8559800" cy="3768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itle 1"/>
          <p:cNvSpPr>
            <a:spLocks noGrp="1"/>
          </p:cNvSpPr>
          <p:nvPr>
            <p:ph type="title" idx="4294967295"/>
          </p:nvPr>
        </p:nvSpPr>
        <p:spPr>
          <a:xfrm>
            <a:off x="0" y="274638"/>
            <a:ext cx="8229600" cy="1143000"/>
          </a:xfrm>
        </p:spPr>
        <p:txBody>
          <a:bodyPr lIns="91418" rIns="91418"/>
          <a:lstStyle/>
          <a:p>
            <a:r>
              <a:rPr lang="en-US" smtClean="0"/>
              <a:t>Phosphorus Cycle</a:t>
            </a:r>
          </a:p>
        </p:txBody>
      </p:sp>
      <p:sp>
        <p:nvSpPr>
          <p:cNvPr id="120835" name="Content Placeholder 2"/>
          <p:cNvSpPr>
            <a:spLocks noGrp="1"/>
          </p:cNvSpPr>
          <p:nvPr>
            <p:ph idx="4294967295"/>
          </p:nvPr>
        </p:nvSpPr>
        <p:spPr>
          <a:xfrm>
            <a:off x="0" y="1600200"/>
            <a:ext cx="8229600" cy="4525963"/>
          </a:xfrm>
        </p:spPr>
        <p:txBody>
          <a:bodyPr tIns="18283" bIns="18283"/>
          <a:lstStyle/>
          <a:p>
            <a:r>
              <a:rPr lang="en-US" smtClean="0">
                <a:latin typeface="Arial" charset="0"/>
                <a:cs typeface="Arial" charset="0"/>
              </a:rPr>
              <a:t>Phosphorus exists mainly as phosphate (PO</a:t>
            </a:r>
            <a:r>
              <a:rPr lang="en-US" baseline="-25000" smtClean="0">
                <a:latin typeface="Arial" charset="0"/>
                <a:cs typeface="Arial" charset="0"/>
              </a:rPr>
              <a:t>4</a:t>
            </a:r>
            <a:r>
              <a:rPr lang="en-US" smtClean="0">
                <a:latin typeface="Arial" charset="0"/>
                <a:cs typeface="Arial" charset="0"/>
              </a:rPr>
              <a:t>) ions</a:t>
            </a:r>
          </a:p>
          <a:p>
            <a:r>
              <a:rPr lang="en-US" smtClean="0">
                <a:latin typeface="Arial" charset="0"/>
                <a:cs typeface="Arial" charset="0"/>
              </a:rPr>
              <a:t>The phosphorus cycle mainly involves changes from soluble to insoluble forms of phosphate.</a:t>
            </a:r>
          </a:p>
          <a:p>
            <a:r>
              <a:rPr lang="en-US" smtClean="0">
                <a:latin typeface="Arial" charset="0"/>
                <a:cs typeface="Arial" charset="0"/>
              </a:rPr>
              <a:t>Microbes (such as </a:t>
            </a:r>
            <a:r>
              <a:rPr lang="en-US" i="1" smtClean="0">
                <a:latin typeface="Arial" charset="0"/>
                <a:cs typeface="Arial" charset="0"/>
              </a:rPr>
              <a:t>Thiobacillus</a:t>
            </a:r>
            <a:r>
              <a:rPr lang="en-US" smtClean="0">
                <a:latin typeface="Arial" charset="0"/>
                <a:cs typeface="Arial" charset="0"/>
              </a:rPr>
              <a:t>) may produce acids that solubilize the phosphate and make it available for plants and other microbes.</a:t>
            </a: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Microbial Leaching of Ores</a:t>
            </a:r>
          </a:p>
        </p:txBody>
      </p:sp>
      <p:sp>
        <p:nvSpPr>
          <p:cNvPr id="121859" name="Rectangle 3"/>
          <p:cNvSpPr>
            <a:spLocks noGrp="1" noChangeArrowheads="1"/>
          </p:cNvSpPr>
          <p:nvPr>
            <p:ph type="body" idx="4294967295"/>
          </p:nvPr>
        </p:nvSpPr>
        <p:spPr>
          <a:xfrm>
            <a:off x="0" y="809625"/>
            <a:ext cx="8204200" cy="5575300"/>
          </a:xfrm>
        </p:spPr>
        <p:txBody>
          <a:bodyPr tIns="18283" bIns="18283"/>
          <a:lstStyle/>
          <a:p>
            <a:pPr eaLnBrk="1" hangingPunct="1">
              <a:buFont typeface="Wingdings" pitchFamily="2" charset="2"/>
              <a:buNone/>
            </a:pPr>
            <a:endParaRPr lang="en-US" sz="2700" i="1" u="sng" dirty="0" smtClean="0">
              <a:latin typeface="Arial" charset="0"/>
            </a:endParaRPr>
          </a:p>
          <a:p>
            <a:pPr eaLnBrk="1" hangingPunct="1">
              <a:buFont typeface="Wingdings" pitchFamily="2" charset="2"/>
              <a:buNone/>
            </a:pPr>
            <a:endParaRPr lang="en-US" sz="2700" i="1" u="sng" dirty="0" smtClean="0">
              <a:latin typeface="Arial" charset="0"/>
            </a:endParaRPr>
          </a:p>
          <a:p>
            <a:pPr eaLnBrk="1" hangingPunct="1">
              <a:buFont typeface="Wingdings" pitchFamily="2" charset="2"/>
              <a:buNone/>
            </a:pPr>
            <a:r>
              <a:rPr lang="en-US" sz="2700" i="1" u="sng" dirty="0" smtClean="0">
                <a:latin typeface="Arial" charset="0"/>
              </a:rPr>
              <a:t>Microbial Leaching</a:t>
            </a:r>
            <a:endParaRPr lang="en-US" sz="2700" dirty="0" smtClean="0">
              <a:latin typeface="Arial" charset="0"/>
            </a:endParaRPr>
          </a:p>
          <a:p>
            <a:pPr lvl="1" eaLnBrk="1" hangingPunct="1"/>
            <a:r>
              <a:rPr lang="en-US" sz="2300" dirty="0" smtClean="0">
                <a:latin typeface="Arial" charset="0"/>
              </a:rPr>
              <a:t>The removal of valuable metals, such as copper, from sulfide ores by microbial activities</a:t>
            </a:r>
          </a:p>
          <a:p>
            <a:pPr lvl="1" eaLnBrk="1" hangingPunct="1"/>
            <a:r>
              <a:rPr lang="en-US" sz="2300" dirty="0" smtClean="0">
                <a:latin typeface="Arial" charset="0"/>
              </a:rPr>
              <a:t>Particularly useful for copper ores</a:t>
            </a:r>
          </a:p>
          <a:p>
            <a:pPr eaLnBrk="1" hangingPunct="1"/>
            <a:r>
              <a:rPr lang="en-US" sz="2200" dirty="0" smtClean="0">
                <a:latin typeface="Arial" charset="0"/>
              </a:rPr>
              <a:t>In microbial leaching, low-grade ore is dumped in a large pile (the leach dump) and sulfuric acid is added to maintain a low pH</a:t>
            </a:r>
          </a:p>
          <a:p>
            <a:pPr eaLnBrk="1" hangingPunct="1"/>
            <a:r>
              <a:rPr lang="en-US" sz="2200" dirty="0" smtClean="0">
                <a:latin typeface="Arial" charset="0"/>
              </a:rPr>
              <a:t>Microbial activity releases soluble pure metals</a:t>
            </a:r>
          </a:p>
          <a:p>
            <a:pPr eaLnBrk="1" hangingPunct="1"/>
            <a:r>
              <a:rPr lang="en-US" sz="2200" dirty="0" smtClean="0">
                <a:latin typeface="Arial" charset="0"/>
              </a:rPr>
              <a:t>The liquid emerging from the bottom of the pile is enriched in dissolved metals and is transported to a precipitation plant</a:t>
            </a:r>
          </a:p>
          <a:p>
            <a:pPr lvl="1" eaLnBrk="1" hangingPunct="1">
              <a:buFont typeface="Wingdings" pitchFamily="2" charset="2"/>
              <a:buNone/>
            </a:pPr>
            <a:endParaRPr lang="en-US" sz="2300" dirty="0" smtClean="0">
              <a:latin typeface="Arial" charset="0"/>
            </a:endParaRPr>
          </a:p>
          <a:p>
            <a:pPr eaLnBrk="1" hangingPunct="1"/>
            <a:endParaRPr lang="en-US" sz="2300" dirty="0" smtClean="0">
              <a:latin typeface="Arial" charset="0"/>
            </a:endParaRPr>
          </a:p>
          <a:p>
            <a:pPr eaLnBrk="1" hangingPunct="1"/>
            <a:endParaRPr lang="en-US" sz="2300" dirty="0" smtClean="0">
              <a:latin typeface="Arial" charset="0"/>
            </a:endParaRPr>
          </a:p>
          <a:p>
            <a:pPr eaLnBrk="1" hangingPunct="1"/>
            <a:endParaRPr lang="en-US" sz="2300" dirty="0" smtClean="0">
              <a:latin typeface="Arial" charset="0"/>
            </a:endParaRPr>
          </a:p>
          <a:p>
            <a:pPr eaLnBrk="1" hangingPunct="1">
              <a:buFont typeface="Wingdings" pitchFamily="2" charset="2"/>
              <a:buNone/>
            </a:pPr>
            <a:endParaRPr lang="en-US" sz="2300" dirty="0" smtClean="0">
              <a:latin typeface="Arial" charset="0"/>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r>
              <a:rPr lang="en-US" sz="2900">
                <a:solidFill>
                  <a:srgbClr val="404040"/>
                </a:solidFill>
                <a:latin typeface="Arial Narrow" pitchFamily="34" charset="0"/>
              </a:rPr>
              <a:t>The Microbial Leaching of Low-Grade Copper Ores </a:t>
            </a:r>
          </a:p>
        </p:txBody>
      </p:sp>
      <p:pic>
        <p:nvPicPr>
          <p:cNvPr id="122883" name="Picture 5" descr="24_14Figure-L"/>
          <p:cNvPicPr>
            <a:picLocks noChangeAspect="1" noChangeArrowheads="1"/>
          </p:cNvPicPr>
          <p:nvPr/>
        </p:nvPicPr>
        <p:blipFill>
          <a:blip r:embed="rId3"/>
          <a:srcRect r="74686" b="43719"/>
          <a:stretch>
            <a:fillRect/>
          </a:stretch>
        </p:blipFill>
        <p:spPr bwMode="auto">
          <a:xfrm>
            <a:off x="0" y="744538"/>
            <a:ext cx="2854325" cy="4368800"/>
          </a:xfrm>
          <a:prstGeom prst="rect">
            <a:avLst/>
          </a:prstGeom>
          <a:noFill/>
          <a:ln w="9525">
            <a:noFill/>
            <a:miter lim="800000"/>
            <a:headEnd/>
            <a:tailEnd/>
          </a:ln>
        </p:spPr>
      </p:pic>
      <p:sp>
        <p:nvSpPr>
          <p:cNvPr id="122884" name="Text Box 6"/>
          <p:cNvSpPr txBox="1">
            <a:spLocks noChangeArrowheads="1"/>
          </p:cNvSpPr>
          <p:nvPr/>
        </p:nvSpPr>
        <p:spPr bwMode="auto">
          <a:xfrm>
            <a:off x="520700" y="4484688"/>
            <a:ext cx="3425825" cy="452437"/>
          </a:xfrm>
          <a:prstGeom prst="rect">
            <a:avLst/>
          </a:prstGeom>
          <a:noFill/>
          <a:ln w="9525">
            <a:noFill/>
            <a:miter lim="800000"/>
            <a:headEnd/>
            <a:tailEnd/>
          </a:ln>
        </p:spPr>
        <p:txBody>
          <a:bodyPr wrap="none" lIns="82048" tIns="41025" rIns="82048" bIns="41025">
            <a:spAutoFit/>
          </a:bodyPr>
          <a:lstStyle/>
          <a:p>
            <a:r>
              <a:rPr lang="en-US"/>
              <a:t>A Typical Leaching Dump</a:t>
            </a:r>
          </a:p>
        </p:txBody>
      </p:sp>
      <p:pic>
        <p:nvPicPr>
          <p:cNvPr id="122885" name="Picture 5" descr="24_14Figure-L"/>
          <p:cNvPicPr>
            <a:picLocks noChangeAspect="1" noChangeArrowheads="1"/>
          </p:cNvPicPr>
          <p:nvPr/>
        </p:nvPicPr>
        <p:blipFill>
          <a:blip r:embed="rId3"/>
          <a:srcRect l="26256" r="47433" b="44629"/>
          <a:stretch>
            <a:fillRect/>
          </a:stretch>
        </p:blipFill>
        <p:spPr bwMode="auto">
          <a:xfrm>
            <a:off x="2541588" y="719138"/>
            <a:ext cx="3028950" cy="4392612"/>
          </a:xfrm>
          <a:prstGeom prst="rect">
            <a:avLst/>
          </a:prstGeom>
          <a:noFill/>
          <a:ln w="9525">
            <a:noFill/>
            <a:miter lim="800000"/>
            <a:headEnd/>
            <a:tailEnd/>
          </a:ln>
        </p:spPr>
      </p:pic>
      <p:sp>
        <p:nvSpPr>
          <p:cNvPr id="122886" name="Text Box 6"/>
          <p:cNvSpPr txBox="1">
            <a:spLocks noChangeArrowheads="1"/>
          </p:cNvSpPr>
          <p:nvPr/>
        </p:nvSpPr>
        <p:spPr bwMode="auto">
          <a:xfrm>
            <a:off x="3227388" y="4540250"/>
            <a:ext cx="3114675" cy="820738"/>
          </a:xfrm>
          <a:prstGeom prst="rect">
            <a:avLst/>
          </a:prstGeom>
          <a:noFill/>
          <a:ln w="9525">
            <a:noFill/>
            <a:miter lim="800000"/>
            <a:headEnd/>
            <a:tailEnd/>
          </a:ln>
        </p:spPr>
        <p:txBody>
          <a:bodyPr wrap="none" lIns="82048" tIns="41025" rIns="82048" bIns="41025">
            <a:spAutoFit/>
          </a:bodyPr>
          <a:lstStyle/>
          <a:p>
            <a:r>
              <a:rPr lang="en-US"/>
              <a:t>Effluent from a Copper </a:t>
            </a:r>
          </a:p>
          <a:p>
            <a:r>
              <a:rPr lang="en-US"/>
              <a:t>Leaching Dump</a:t>
            </a:r>
          </a:p>
        </p:txBody>
      </p:sp>
      <p:pic>
        <p:nvPicPr>
          <p:cNvPr id="122887" name="Picture 5" descr="24_14Figure-L"/>
          <p:cNvPicPr>
            <a:picLocks noChangeAspect="1" noChangeArrowheads="1"/>
          </p:cNvPicPr>
          <p:nvPr/>
        </p:nvPicPr>
        <p:blipFill>
          <a:blip r:embed="rId3"/>
          <a:srcRect l="52364" b="54097"/>
          <a:stretch>
            <a:fillRect/>
          </a:stretch>
        </p:blipFill>
        <p:spPr bwMode="auto">
          <a:xfrm>
            <a:off x="5056188" y="728663"/>
            <a:ext cx="4087812" cy="2716212"/>
          </a:xfrm>
          <a:prstGeom prst="rect">
            <a:avLst/>
          </a:prstGeom>
          <a:noFill/>
          <a:ln w="9525">
            <a:noFill/>
            <a:miter lim="800000"/>
            <a:headEnd/>
            <a:tailEnd/>
          </a:ln>
        </p:spPr>
      </p:pic>
      <p:sp>
        <p:nvSpPr>
          <p:cNvPr id="122888" name="Text Box 6"/>
          <p:cNvSpPr txBox="1">
            <a:spLocks noChangeArrowheads="1"/>
          </p:cNvSpPr>
          <p:nvPr/>
        </p:nvSpPr>
        <p:spPr bwMode="auto">
          <a:xfrm>
            <a:off x="5681663" y="3143250"/>
            <a:ext cx="3300412" cy="820738"/>
          </a:xfrm>
          <a:prstGeom prst="rect">
            <a:avLst/>
          </a:prstGeom>
          <a:noFill/>
          <a:ln w="9525">
            <a:noFill/>
            <a:miter lim="800000"/>
            <a:headEnd/>
            <a:tailEnd/>
          </a:ln>
        </p:spPr>
        <p:txBody>
          <a:bodyPr lIns="82048" tIns="41025" rIns="82048" bIns="41025">
            <a:spAutoFit/>
          </a:bodyPr>
          <a:lstStyle/>
          <a:p>
            <a:r>
              <a:rPr lang="en-US"/>
              <a:t>Recovery of Copper as a Metallic Copper</a:t>
            </a:r>
          </a:p>
        </p:txBody>
      </p:sp>
      <p:pic>
        <p:nvPicPr>
          <p:cNvPr id="122889" name="Picture 5" descr="24_14Figure-L"/>
          <p:cNvPicPr>
            <a:picLocks noChangeAspect="1" noChangeArrowheads="1"/>
          </p:cNvPicPr>
          <p:nvPr/>
        </p:nvPicPr>
        <p:blipFill>
          <a:blip r:embed="rId3"/>
          <a:srcRect l="50000" t="50014" b="2315"/>
          <a:stretch>
            <a:fillRect/>
          </a:stretch>
        </p:blipFill>
        <p:spPr bwMode="auto">
          <a:xfrm>
            <a:off x="5316538" y="4340225"/>
            <a:ext cx="3827462" cy="2517775"/>
          </a:xfrm>
          <a:prstGeom prst="rect">
            <a:avLst/>
          </a:prstGeom>
          <a:noFill/>
          <a:ln w="9525">
            <a:noFill/>
            <a:miter lim="800000"/>
            <a:headEnd/>
            <a:tailEnd/>
          </a:ln>
        </p:spPr>
      </p:pic>
      <p:sp>
        <p:nvSpPr>
          <p:cNvPr id="122890" name="Text Box 7"/>
          <p:cNvSpPr txBox="1">
            <a:spLocks noChangeArrowheads="1"/>
          </p:cNvSpPr>
          <p:nvPr/>
        </p:nvSpPr>
        <p:spPr bwMode="auto">
          <a:xfrm>
            <a:off x="6024563" y="6396038"/>
            <a:ext cx="2590800" cy="1560512"/>
          </a:xfrm>
          <a:prstGeom prst="rect">
            <a:avLst/>
          </a:prstGeom>
          <a:noFill/>
          <a:ln w="9525">
            <a:noFill/>
            <a:miter lim="800000"/>
            <a:headEnd/>
            <a:tailEnd/>
          </a:ln>
        </p:spPr>
        <p:txBody>
          <a:bodyPr lIns="82048" tIns="41025" rIns="82048" bIns="41025">
            <a:spAutoFit/>
          </a:bodyPr>
          <a:lstStyle/>
          <a:p>
            <a:r>
              <a:rPr lang="en-US"/>
              <a:t>Small Pile of Metallic Copper Removed from the Flume</a:t>
            </a:r>
          </a:p>
        </p:txBody>
      </p:sp>
      <p:sp>
        <p:nvSpPr>
          <p:cNvPr id="122891" name="TextBox 11"/>
          <p:cNvSpPr txBox="1">
            <a:spLocks noChangeArrowheads="1"/>
          </p:cNvSpPr>
          <p:nvPr/>
        </p:nvSpPr>
        <p:spPr bwMode="auto">
          <a:xfrm rot="-5400000">
            <a:off x="4563269" y="3952082"/>
            <a:ext cx="1577975" cy="452437"/>
          </a:xfrm>
          <a:prstGeom prst="rect">
            <a:avLst/>
          </a:prstGeom>
          <a:solidFill>
            <a:schemeClr val="bg1"/>
          </a:solidFill>
          <a:ln w="9525">
            <a:noFill/>
            <a:miter lim="800000"/>
            <a:headEnd/>
            <a:tailEnd/>
          </a:ln>
        </p:spPr>
        <p:txBody>
          <a:bodyPr lIns="82058" tIns="41029" rIns="82058" bIns="41029">
            <a:spAutoFit/>
          </a:bodyPr>
          <a:lstStyle/>
          <a:p>
            <a:endParaRPr lang="en-US"/>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r>
              <a:rPr lang="en-US" sz="2900">
                <a:solidFill>
                  <a:srgbClr val="404040"/>
                </a:solidFill>
                <a:latin typeface="Arial Narrow" pitchFamily="34" charset="0"/>
              </a:rPr>
              <a:t>Arrangement of a Leaching Pile and Reactions </a:t>
            </a:r>
          </a:p>
        </p:txBody>
      </p:sp>
      <p:sp>
        <p:nvSpPr>
          <p:cNvPr id="123907" name="Text Box 4"/>
          <p:cNvSpPr txBox="1">
            <a:spLocks noChangeArrowheads="1"/>
          </p:cNvSpPr>
          <p:nvPr/>
        </p:nvSpPr>
        <p:spPr bwMode="auto">
          <a:xfrm>
            <a:off x="7683500" y="6107113"/>
            <a:ext cx="1182688" cy="252412"/>
          </a:xfrm>
          <a:prstGeom prst="rect">
            <a:avLst/>
          </a:prstGeom>
          <a:noFill/>
          <a:ln w="9525">
            <a:noFill/>
            <a:miter lim="800000"/>
            <a:headEnd/>
            <a:tailEnd/>
          </a:ln>
        </p:spPr>
        <p:txBody>
          <a:bodyPr lIns="82048" tIns="41025" rIns="82048" bIns="41025">
            <a:spAutoFit/>
          </a:bodyPr>
          <a:lstStyle/>
          <a:p>
            <a:pPr algn="r"/>
            <a:r>
              <a:rPr lang="en-US" sz="1100">
                <a:ea typeface="ＭＳ Ｐゴシック" pitchFamily="1" charset="-128"/>
              </a:rPr>
              <a:t>Figure 24.15</a:t>
            </a:r>
          </a:p>
        </p:txBody>
      </p:sp>
      <p:pic>
        <p:nvPicPr>
          <p:cNvPr id="123908" name="Picture 5" descr="24_15Figure-L"/>
          <p:cNvPicPr>
            <a:picLocks noChangeAspect="1" noChangeArrowheads="1"/>
          </p:cNvPicPr>
          <p:nvPr/>
        </p:nvPicPr>
        <p:blipFill>
          <a:blip r:embed="rId3"/>
          <a:srcRect b="2788"/>
          <a:stretch>
            <a:fillRect/>
          </a:stretch>
        </p:blipFill>
        <p:spPr bwMode="auto">
          <a:xfrm>
            <a:off x="2146300" y="814388"/>
            <a:ext cx="4849813" cy="5664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Microbial Leaching of Ores</a:t>
            </a:r>
          </a:p>
        </p:txBody>
      </p:sp>
      <p:sp>
        <p:nvSpPr>
          <p:cNvPr id="124931" name="Rectangle 3"/>
          <p:cNvSpPr>
            <a:spLocks noGrp="1" noChangeArrowheads="1"/>
          </p:cNvSpPr>
          <p:nvPr>
            <p:ph type="body" idx="4294967295"/>
          </p:nvPr>
        </p:nvSpPr>
        <p:spPr>
          <a:xfrm>
            <a:off x="0" y="1600200"/>
            <a:ext cx="8229600" cy="4525963"/>
          </a:xfrm>
        </p:spPr>
        <p:txBody>
          <a:bodyPr tIns="18283" bIns="18283"/>
          <a:lstStyle/>
          <a:p>
            <a:pPr eaLnBrk="1" hangingPunct="1"/>
            <a:endParaRPr lang="en-US" sz="2300" smtClean="0">
              <a:latin typeface="Arial" charset="0"/>
            </a:endParaRPr>
          </a:p>
          <a:p>
            <a:pPr eaLnBrk="1" hangingPunct="1"/>
            <a:r>
              <a:rPr lang="en-US" smtClean="0">
                <a:latin typeface="Arial" charset="0"/>
              </a:rPr>
              <a:t>Microbes are also used in the leaching of uranium and gold ores</a:t>
            </a:r>
          </a:p>
          <a:p>
            <a:pPr eaLnBrk="1" hangingPunct="1">
              <a:buFont typeface="Wingdings" pitchFamily="2" charset="2"/>
              <a:buNone/>
            </a:pPr>
            <a:endParaRPr lang="en-US" smtClean="0">
              <a:latin typeface="Arial" charset="0"/>
            </a:endParaRPr>
          </a:p>
          <a:p>
            <a:pPr eaLnBrk="1" hangingPunct="1"/>
            <a:endParaRPr lang="en-US" sz="2300" smtClean="0">
              <a:latin typeface="Arial" charset="0"/>
            </a:endParaRPr>
          </a:p>
          <a:p>
            <a:pPr eaLnBrk="1" hangingPunct="1"/>
            <a:endParaRPr lang="en-US" sz="2300" smtClean="0">
              <a:latin typeface="Arial" charset="0"/>
            </a:endParaRPr>
          </a:p>
          <a:p>
            <a:pPr eaLnBrk="1" hangingPunct="1">
              <a:buFont typeface="Wingdings" pitchFamily="2" charset="2"/>
              <a:buNone/>
            </a:pPr>
            <a:endParaRPr lang="en-US" sz="2300" smtClean="0">
              <a:latin typeface="Arial" charset="0"/>
            </a:endParaRPr>
          </a:p>
        </p:txBody>
      </p:sp>
      <p:pic>
        <p:nvPicPr>
          <p:cNvPr id="124932" name="Picture 5" descr="24_16Figure-L"/>
          <p:cNvPicPr>
            <a:picLocks noChangeAspect="1" noChangeArrowheads="1"/>
          </p:cNvPicPr>
          <p:nvPr/>
        </p:nvPicPr>
        <p:blipFill>
          <a:blip r:embed="rId3"/>
          <a:srcRect b="5746"/>
          <a:stretch>
            <a:fillRect/>
          </a:stretch>
        </p:blipFill>
        <p:spPr bwMode="auto">
          <a:xfrm>
            <a:off x="1895475" y="3527425"/>
            <a:ext cx="5656263" cy="2725738"/>
          </a:xfrm>
          <a:prstGeom prst="rect">
            <a:avLst/>
          </a:prstGeom>
          <a:noFill/>
          <a:ln w="9525">
            <a:noFill/>
            <a:miter lim="800000"/>
            <a:headEnd/>
            <a:tailEnd/>
          </a:ln>
        </p:spPr>
      </p:pic>
      <p:sp>
        <p:nvSpPr>
          <p:cNvPr id="124933" name="TextBox 4"/>
          <p:cNvSpPr txBox="1">
            <a:spLocks noChangeArrowheads="1"/>
          </p:cNvSpPr>
          <p:nvPr/>
        </p:nvSpPr>
        <p:spPr bwMode="auto">
          <a:xfrm>
            <a:off x="3060700" y="2995613"/>
            <a:ext cx="3656013" cy="452437"/>
          </a:xfrm>
          <a:prstGeom prst="rect">
            <a:avLst/>
          </a:prstGeom>
          <a:noFill/>
          <a:ln w="9525">
            <a:noFill/>
            <a:miter lim="800000"/>
            <a:headEnd/>
            <a:tailEnd/>
          </a:ln>
        </p:spPr>
        <p:txBody>
          <a:bodyPr lIns="82058" tIns="41029" rIns="82058" bIns="41029">
            <a:spAutoFit/>
          </a:bodyPr>
          <a:lstStyle/>
          <a:p>
            <a:r>
              <a:rPr lang="en-US"/>
              <a:t>Gold leaching tanks</a:t>
            </a: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5"/>
          <p:cNvSpPr>
            <a:spLocks noGrp="1"/>
          </p:cNvSpPr>
          <p:nvPr>
            <p:ph type="title" idx="4294967295"/>
          </p:nvPr>
        </p:nvSpPr>
        <p:spPr>
          <a:xfrm>
            <a:off x="0" y="2900363"/>
            <a:ext cx="8631238" cy="466725"/>
          </a:xfrm>
        </p:spPr>
        <p:txBody>
          <a:bodyPr lIns="91418" rIns="91418">
            <a:normAutofit fontScale="90000"/>
          </a:bodyPr>
          <a:lstStyle/>
          <a:p>
            <a:r>
              <a:rPr lang="en-US" smtClean="0"/>
              <a:t>Degradation of Chemical by Microbes</a:t>
            </a: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Bioremediation</a:t>
            </a:r>
          </a:p>
        </p:txBody>
      </p:sp>
      <p:sp>
        <p:nvSpPr>
          <p:cNvPr id="126979" name="Rectangle 3"/>
          <p:cNvSpPr>
            <a:spLocks noGrp="1" noChangeArrowheads="1"/>
          </p:cNvSpPr>
          <p:nvPr>
            <p:ph type="body" idx="4294967295"/>
          </p:nvPr>
        </p:nvSpPr>
        <p:spPr>
          <a:xfrm>
            <a:off x="0" y="1600200"/>
            <a:ext cx="8229600" cy="4525963"/>
          </a:xfrm>
        </p:spPr>
        <p:txBody>
          <a:bodyPr tIns="18283" bIns="18283"/>
          <a:lstStyle/>
          <a:p>
            <a:pPr eaLnBrk="1" hangingPunct="1"/>
            <a:endParaRPr lang="en-US" sz="2300" smtClean="0">
              <a:latin typeface="Arial" charset="0"/>
            </a:endParaRPr>
          </a:p>
          <a:p>
            <a:pPr eaLnBrk="1" hangingPunct="1"/>
            <a:r>
              <a:rPr lang="en-US" sz="2700" i="1" u="sng" smtClean="0">
                <a:latin typeface="Arial" charset="0"/>
              </a:rPr>
              <a:t>Bioremediation</a:t>
            </a:r>
            <a:endParaRPr lang="en-US" sz="2700" smtClean="0">
              <a:latin typeface="Arial" charset="0"/>
            </a:endParaRPr>
          </a:p>
          <a:p>
            <a:pPr lvl="1" eaLnBrk="1" hangingPunct="1"/>
            <a:r>
              <a:rPr lang="en-US" sz="2300" smtClean="0">
                <a:latin typeface="Arial" charset="0"/>
              </a:rPr>
              <a:t>Refers to the cleanup of oil, toxic chemicals, or other pollutants from the environment by microorganisms</a:t>
            </a:r>
          </a:p>
          <a:p>
            <a:pPr lvl="1" eaLnBrk="1" hangingPunct="1"/>
            <a:r>
              <a:rPr lang="en-US" sz="2300" smtClean="0">
                <a:latin typeface="Arial" charset="0"/>
              </a:rPr>
              <a:t>Often a cost-effective and practical method for pollutant cleanup</a:t>
            </a:r>
          </a:p>
          <a:p>
            <a:pPr eaLnBrk="1" hangingPunct="1"/>
            <a:endParaRPr lang="en-US" sz="2300" smtClean="0">
              <a:latin typeface="Arial" charset="0"/>
            </a:endParaRPr>
          </a:p>
          <a:p>
            <a:pPr eaLnBrk="1" hangingPunct="1"/>
            <a:endParaRPr lang="en-US" sz="2300" smtClean="0">
              <a:latin typeface="Arial" charset="0"/>
            </a:endParaRPr>
          </a:p>
          <a:p>
            <a:pPr eaLnBrk="1" hangingPunct="1"/>
            <a:endParaRPr lang="en-US" sz="2300" smtClean="0">
              <a:latin typeface="Arial" charset="0"/>
            </a:endParaRPr>
          </a:p>
          <a:p>
            <a:pPr eaLnBrk="1" hangingPunct="1">
              <a:buFont typeface="Wingdings" pitchFamily="2" charset="2"/>
              <a:buNone/>
            </a:pPr>
            <a:endParaRPr lang="en-US" sz="2300" smtClean="0">
              <a:latin typeface="Arial" charset="0"/>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Petroleum Biodegradation</a:t>
            </a:r>
          </a:p>
        </p:txBody>
      </p:sp>
      <p:sp>
        <p:nvSpPr>
          <p:cNvPr id="131075" name="Rectangle 3"/>
          <p:cNvSpPr>
            <a:spLocks noGrp="1" noChangeArrowheads="1"/>
          </p:cNvSpPr>
          <p:nvPr>
            <p:ph type="body" idx="4294967295"/>
          </p:nvPr>
        </p:nvSpPr>
        <p:spPr>
          <a:xfrm>
            <a:off x="0" y="1600200"/>
            <a:ext cx="8229600" cy="4525963"/>
          </a:xfrm>
        </p:spPr>
        <p:txBody>
          <a:bodyPr tIns="18283" bIns="18283"/>
          <a:lstStyle/>
          <a:p>
            <a:pPr eaLnBrk="1" hangingPunct="1"/>
            <a:endParaRPr lang="en-US" sz="2300" smtClean="0">
              <a:latin typeface="Arial" charset="0"/>
            </a:endParaRPr>
          </a:p>
          <a:p>
            <a:pPr eaLnBrk="1" hangingPunct="1"/>
            <a:r>
              <a:rPr lang="en-US" smtClean="0">
                <a:latin typeface="Arial" charset="0"/>
              </a:rPr>
              <a:t>Prokaryotes have been used in bioremediation of several major crude oil spills</a:t>
            </a:r>
          </a:p>
          <a:p>
            <a:pPr eaLnBrk="1" hangingPunct="1"/>
            <a:endParaRPr lang="en-US" sz="2300" smtClean="0">
              <a:latin typeface="Arial" charset="0"/>
            </a:endParaRPr>
          </a:p>
          <a:p>
            <a:pPr eaLnBrk="1" hangingPunct="1"/>
            <a:endParaRPr lang="en-US" sz="2300" smtClean="0">
              <a:latin typeface="Arial" charset="0"/>
            </a:endParaRPr>
          </a:p>
          <a:p>
            <a:pPr eaLnBrk="1" hangingPunct="1"/>
            <a:endParaRPr lang="en-US" sz="2300" smtClean="0">
              <a:latin typeface="Arial" charset="0"/>
            </a:endParaRPr>
          </a:p>
          <a:p>
            <a:pPr eaLnBrk="1" hangingPunct="1">
              <a:buFont typeface="Wingdings" pitchFamily="2" charset="2"/>
              <a:buNone/>
            </a:pPr>
            <a:endParaRPr lang="en-US" sz="2300" smtClean="0">
              <a:latin typeface="Arial" charset="0"/>
            </a:endParaRPr>
          </a:p>
        </p:txBody>
      </p:sp>
      <p:pic>
        <p:nvPicPr>
          <p:cNvPr id="131076" name="Picture 5" descr="24_19Figure-L"/>
          <p:cNvPicPr>
            <a:picLocks noChangeAspect="1" noChangeArrowheads="1"/>
          </p:cNvPicPr>
          <p:nvPr/>
        </p:nvPicPr>
        <p:blipFill>
          <a:blip r:embed="rId3"/>
          <a:srcRect t="45517" r="50000" b="3210"/>
          <a:stretch>
            <a:fillRect/>
          </a:stretch>
        </p:blipFill>
        <p:spPr bwMode="auto">
          <a:xfrm>
            <a:off x="3587750" y="3165475"/>
            <a:ext cx="5556250" cy="3692525"/>
          </a:xfrm>
          <a:prstGeom prst="rect">
            <a:avLst/>
          </a:prstGeom>
          <a:noFill/>
          <a:ln w="9525">
            <a:noFill/>
            <a:miter lim="800000"/>
            <a:headEnd/>
            <a:tailEnd/>
          </a:ln>
        </p:spPr>
      </p:pic>
      <p:sp>
        <p:nvSpPr>
          <p:cNvPr id="131077" name="Rectangle 3"/>
          <p:cNvSpPr>
            <a:spLocks noGrp="1" noChangeArrowheads="1"/>
          </p:cNvSpPr>
          <p:nvPr/>
        </p:nvSpPr>
        <p:spPr bwMode="auto">
          <a:xfrm>
            <a:off x="4927600" y="6483350"/>
            <a:ext cx="3862388" cy="161925"/>
          </a:xfrm>
          <a:prstGeom prst="rect">
            <a:avLst/>
          </a:prstGeom>
          <a:noFill/>
          <a:ln w="9525">
            <a:noFill/>
            <a:miter lim="800000"/>
            <a:headEnd/>
            <a:tailEnd/>
          </a:ln>
        </p:spPr>
        <p:txBody>
          <a:bodyPr lIns="0" tIns="18283" rIns="0" bIns="18283"/>
          <a:lstStyle/>
          <a:p>
            <a:r>
              <a:rPr lang="en-US" sz="1400">
                <a:ea typeface="ＭＳ Ｐゴシック" pitchFamily="1" charset="-128"/>
              </a:rPr>
              <a:t>Oil Spilled into the Mediterranean Sea</a:t>
            </a: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Petroleum Biodegradation</a:t>
            </a:r>
          </a:p>
        </p:txBody>
      </p:sp>
      <p:sp>
        <p:nvSpPr>
          <p:cNvPr id="134147" name="Rectangle 3"/>
          <p:cNvSpPr>
            <a:spLocks noGrp="1" noChangeArrowheads="1"/>
          </p:cNvSpPr>
          <p:nvPr>
            <p:ph type="body" idx="4294967295"/>
          </p:nvPr>
        </p:nvSpPr>
        <p:spPr>
          <a:xfrm>
            <a:off x="0" y="822325"/>
            <a:ext cx="6146800" cy="5575300"/>
          </a:xfrm>
        </p:spPr>
        <p:txBody>
          <a:bodyPr tIns="18283" bIns="18283"/>
          <a:lstStyle/>
          <a:p>
            <a:pPr marL="477838" indent="-477838" eaLnBrk="1" hangingPunct="1"/>
            <a:endParaRPr lang="en-US" sz="2200" dirty="0" smtClean="0">
              <a:latin typeface="Arial" charset="0"/>
            </a:endParaRPr>
          </a:p>
          <a:p>
            <a:pPr marL="477838" indent="-477838" eaLnBrk="1" hangingPunct="1"/>
            <a:endParaRPr lang="en-US" sz="2200" dirty="0" smtClean="0">
              <a:latin typeface="Arial" charset="0"/>
            </a:endParaRPr>
          </a:p>
          <a:p>
            <a:pPr marL="477838" indent="-477838" eaLnBrk="1" hangingPunct="1"/>
            <a:r>
              <a:rPr lang="en-US" sz="2200" dirty="0" smtClean="0">
                <a:latin typeface="Arial" charset="0"/>
              </a:rPr>
              <a:t>Diverse bacteria, fungi, and some </a:t>
            </a:r>
            <a:r>
              <a:rPr lang="en-US" sz="2200" dirty="0" err="1" smtClean="0">
                <a:latin typeface="Arial" charset="0"/>
              </a:rPr>
              <a:t>cyanobacteria</a:t>
            </a:r>
            <a:r>
              <a:rPr lang="en-US" sz="2200" dirty="0" smtClean="0">
                <a:latin typeface="Arial" charset="0"/>
              </a:rPr>
              <a:t> and green algae can oxidize petroleum products aerobically</a:t>
            </a:r>
          </a:p>
          <a:p>
            <a:pPr marL="477838" indent="-477838" eaLnBrk="1" hangingPunct="1"/>
            <a:r>
              <a:rPr lang="en-US" sz="2200" dirty="0" smtClean="0">
                <a:latin typeface="Arial" charset="0"/>
              </a:rPr>
              <a:t>Oil-oxidizing activity is best if temperature and inorganic nutrient concentrations are optimal</a:t>
            </a:r>
          </a:p>
          <a:p>
            <a:pPr marL="477838" indent="-477838" eaLnBrk="1" hangingPunct="1"/>
            <a:r>
              <a:rPr lang="en-US" sz="2200" dirty="0" smtClean="0">
                <a:latin typeface="Arial" charset="0"/>
              </a:rPr>
              <a:t>Hydrocarbon-degrading bacteria attach to oil droplets and decompose the oil and dispense the slick</a:t>
            </a:r>
          </a:p>
          <a:p>
            <a:pPr marL="477838" indent="-477838" eaLnBrk="1" hangingPunct="1">
              <a:buFont typeface="Arial" charset="0"/>
              <a:buNone/>
            </a:pPr>
            <a:endParaRPr lang="en-US" sz="2200" dirty="0" smtClean="0">
              <a:latin typeface="Arial" charset="0"/>
            </a:endParaRPr>
          </a:p>
        </p:txBody>
      </p:sp>
      <p:pic>
        <p:nvPicPr>
          <p:cNvPr id="134148" name="Picture 5" descr="24_20Figure-L"/>
          <p:cNvPicPr>
            <a:picLocks noChangeAspect="1" noChangeArrowheads="1"/>
          </p:cNvPicPr>
          <p:nvPr/>
        </p:nvPicPr>
        <p:blipFill>
          <a:blip r:embed="rId3"/>
          <a:srcRect b="7147"/>
          <a:stretch>
            <a:fillRect/>
          </a:stretch>
        </p:blipFill>
        <p:spPr bwMode="auto">
          <a:xfrm>
            <a:off x="3657600" y="4530725"/>
            <a:ext cx="5486400" cy="23272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Petroleum Biodegradation</a:t>
            </a:r>
          </a:p>
        </p:txBody>
      </p:sp>
      <p:sp>
        <p:nvSpPr>
          <p:cNvPr id="135171" name="Rectangle 3"/>
          <p:cNvSpPr>
            <a:spLocks noGrp="1" noChangeArrowheads="1"/>
          </p:cNvSpPr>
          <p:nvPr>
            <p:ph type="body" idx="4294967295"/>
          </p:nvPr>
        </p:nvSpPr>
        <p:spPr>
          <a:xfrm>
            <a:off x="0" y="936625"/>
            <a:ext cx="8204200" cy="5575300"/>
          </a:xfrm>
        </p:spPr>
        <p:txBody>
          <a:bodyPr tIns="18283" bIns="18283"/>
          <a:lstStyle/>
          <a:p>
            <a:pPr eaLnBrk="1" hangingPunct="1">
              <a:buFont typeface="Wingdings" pitchFamily="2" charset="2"/>
              <a:buNone/>
            </a:pPr>
            <a:endParaRPr lang="en-US" sz="2700" dirty="0" smtClean="0">
              <a:latin typeface="Arial" charset="0"/>
            </a:endParaRPr>
          </a:p>
          <a:p>
            <a:pPr eaLnBrk="1" hangingPunct="1">
              <a:buFont typeface="Wingdings" pitchFamily="2" charset="2"/>
              <a:buNone/>
            </a:pPr>
            <a:r>
              <a:rPr lang="en-US" sz="2700" dirty="0" smtClean="0">
                <a:latin typeface="Arial" charset="0"/>
              </a:rPr>
              <a:t>Some microbes can produce petroleum</a:t>
            </a:r>
          </a:p>
          <a:p>
            <a:pPr lvl="1" eaLnBrk="1" hangingPunct="1"/>
            <a:r>
              <a:rPr lang="en-US" sz="2300" dirty="0" smtClean="0">
                <a:latin typeface="Arial" charset="0"/>
              </a:rPr>
              <a:t>Particularly certain green algae</a:t>
            </a:r>
          </a:p>
          <a:p>
            <a:pPr eaLnBrk="1" hangingPunct="1"/>
            <a:endParaRPr lang="en-US" sz="2300" dirty="0" smtClean="0">
              <a:latin typeface="Arial" charset="0"/>
            </a:endParaRPr>
          </a:p>
          <a:p>
            <a:pPr eaLnBrk="1" hangingPunct="1"/>
            <a:endParaRPr lang="en-US" sz="2300" dirty="0" smtClean="0">
              <a:latin typeface="Arial" charset="0"/>
            </a:endParaRPr>
          </a:p>
          <a:p>
            <a:pPr eaLnBrk="1" hangingPunct="1">
              <a:buFont typeface="Wingdings" pitchFamily="2" charset="2"/>
              <a:buNone/>
            </a:pPr>
            <a:endParaRPr lang="en-US" sz="2300" dirty="0" smtClean="0">
              <a:latin typeface="Arial" charset="0"/>
            </a:endParaRPr>
          </a:p>
        </p:txBody>
      </p:sp>
      <p:pic>
        <p:nvPicPr>
          <p:cNvPr id="135172" name="Picture 5" descr="24_22Figure-L"/>
          <p:cNvPicPr>
            <a:picLocks noChangeAspect="1" noChangeArrowheads="1"/>
          </p:cNvPicPr>
          <p:nvPr/>
        </p:nvPicPr>
        <p:blipFill>
          <a:blip r:embed="rId3"/>
          <a:srcRect b="4309"/>
          <a:stretch>
            <a:fillRect/>
          </a:stretch>
        </p:blipFill>
        <p:spPr bwMode="auto">
          <a:xfrm>
            <a:off x="2500313" y="2649538"/>
            <a:ext cx="6643687" cy="4208462"/>
          </a:xfrm>
          <a:prstGeom prst="rect">
            <a:avLst/>
          </a:prstGeom>
          <a:noFill/>
          <a:ln w="9525">
            <a:noFill/>
            <a:miter lim="800000"/>
            <a:headEnd/>
            <a:tailEnd/>
          </a:ln>
        </p:spPr>
      </p:pic>
      <p:sp>
        <p:nvSpPr>
          <p:cNvPr id="135173" name="TextBox 4"/>
          <p:cNvSpPr txBox="1">
            <a:spLocks noChangeArrowheads="1"/>
          </p:cNvSpPr>
          <p:nvPr/>
        </p:nvSpPr>
        <p:spPr bwMode="auto">
          <a:xfrm>
            <a:off x="541338" y="3303588"/>
            <a:ext cx="1965325" cy="2668587"/>
          </a:xfrm>
          <a:prstGeom prst="rect">
            <a:avLst/>
          </a:prstGeom>
          <a:noFill/>
          <a:ln w="9525">
            <a:noFill/>
            <a:miter lim="800000"/>
            <a:headEnd/>
            <a:tailEnd/>
          </a:ln>
        </p:spPr>
        <p:txBody>
          <a:bodyPr lIns="82058" tIns="41029" rIns="82058" bIns="41029">
            <a:spAutoFit/>
          </a:bodyPr>
          <a:lstStyle/>
          <a:p>
            <a:r>
              <a:rPr lang="en-US"/>
              <a:t>The green alga </a:t>
            </a:r>
            <a:r>
              <a:rPr lang="en-US" i="1"/>
              <a:t>Botryococcus braunii </a:t>
            </a:r>
            <a:r>
              <a:rPr lang="en-US"/>
              <a:t>shown here is excreting oil droplets</a:t>
            </a: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Biodegradation of Xenobiotics</a:t>
            </a:r>
          </a:p>
        </p:txBody>
      </p:sp>
      <p:sp>
        <p:nvSpPr>
          <p:cNvPr id="136195" name="Rectangle 3"/>
          <p:cNvSpPr>
            <a:spLocks noGrp="1" noChangeArrowheads="1"/>
          </p:cNvSpPr>
          <p:nvPr>
            <p:ph type="body" idx="4294967295"/>
          </p:nvPr>
        </p:nvSpPr>
        <p:spPr>
          <a:xfrm>
            <a:off x="0" y="1600200"/>
            <a:ext cx="8229600" cy="4525963"/>
          </a:xfrm>
        </p:spPr>
        <p:txBody>
          <a:bodyPr tIns="18283" bIns="18283"/>
          <a:lstStyle/>
          <a:p>
            <a:pPr eaLnBrk="1" hangingPunct="1">
              <a:lnSpc>
                <a:spcPct val="140000"/>
              </a:lnSpc>
            </a:pPr>
            <a:endParaRPr lang="en-US" sz="2300" smtClean="0">
              <a:latin typeface="Arial" charset="0"/>
            </a:endParaRPr>
          </a:p>
          <a:p>
            <a:pPr eaLnBrk="1" hangingPunct="1">
              <a:lnSpc>
                <a:spcPct val="140000"/>
              </a:lnSpc>
            </a:pPr>
            <a:r>
              <a:rPr lang="en-US" sz="2700" i="1" u="sng" smtClean="0">
                <a:latin typeface="Arial" charset="0"/>
              </a:rPr>
              <a:t>Xenobiotic Compound</a:t>
            </a:r>
            <a:endParaRPr lang="en-US" sz="2700" smtClean="0">
              <a:latin typeface="Arial" charset="0"/>
            </a:endParaRPr>
          </a:p>
          <a:p>
            <a:pPr lvl="1" eaLnBrk="1" hangingPunct="1">
              <a:lnSpc>
                <a:spcPct val="140000"/>
              </a:lnSpc>
            </a:pPr>
            <a:r>
              <a:rPr lang="en-US" sz="2300" smtClean="0">
                <a:latin typeface="Arial" charset="0"/>
              </a:rPr>
              <a:t>Synthetic chemicals that are not naturally occurring</a:t>
            </a:r>
          </a:p>
          <a:p>
            <a:pPr lvl="2" eaLnBrk="1" hangingPunct="1">
              <a:lnSpc>
                <a:spcPct val="140000"/>
              </a:lnSpc>
            </a:pPr>
            <a:r>
              <a:rPr lang="en-US" sz="2300" smtClean="0">
                <a:latin typeface="Arial" charset="0"/>
              </a:rPr>
              <a:t>E.g., pesticides, polychlorinated biphenyls, munitions, dyes, and chlorinated solvents</a:t>
            </a:r>
          </a:p>
          <a:p>
            <a:pPr lvl="1" eaLnBrk="1" hangingPunct="1">
              <a:lnSpc>
                <a:spcPct val="140000"/>
              </a:lnSpc>
            </a:pPr>
            <a:r>
              <a:rPr lang="en-US" sz="2300" smtClean="0">
                <a:latin typeface="Arial" charset="0"/>
              </a:rPr>
              <a:t>Many degrade extremely slowly</a:t>
            </a:r>
          </a:p>
          <a:p>
            <a:pPr eaLnBrk="1" hangingPunct="1">
              <a:lnSpc>
                <a:spcPct val="140000"/>
              </a:lnSpc>
            </a:pPr>
            <a:endParaRPr lang="en-US" sz="2300" smtClean="0">
              <a:latin typeface="Arial" charset="0"/>
            </a:endParaRPr>
          </a:p>
          <a:p>
            <a:pPr eaLnBrk="1" hangingPunct="1">
              <a:lnSpc>
                <a:spcPct val="140000"/>
              </a:lnSpc>
            </a:pPr>
            <a:endParaRPr lang="en-US" sz="2300" smtClean="0">
              <a:latin typeface="Arial" charset="0"/>
            </a:endParaRPr>
          </a:p>
          <a:p>
            <a:pPr eaLnBrk="1" hangingPunct="1">
              <a:lnSpc>
                <a:spcPct val="140000"/>
              </a:lnSpc>
            </a:pPr>
            <a:endParaRPr lang="en-US" sz="2300" smtClean="0">
              <a:latin typeface="Arial" charset="0"/>
            </a:endParaRPr>
          </a:p>
          <a:p>
            <a:pPr eaLnBrk="1" hangingPunct="1">
              <a:lnSpc>
                <a:spcPct val="140000"/>
              </a:lnSpc>
              <a:buFont typeface="Wingdings" pitchFamily="2" charset="2"/>
              <a:buNone/>
            </a:pPr>
            <a:endParaRPr lang="en-US" sz="2300" smtClean="0">
              <a:latin typeface="Arial" charset="0"/>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Biodegradation of Xenobiotics</a:t>
            </a:r>
          </a:p>
        </p:txBody>
      </p:sp>
      <p:sp>
        <p:nvSpPr>
          <p:cNvPr id="137219" name="Rectangle 3"/>
          <p:cNvSpPr>
            <a:spLocks noGrp="1" noChangeArrowheads="1"/>
          </p:cNvSpPr>
          <p:nvPr>
            <p:ph type="body" idx="4294967295"/>
          </p:nvPr>
        </p:nvSpPr>
        <p:spPr>
          <a:xfrm>
            <a:off x="0" y="1600200"/>
            <a:ext cx="8229600" cy="4525963"/>
          </a:xfrm>
        </p:spPr>
        <p:txBody>
          <a:bodyPr tIns="18283" bIns="18283"/>
          <a:lstStyle/>
          <a:p>
            <a:pPr eaLnBrk="1" hangingPunct="1"/>
            <a:endParaRPr lang="en-US" sz="2300" smtClean="0">
              <a:latin typeface="Arial" charset="0"/>
            </a:endParaRPr>
          </a:p>
          <a:p>
            <a:pPr eaLnBrk="1" hangingPunct="1"/>
            <a:r>
              <a:rPr lang="en-US" sz="2700" smtClean="0">
                <a:latin typeface="Arial" charset="0"/>
              </a:rPr>
              <a:t>Pesticides</a:t>
            </a:r>
          </a:p>
          <a:p>
            <a:pPr lvl="1" eaLnBrk="1" hangingPunct="1"/>
            <a:r>
              <a:rPr lang="en-US" sz="2300" smtClean="0">
                <a:latin typeface="Arial" charset="0"/>
              </a:rPr>
              <a:t>Common components of toxic wastes</a:t>
            </a:r>
          </a:p>
          <a:p>
            <a:pPr lvl="1" eaLnBrk="1" hangingPunct="1"/>
            <a:r>
              <a:rPr lang="en-US" sz="2300" smtClean="0">
                <a:latin typeface="Arial" charset="0"/>
              </a:rPr>
              <a:t>Include </a:t>
            </a:r>
            <a:r>
              <a:rPr lang="en-US" sz="2300" i="1" smtClean="0">
                <a:latin typeface="Arial" charset="0"/>
              </a:rPr>
              <a:t>herbicides</a:t>
            </a:r>
            <a:r>
              <a:rPr lang="en-US" sz="2300" smtClean="0">
                <a:latin typeface="Arial" charset="0"/>
              </a:rPr>
              <a:t>, </a:t>
            </a:r>
            <a:r>
              <a:rPr lang="en-US" sz="2300" i="1" smtClean="0">
                <a:latin typeface="Arial" charset="0"/>
              </a:rPr>
              <a:t>insecticides</a:t>
            </a:r>
            <a:r>
              <a:rPr lang="en-US" sz="2300" smtClean="0">
                <a:latin typeface="Arial" charset="0"/>
              </a:rPr>
              <a:t>, and </a:t>
            </a:r>
            <a:r>
              <a:rPr lang="en-US" sz="2300" i="1" smtClean="0">
                <a:latin typeface="Arial" charset="0"/>
              </a:rPr>
              <a:t>fungicides</a:t>
            </a:r>
          </a:p>
          <a:p>
            <a:pPr lvl="1" eaLnBrk="1" hangingPunct="1"/>
            <a:r>
              <a:rPr lang="en-US" sz="2300" smtClean="0">
                <a:latin typeface="Arial" charset="0"/>
              </a:rPr>
              <a:t>Represent a wide variety of chemicals</a:t>
            </a:r>
          </a:p>
          <a:p>
            <a:pPr lvl="2" eaLnBrk="1" hangingPunct="1"/>
            <a:r>
              <a:rPr lang="en-US" sz="2200" smtClean="0">
                <a:latin typeface="Arial" charset="0"/>
              </a:rPr>
              <a:t>Some of which can be used as carbon sources and electron donors by microbes</a:t>
            </a:r>
          </a:p>
          <a:p>
            <a:pPr eaLnBrk="1" hangingPunct="1"/>
            <a:endParaRPr lang="en-US" sz="2200" smtClean="0">
              <a:latin typeface="Arial" charset="0"/>
            </a:endParaRPr>
          </a:p>
          <a:p>
            <a:pPr eaLnBrk="1" hangingPunct="1"/>
            <a:endParaRPr lang="en-US" sz="2300" smtClean="0">
              <a:latin typeface="Arial" charset="0"/>
            </a:endParaRPr>
          </a:p>
          <a:p>
            <a:pPr eaLnBrk="1" hangingPunct="1"/>
            <a:endParaRPr lang="en-US" sz="2300" smtClean="0">
              <a:latin typeface="Arial" charset="0"/>
            </a:endParaRPr>
          </a:p>
          <a:p>
            <a:pPr eaLnBrk="1" hangingPunct="1">
              <a:buFont typeface="Wingdings" pitchFamily="2" charset="2"/>
              <a:buNone/>
            </a:pPr>
            <a:endParaRPr lang="en-US" sz="2300" smtClean="0">
              <a:latin typeface="Arial" charset="0"/>
            </a:endParaRP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r>
              <a:rPr lang="en-US" sz="2900">
                <a:solidFill>
                  <a:srgbClr val="404040"/>
                </a:solidFill>
                <a:latin typeface="Arial Narrow" pitchFamily="34" charset="0"/>
              </a:rPr>
              <a:t>Persistence of Herbicides and Insecticides in Soils</a:t>
            </a:r>
          </a:p>
        </p:txBody>
      </p:sp>
      <p:sp>
        <p:nvSpPr>
          <p:cNvPr id="139267" name="Text Box 4"/>
          <p:cNvSpPr txBox="1">
            <a:spLocks noChangeArrowheads="1"/>
          </p:cNvSpPr>
          <p:nvPr/>
        </p:nvSpPr>
        <p:spPr bwMode="auto">
          <a:xfrm>
            <a:off x="7794625" y="6107113"/>
            <a:ext cx="1071563" cy="252412"/>
          </a:xfrm>
          <a:prstGeom prst="rect">
            <a:avLst/>
          </a:prstGeom>
          <a:noFill/>
          <a:ln w="9525">
            <a:noFill/>
            <a:miter lim="800000"/>
            <a:headEnd/>
            <a:tailEnd/>
          </a:ln>
        </p:spPr>
        <p:txBody>
          <a:bodyPr lIns="82048" tIns="41025" rIns="82048" bIns="41025">
            <a:spAutoFit/>
          </a:bodyPr>
          <a:lstStyle/>
          <a:p>
            <a:pPr algn="r"/>
            <a:endParaRPr lang="en-US" sz="1100">
              <a:ea typeface="ＭＳ Ｐゴシック" pitchFamily="1" charset="-128"/>
            </a:endParaRPr>
          </a:p>
        </p:txBody>
      </p:sp>
      <p:grpSp>
        <p:nvGrpSpPr>
          <p:cNvPr id="139268" name="Group 7"/>
          <p:cNvGrpSpPr>
            <a:grpSpLocks/>
          </p:cNvGrpSpPr>
          <p:nvPr/>
        </p:nvGrpSpPr>
        <p:grpSpPr bwMode="auto">
          <a:xfrm>
            <a:off x="1412875" y="1041400"/>
            <a:ext cx="6318250" cy="4775200"/>
            <a:chOff x="1390" y="374"/>
            <a:chExt cx="3556" cy="2770"/>
          </a:xfrm>
        </p:grpSpPr>
        <p:pic>
          <p:nvPicPr>
            <p:cNvPr id="139269" name="Picture 5" descr="24_Table04-T"/>
            <p:cNvPicPr>
              <a:picLocks noChangeAspect="1" noChangeArrowheads="1"/>
            </p:cNvPicPr>
            <p:nvPr/>
          </p:nvPicPr>
          <p:blipFill>
            <a:blip r:embed="rId3"/>
            <a:srcRect b="37512"/>
            <a:stretch>
              <a:fillRect/>
            </a:stretch>
          </p:blipFill>
          <p:spPr bwMode="auto">
            <a:xfrm>
              <a:off x="1390" y="374"/>
              <a:ext cx="3556" cy="2592"/>
            </a:xfrm>
            <a:prstGeom prst="rect">
              <a:avLst/>
            </a:prstGeom>
            <a:noFill/>
            <a:ln w="9525">
              <a:noFill/>
              <a:miter lim="800000"/>
              <a:headEnd/>
              <a:tailEnd/>
            </a:ln>
          </p:spPr>
        </p:pic>
        <p:pic>
          <p:nvPicPr>
            <p:cNvPr id="139270" name="Picture 6" descr="24_Table04-T"/>
            <p:cNvPicPr>
              <a:picLocks noChangeAspect="1" noChangeArrowheads="1"/>
            </p:cNvPicPr>
            <p:nvPr/>
          </p:nvPicPr>
          <p:blipFill>
            <a:blip r:embed="rId3"/>
            <a:srcRect t="93440" b="2798"/>
            <a:stretch>
              <a:fillRect/>
            </a:stretch>
          </p:blipFill>
          <p:spPr bwMode="auto">
            <a:xfrm>
              <a:off x="1390" y="2988"/>
              <a:ext cx="3556" cy="156"/>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r>
              <a:rPr lang="en-US" sz="2900">
                <a:solidFill>
                  <a:srgbClr val="404040"/>
                </a:solidFill>
                <a:latin typeface="Arial Narrow" pitchFamily="34" charset="0"/>
              </a:rPr>
              <a:t>Persistence of Herbicides and Insecticides in Soils</a:t>
            </a:r>
          </a:p>
        </p:txBody>
      </p:sp>
      <p:sp>
        <p:nvSpPr>
          <p:cNvPr id="140291" name="Text Box 4"/>
          <p:cNvSpPr txBox="1">
            <a:spLocks noChangeArrowheads="1"/>
          </p:cNvSpPr>
          <p:nvPr/>
        </p:nvSpPr>
        <p:spPr bwMode="auto">
          <a:xfrm>
            <a:off x="7794625" y="6107113"/>
            <a:ext cx="1071563" cy="252412"/>
          </a:xfrm>
          <a:prstGeom prst="rect">
            <a:avLst/>
          </a:prstGeom>
          <a:noFill/>
          <a:ln w="9525">
            <a:noFill/>
            <a:miter lim="800000"/>
            <a:headEnd/>
            <a:tailEnd/>
          </a:ln>
        </p:spPr>
        <p:txBody>
          <a:bodyPr lIns="82048" tIns="41025" rIns="82048" bIns="41025">
            <a:spAutoFit/>
          </a:bodyPr>
          <a:lstStyle/>
          <a:p>
            <a:pPr algn="r"/>
            <a:endParaRPr lang="en-US" sz="1100">
              <a:ea typeface="ＭＳ Ｐゴシック" pitchFamily="1" charset="-128"/>
            </a:endParaRPr>
          </a:p>
        </p:txBody>
      </p:sp>
      <p:grpSp>
        <p:nvGrpSpPr>
          <p:cNvPr id="140292" name="Group 7"/>
          <p:cNvGrpSpPr>
            <a:grpSpLocks/>
          </p:cNvGrpSpPr>
          <p:nvPr/>
        </p:nvGrpSpPr>
        <p:grpSpPr bwMode="auto">
          <a:xfrm>
            <a:off x="1168400" y="1355725"/>
            <a:ext cx="6807200" cy="4146550"/>
            <a:chOff x="1390" y="2049"/>
            <a:chExt cx="3556" cy="2232"/>
          </a:xfrm>
        </p:grpSpPr>
        <p:pic>
          <p:nvPicPr>
            <p:cNvPr id="140293" name="Picture 5" descr="24_Table04-T"/>
            <p:cNvPicPr>
              <a:picLocks noChangeAspect="1" noChangeArrowheads="1"/>
            </p:cNvPicPr>
            <p:nvPr/>
          </p:nvPicPr>
          <p:blipFill>
            <a:blip r:embed="rId3"/>
            <a:srcRect t="62801" b="2580"/>
            <a:stretch>
              <a:fillRect/>
            </a:stretch>
          </p:blipFill>
          <p:spPr bwMode="auto">
            <a:xfrm>
              <a:off x="1390" y="2845"/>
              <a:ext cx="3556" cy="1436"/>
            </a:xfrm>
            <a:prstGeom prst="rect">
              <a:avLst/>
            </a:prstGeom>
            <a:noFill/>
            <a:ln w="9525">
              <a:noFill/>
              <a:miter lim="800000"/>
              <a:headEnd/>
              <a:tailEnd/>
            </a:ln>
          </p:spPr>
        </p:pic>
        <p:pic>
          <p:nvPicPr>
            <p:cNvPr id="140294" name="Picture 6" descr="24_Table04-T"/>
            <p:cNvPicPr>
              <a:picLocks noChangeAspect="1" noChangeArrowheads="1"/>
            </p:cNvPicPr>
            <p:nvPr/>
          </p:nvPicPr>
          <p:blipFill>
            <a:blip r:embed="rId3"/>
            <a:srcRect b="80786"/>
            <a:stretch>
              <a:fillRect/>
            </a:stretch>
          </p:blipFill>
          <p:spPr bwMode="auto">
            <a:xfrm>
              <a:off x="1390" y="2049"/>
              <a:ext cx="3556" cy="797"/>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Biodegradation of Xenobiotics</a:t>
            </a:r>
          </a:p>
        </p:txBody>
      </p:sp>
      <p:sp>
        <p:nvSpPr>
          <p:cNvPr id="141315" name="Rectangle 3"/>
          <p:cNvSpPr>
            <a:spLocks noGrp="1" noChangeArrowheads="1"/>
          </p:cNvSpPr>
          <p:nvPr>
            <p:ph type="body" idx="4294967295"/>
          </p:nvPr>
        </p:nvSpPr>
        <p:spPr>
          <a:xfrm>
            <a:off x="0" y="1600200"/>
            <a:ext cx="8229600" cy="4525963"/>
          </a:xfrm>
        </p:spPr>
        <p:txBody>
          <a:bodyPr tIns="18283" bIns="18283"/>
          <a:lstStyle/>
          <a:p>
            <a:pPr eaLnBrk="1" hangingPunct="1"/>
            <a:endParaRPr lang="en-US" sz="2300" smtClean="0">
              <a:latin typeface="Arial" charset="0"/>
            </a:endParaRPr>
          </a:p>
          <a:p>
            <a:pPr eaLnBrk="1" hangingPunct="1"/>
            <a:r>
              <a:rPr lang="en-US" smtClean="0">
                <a:latin typeface="Arial" charset="0"/>
              </a:rPr>
              <a:t>Some xenobiotics can be degraded partially or completely if another organic material is present as a primary energy source (</a:t>
            </a:r>
            <a:r>
              <a:rPr lang="en-US" i="1" u="sng" smtClean="0">
                <a:latin typeface="Arial" charset="0"/>
              </a:rPr>
              <a:t>cometabolism</a:t>
            </a:r>
            <a:r>
              <a:rPr lang="en-US" smtClean="0">
                <a:latin typeface="Arial" charset="0"/>
              </a:rPr>
              <a:t>)</a:t>
            </a:r>
          </a:p>
          <a:p>
            <a:pPr eaLnBrk="1" hangingPunct="1"/>
            <a:endParaRPr lang="en-US" smtClean="0">
              <a:latin typeface="Arial" charset="0"/>
            </a:endParaRPr>
          </a:p>
          <a:p>
            <a:pPr eaLnBrk="1" hangingPunct="1"/>
            <a:endParaRPr lang="en-US" sz="2300" smtClean="0">
              <a:latin typeface="Arial" charset="0"/>
            </a:endParaRPr>
          </a:p>
          <a:p>
            <a:pPr eaLnBrk="1" hangingPunct="1"/>
            <a:endParaRPr lang="en-US" sz="2300" smtClean="0">
              <a:latin typeface="Arial" charset="0"/>
            </a:endParaRPr>
          </a:p>
          <a:p>
            <a:pPr eaLnBrk="1" hangingPunct="1">
              <a:buFont typeface="Wingdings" pitchFamily="2" charset="2"/>
              <a:buNone/>
            </a:pPr>
            <a:endParaRPr lang="en-US" sz="2300" smtClean="0">
              <a:latin typeface="Arial" charset="0"/>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Biodegradation of Xenobiotics</a:t>
            </a:r>
          </a:p>
        </p:txBody>
      </p:sp>
      <p:sp>
        <p:nvSpPr>
          <p:cNvPr id="142339" name="Rectangle 3"/>
          <p:cNvSpPr>
            <a:spLocks noGrp="1" noChangeArrowheads="1"/>
          </p:cNvSpPr>
          <p:nvPr>
            <p:ph type="body" idx="4294967295"/>
          </p:nvPr>
        </p:nvSpPr>
        <p:spPr>
          <a:xfrm>
            <a:off x="0" y="1600200"/>
            <a:ext cx="8229600" cy="4525963"/>
          </a:xfrm>
        </p:spPr>
        <p:txBody>
          <a:bodyPr tIns="18283" bIns="18283"/>
          <a:lstStyle/>
          <a:p>
            <a:pPr eaLnBrk="1" hangingPunct="1"/>
            <a:endParaRPr lang="en-US" sz="2300" smtClean="0">
              <a:latin typeface="Arial" charset="0"/>
            </a:endParaRPr>
          </a:p>
          <a:p>
            <a:pPr eaLnBrk="1" hangingPunct="1"/>
            <a:r>
              <a:rPr lang="en-US" smtClean="0">
                <a:latin typeface="Arial" charset="0"/>
              </a:rPr>
              <a:t>Plastics of various types are xenobiotics that are not readily degraded by microbes </a:t>
            </a:r>
          </a:p>
          <a:p>
            <a:pPr eaLnBrk="1" hangingPunct="1"/>
            <a:r>
              <a:rPr lang="en-US" smtClean="0">
                <a:latin typeface="Arial" charset="0"/>
              </a:rPr>
              <a:t>The recalcitrance of plastics has fueled research efforts into a biodegradable alternative (</a:t>
            </a:r>
            <a:r>
              <a:rPr lang="en-US" i="1" u="sng" smtClean="0">
                <a:latin typeface="Arial" charset="0"/>
              </a:rPr>
              <a:t>biopolymers</a:t>
            </a:r>
            <a:r>
              <a:rPr lang="en-US" smtClean="0">
                <a:latin typeface="Arial" charset="0"/>
              </a:rPr>
              <a:t>)</a:t>
            </a:r>
          </a:p>
          <a:p>
            <a:pPr eaLnBrk="1" hangingPunct="1"/>
            <a:endParaRPr lang="en-US" smtClean="0">
              <a:latin typeface="Arial" charset="0"/>
            </a:endParaRPr>
          </a:p>
          <a:p>
            <a:pPr eaLnBrk="1" hangingPunct="1"/>
            <a:endParaRPr lang="en-US" sz="2300" smtClean="0">
              <a:latin typeface="Arial" charset="0"/>
            </a:endParaRPr>
          </a:p>
          <a:p>
            <a:pPr eaLnBrk="1" hangingPunct="1"/>
            <a:endParaRPr lang="en-US" sz="2300" smtClean="0">
              <a:latin typeface="Arial" charset="0"/>
            </a:endParaRPr>
          </a:p>
          <a:p>
            <a:pPr eaLnBrk="1" hangingPunct="1">
              <a:buFont typeface="Wingdings" pitchFamily="2" charset="2"/>
              <a:buNone/>
            </a:pPr>
            <a:endParaRPr lang="en-US" sz="2300" smtClean="0">
              <a:latin typeface="Arial" charset="0"/>
            </a:endParaRP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idx="4294967295"/>
          </p:nvPr>
        </p:nvSpPr>
        <p:spPr>
          <a:xfrm>
            <a:off x="0" y="3035300"/>
            <a:ext cx="8632825" cy="466725"/>
          </a:xfrm>
        </p:spPr>
        <p:txBody>
          <a:bodyPr lIns="91418" rIns="91418">
            <a:normAutofit fontScale="90000"/>
          </a:bodyPr>
          <a:lstStyle/>
          <a:p>
            <a:pPr eaLnBrk="1" hangingPunct="1"/>
            <a:r>
              <a:rPr lang="en-US" smtClean="0"/>
              <a:t>Plant–Microbial Symbioses</a:t>
            </a:r>
          </a:p>
        </p:txBody>
      </p:sp>
      <p:sp>
        <p:nvSpPr>
          <p:cNvPr id="143363" name="Rectangle 3"/>
          <p:cNvSpPr>
            <a:spLocks noGrp="1" noChangeArrowheads="1"/>
          </p:cNvSpPr>
          <p:nvPr>
            <p:ph type="body" idx="4294967295"/>
          </p:nvPr>
        </p:nvSpPr>
        <p:spPr>
          <a:xfrm>
            <a:off x="0" y="1600200"/>
            <a:ext cx="8229600" cy="4525963"/>
          </a:xfrm>
        </p:spPr>
        <p:txBody>
          <a:bodyPr tIns="18283" bIns="18283"/>
          <a:lstStyle/>
          <a:p>
            <a:pPr eaLnBrk="1" hangingPunct="1"/>
            <a:endParaRPr lang="en-US" sz="2000" smtClean="0">
              <a:latin typeface="Arial" charset="0"/>
            </a:endParaRPr>
          </a:p>
          <a:p>
            <a:pPr eaLnBrk="1" hangingPunct="1">
              <a:buFont typeface="Wingdings" pitchFamily="2" charset="2"/>
              <a:buNone/>
            </a:pPr>
            <a:endParaRPr lang="en-US" sz="2200" smtClean="0">
              <a:latin typeface="Arial" charset="0"/>
            </a:endParaRPr>
          </a:p>
          <a:p>
            <a:pPr eaLnBrk="1" hangingPunct="1"/>
            <a:endParaRPr lang="en-US" sz="2000" smtClean="0">
              <a:latin typeface="Arial" charset="0"/>
            </a:endParaRPr>
          </a:p>
          <a:p>
            <a:pPr eaLnBrk="1" hangingPunct="1"/>
            <a:endParaRPr lang="en-US" sz="2000" smtClean="0">
              <a:latin typeface="Arial" charset="0"/>
            </a:endParaRPr>
          </a:p>
          <a:p>
            <a:pPr eaLnBrk="1" hangingPunct="1"/>
            <a:endParaRPr lang="en-US" sz="2000" smtClean="0">
              <a:latin typeface="Arial" charset="0"/>
            </a:endParaRPr>
          </a:p>
          <a:p>
            <a:pPr eaLnBrk="1" hangingPunct="1"/>
            <a:endParaRPr lang="en-US" sz="2000" smtClean="0">
              <a:latin typeface="Arial" charset="0"/>
            </a:endParaRPr>
          </a:p>
          <a:p>
            <a:pPr eaLnBrk="1" hangingPunct="1">
              <a:buFont typeface="Wingdings" pitchFamily="2" charset="2"/>
              <a:buNone/>
            </a:pPr>
            <a:endParaRPr lang="en-US" sz="2000" smtClean="0">
              <a:latin typeface="Arial" charset="0"/>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Lichens</a:t>
            </a:r>
          </a:p>
        </p:txBody>
      </p:sp>
      <p:sp>
        <p:nvSpPr>
          <p:cNvPr id="144387" name="Rectangle 3"/>
          <p:cNvSpPr>
            <a:spLocks noGrp="1" noChangeArrowheads="1"/>
          </p:cNvSpPr>
          <p:nvPr>
            <p:ph type="body" idx="4294967295"/>
          </p:nvPr>
        </p:nvSpPr>
        <p:spPr>
          <a:xfrm>
            <a:off x="0" y="1023938"/>
            <a:ext cx="8204200" cy="5172075"/>
          </a:xfrm>
        </p:spPr>
        <p:txBody>
          <a:bodyPr tIns="18283" bIns="18283">
            <a:normAutofit/>
          </a:bodyPr>
          <a:lstStyle/>
          <a:p>
            <a:pPr eaLnBrk="1" hangingPunct="1">
              <a:lnSpc>
                <a:spcPct val="140000"/>
              </a:lnSpc>
            </a:pPr>
            <a:endParaRPr lang="en-US" sz="2300" i="1" u="sng" dirty="0" smtClean="0">
              <a:latin typeface="Arial" charset="0"/>
            </a:endParaRPr>
          </a:p>
          <a:p>
            <a:pPr lvl="1" eaLnBrk="1" hangingPunct="1">
              <a:lnSpc>
                <a:spcPct val="140000"/>
              </a:lnSpc>
            </a:pPr>
            <a:r>
              <a:rPr lang="en-US" sz="2200" dirty="0" smtClean="0">
                <a:latin typeface="Arial" charset="0"/>
              </a:rPr>
              <a:t>Leafy or encrusting microbial symbiosis</a:t>
            </a:r>
          </a:p>
          <a:p>
            <a:pPr lvl="1" eaLnBrk="1" hangingPunct="1">
              <a:lnSpc>
                <a:spcPct val="140000"/>
              </a:lnSpc>
            </a:pPr>
            <a:r>
              <a:rPr lang="en-US" sz="2200" dirty="0" smtClean="0">
                <a:latin typeface="Arial" charset="0"/>
              </a:rPr>
              <a:t>Often found growing on bare rocks, tree trunks, house roofs, and the surfaces of bare soils </a:t>
            </a:r>
          </a:p>
          <a:p>
            <a:pPr lvl="1" eaLnBrk="1" hangingPunct="1"/>
            <a:r>
              <a:rPr lang="en-US" sz="2200" dirty="0" smtClean="0">
                <a:latin typeface="Arial" charset="0"/>
              </a:rPr>
              <a:t>Consist of a </a:t>
            </a:r>
            <a:r>
              <a:rPr lang="en-US" sz="2200" dirty="0" err="1" smtClean="0">
                <a:latin typeface="Arial" charset="0"/>
              </a:rPr>
              <a:t>mutalistic</a:t>
            </a:r>
            <a:r>
              <a:rPr lang="en-US" sz="2200" dirty="0" smtClean="0">
                <a:latin typeface="Arial" charset="0"/>
              </a:rPr>
              <a:t> relationship between a fungus and an alga (or </a:t>
            </a:r>
            <a:r>
              <a:rPr lang="en-US" sz="2200" dirty="0" err="1" smtClean="0">
                <a:latin typeface="Arial" charset="0"/>
              </a:rPr>
              <a:t>cyanobacterium</a:t>
            </a:r>
            <a:r>
              <a:rPr lang="en-US" sz="2200" dirty="0" smtClean="0">
                <a:latin typeface="Arial" charset="0"/>
              </a:rPr>
              <a:t>)</a:t>
            </a:r>
          </a:p>
          <a:p>
            <a:pPr lvl="2" eaLnBrk="1" hangingPunct="1"/>
            <a:endParaRPr lang="en-US" sz="2000" dirty="0" smtClean="0">
              <a:latin typeface="Arial" charset="0"/>
            </a:endParaRPr>
          </a:p>
          <a:p>
            <a:pPr lvl="2" eaLnBrk="1" hangingPunct="1"/>
            <a:r>
              <a:rPr lang="en-US" sz="2000" dirty="0" smtClean="0">
                <a:latin typeface="Arial" charset="0"/>
              </a:rPr>
              <a:t>Alga is photosynthetic and produces organic matter for the fungus</a:t>
            </a:r>
          </a:p>
          <a:p>
            <a:pPr lvl="2" eaLnBrk="1" hangingPunct="1"/>
            <a:r>
              <a:rPr lang="en-US" sz="2000" dirty="0" smtClean="0">
                <a:latin typeface="Arial" charset="0"/>
              </a:rPr>
              <a:t>The fungus provides a structure within which the phototrophic partner can grow protected from erosion by rain or wind</a:t>
            </a: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r>
              <a:rPr lang="en-US" sz="2900">
                <a:solidFill>
                  <a:srgbClr val="404040"/>
                </a:solidFill>
                <a:latin typeface="Arial Narrow" pitchFamily="34" charset="0"/>
              </a:rPr>
              <a:t>Lichens</a:t>
            </a:r>
          </a:p>
        </p:txBody>
      </p:sp>
      <p:sp>
        <p:nvSpPr>
          <p:cNvPr id="145411" name="Text Box 4"/>
          <p:cNvSpPr txBox="1">
            <a:spLocks noChangeArrowheads="1"/>
          </p:cNvSpPr>
          <p:nvPr/>
        </p:nvSpPr>
        <p:spPr bwMode="auto">
          <a:xfrm>
            <a:off x="7754938" y="6107113"/>
            <a:ext cx="1111250" cy="252412"/>
          </a:xfrm>
          <a:prstGeom prst="rect">
            <a:avLst/>
          </a:prstGeom>
          <a:noFill/>
          <a:ln w="9525">
            <a:noFill/>
            <a:miter lim="800000"/>
            <a:headEnd/>
            <a:tailEnd/>
          </a:ln>
        </p:spPr>
        <p:txBody>
          <a:bodyPr lIns="82048" tIns="41025" rIns="82048" bIns="41025">
            <a:spAutoFit/>
          </a:bodyPr>
          <a:lstStyle/>
          <a:p>
            <a:pPr algn="r"/>
            <a:endParaRPr lang="en-US" sz="1100">
              <a:ea typeface="ＭＳ Ｐゴシック" pitchFamily="1" charset="-128"/>
            </a:endParaRPr>
          </a:p>
        </p:txBody>
      </p:sp>
      <p:pic>
        <p:nvPicPr>
          <p:cNvPr id="145412" name="Picture 5" descr="24_35Figure-L"/>
          <p:cNvPicPr>
            <a:picLocks noChangeAspect="1" noChangeArrowheads="1"/>
          </p:cNvPicPr>
          <p:nvPr/>
        </p:nvPicPr>
        <p:blipFill>
          <a:blip r:embed="rId3"/>
          <a:srcRect b="2574"/>
          <a:stretch>
            <a:fillRect/>
          </a:stretch>
        </p:blipFill>
        <p:spPr bwMode="auto">
          <a:xfrm>
            <a:off x="1878013" y="782638"/>
            <a:ext cx="5386387" cy="56721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r>
              <a:rPr lang="en-US" sz="2900">
                <a:solidFill>
                  <a:srgbClr val="404040"/>
                </a:solidFill>
                <a:latin typeface="Arial Narrow" pitchFamily="34" charset="0"/>
              </a:rPr>
              <a:t>Lichen Structure</a:t>
            </a:r>
          </a:p>
        </p:txBody>
      </p:sp>
      <p:sp>
        <p:nvSpPr>
          <p:cNvPr id="146435" name="Text Box 4"/>
          <p:cNvSpPr txBox="1">
            <a:spLocks noChangeArrowheads="1"/>
          </p:cNvSpPr>
          <p:nvPr/>
        </p:nvSpPr>
        <p:spPr bwMode="auto">
          <a:xfrm>
            <a:off x="7754938" y="6107113"/>
            <a:ext cx="1111250" cy="252412"/>
          </a:xfrm>
          <a:prstGeom prst="rect">
            <a:avLst/>
          </a:prstGeom>
          <a:noFill/>
          <a:ln w="9525">
            <a:noFill/>
            <a:miter lim="800000"/>
            <a:headEnd/>
            <a:tailEnd/>
          </a:ln>
        </p:spPr>
        <p:txBody>
          <a:bodyPr lIns="82048" tIns="41025" rIns="82048" bIns="41025">
            <a:spAutoFit/>
          </a:bodyPr>
          <a:lstStyle/>
          <a:p>
            <a:pPr algn="r"/>
            <a:endParaRPr lang="en-US" sz="1100">
              <a:ea typeface="ＭＳ Ｐゴシック" pitchFamily="1" charset="-128"/>
            </a:endParaRPr>
          </a:p>
        </p:txBody>
      </p:sp>
      <p:pic>
        <p:nvPicPr>
          <p:cNvPr id="146436" name="Picture 5" descr="24_36Figure-L"/>
          <p:cNvPicPr>
            <a:picLocks noChangeAspect="1" noChangeArrowheads="1"/>
          </p:cNvPicPr>
          <p:nvPr/>
        </p:nvPicPr>
        <p:blipFill>
          <a:blip r:embed="rId3"/>
          <a:srcRect b="3049"/>
          <a:stretch>
            <a:fillRect/>
          </a:stretch>
        </p:blipFill>
        <p:spPr bwMode="auto">
          <a:xfrm>
            <a:off x="1574800" y="1041400"/>
            <a:ext cx="5994400" cy="49926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Mycorrhizae</a:t>
            </a:r>
          </a:p>
        </p:txBody>
      </p:sp>
      <p:sp>
        <p:nvSpPr>
          <p:cNvPr id="147459" name="Rectangle 3"/>
          <p:cNvSpPr>
            <a:spLocks noGrp="1" noChangeArrowheads="1"/>
          </p:cNvSpPr>
          <p:nvPr>
            <p:ph type="body" idx="4294967295"/>
          </p:nvPr>
        </p:nvSpPr>
        <p:spPr>
          <a:xfrm>
            <a:off x="0" y="1360488"/>
            <a:ext cx="8321675" cy="4741862"/>
          </a:xfrm>
        </p:spPr>
        <p:txBody>
          <a:bodyPr tIns="18283" bIns="18283"/>
          <a:lstStyle/>
          <a:p>
            <a:pPr eaLnBrk="1" hangingPunct="1"/>
            <a:r>
              <a:rPr lang="en-US" sz="2700" i="1" u="sng" smtClean="0">
                <a:latin typeface="Arial" charset="0"/>
              </a:rPr>
              <a:t>Mycorrhizae</a:t>
            </a:r>
            <a:endParaRPr lang="en-US" sz="2700" smtClean="0">
              <a:latin typeface="Arial" charset="0"/>
            </a:endParaRPr>
          </a:p>
          <a:p>
            <a:pPr lvl="1" eaLnBrk="1" hangingPunct="1"/>
            <a:r>
              <a:rPr lang="en-US" sz="2300" smtClean="0">
                <a:latin typeface="Arial" charset="0"/>
              </a:rPr>
              <a:t>Mutalistic associations of plant roots and fungi</a:t>
            </a:r>
          </a:p>
          <a:p>
            <a:pPr lvl="1" eaLnBrk="1" hangingPunct="1"/>
            <a:r>
              <a:rPr lang="en-US" sz="2300" smtClean="0">
                <a:latin typeface="Arial" charset="0"/>
              </a:rPr>
              <a:t>Two classes</a:t>
            </a:r>
          </a:p>
          <a:p>
            <a:pPr lvl="2" eaLnBrk="1" hangingPunct="1"/>
            <a:r>
              <a:rPr lang="en-US" sz="2200" smtClean="0">
                <a:latin typeface="Arial" charset="0"/>
              </a:rPr>
              <a:t>Ectomycorrhizae</a:t>
            </a:r>
          </a:p>
          <a:p>
            <a:pPr lvl="2" eaLnBrk="1" hangingPunct="1"/>
            <a:r>
              <a:rPr lang="en-US" sz="2200" smtClean="0">
                <a:latin typeface="Arial" charset="0"/>
              </a:rPr>
              <a:t>Endomycorrhizae</a:t>
            </a:r>
          </a:p>
          <a:p>
            <a:pPr eaLnBrk="1" hangingPunct="1">
              <a:lnSpc>
                <a:spcPct val="140000"/>
              </a:lnSpc>
            </a:pPr>
            <a:r>
              <a:rPr lang="en-US" sz="2700" smtClean="0">
                <a:latin typeface="Arial" charset="0"/>
              </a:rPr>
              <a:t>Mycorrhizal fungi assist plants by</a:t>
            </a:r>
          </a:p>
          <a:p>
            <a:pPr lvl="1" eaLnBrk="1" hangingPunct="1">
              <a:lnSpc>
                <a:spcPct val="140000"/>
              </a:lnSpc>
            </a:pPr>
            <a:r>
              <a:rPr lang="en-US" sz="1800" smtClean="0">
                <a:latin typeface="Arial" charset="0"/>
              </a:rPr>
              <a:t>Improving nutrient absorption</a:t>
            </a:r>
          </a:p>
          <a:p>
            <a:pPr lvl="2" eaLnBrk="1" hangingPunct="1">
              <a:lnSpc>
                <a:spcPct val="140000"/>
              </a:lnSpc>
            </a:pPr>
            <a:r>
              <a:rPr lang="en-US" sz="1800" smtClean="0">
                <a:latin typeface="Arial" charset="0"/>
              </a:rPr>
              <a:t>This is due to the greater surface area provided by the fungal mycelium</a:t>
            </a:r>
          </a:p>
          <a:p>
            <a:pPr lvl="2" eaLnBrk="1" hangingPunct="1"/>
            <a:endParaRPr lang="en-US" sz="2200" smtClean="0">
              <a:latin typeface="Arial" charset="0"/>
            </a:endParaRPr>
          </a:p>
          <a:p>
            <a:pPr eaLnBrk="1" hangingPunct="1"/>
            <a:endParaRPr lang="en-US" sz="2200" smtClean="0">
              <a:latin typeface="Arial" charset="0"/>
            </a:endParaRPr>
          </a:p>
          <a:p>
            <a:pPr eaLnBrk="1" hangingPunct="1">
              <a:buFont typeface="Wingdings" pitchFamily="2" charset="2"/>
              <a:buNone/>
            </a:pPr>
            <a:endParaRPr lang="en-US" sz="2300" smtClean="0">
              <a:latin typeface="Arial" charset="0"/>
            </a:endParaRP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Mycorrhizae</a:t>
            </a:r>
          </a:p>
        </p:txBody>
      </p:sp>
      <p:sp>
        <p:nvSpPr>
          <p:cNvPr id="148483" name="Rectangle 3"/>
          <p:cNvSpPr>
            <a:spLocks noGrp="1" noChangeArrowheads="1"/>
          </p:cNvSpPr>
          <p:nvPr>
            <p:ph type="body" idx="4294967295"/>
          </p:nvPr>
        </p:nvSpPr>
        <p:spPr>
          <a:xfrm>
            <a:off x="0" y="958850"/>
            <a:ext cx="8204200" cy="4846638"/>
          </a:xfrm>
        </p:spPr>
        <p:txBody>
          <a:bodyPr tIns="18283" bIns="18283"/>
          <a:lstStyle/>
          <a:p>
            <a:pPr eaLnBrk="1" hangingPunct="1"/>
            <a:endParaRPr lang="en-US" sz="2700" i="1" u="sng" dirty="0" smtClean="0">
              <a:latin typeface="Arial" charset="0"/>
            </a:endParaRPr>
          </a:p>
          <a:p>
            <a:pPr eaLnBrk="1" hangingPunct="1"/>
            <a:r>
              <a:rPr lang="en-US" sz="2700" i="1" u="sng" dirty="0" err="1" smtClean="0">
                <a:latin typeface="Arial" charset="0"/>
              </a:rPr>
              <a:t>Ectomycorrhizae</a:t>
            </a:r>
            <a:endParaRPr lang="en-US" sz="2700" dirty="0" smtClean="0">
              <a:latin typeface="Arial" charset="0"/>
            </a:endParaRPr>
          </a:p>
          <a:p>
            <a:pPr lvl="1" eaLnBrk="1" hangingPunct="1"/>
            <a:r>
              <a:rPr lang="en-US" sz="2300" dirty="0" smtClean="0">
                <a:latin typeface="Arial" charset="0"/>
              </a:rPr>
              <a:t>Fungal cells form an extensive sheath around the outside of the root with only a little penetration into the root tissue</a:t>
            </a:r>
          </a:p>
          <a:p>
            <a:pPr lvl="1" eaLnBrk="1" hangingPunct="1"/>
            <a:r>
              <a:rPr lang="en-US" sz="2300" dirty="0" smtClean="0">
                <a:latin typeface="Arial" charset="0"/>
              </a:rPr>
              <a:t>Found primarily in forest trees</a:t>
            </a:r>
          </a:p>
        </p:txBody>
      </p:sp>
      <p:pic>
        <p:nvPicPr>
          <p:cNvPr id="148484" name="Picture 5" descr="24_37Figure-L"/>
          <p:cNvPicPr>
            <a:picLocks noChangeAspect="1" noChangeArrowheads="1"/>
          </p:cNvPicPr>
          <p:nvPr/>
        </p:nvPicPr>
        <p:blipFill>
          <a:blip r:embed="rId3"/>
          <a:srcRect r="52441" b="4260"/>
          <a:stretch>
            <a:fillRect/>
          </a:stretch>
        </p:blipFill>
        <p:spPr bwMode="auto">
          <a:xfrm>
            <a:off x="5765800" y="3533775"/>
            <a:ext cx="3378200" cy="3324225"/>
          </a:xfrm>
          <a:prstGeom prst="rect">
            <a:avLst/>
          </a:prstGeom>
          <a:noFill/>
          <a:ln w="9525">
            <a:noFill/>
            <a:miter lim="800000"/>
            <a:headEnd/>
            <a:tailEnd/>
          </a:ln>
        </p:spPr>
      </p:pic>
      <p:sp>
        <p:nvSpPr>
          <p:cNvPr id="148485" name="Rectangle 2"/>
          <p:cNvSpPr>
            <a:spLocks noGrp="1" noChangeArrowheads="1"/>
          </p:cNvSpPr>
          <p:nvPr/>
        </p:nvSpPr>
        <p:spPr bwMode="auto">
          <a:xfrm rot="10800000" flipV="1">
            <a:off x="1254125" y="5430838"/>
            <a:ext cx="4471988" cy="692150"/>
          </a:xfrm>
          <a:prstGeom prst="rect">
            <a:avLst/>
          </a:prstGeom>
          <a:noFill/>
          <a:ln w="9525">
            <a:noFill/>
            <a:miter lim="800000"/>
            <a:headEnd/>
            <a:tailEnd/>
          </a:ln>
        </p:spPr>
        <p:txBody>
          <a:bodyPr lIns="91418" tIns="0" rIns="91418" bIns="0"/>
          <a:lstStyle/>
          <a:p>
            <a:r>
              <a:rPr lang="en-US" sz="2200">
                <a:solidFill>
                  <a:srgbClr val="404040"/>
                </a:solidFill>
                <a:latin typeface="Arial Narrow" pitchFamily="34" charset="0"/>
              </a:rPr>
              <a:t>  Mycorrhizae: Typical Ectomycorrhizal Root of pine tree</a:t>
            </a: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r>
              <a:rPr lang="en-US" sz="2900">
                <a:solidFill>
                  <a:srgbClr val="404040"/>
                </a:solidFill>
                <a:latin typeface="Arial Narrow" pitchFamily="34" charset="0"/>
              </a:rPr>
              <a:t>Mycorrhizae</a:t>
            </a:r>
          </a:p>
        </p:txBody>
      </p:sp>
      <p:pic>
        <p:nvPicPr>
          <p:cNvPr id="149507" name="Picture 5" descr="24_37Figure-L"/>
          <p:cNvPicPr>
            <a:picLocks noChangeAspect="1" noChangeArrowheads="1"/>
          </p:cNvPicPr>
          <p:nvPr/>
        </p:nvPicPr>
        <p:blipFill>
          <a:blip r:embed="rId3"/>
          <a:srcRect l="47171"/>
          <a:stretch>
            <a:fillRect/>
          </a:stretch>
        </p:blipFill>
        <p:spPr bwMode="auto">
          <a:xfrm>
            <a:off x="2111375" y="1387475"/>
            <a:ext cx="4921250" cy="4552950"/>
          </a:xfrm>
          <a:prstGeom prst="rect">
            <a:avLst/>
          </a:prstGeom>
          <a:noFill/>
          <a:ln w="9525">
            <a:noFill/>
            <a:miter lim="800000"/>
            <a:headEnd/>
            <a:tailEnd/>
          </a:ln>
        </p:spPr>
      </p:pic>
      <p:sp>
        <p:nvSpPr>
          <p:cNvPr id="149508" name="TextBox 3"/>
          <p:cNvSpPr txBox="1">
            <a:spLocks noChangeArrowheads="1"/>
          </p:cNvSpPr>
          <p:nvPr/>
        </p:nvSpPr>
        <p:spPr bwMode="auto">
          <a:xfrm>
            <a:off x="3271838" y="5494338"/>
            <a:ext cx="5213350" cy="912812"/>
          </a:xfrm>
          <a:prstGeom prst="rect">
            <a:avLst/>
          </a:prstGeom>
          <a:noFill/>
          <a:ln w="9525">
            <a:noFill/>
            <a:miter lim="800000"/>
            <a:headEnd/>
            <a:tailEnd/>
          </a:ln>
        </p:spPr>
        <p:txBody>
          <a:bodyPr lIns="82058" tIns="41029" rIns="82058" bIns="41029">
            <a:spAutoFit/>
          </a:bodyPr>
          <a:lstStyle/>
          <a:p>
            <a:r>
              <a:rPr lang="en-US" sz="1800"/>
              <a:t>Lodgepole pine seedling showing extensive ectomycorrhizal network which enhances uptake of nutrients from the soil</a:t>
            </a: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Mycorrhizae</a:t>
            </a:r>
          </a:p>
        </p:txBody>
      </p:sp>
      <p:sp>
        <p:nvSpPr>
          <p:cNvPr id="150531" name="Rectangle 3"/>
          <p:cNvSpPr>
            <a:spLocks noGrp="1" noChangeArrowheads="1"/>
          </p:cNvSpPr>
          <p:nvPr>
            <p:ph type="body" idx="4294967295"/>
          </p:nvPr>
        </p:nvSpPr>
        <p:spPr>
          <a:xfrm>
            <a:off x="0" y="1279525"/>
            <a:ext cx="8204200" cy="4835525"/>
          </a:xfrm>
        </p:spPr>
        <p:txBody>
          <a:bodyPr tIns="18283" bIns="18283"/>
          <a:lstStyle/>
          <a:p>
            <a:pPr eaLnBrk="1" hangingPunct="1"/>
            <a:r>
              <a:rPr lang="en-US" sz="2700" i="1" u="sng" smtClean="0">
                <a:latin typeface="Arial" charset="0"/>
              </a:rPr>
              <a:t>Endomycorrhizae</a:t>
            </a:r>
            <a:endParaRPr lang="en-US" sz="2700" smtClean="0">
              <a:latin typeface="Arial" charset="0"/>
            </a:endParaRPr>
          </a:p>
          <a:p>
            <a:pPr lvl="1" eaLnBrk="1" hangingPunct="1"/>
            <a:r>
              <a:rPr lang="en-US" sz="2300" smtClean="0">
                <a:latin typeface="Arial" charset="0"/>
              </a:rPr>
              <a:t>Fungal mycelium becomes deeply embedded within the root  tissue</a:t>
            </a:r>
          </a:p>
          <a:p>
            <a:pPr lvl="1" eaLnBrk="1" hangingPunct="1"/>
            <a:r>
              <a:rPr lang="en-US" sz="2300" smtClean="0">
                <a:latin typeface="Arial" charset="0"/>
              </a:rPr>
              <a:t>Are more common than ectomycorrhizae</a:t>
            </a:r>
          </a:p>
          <a:p>
            <a:pPr lvl="1" eaLnBrk="1" hangingPunct="1"/>
            <a:r>
              <a:rPr lang="en-US" sz="2300" smtClean="0">
                <a:latin typeface="Arial" charset="0"/>
              </a:rPr>
              <a:t>Found in &gt;80% of terrestrial plant species </a:t>
            </a:r>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r>
              <a:rPr lang="en-US" sz="2900">
                <a:solidFill>
                  <a:srgbClr val="404040"/>
                </a:solidFill>
                <a:latin typeface="Arial Narrow" pitchFamily="34" charset="0"/>
              </a:rPr>
              <a:t>Effect of Mycorrhizal Fungi on Plant Growth </a:t>
            </a:r>
          </a:p>
        </p:txBody>
      </p:sp>
      <p:pic>
        <p:nvPicPr>
          <p:cNvPr id="151555" name="Picture 5" descr="24_38Figure-L"/>
          <p:cNvPicPr>
            <a:picLocks noChangeAspect="1" noChangeArrowheads="1"/>
          </p:cNvPicPr>
          <p:nvPr/>
        </p:nvPicPr>
        <p:blipFill>
          <a:blip r:embed="rId3"/>
          <a:srcRect b="2811"/>
          <a:stretch>
            <a:fillRect/>
          </a:stretch>
        </p:blipFill>
        <p:spPr bwMode="auto">
          <a:xfrm>
            <a:off x="1720850" y="1000125"/>
            <a:ext cx="5702300" cy="5181600"/>
          </a:xfrm>
          <a:prstGeom prst="rect">
            <a:avLst/>
          </a:prstGeom>
          <a:noFill/>
          <a:ln w="9525">
            <a:noFill/>
            <a:miter lim="800000"/>
            <a:headEnd/>
            <a:tailEnd/>
          </a:ln>
        </p:spPr>
      </p:pic>
      <p:sp>
        <p:nvSpPr>
          <p:cNvPr id="151556" name="TextBox 3"/>
          <p:cNvSpPr txBox="1">
            <a:spLocks noChangeArrowheads="1"/>
          </p:cNvSpPr>
          <p:nvPr/>
        </p:nvSpPr>
        <p:spPr bwMode="auto">
          <a:xfrm>
            <a:off x="211138" y="1844675"/>
            <a:ext cx="1358900" cy="822325"/>
          </a:xfrm>
          <a:prstGeom prst="rect">
            <a:avLst/>
          </a:prstGeom>
          <a:noFill/>
          <a:ln w="9525">
            <a:noFill/>
            <a:miter lim="800000"/>
            <a:headEnd/>
            <a:tailEnd/>
          </a:ln>
        </p:spPr>
        <p:txBody>
          <a:bodyPr lIns="82058" tIns="41029" rIns="82058" bIns="41029">
            <a:spAutoFit/>
          </a:bodyPr>
          <a:lstStyle/>
          <a:p>
            <a:r>
              <a:rPr lang="en-US"/>
              <a:t>Pine seedings</a:t>
            </a:r>
          </a:p>
        </p:txBody>
      </p:sp>
      <p:sp>
        <p:nvSpPr>
          <p:cNvPr id="151557" name="TextBox 4"/>
          <p:cNvSpPr txBox="1">
            <a:spLocks noChangeArrowheads="1"/>
          </p:cNvSpPr>
          <p:nvPr/>
        </p:nvSpPr>
        <p:spPr bwMode="auto">
          <a:xfrm>
            <a:off x="1793875" y="6210300"/>
            <a:ext cx="5541963" cy="822325"/>
          </a:xfrm>
          <a:prstGeom prst="rect">
            <a:avLst/>
          </a:prstGeom>
          <a:noFill/>
          <a:ln w="9525">
            <a:noFill/>
            <a:miter lim="800000"/>
            <a:headEnd/>
            <a:tailEnd/>
          </a:ln>
        </p:spPr>
        <p:txBody>
          <a:bodyPr lIns="82058" tIns="41029" rIns="82058" bIns="41029">
            <a:spAutoFit/>
          </a:bodyPr>
          <a:lstStyle/>
          <a:p>
            <a:r>
              <a:rPr lang="en-US"/>
              <a:t>No mycorrhizal fungi			with mycorrhizal fungi</a:t>
            </a: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The Legume–Root Nodule Symbiosis</a:t>
            </a:r>
          </a:p>
        </p:txBody>
      </p:sp>
      <p:sp>
        <p:nvSpPr>
          <p:cNvPr id="152579" name="Rectangle 3"/>
          <p:cNvSpPr>
            <a:spLocks noGrp="1" noChangeArrowheads="1"/>
          </p:cNvSpPr>
          <p:nvPr>
            <p:ph type="body" idx="4294967295"/>
          </p:nvPr>
        </p:nvSpPr>
        <p:spPr>
          <a:xfrm>
            <a:off x="0" y="1036638"/>
            <a:ext cx="8204200" cy="5226050"/>
          </a:xfrm>
        </p:spPr>
        <p:txBody>
          <a:bodyPr tIns="18283" bIns="18283"/>
          <a:lstStyle/>
          <a:p>
            <a:pPr eaLnBrk="1" hangingPunct="1"/>
            <a:endParaRPr lang="en-US" dirty="0" smtClean="0">
              <a:latin typeface="Arial" charset="0"/>
            </a:endParaRPr>
          </a:p>
          <a:p>
            <a:pPr eaLnBrk="1" hangingPunct="1"/>
            <a:endParaRPr lang="en-US" dirty="0" smtClean="0">
              <a:latin typeface="Arial" charset="0"/>
            </a:endParaRPr>
          </a:p>
          <a:p>
            <a:pPr eaLnBrk="1" hangingPunct="1"/>
            <a:r>
              <a:rPr lang="en-US" dirty="0" err="1" smtClean="0">
                <a:latin typeface="Arial" charset="0"/>
              </a:rPr>
              <a:t>mutalistic</a:t>
            </a:r>
            <a:r>
              <a:rPr lang="en-US" dirty="0" smtClean="0">
                <a:latin typeface="Arial" charset="0"/>
              </a:rPr>
              <a:t> relationship between leguminous plants and nitrogen-fixing bacteria is one of the most important symbioses known</a:t>
            </a:r>
            <a:endParaRPr lang="en-US" sz="700" dirty="0" smtClean="0">
              <a:latin typeface="Arial" charset="0"/>
            </a:endParaRPr>
          </a:p>
          <a:p>
            <a:pPr eaLnBrk="1" hangingPunct="1"/>
            <a:r>
              <a:rPr lang="en-US" dirty="0" smtClean="0">
                <a:latin typeface="Arial" charset="0"/>
              </a:rPr>
              <a:t>Examples of legumes include soybeans, clover, alfalfa, beans, and peas</a:t>
            </a:r>
            <a:endParaRPr lang="en-US" sz="700" dirty="0" smtClean="0">
              <a:latin typeface="Arial" charset="0"/>
            </a:endParaRPr>
          </a:p>
          <a:p>
            <a:pPr eaLnBrk="1" hangingPunct="1"/>
            <a:r>
              <a:rPr lang="en-US" dirty="0" err="1" smtClean="0">
                <a:latin typeface="Arial" charset="0"/>
              </a:rPr>
              <a:t>Rhizobia</a:t>
            </a:r>
            <a:r>
              <a:rPr lang="en-US" dirty="0" smtClean="0">
                <a:latin typeface="Arial" charset="0"/>
              </a:rPr>
              <a:t> are the most well-known nitrogen-fixing bacteria engaging in these symbioses</a:t>
            </a:r>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idx="4294967295"/>
          </p:nvPr>
        </p:nvSpPr>
        <p:spPr>
          <a:xfrm>
            <a:off x="0" y="274638"/>
            <a:ext cx="8229600" cy="1143000"/>
          </a:xfrm>
        </p:spPr>
        <p:txBody>
          <a:bodyPr lIns="91418" rIns="91418"/>
          <a:lstStyle/>
          <a:p>
            <a:pPr eaLnBrk="1" hangingPunct="1"/>
            <a:r>
              <a:rPr lang="en-US" smtClean="0"/>
              <a:t>The Legume–Root Nodule Symbiosis</a:t>
            </a:r>
          </a:p>
        </p:txBody>
      </p:sp>
      <p:sp>
        <p:nvSpPr>
          <p:cNvPr id="153603" name="Rectangle 3"/>
          <p:cNvSpPr>
            <a:spLocks noGrp="1" noChangeArrowheads="1"/>
          </p:cNvSpPr>
          <p:nvPr>
            <p:ph type="body" idx="4294967295"/>
          </p:nvPr>
        </p:nvSpPr>
        <p:spPr>
          <a:xfrm>
            <a:off x="0" y="1600200"/>
            <a:ext cx="8229600" cy="4525963"/>
          </a:xfrm>
        </p:spPr>
        <p:txBody>
          <a:bodyPr tIns="18283" bIns="18283"/>
          <a:lstStyle/>
          <a:p>
            <a:pPr eaLnBrk="1" hangingPunct="1"/>
            <a:endParaRPr lang="en-US" sz="2300" smtClean="0">
              <a:latin typeface="Arial" charset="0"/>
            </a:endParaRPr>
          </a:p>
          <a:p>
            <a:pPr eaLnBrk="1" hangingPunct="1"/>
            <a:r>
              <a:rPr lang="en-US" smtClean="0">
                <a:latin typeface="Arial" charset="0"/>
              </a:rPr>
              <a:t>Infection of legume roots by nitrogen-fixing bacteria leads to the formation of root nodules that fix nitrogen</a:t>
            </a:r>
          </a:p>
          <a:p>
            <a:pPr lvl="1" eaLnBrk="1" hangingPunct="1"/>
            <a:r>
              <a:rPr lang="en-US" sz="2200" smtClean="0">
                <a:latin typeface="Arial" charset="0"/>
              </a:rPr>
              <a:t>Leads to significant increases in combined nitrogen in soil</a:t>
            </a:r>
          </a:p>
          <a:p>
            <a:pPr eaLnBrk="1" hangingPunct="1"/>
            <a:r>
              <a:rPr lang="en-US" smtClean="0">
                <a:latin typeface="Arial" charset="0"/>
              </a:rPr>
              <a:t>Nodulated legumes grow well in areas where other plants would not</a:t>
            </a:r>
          </a:p>
          <a:p>
            <a:pPr eaLnBrk="1" hangingPunct="1">
              <a:buFont typeface="Wingdings" pitchFamily="2" charset="2"/>
              <a:buNone/>
            </a:pPr>
            <a:endParaRPr lang="en-US" smtClean="0">
              <a:latin typeface="Arial" charset="0"/>
            </a:endParaRP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r>
              <a:rPr lang="en-US" sz="2900">
                <a:solidFill>
                  <a:srgbClr val="404040"/>
                </a:solidFill>
                <a:latin typeface="Arial Narrow" pitchFamily="34" charset="0"/>
              </a:rPr>
              <a:t>Soybean Root Nodules</a:t>
            </a:r>
          </a:p>
        </p:txBody>
      </p:sp>
      <p:pic>
        <p:nvPicPr>
          <p:cNvPr id="154627" name="Picture 5" descr="24_42Figure-L"/>
          <p:cNvPicPr>
            <a:picLocks noChangeAspect="1" noChangeArrowheads="1"/>
          </p:cNvPicPr>
          <p:nvPr/>
        </p:nvPicPr>
        <p:blipFill>
          <a:blip r:embed="rId3"/>
          <a:srcRect b="2759"/>
          <a:stretch>
            <a:fillRect/>
          </a:stretch>
        </p:blipFill>
        <p:spPr bwMode="auto">
          <a:xfrm>
            <a:off x="2076450" y="900113"/>
            <a:ext cx="4989513" cy="52847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nvSpPr>
        <p:spPr bwMode="auto">
          <a:xfrm>
            <a:off x="200025" y="90488"/>
            <a:ext cx="8632825" cy="466725"/>
          </a:xfrm>
          <a:prstGeom prst="rect">
            <a:avLst/>
          </a:prstGeom>
          <a:noFill/>
          <a:ln w="9525">
            <a:noFill/>
            <a:miter lim="800000"/>
            <a:headEnd/>
            <a:tailEnd/>
          </a:ln>
        </p:spPr>
        <p:txBody>
          <a:bodyPr lIns="91418" tIns="0" rIns="91418" bIns="0"/>
          <a:lstStyle/>
          <a:p>
            <a:r>
              <a:rPr lang="en-US" sz="2900">
                <a:solidFill>
                  <a:srgbClr val="404040"/>
                </a:solidFill>
                <a:latin typeface="Arial Narrow" pitchFamily="34" charset="0"/>
              </a:rPr>
              <a:t>Effect of Nodulation on Plant Growth</a:t>
            </a:r>
          </a:p>
        </p:txBody>
      </p:sp>
      <p:pic>
        <p:nvPicPr>
          <p:cNvPr id="155651" name="Picture 5" descr="24_43Figure-L"/>
          <p:cNvPicPr>
            <a:picLocks noChangeAspect="1" noChangeArrowheads="1"/>
          </p:cNvPicPr>
          <p:nvPr/>
        </p:nvPicPr>
        <p:blipFill>
          <a:blip r:embed="rId3"/>
          <a:srcRect b="3389"/>
          <a:stretch>
            <a:fillRect/>
          </a:stretch>
        </p:blipFill>
        <p:spPr bwMode="auto">
          <a:xfrm>
            <a:off x="1085850" y="1036638"/>
            <a:ext cx="6972300" cy="4784725"/>
          </a:xfrm>
          <a:prstGeom prst="rect">
            <a:avLst/>
          </a:prstGeom>
          <a:noFill/>
          <a:ln w="9525">
            <a:noFill/>
            <a:miter lim="800000"/>
            <a:headEnd/>
            <a:tailEnd/>
          </a:ln>
        </p:spPr>
      </p:pic>
      <p:sp>
        <p:nvSpPr>
          <p:cNvPr id="155652" name="TextBox 3"/>
          <p:cNvSpPr txBox="1">
            <a:spLocks noChangeArrowheads="1"/>
          </p:cNvSpPr>
          <p:nvPr/>
        </p:nvSpPr>
        <p:spPr bwMode="auto">
          <a:xfrm>
            <a:off x="1108075" y="5827713"/>
            <a:ext cx="6781800" cy="820737"/>
          </a:xfrm>
          <a:prstGeom prst="rect">
            <a:avLst/>
          </a:prstGeom>
          <a:noFill/>
          <a:ln w="9525">
            <a:noFill/>
            <a:miter lim="800000"/>
            <a:headEnd/>
            <a:tailEnd/>
          </a:ln>
        </p:spPr>
        <p:txBody>
          <a:bodyPr lIns="82058" tIns="41029" rIns="82058" bIns="41029">
            <a:spAutoFit/>
          </a:bodyPr>
          <a:lstStyle/>
          <a:p>
            <a:r>
              <a:rPr lang="en-US"/>
              <a:t>Soybeans without nodules			Soybeans with root nodules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766</TotalTime>
  <Words>5398</Words>
  <Application>Microsoft Office PowerPoint</Application>
  <PresentationFormat>On-screen Show (4:3)</PresentationFormat>
  <Paragraphs>795</Paragraphs>
  <Slides>141</Slides>
  <Notes>83</Notes>
  <HiddenSlides>2</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141</vt:i4>
      </vt:variant>
    </vt:vector>
  </HeadingPairs>
  <TitlesOfParts>
    <vt:vector size="155" baseType="lpstr">
      <vt:lpstr>ＭＳ Ｐゴシック</vt:lpstr>
      <vt:lpstr>Arial</vt:lpstr>
      <vt:lpstr>Arial Black</vt:lpstr>
      <vt:lpstr>Arial Narrow</vt:lpstr>
      <vt:lpstr>Calibri</vt:lpstr>
      <vt:lpstr>Calibri Light</vt:lpstr>
      <vt:lpstr>Comic Sans MS</vt:lpstr>
      <vt:lpstr>Geneva</vt:lpstr>
      <vt:lpstr>Monotype Sorts</vt:lpstr>
      <vt:lpstr>Times New Roman</vt:lpstr>
      <vt:lpstr>Wingdings</vt:lpstr>
      <vt:lpstr>Office Theme</vt:lpstr>
      <vt:lpstr>Photo Editor Photo</vt:lpstr>
      <vt:lpstr>Bitmap Image</vt:lpstr>
      <vt:lpstr>Microbial Growth</vt:lpstr>
      <vt:lpstr>Microbial Growth - refers to the number of cells, not the size of the cells</vt:lpstr>
      <vt:lpstr>Physical Requirements</vt:lpstr>
      <vt:lpstr>Effect of temperature</vt:lpstr>
      <vt:lpstr>PowerPoint Presentation</vt:lpstr>
      <vt:lpstr>PowerPoint Presentation</vt:lpstr>
      <vt:lpstr>How thermophilic are thermophiles?</vt:lpstr>
      <vt:lpstr>Why study thermophiles</vt:lpstr>
      <vt:lpstr>PowerPoint Presentation</vt:lpstr>
      <vt:lpstr>PowerPoint Presentation</vt:lpstr>
      <vt:lpstr>PowerPoint Presentation</vt:lpstr>
      <vt:lpstr>Chemical Requirements</vt:lpstr>
      <vt:lpstr>Chemical:  pH</vt:lpstr>
      <vt:lpstr>Bacterial growth at various pH</vt:lpstr>
      <vt:lpstr>PowerPoint Presentation</vt:lpstr>
      <vt:lpstr>PowerPoint Presentation</vt:lpstr>
      <vt:lpstr>Acidophiles</vt:lpstr>
      <vt:lpstr>Alkaliphiles</vt:lpstr>
      <vt:lpstr>Osmotic Pressure</vt:lpstr>
      <vt:lpstr>Oxygen</vt:lpstr>
      <vt:lpstr>PowerPoint Presentation</vt:lpstr>
      <vt:lpstr>PowerPoint Presentation</vt:lpstr>
      <vt:lpstr>PowerPoint Presentation</vt:lpstr>
      <vt:lpstr>PowerPoint Presentation</vt:lpstr>
      <vt:lpstr>Hypothetical cross-section of a soil particle showing different regions of oxygen availability. In the centre of the particle, oxygen is not available, thus only anaerobic and facultative anaerobic microorganisms would be capable of growth. </vt:lpstr>
      <vt:lpstr>Oxygen and growth</vt:lpstr>
      <vt:lpstr>Oxygenation and enzymic capacity</vt:lpstr>
      <vt:lpstr>Oxygen is lethal to some organisms</vt:lpstr>
      <vt:lpstr>Superoxide dismutase</vt:lpstr>
      <vt:lpstr>Catalase</vt:lpstr>
      <vt:lpstr>Special Culture Techniques</vt:lpstr>
      <vt:lpstr>Special Culture Techniques</vt:lpstr>
      <vt:lpstr>Anaerobic growth chambers</vt:lpstr>
      <vt:lpstr>PowerPoint Presentation</vt:lpstr>
      <vt:lpstr>PowerPoint Presentation</vt:lpstr>
      <vt:lpstr>Effect of salt on growth</vt:lpstr>
      <vt:lpstr>Selective Media</vt:lpstr>
      <vt:lpstr>Selective Media</vt:lpstr>
      <vt:lpstr>Differential Media</vt:lpstr>
      <vt:lpstr>PowerPoint Presentation</vt:lpstr>
      <vt:lpstr>PowerPoint Presentation</vt:lpstr>
      <vt:lpstr>PowerPoint Presentation</vt:lpstr>
      <vt:lpstr>Selective and Differential Media</vt:lpstr>
      <vt:lpstr>Selective and Differential Media</vt:lpstr>
      <vt:lpstr>Bacterial Growth - increase in the number of cells</vt:lpstr>
      <vt:lpstr>Bacterial Growth – binary fission</vt:lpstr>
      <vt:lpstr>Binary Fission - unchecked</vt:lpstr>
      <vt:lpstr>Limiting factors in the environment</vt:lpstr>
      <vt:lpstr>Bacterial Growth</vt:lpstr>
      <vt:lpstr>Bacterial growth curve in batch culture</vt:lpstr>
      <vt:lpstr>Bacterial growth rate</vt:lpstr>
      <vt:lpstr>PowerPoint Presentation</vt:lpstr>
      <vt:lpstr>Generation times</vt:lpstr>
      <vt:lpstr>Phases of Growth</vt:lpstr>
      <vt:lpstr>1. Lag Phase</vt:lpstr>
      <vt:lpstr>2. Log Phase</vt:lpstr>
      <vt:lpstr>3. Stationary Phase</vt:lpstr>
      <vt:lpstr>4. Death Phase</vt:lpstr>
      <vt:lpstr>Enumeration of Bacteria</vt:lpstr>
      <vt:lpstr>PowerPoint Presentation</vt:lpstr>
      <vt:lpstr>PowerPoint Presentation</vt:lpstr>
      <vt:lpstr>Ecological Concepts</vt:lpstr>
      <vt:lpstr>Ecological Concepts</vt:lpstr>
      <vt:lpstr>Ecological Concepts</vt:lpstr>
      <vt:lpstr>Ecological Concepts</vt:lpstr>
      <vt:lpstr>PowerPoint Presentation</vt:lpstr>
      <vt:lpstr>Microbial Ecosystems</vt:lpstr>
      <vt:lpstr>PowerPoint Presentation</vt:lpstr>
      <vt:lpstr>Environments and Microenvironments</vt:lpstr>
      <vt:lpstr>PowerPoint Presentation</vt:lpstr>
      <vt:lpstr>Environments and Microenvironments</vt:lpstr>
      <vt:lpstr>Biofilms: Microbial Growth on Surfaces</vt:lpstr>
      <vt:lpstr>Biofilms: Microbial Growth on Surfaces</vt:lpstr>
      <vt:lpstr>PowerPoint Presentation</vt:lpstr>
      <vt:lpstr>PowerPoint Presentation</vt:lpstr>
      <vt:lpstr>Biofilms: Advantages and Control</vt:lpstr>
      <vt:lpstr>Biofilms: Advantages and Control</vt:lpstr>
      <vt:lpstr>Terrestrial Environments</vt:lpstr>
      <vt:lpstr>PowerPoint Presentation</vt:lpstr>
      <vt:lpstr>Terrestrial Environments</vt:lpstr>
      <vt:lpstr>Terrestrial Environments</vt:lpstr>
      <vt:lpstr>Plants as Microbial Habitats</vt:lpstr>
      <vt:lpstr>Freshwater Environments</vt:lpstr>
      <vt:lpstr>Freshwater Environments</vt:lpstr>
      <vt:lpstr>Freshwater Environments</vt:lpstr>
      <vt:lpstr>Open Oceans</vt:lpstr>
      <vt:lpstr>PowerPoint Presentation</vt:lpstr>
      <vt:lpstr>Open Oceans</vt:lpstr>
      <vt:lpstr>Open Oceans</vt:lpstr>
      <vt:lpstr>Open Oceans</vt:lpstr>
      <vt:lpstr>PowerPoint Presentation</vt:lpstr>
      <vt:lpstr>Open Oceans</vt:lpstr>
      <vt:lpstr>The Deep Sea and Barophilism</vt:lpstr>
      <vt:lpstr>The Deep Sea and Barophilism</vt:lpstr>
      <vt:lpstr>PowerPoint Presentation</vt:lpstr>
      <vt:lpstr>Hydrothermal Vent Microbial Ecosystems</vt:lpstr>
      <vt:lpstr>Hydrothermal Vent Microbial Ecosystems</vt:lpstr>
      <vt:lpstr>Microbial Ecology: Biogeochemical Cycles</vt:lpstr>
      <vt:lpstr>PowerPoint Presentation</vt:lpstr>
      <vt:lpstr>The Carbon Cycle</vt:lpstr>
      <vt:lpstr>Carbon Cycle</vt:lpstr>
      <vt:lpstr>The Carbon Cycle….photosynthesis</vt:lpstr>
      <vt:lpstr>The Carbon Cycle</vt:lpstr>
      <vt:lpstr>Methanogenesis and Syntrophy</vt:lpstr>
      <vt:lpstr>Methanogenesis</vt:lpstr>
      <vt:lpstr>The Rumen and Ruminant Animals</vt:lpstr>
      <vt:lpstr>Nitrogen Cycle</vt:lpstr>
      <vt:lpstr>PowerPoint Presentation</vt:lpstr>
      <vt:lpstr>The Nitrogen Cycle</vt:lpstr>
      <vt:lpstr>Nitrogen Cycle</vt:lpstr>
      <vt:lpstr>The Sulfur Cycle</vt:lpstr>
      <vt:lpstr>PowerPoint Presentation</vt:lpstr>
      <vt:lpstr>Phosphorus Cycle</vt:lpstr>
      <vt:lpstr>Microbial Leaching of Ores</vt:lpstr>
      <vt:lpstr>PowerPoint Presentation</vt:lpstr>
      <vt:lpstr>PowerPoint Presentation</vt:lpstr>
      <vt:lpstr>Microbial Leaching of Ores</vt:lpstr>
      <vt:lpstr>Degradation of Chemical by Microbes</vt:lpstr>
      <vt:lpstr>Bioremediation</vt:lpstr>
      <vt:lpstr>Petroleum Biodegradation</vt:lpstr>
      <vt:lpstr>Petroleum Biodegradation</vt:lpstr>
      <vt:lpstr>Petroleum Biodegradation</vt:lpstr>
      <vt:lpstr>Biodegradation of Xenobiotics</vt:lpstr>
      <vt:lpstr>Biodegradation of Xenobiotics</vt:lpstr>
      <vt:lpstr>PowerPoint Presentation</vt:lpstr>
      <vt:lpstr>PowerPoint Presentation</vt:lpstr>
      <vt:lpstr>Biodegradation of Xenobiotics</vt:lpstr>
      <vt:lpstr>Biodegradation of Xenobiotics</vt:lpstr>
      <vt:lpstr>Plant–Microbial Symbioses</vt:lpstr>
      <vt:lpstr>Lichens</vt:lpstr>
      <vt:lpstr>PowerPoint Presentation</vt:lpstr>
      <vt:lpstr>PowerPoint Presentation</vt:lpstr>
      <vt:lpstr>Mycorrhizae</vt:lpstr>
      <vt:lpstr>Mycorrhizae</vt:lpstr>
      <vt:lpstr>PowerPoint Presentation</vt:lpstr>
      <vt:lpstr>Mycorrhizae</vt:lpstr>
      <vt:lpstr>PowerPoint Presentation</vt:lpstr>
      <vt:lpstr>The Legume–Root Nodule Symbiosis</vt:lpstr>
      <vt:lpstr>The Legume–Root Nodule Symbiosis</vt:lpstr>
      <vt:lpstr>PowerPoint Presentation</vt:lpstr>
      <vt:lpstr>PowerPoint Presentation</vt:lpstr>
    </vt:vector>
  </TitlesOfParts>
  <Company>Illinois Valley Comm. College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Microbial Growth</dc:title>
  <dc:creator>str0807</dc:creator>
  <cp:lastModifiedBy>Acer</cp:lastModifiedBy>
  <cp:revision>30</cp:revision>
  <cp:lastPrinted>2016-11-04T18:26:18Z</cp:lastPrinted>
  <dcterms:created xsi:type="dcterms:W3CDTF">1999-09-24T13:35:36Z</dcterms:created>
  <dcterms:modified xsi:type="dcterms:W3CDTF">2018-12-15T10:59:17Z</dcterms:modified>
</cp:coreProperties>
</file>