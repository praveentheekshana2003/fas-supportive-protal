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7" r:id="rId1"/>
  </p:sldMasterIdLst>
  <p:notesMasterIdLst>
    <p:notesMasterId r:id="rId49"/>
  </p:notesMasterIdLst>
  <p:handoutMasterIdLst>
    <p:handoutMasterId r:id="rId50"/>
  </p:handoutMasterIdLst>
  <p:sldIdLst>
    <p:sldId id="256" r:id="rId2"/>
    <p:sldId id="264" r:id="rId3"/>
    <p:sldId id="259" r:id="rId4"/>
    <p:sldId id="311" r:id="rId5"/>
    <p:sldId id="312" r:id="rId6"/>
    <p:sldId id="313" r:id="rId7"/>
    <p:sldId id="314" r:id="rId8"/>
    <p:sldId id="315" r:id="rId9"/>
    <p:sldId id="316" r:id="rId10"/>
    <p:sldId id="317" r:id="rId11"/>
    <p:sldId id="318" r:id="rId12"/>
    <p:sldId id="319" r:id="rId13"/>
    <p:sldId id="320" r:id="rId14"/>
    <p:sldId id="329" r:id="rId15"/>
    <p:sldId id="321" r:id="rId16"/>
    <p:sldId id="322" r:id="rId17"/>
    <p:sldId id="268" r:id="rId18"/>
    <p:sldId id="270" r:id="rId19"/>
    <p:sldId id="271" r:id="rId20"/>
    <p:sldId id="331" r:id="rId21"/>
    <p:sldId id="273" r:id="rId22"/>
    <p:sldId id="274" r:id="rId23"/>
    <p:sldId id="272" r:id="rId24"/>
    <p:sldId id="359" r:id="rId25"/>
    <p:sldId id="345" r:id="rId26"/>
    <p:sldId id="333" r:id="rId27"/>
    <p:sldId id="343" r:id="rId28"/>
    <p:sldId id="275" r:id="rId29"/>
    <p:sldId id="336" r:id="rId30"/>
    <p:sldId id="278" r:id="rId31"/>
    <p:sldId id="279" r:id="rId32"/>
    <p:sldId id="290" r:id="rId33"/>
    <p:sldId id="291" r:id="rId34"/>
    <p:sldId id="292" r:id="rId35"/>
    <p:sldId id="360" r:id="rId36"/>
    <p:sldId id="357" r:id="rId37"/>
    <p:sldId id="358" r:id="rId38"/>
    <p:sldId id="361" r:id="rId39"/>
    <p:sldId id="362" r:id="rId40"/>
    <p:sldId id="364" r:id="rId41"/>
    <p:sldId id="365" r:id="rId42"/>
    <p:sldId id="366" r:id="rId43"/>
    <p:sldId id="367" r:id="rId44"/>
    <p:sldId id="371" r:id="rId45"/>
    <p:sldId id="372" r:id="rId46"/>
    <p:sldId id="368" r:id="rId47"/>
    <p:sldId id="369" r:id="rId4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4035FB-ACCC-4B11-A79C-471E015F0F4C}" type="datetimeFigureOut">
              <a:rPr lang="en-US" smtClean="0"/>
              <a:t>11/4/2016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4AFAD9-7EA5-409D-B19F-CD707EBD9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1411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1" u="sng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1" u="sng">
                <a:latin typeface="Arial" charset="0"/>
              </a:defRPr>
            </a:lvl1pPr>
          </a:lstStyle>
          <a:p>
            <a:pPr>
              <a:defRPr/>
            </a:pPr>
            <a:fld id="{A609E70A-7A6F-4375-AC34-67FDF0633281}" type="datetimeFigureOut">
              <a:rPr lang="en-US"/>
              <a:pPr>
                <a:defRPr/>
              </a:pPr>
              <a:t>11/4/2016</a:t>
            </a:fld>
            <a:endParaRPr lang="en-US"/>
          </a:p>
        </p:txBody>
      </p:sp>
      <p:sp>
        <p:nvSpPr>
          <p:cNvPr id="665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39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839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1" u="sng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39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1" u="sng">
                <a:latin typeface="Arial" charset="0"/>
              </a:defRPr>
            </a:lvl1pPr>
          </a:lstStyle>
          <a:p>
            <a:pPr>
              <a:defRPr/>
            </a:pPr>
            <a:fld id="{B432AA24-0F03-4A53-9C79-96A7D6A3440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5906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DE0C5FB-E188-4F77-B46A-B8653D130150}" type="datetimeFigureOut">
              <a:rPr lang="en-US" smtClean="0"/>
              <a:pPr>
                <a:defRPr/>
              </a:pPr>
              <a:t>11/4/2016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29EEFB-B98C-4234-A2C3-F770EB3FE17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6EA9E7B-23D8-4BFD-9B42-D320F0582573}" type="datetimeFigureOut">
              <a:rPr lang="en-US" smtClean="0"/>
              <a:pPr>
                <a:defRPr/>
              </a:pPr>
              <a:t>11/4/2016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E35C35-44F8-4DF4-98CA-BD2918A13A2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96B26F-EBAA-4324-ADB7-A405EC587B1E}" type="datetimeFigureOut">
              <a:rPr lang="en-US" smtClean="0"/>
              <a:pPr>
                <a:defRPr/>
              </a:pPr>
              <a:t>11/4/2016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F23C24-6B8E-496E-9F31-A8E1B7ED867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32A40A3-E11F-44BF-8113-B44A5BB033D3}" type="datetimeFigureOut">
              <a:rPr lang="en-US" smtClean="0"/>
              <a:pPr>
                <a:defRPr/>
              </a:pPr>
              <a:t>11/4/2016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38B817-1F56-419D-B8D3-B5DDE3E8A6B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ED27453-D496-492A-8153-F43C83C24384}" type="datetimeFigureOut">
              <a:rPr lang="en-US" smtClean="0"/>
              <a:pPr>
                <a:defRPr/>
              </a:pPr>
              <a:t>11/4/2016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C30201-48AC-459F-A62F-5645693585B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80D83A9-4E1E-464D-BB51-B82359A894BC}" type="datetimeFigureOut">
              <a:rPr lang="en-US" smtClean="0"/>
              <a:pPr>
                <a:defRPr/>
              </a:pPr>
              <a:t>11/4/2016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47DB7D4-802B-4949-BD57-3210BDBAA6F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EB82438-6130-41F8-9832-539F9ECB7CD3}" type="datetimeFigureOut">
              <a:rPr lang="en-US" smtClean="0"/>
              <a:pPr>
                <a:defRPr/>
              </a:pPr>
              <a:t>11/4/2016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19172A-06AA-4499-977D-96E31D4A4C0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7750C30-D7AD-4284-A8F2-C9ED678826C5}" type="datetimeFigureOut">
              <a:rPr lang="en-US" smtClean="0"/>
              <a:pPr>
                <a:defRPr/>
              </a:pPr>
              <a:t>11/4/2016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129CCF-56C1-4D58-A2A0-E6FCA201A68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D8257E9-E66B-4086-9CFC-2F5E8B9F60A3}" type="datetimeFigureOut">
              <a:rPr lang="en-US" smtClean="0"/>
              <a:pPr>
                <a:defRPr/>
              </a:pPr>
              <a:t>11/4/2016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790B53-BE89-4FF3-8885-BA02AC963A1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CD3DD05-2CCB-4A87-822E-69AEA6470784}" type="datetimeFigureOut">
              <a:rPr lang="en-US" smtClean="0"/>
              <a:pPr>
                <a:defRPr/>
              </a:pPr>
              <a:t>11/4/2016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3A00B32-0134-4B1D-BCB4-058117C3B8D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4599952-EDE7-4543-B647-26C567F509B5}" type="datetimeFigureOut">
              <a:rPr lang="en-US" smtClean="0"/>
              <a:pPr>
                <a:defRPr/>
              </a:pPr>
              <a:t>11/4/2016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F563DD-B81F-4996-A047-AAEA1D6BD5E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36F3E9C-0D55-4BA9-9182-EC017ACD8672}" type="datetimeFigureOut">
              <a:rPr lang="en-US" smtClean="0"/>
              <a:pPr>
                <a:defRPr/>
              </a:pPr>
              <a:t>11/4/2016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A527419-17F4-458D-8876-7D97E7EE17E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0" y="2130425"/>
            <a:ext cx="8610600" cy="1470025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dirty="0" smtClean="0">
                <a:solidFill>
                  <a:srgbClr val="003EBB"/>
                </a:solidFill>
              </a:rPr>
              <a:t>Microbial Catabolism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295400" y="1905000"/>
            <a:ext cx="6934200" cy="4114800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b="1" dirty="0" smtClean="0"/>
              <a:t>Metabolism : total activity of cell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b="1" dirty="0" smtClean="0"/>
              <a:t>1. Anabolism</a:t>
            </a:r>
            <a:r>
              <a:rPr lang="en-US" dirty="0" smtClean="0"/>
              <a:t>- used to new molecules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dirty="0" smtClean="0"/>
              <a:t>                         assimilative, biosynthetic,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dirty="0" smtClean="0"/>
              <a:t>                         energy consuming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endParaRPr lang="en-US" dirty="0" smtClean="0"/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b="1" dirty="0" smtClean="0"/>
              <a:t>2. catabolism –</a:t>
            </a:r>
            <a:r>
              <a:rPr lang="en-US" dirty="0" smtClean="0"/>
              <a:t> used to obtain energy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dirty="0" smtClean="0"/>
              <a:t>                           </a:t>
            </a:r>
            <a:r>
              <a:rPr lang="en-US" dirty="0" err="1" smtClean="0"/>
              <a:t>degradative</a:t>
            </a:r>
            <a:r>
              <a:rPr lang="en-US" dirty="0" smtClean="0"/>
              <a:t>, dissimilative, 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dirty="0" smtClean="0"/>
              <a:t>                           energy producing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381000"/>
            <a:ext cx="8915400" cy="5705475"/>
          </a:xfrm>
        </p:spPr>
        <p:txBody>
          <a:bodyPr>
            <a:normAutofit/>
          </a:bodyPr>
          <a:lstStyle/>
          <a:p>
            <a:pPr eaLnBrk="1" hangingPunct="1">
              <a:lnSpc>
                <a:spcPct val="70000"/>
              </a:lnSpc>
              <a:buFontTx/>
              <a:buNone/>
              <a:defRPr/>
            </a:pPr>
            <a:r>
              <a:rPr lang="en-US" sz="2800" dirty="0" smtClean="0"/>
              <a:t>Overview of Catabolism</a:t>
            </a:r>
          </a:p>
          <a:p>
            <a:pPr eaLnBrk="1" hangingPunct="1">
              <a:lnSpc>
                <a:spcPct val="70000"/>
              </a:lnSpc>
              <a:buFontTx/>
              <a:buNone/>
              <a:defRPr/>
            </a:pPr>
            <a:endParaRPr lang="en-US" sz="2800" dirty="0" smtClean="0"/>
          </a:p>
          <a:p>
            <a:pPr eaLnBrk="1" hangingPunct="1">
              <a:lnSpc>
                <a:spcPct val="70000"/>
              </a:lnSpc>
              <a:buFontTx/>
              <a:buNone/>
              <a:defRPr/>
            </a:pPr>
            <a:r>
              <a:rPr lang="en-US" sz="2800" dirty="0" smtClean="0"/>
              <a:t>Electrons from energy source </a:t>
            </a:r>
            <a:r>
              <a:rPr lang="en-US" sz="2800" dirty="0" smtClean="0">
                <a:sym typeface="Wingdings" pitchFamily="2" charset="2"/>
              </a:rPr>
              <a:t></a:t>
            </a:r>
            <a:r>
              <a:rPr lang="en-US" sz="2800" dirty="0" smtClean="0"/>
              <a:t> </a:t>
            </a:r>
            <a:r>
              <a:rPr lang="en-US" sz="2800" dirty="0" err="1" smtClean="0"/>
              <a:t>redox</a:t>
            </a:r>
            <a:r>
              <a:rPr lang="en-US" sz="2800" dirty="0" smtClean="0"/>
              <a:t> carriers </a:t>
            </a:r>
            <a:r>
              <a:rPr lang="en-US" sz="2800" dirty="0" smtClean="0">
                <a:sym typeface="Wingdings" pitchFamily="2" charset="2"/>
              </a:rPr>
              <a:t> terminal electron acceptors</a:t>
            </a:r>
          </a:p>
          <a:p>
            <a:pPr eaLnBrk="1" hangingPunct="1">
              <a:lnSpc>
                <a:spcPct val="70000"/>
              </a:lnSpc>
              <a:buFontTx/>
              <a:buNone/>
              <a:defRPr/>
            </a:pPr>
            <a:r>
              <a:rPr lang="en-US" sz="2800" dirty="0" smtClean="0">
                <a:sym typeface="Wingdings" pitchFamily="2" charset="2"/>
              </a:rPr>
              <a:t>Some free energy released is trapped in chemically usable forms</a:t>
            </a:r>
          </a:p>
          <a:p>
            <a:pPr eaLnBrk="1" hangingPunct="1">
              <a:lnSpc>
                <a:spcPct val="70000"/>
              </a:lnSpc>
              <a:buFontTx/>
              <a:buNone/>
              <a:defRPr/>
            </a:pPr>
            <a:endParaRPr lang="en-US" sz="2800" dirty="0" smtClean="0">
              <a:sym typeface="Wingdings" pitchFamily="2" charset="2"/>
            </a:endParaRPr>
          </a:p>
          <a:p>
            <a:pPr eaLnBrk="1" hangingPunct="1">
              <a:lnSpc>
                <a:spcPct val="70000"/>
              </a:lnSpc>
              <a:buFontTx/>
              <a:buNone/>
              <a:defRPr/>
            </a:pPr>
            <a:r>
              <a:rPr lang="en-US" sz="2800" dirty="0" smtClean="0">
                <a:sym typeface="Wingdings" pitchFamily="2" charset="2"/>
              </a:rPr>
              <a:t>Terminal acceptor can be external molecule (oxygen) in </a:t>
            </a:r>
            <a:r>
              <a:rPr lang="en-US" sz="2800" b="1" i="1" dirty="0" smtClean="0">
                <a:sym typeface="Wingdings" pitchFamily="2" charset="2"/>
              </a:rPr>
              <a:t>Respiration </a:t>
            </a:r>
            <a:r>
              <a:rPr lang="en-US" sz="2800" dirty="0" smtClean="0">
                <a:sym typeface="Wingdings" pitchFamily="2" charset="2"/>
              </a:rPr>
              <a:t>(energy yields high). </a:t>
            </a:r>
            <a:r>
              <a:rPr lang="en-US" sz="2800" b="1" i="1" dirty="0" smtClean="0">
                <a:sym typeface="Wingdings" pitchFamily="2" charset="2"/>
              </a:rPr>
              <a:t>Oxidation of organic compounds uses ETS (electron transport system) as well as SLP (substrate level </a:t>
            </a:r>
            <a:r>
              <a:rPr lang="en-US" sz="2800" b="1" i="1" dirty="0" err="1" smtClean="0">
                <a:sym typeface="Wingdings" pitchFamily="2" charset="2"/>
              </a:rPr>
              <a:t>phosphorylation</a:t>
            </a:r>
            <a:r>
              <a:rPr lang="en-US" sz="2800" b="1" i="1" dirty="0" smtClean="0">
                <a:sym typeface="Wingdings" pitchFamily="2" charset="2"/>
              </a:rPr>
              <a:t>)</a:t>
            </a:r>
          </a:p>
          <a:p>
            <a:pPr eaLnBrk="1" hangingPunct="1">
              <a:lnSpc>
                <a:spcPct val="70000"/>
              </a:lnSpc>
              <a:buFontTx/>
              <a:buNone/>
              <a:defRPr/>
            </a:pPr>
            <a:endParaRPr lang="en-US" sz="2800" b="1" i="1" dirty="0" smtClean="0">
              <a:sym typeface="Wingdings" pitchFamily="2" charset="2"/>
            </a:endParaRPr>
          </a:p>
          <a:p>
            <a:pPr eaLnBrk="1" hangingPunct="1">
              <a:lnSpc>
                <a:spcPct val="70000"/>
              </a:lnSpc>
              <a:buFontTx/>
              <a:buNone/>
              <a:defRPr/>
            </a:pPr>
            <a:r>
              <a:rPr lang="en-US" sz="2800" dirty="0" smtClean="0">
                <a:sym typeface="Wingdings" pitchFamily="2" charset="2"/>
              </a:rPr>
              <a:t>Or terminal acceptor can be organic molecule derived from energy source during metabolism (</a:t>
            </a:r>
            <a:r>
              <a:rPr lang="en-US" sz="2800" dirty="0" err="1" smtClean="0">
                <a:sym typeface="Wingdings" pitchFamily="2" charset="2"/>
              </a:rPr>
              <a:t>pyruvate</a:t>
            </a:r>
            <a:r>
              <a:rPr lang="en-US" sz="2800" dirty="0" smtClean="0">
                <a:sym typeface="Wingdings" pitchFamily="2" charset="2"/>
              </a:rPr>
              <a:t> ) </a:t>
            </a:r>
            <a:r>
              <a:rPr lang="en-US" sz="2800" b="1" i="1" dirty="0" smtClean="0">
                <a:sym typeface="Wingdings" pitchFamily="2" charset="2"/>
              </a:rPr>
              <a:t>Fermentation</a:t>
            </a:r>
            <a:r>
              <a:rPr lang="en-US" sz="2800" dirty="0" smtClean="0">
                <a:sym typeface="Wingdings" pitchFamily="2" charset="2"/>
              </a:rPr>
              <a:t> (energy yields low) no oxygen required.  Uses substrate level </a:t>
            </a:r>
            <a:r>
              <a:rPr lang="en-US" sz="2800" dirty="0" err="1" smtClean="0">
                <a:sym typeface="Wingdings" pitchFamily="2" charset="2"/>
              </a:rPr>
              <a:t>phosphorylation</a:t>
            </a:r>
            <a:r>
              <a:rPr lang="en-US" sz="2800" dirty="0" smtClean="0">
                <a:sym typeface="Wingdings" pitchFamily="2" charset="2"/>
              </a:rPr>
              <a:t> (SLP)</a:t>
            </a:r>
            <a:endParaRPr 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2100"/>
            <a:ext cx="8229600" cy="1384300"/>
          </a:xfrm>
        </p:spPr>
        <p:txBody>
          <a:bodyPr lIns="92075" tIns="46038" rIns="92075" bIns="46038"/>
          <a:lstStyle/>
          <a:p>
            <a:pPr eaLnBrk="1" hangingPunct="1">
              <a:defRPr/>
            </a:pPr>
            <a:r>
              <a:rPr lang="en-US" smtClean="0"/>
              <a:t>Carbohydrate Catabolism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90600" y="1905000"/>
            <a:ext cx="7239000" cy="4114800"/>
          </a:xfrm>
        </p:spPr>
        <p:txBody>
          <a:bodyPr lIns="92075" tIns="46038" rIns="92075" bIns="46038"/>
          <a:lstStyle/>
          <a:p>
            <a:pPr eaLnBrk="1" hangingPunct="1">
              <a:buFontTx/>
              <a:buNone/>
              <a:defRPr/>
            </a:pPr>
            <a:r>
              <a:rPr lang="en-US" dirty="0" smtClean="0"/>
              <a:t>Microorganisms oxidize carbohydrates as their primary source of energy</a:t>
            </a:r>
          </a:p>
          <a:p>
            <a:pPr eaLnBrk="1" hangingPunct="1">
              <a:buFontTx/>
              <a:buNone/>
              <a:defRPr/>
            </a:pPr>
            <a:r>
              <a:rPr lang="en-US" dirty="0" smtClean="0"/>
              <a:t>Glucose - most common  energy source</a:t>
            </a:r>
          </a:p>
          <a:p>
            <a:pPr eaLnBrk="1" hangingPunct="1">
              <a:buFontTx/>
              <a:buNone/>
              <a:defRPr/>
            </a:pPr>
            <a:r>
              <a:rPr lang="en-US" dirty="0" smtClean="0"/>
              <a:t>Energy  obtained from Glucose by:</a:t>
            </a:r>
          </a:p>
          <a:p>
            <a:pPr lvl="1" eaLnBrk="1" hangingPunct="1">
              <a:buFont typeface="Tahoma" charset="0"/>
              <a:buNone/>
              <a:defRPr/>
            </a:pPr>
            <a:r>
              <a:rPr lang="en-US" dirty="0" smtClean="0"/>
              <a:t>Respiration</a:t>
            </a:r>
          </a:p>
          <a:p>
            <a:pPr lvl="1" eaLnBrk="1" hangingPunct="1">
              <a:buFont typeface="Tahoma" charset="0"/>
              <a:buNone/>
              <a:defRPr/>
            </a:pPr>
            <a:r>
              <a:rPr lang="en-US" dirty="0" smtClean="0"/>
              <a:t>Fermentation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 bldLvl="2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14400" y="0"/>
            <a:ext cx="8229600" cy="1143000"/>
          </a:xfrm>
        </p:spPr>
        <p:txBody>
          <a:bodyPr lIns="92075" tIns="46038" rIns="92075" bIns="46038"/>
          <a:lstStyle/>
          <a:p>
            <a:pPr eaLnBrk="1" hangingPunct="1">
              <a:defRPr/>
            </a:pPr>
            <a:r>
              <a:rPr lang="en-US" smtClean="0"/>
              <a:t>Aerobic Cellular Respiration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57263" y="1066800"/>
            <a:ext cx="8186737" cy="5181600"/>
          </a:xfrm>
        </p:spPr>
        <p:txBody>
          <a:bodyPr lIns="92075" tIns="46038" rIns="92075" bIns="46038"/>
          <a:lstStyle/>
          <a:p>
            <a:pPr eaLnBrk="1" hangingPunct="1">
              <a:buFontTx/>
              <a:buNone/>
              <a:defRPr/>
            </a:pPr>
            <a:r>
              <a:rPr lang="en-US" smtClean="0"/>
              <a:t>Electrons released by oxidation are passed down an </a:t>
            </a:r>
            <a:r>
              <a:rPr lang="en-US" smtClean="0">
                <a:solidFill>
                  <a:schemeClr val="tx2"/>
                </a:solidFill>
              </a:rPr>
              <a:t>Electron Transport System</a:t>
            </a:r>
            <a:r>
              <a:rPr lang="en-US" smtClean="0"/>
              <a:t> with oxygen being the </a:t>
            </a:r>
            <a:r>
              <a:rPr lang="en-US" smtClean="0">
                <a:solidFill>
                  <a:schemeClr val="tx2"/>
                </a:solidFill>
              </a:rPr>
              <a:t>Final Electron Acceptor</a:t>
            </a:r>
            <a:endParaRPr lang="en-US" smtClean="0"/>
          </a:p>
          <a:p>
            <a:pPr eaLnBrk="1" hangingPunct="1">
              <a:buFontTx/>
              <a:buNone/>
              <a:defRPr/>
            </a:pPr>
            <a:endParaRPr lang="en-US" smtClean="0"/>
          </a:p>
          <a:p>
            <a:pPr eaLnBrk="1" hangingPunct="1">
              <a:buFontTx/>
              <a:buNone/>
              <a:defRPr/>
            </a:pPr>
            <a:r>
              <a:rPr lang="en-US" smtClean="0"/>
              <a:t>General Equation:</a:t>
            </a:r>
          </a:p>
          <a:p>
            <a:pPr eaLnBrk="1" hangingPunct="1">
              <a:buFontTx/>
              <a:buNone/>
              <a:defRPr/>
            </a:pPr>
            <a:endParaRPr lang="en-US" smtClean="0"/>
          </a:p>
          <a:p>
            <a:pPr eaLnBrk="1" hangingPunct="1">
              <a:buFontTx/>
              <a:buNone/>
              <a:defRPr/>
            </a:pPr>
            <a:r>
              <a:rPr lang="en-US" sz="2800" smtClean="0"/>
              <a:t>Glucose + oxygen----&gt; Carbon dioxide + water</a:t>
            </a:r>
          </a:p>
          <a:p>
            <a:pPr eaLnBrk="1" hangingPunct="1">
              <a:buFontTx/>
              <a:buNone/>
              <a:defRPr/>
            </a:pPr>
            <a:r>
              <a:rPr lang="en-US" sz="2800" smtClean="0"/>
              <a:t>                                                  </a:t>
            </a:r>
          </a:p>
          <a:p>
            <a:pPr eaLnBrk="1" hangingPunct="1">
              <a:defRPr/>
            </a:pPr>
            <a:r>
              <a:rPr lang="en-US" sz="2400" smtClean="0"/>
              <a:t>                                           ATP</a:t>
            </a:r>
          </a:p>
        </p:txBody>
      </p:sp>
      <p:sp>
        <p:nvSpPr>
          <p:cNvPr id="6" name="Down Arrow 5"/>
          <p:cNvSpPr/>
          <p:nvPr/>
        </p:nvSpPr>
        <p:spPr>
          <a:xfrm>
            <a:off x="4419600" y="4800600"/>
            <a:ext cx="152400" cy="685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b="1" u="sng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2100"/>
            <a:ext cx="8229600" cy="1384300"/>
          </a:xfrm>
        </p:spPr>
        <p:txBody>
          <a:bodyPr lIns="92075" tIns="46038" rIns="92075" bIns="46038"/>
          <a:lstStyle/>
          <a:p>
            <a:pPr eaLnBrk="1" hangingPunct="1">
              <a:defRPr/>
            </a:pPr>
            <a:r>
              <a:rPr lang="en-US" smtClean="0"/>
              <a:t>Chemical Equation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14400" y="1905000"/>
            <a:ext cx="7315200" cy="4114800"/>
          </a:xfrm>
        </p:spPr>
        <p:txBody>
          <a:bodyPr lIns="92075" tIns="46038" rIns="92075" bIns="46038"/>
          <a:lstStyle/>
          <a:p>
            <a:pPr eaLnBrk="1" hangingPunct="1">
              <a:buFontTx/>
              <a:buNone/>
              <a:defRPr/>
            </a:pPr>
            <a:r>
              <a:rPr lang="en-US" dirty="0" smtClean="0"/>
              <a:t>C</a:t>
            </a:r>
            <a:r>
              <a:rPr lang="en-US" baseline="-25000" dirty="0" smtClean="0"/>
              <a:t>6</a:t>
            </a:r>
            <a:r>
              <a:rPr lang="en-US" dirty="0" smtClean="0"/>
              <a:t>H</a:t>
            </a:r>
            <a:r>
              <a:rPr lang="en-US" baseline="-25000" dirty="0" smtClean="0"/>
              <a:t>12</a:t>
            </a:r>
            <a:r>
              <a:rPr lang="en-US" dirty="0" smtClean="0"/>
              <a:t>O</a:t>
            </a:r>
            <a:r>
              <a:rPr lang="en-US" baseline="-25000" dirty="0" smtClean="0"/>
              <a:t>6</a:t>
            </a:r>
            <a:r>
              <a:rPr lang="en-US" dirty="0" smtClean="0"/>
              <a:t> + 6 O</a:t>
            </a:r>
            <a:r>
              <a:rPr lang="en-US" baseline="-25000" dirty="0" smtClean="0"/>
              <a:t>2</a:t>
            </a:r>
            <a:r>
              <a:rPr lang="en-US" dirty="0" smtClean="0"/>
              <a:t> -------&gt; 6 CO</a:t>
            </a:r>
            <a:r>
              <a:rPr lang="en-US" baseline="-25000" dirty="0" smtClean="0"/>
              <a:t>2</a:t>
            </a:r>
            <a:r>
              <a:rPr lang="en-US" dirty="0" smtClean="0"/>
              <a:t> + 6 H</a:t>
            </a:r>
            <a:r>
              <a:rPr lang="en-US" baseline="-25000" dirty="0" smtClean="0"/>
              <a:t>2</a:t>
            </a:r>
            <a:r>
              <a:rPr lang="en-US" dirty="0" smtClean="0"/>
              <a:t>O</a:t>
            </a:r>
          </a:p>
          <a:p>
            <a:pPr eaLnBrk="1" hangingPunct="1">
              <a:buFontTx/>
              <a:buNone/>
              <a:defRPr/>
            </a:pPr>
            <a:r>
              <a:rPr lang="en-US" dirty="0" smtClean="0"/>
              <a:t>                                        </a:t>
            </a:r>
          </a:p>
          <a:p>
            <a:pPr eaLnBrk="1" hangingPunct="1">
              <a:buFontTx/>
              <a:buNone/>
              <a:defRPr/>
            </a:pPr>
            <a:r>
              <a:rPr lang="en-US" dirty="0" smtClean="0"/>
              <a:t>      </a:t>
            </a:r>
            <a:r>
              <a:rPr lang="en-US" sz="2400" dirty="0" smtClean="0"/>
              <a:t>38 ADP + 38 P                        38 ATP</a:t>
            </a:r>
            <a:endParaRPr lang="en-US" dirty="0" smtClean="0"/>
          </a:p>
        </p:txBody>
      </p:sp>
      <p:sp>
        <p:nvSpPr>
          <p:cNvPr id="15364" name="AutoShape 6"/>
          <p:cNvSpPr>
            <a:spLocks noChangeArrowheads="1"/>
          </p:cNvSpPr>
          <p:nvPr/>
        </p:nvSpPr>
        <p:spPr bwMode="auto">
          <a:xfrm>
            <a:off x="3505200" y="2286000"/>
            <a:ext cx="1219200" cy="838200"/>
          </a:xfrm>
          <a:prstGeom prst="curvedDownArrow">
            <a:avLst>
              <a:gd name="adj1" fmla="val 64000"/>
              <a:gd name="adj2" fmla="val 128000"/>
              <a:gd name="adj3" fmla="val 33333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 sz="240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2100"/>
            <a:ext cx="8229600" cy="1384300"/>
          </a:xfrm>
        </p:spPr>
        <p:txBody>
          <a:bodyPr lIns="92075" tIns="46038" rIns="92075" bIns="46038"/>
          <a:lstStyle/>
          <a:p>
            <a:pPr eaLnBrk="1" hangingPunct="1">
              <a:defRPr/>
            </a:pPr>
            <a:r>
              <a:rPr lang="en-US" smtClean="0"/>
              <a:t>Aerobic Cellular Respiration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0" y="1905000"/>
            <a:ext cx="8229600" cy="4114800"/>
          </a:xfrm>
        </p:spPr>
        <p:txBody>
          <a:bodyPr lIns="92075" tIns="46038" rIns="92075" bIns="46038"/>
          <a:lstStyle/>
          <a:p>
            <a:pPr eaLnBrk="1" hangingPunct="1">
              <a:buFontTx/>
              <a:buNone/>
              <a:defRPr/>
            </a:pPr>
            <a:r>
              <a:rPr lang="en-US" smtClean="0"/>
              <a:t>4 subpathways</a:t>
            </a:r>
          </a:p>
          <a:p>
            <a:pPr eaLnBrk="1" hangingPunct="1">
              <a:buFontTx/>
              <a:buNone/>
              <a:defRPr/>
            </a:pPr>
            <a:endParaRPr lang="en-US" smtClean="0"/>
          </a:p>
          <a:p>
            <a:pPr eaLnBrk="1" hangingPunct="1">
              <a:buFontTx/>
              <a:buNone/>
              <a:defRPr/>
            </a:pPr>
            <a:r>
              <a:rPr lang="en-US" smtClean="0"/>
              <a:t>1. Glycolysis</a:t>
            </a:r>
          </a:p>
          <a:p>
            <a:pPr eaLnBrk="1" hangingPunct="1">
              <a:buFontTx/>
              <a:buNone/>
              <a:defRPr/>
            </a:pPr>
            <a:r>
              <a:rPr lang="en-US" smtClean="0"/>
              <a:t>2. Transition Reaction</a:t>
            </a:r>
          </a:p>
          <a:p>
            <a:pPr eaLnBrk="1" hangingPunct="1">
              <a:buFontTx/>
              <a:buNone/>
              <a:defRPr/>
            </a:pPr>
            <a:r>
              <a:rPr lang="en-US" smtClean="0"/>
              <a:t>3. Kreb’s Cycle</a:t>
            </a:r>
          </a:p>
          <a:p>
            <a:pPr eaLnBrk="1" hangingPunct="1">
              <a:buFontTx/>
              <a:buNone/>
              <a:defRPr/>
            </a:pPr>
            <a:r>
              <a:rPr lang="en-US" smtClean="0"/>
              <a:t>4. Electron Transport System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2100"/>
            <a:ext cx="8229600" cy="1384300"/>
          </a:xfrm>
        </p:spPr>
        <p:txBody>
          <a:bodyPr lIns="92075" tIns="46038" rIns="92075" bIns="46038"/>
          <a:lstStyle/>
          <a:p>
            <a:pPr eaLnBrk="1" hangingPunct="1">
              <a:defRPr/>
            </a:pPr>
            <a:r>
              <a:rPr lang="en-US" dirty="0" smtClean="0"/>
              <a:t>1. </a:t>
            </a:r>
            <a:r>
              <a:rPr lang="en-US" dirty="0" err="1" smtClean="0"/>
              <a:t>Glycolysis</a:t>
            </a:r>
            <a:r>
              <a:rPr lang="en-US" dirty="0" smtClean="0"/>
              <a:t>       </a:t>
            </a:r>
            <a:r>
              <a:rPr lang="en-US" sz="3800" dirty="0" smtClean="0"/>
              <a:t>(splitting of sugar)</a:t>
            </a:r>
            <a:endParaRPr lang="en-US" dirty="0" smtClean="0"/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447800" y="1905000"/>
            <a:ext cx="6781800" cy="41148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dirty="0" smtClean="0"/>
              <a:t>Oxidation of Glucose into 2 molecules of </a:t>
            </a:r>
            <a:r>
              <a:rPr lang="en-US" dirty="0" err="1" smtClean="0"/>
              <a:t>Pyruvic</a:t>
            </a:r>
            <a:r>
              <a:rPr lang="en-US" dirty="0" smtClean="0"/>
              <a:t> acid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dirty="0" err="1" smtClean="0"/>
              <a:t>Embden</a:t>
            </a:r>
            <a:r>
              <a:rPr lang="en-US" dirty="0" smtClean="0"/>
              <a:t>-Meyerhof Pathway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endParaRPr lang="en-US" dirty="0" smtClean="0"/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dirty="0" smtClean="0"/>
              <a:t>End Products of </a:t>
            </a:r>
            <a:r>
              <a:rPr lang="en-US" dirty="0" err="1" smtClean="0"/>
              <a:t>Glycolysis</a:t>
            </a:r>
            <a:r>
              <a:rPr lang="en-US" dirty="0" smtClean="0"/>
              <a:t>:</a:t>
            </a:r>
          </a:p>
          <a:p>
            <a:pPr lvl="1" eaLnBrk="1" hangingPunct="1">
              <a:lnSpc>
                <a:spcPct val="90000"/>
              </a:lnSpc>
              <a:buFont typeface="Tahoma" charset="0"/>
              <a:buNone/>
              <a:defRPr/>
            </a:pPr>
            <a:r>
              <a:rPr lang="en-US" dirty="0" smtClean="0"/>
              <a:t>2   </a:t>
            </a:r>
            <a:r>
              <a:rPr lang="en-US" dirty="0" err="1" smtClean="0"/>
              <a:t>Pyruvic</a:t>
            </a:r>
            <a:r>
              <a:rPr lang="en-US" dirty="0" smtClean="0"/>
              <a:t> acid</a:t>
            </a:r>
          </a:p>
          <a:p>
            <a:pPr lvl="1" eaLnBrk="1" hangingPunct="1">
              <a:lnSpc>
                <a:spcPct val="90000"/>
              </a:lnSpc>
              <a:buFont typeface="Tahoma" charset="0"/>
              <a:buNone/>
              <a:defRPr/>
            </a:pPr>
            <a:r>
              <a:rPr lang="en-US" dirty="0" smtClean="0"/>
              <a:t>2   NADH</a:t>
            </a:r>
            <a:r>
              <a:rPr lang="en-US" baseline="-25000" dirty="0" smtClean="0"/>
              <a:t>2</a:t>
            </a:r>
            <a:endParaRPr lang="en-US" dirty="0" smtClean="0"/>
          </a:p>
          <a:p>
            <a:pPr lvl="1" eaLnBrk="1" hangingPunct="1">
              <a:lnSpc>
                <a:spcPct val="90000"/>
              </a:lnSpc>
              <a:buFont typeface="Tahoma" charset="0"/>
              <a:buNone/>
              <a:defRPr/>
            </a:pPr>
            <a:r>
              <a:rPr lang="en-US" dirty="0" smtClean="0"/>
              <a:t>2   ATP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 bldLvl="2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2100"/>
            <a:ext cx="8229600" cy="1384300"/>
          </a:xfrm>
        </p:spPr>
        <p:txBody>
          <a:bodyPr lIns="92075" tIns="46038" rIns="92075" bIns="46038"/>
          <a:lstStyle/>
          <a:p>
            <a:pPr eaLnBrk="1" hangingPunct="1">
              <a:defRPr/>
            </a:pPr>
            <a:r>
              <a:rPr lang="en-US" smtClean="0"/>
              <a:t>2. Transition Reaction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752600" y="1905000"/>
            <a:ext cx="6477000" cy="4114800"/>
          </a:xfrm>
        </p:spPr>
        <p:txBody>
          <a:bodyPr lIns="92075" tIns="46038" rIns="92075" bIns="46038"/>
          <a:lstStyle/>
          <a:p>
            <a:pPr eaLnBrk="1" hangingPunct="1">
              <a:buFontTx/>
              <a:buNone/>
              <a:defRPr/>
            </a:pPr>
            <a:r>
              <a:rPr lang="en-US" dirty="0" smtClean="0"/>
              <a:t>Connects </a:t>
            </a:r>
            <a:r>
              <a:rPr lang="en-US" dirty="0" err="1" smtClean="0"/>
              <a:t>Glycolysis</a:t>
            </a:r>
            <a:r>
              <a:rPr lang="en-US" dirty="0" smtClean="0"/>
              <a:t> to Krebs Cycle</a:t>
            </a:r>
          </a:p>
          <a:p>
            <a:pPr eaLnBrk="1" hangingPunct="1">
              <a:buFontTx/>
              <a:buNone/>
              <a:defRPr/>
            </a:pPr>
            <a:endParaRPr lang="en-US" dirty="0" smtClean="0"/>
          </a:p>
          <a:p>
            <a:pPr eaLnBrk="1" hangingPunct="1">
              <a:buFontTx/>
              <a:buNone/>
              <a:defRPr/>
            </a:pPr>
            <a:r>
              <a:rPr lang="en-US" dirty="0" smtClean="0"/>
              <a:t>End Products:</a:t>
            </a:r>
          </a:p>
          <a:p>
            <a:pPr lvl="1" eaLnBrk="1" hangingPunct="1">
              <a:buFont typeface="Tahoma" charset="0"/>
              <a:buNone/>
              <a:defRPr/>
            </a:pPr>
            <a:r>
              <a:rPr lang="en-US" dirty="0" smtClean="0"/>
              <a:t>2   Acetyl </a:t>
            </a:r>
            <a:r>
              <a:rPr lang="en-US" dirty="0" err="1" smtClean="0"/>
              <a:t>CoEnzyme</a:t>
            </a:r>
            <a:r>
              <a:rPr lang="en-US" dirty="0" smtClean="0"/>
              <a:t> A</a:t>
            </a:r>
          </a:p>
          <a:p>
            <a:pPr lvl="1" eaLnBrk="1" hangingPunct="1">
              <a:buFont typeface="Tahoma" charset="0"/>
              <a:buNone/>
              <a:defRPr/>
            </a:pPr>
            <a:r>
              <a:rPr lang="en-US" dirty="0" smtClean="0"/>
              <a:t>2   CO</a:t>
            </a:r>
            <a:r>
              <a:rPr lang="en-US" baseline="-25000" dirty="0" smtClean="0"/>
              <a:t>2</a:t>
            </a:r>
            <a:endParaRPr lang="en-US" dirty="0" smtClean="0"/>
          </a:p>
          <a:p>
            <a:pPr lvl="1" eaLnBrk="1" hangingPunct="1">
              <a:buFont typeface="Tahoma" charset="0"/>
              <a:buNone/>
              <a:defRPr/>
            </a:pPr>
            <a:r>
              <a:rPr lang="en-US" dirty="0" smtClean="0"/>
              <a:t>2   NADH</a:t>
            </a:r>
            <a:r>
              <a:rPr lang="en-US" baseline="-25000" dirty="0" smtClean="0"/>
              <a:t>2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p" bldLvl="2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2100"/>
            <a:ext cx="8229600" cy="1384300"/>
          </a:xfrm>
        </p:spPr>
        <p:txBody>
          <a:bodyPr lIns="92075" tIns="46038" rIns="92075" bIns="46038"/>
          <a:lstStyle/>
          <a:p>
            <a:pPr eaLnBrk="1" hangingPunct="1">
              <a:defRPr/>
            </a:pPr>
            <a:r>
              <a:rPr lang="en-US" smtClean="0"/>
              <a:t>3. Krebs Cycle    </a:t>
            </a:r>
            <a:r>
              <a:rPr lang="en-US" sz="3800" smtClean="0"/>
              <a:t>(Citric Acid Cycle)</a:t>
            </a:r>
            <a:endParaRPr lang="en-US" smtClean="0"/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14400" y="1905000"/>
            <a:ext cx="7315200" cy="4114800"/>
          </a:xfrm>
        </p:spPr>
        <p:txBody>
          <a:bodyPr lIns="92075" tIns="46038" rIns="92075" bIns="46038">
            <a:normAutofit lnSpcReduction="10000"/>
          </a:bodyPr>
          <a:lstStyle/>
          <a:p>
            <a:pPr eaLnBrk="1" hangingPunct="1">
              <a:buFontTx/>
              <a:buNone/>
              <a:defRPr/>
            </a:pPr>
            <a:r>
              <a:rPr lang="en-US" dirty="0" smtClean="0"/>
              <a:t>Series of chemical reactions that begin and end with citric acid</a:t>
            </a:r>
          </a:p>
          <a:p>
            <a:pPr eaLnBrk="1" hangingPunct="1">
              <a:buFontTx/>
              <a:buNone/>
              <a:defRPr/>
            </a:pPr>
            <a:endParaRPr lang="en-US" dirty="0" smtClean="0"/>
          </a:p>
          <a:p>
            <a:pPr eaLnBrk="1" hangingPunct="1">
              <a:buFontTx/>
              <a:buNone/>
              <a:defRPr/>
            </a:pPr>
            <a:r>
              <a:rPr lang="en-US" dirty="0" smtClean="0"/>
              <a:t>Products:</a:t>
            </a:r>
          </a:p>
          <a:p>
            <a:pPr lvl="1" eaLnBrk="1" hangingPunct="1">
              <a:buFont typeface="Tahoma" charset="0"/>
              <a:buNone/>
              <a:defRPr/>
            </a:pPr>
            <a:r>
              <a:rPr lang="en-US" dirty="0" smtClean="0"/>
              <a:t>2    ATP</a:t>
            </a:r>
          </a:p>
          <a:p>
            <a:pPr lvl="1" eaLnBrk="1" hangingPunct="1">
              <a:buFont typeface="Tahoma" charset="0"/>
              <a:buNone/>
              <a:defRPr/>
            </a:pPr>
            <a:r>
              <a:rPr lang="en-US" dirty="0" smtClean="0"/>
              <a:t>6    NADH</a:t>
            </a:r>
            <a:r>
              <a:rPr lang="en-US" baseline="-25000" dirty="0" smtClean="0"/>
              <a:t>2</a:t>
            </a:r>
            <a:endParaRPr lang="en-US" dirty="0" smtClean="0"/>
          </a:p>
          <a:p>
            <a:pPr lvl="1" eaLnBrk="1" hangingPunct="1">
              <a:buFont typeface="Tahoma" charset="0"/>
              <a:buNone/>
              <a:defRPr/>
            </a:pPr>
            <a:r>
              <a:rPr lang="en-US" dirty="0" smtClean="0"/>
              <a:t>2    FADH</a:t>
            </a:r>
            <a:r>
              <a:rPr lang="en-US" baseline="-25000" dirty="0" smtClean="0"/>
              <a:t>2</a:t>
            </a:r>
            <a:endParaRPr lang="en-US" dirty="0" smtClean="0"/>
          </a:p>
          <a:p>
            <a:pPr lvl="1" eaLnBrk="1" hangingPunct="1">
              <a:buFont typeface="Tahoma" charset="0"/>
              <a:buNone/>
              <a:defRPr/>
            </a:pPr>
            <a:r>
              <a:rPr lang="en-US" dirty="0" smtClean="0"/>
              <a:t>4    CO</a:t>
            </a:r>
            <a:r>
              <a:rPr lang="en-US" baseline="-25000" dirty="0" smtClean="0"/>
              <a:t>2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build="p" bldLvl="2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2100"/>
            <a:ext cx="8229600" cy="1384300"/>
          </a:xfrm>
        </p:spPr>
        <p:txBody>
          <a:bodyPr lIns="92075" tIns="46038" rIns="92075" bIns="46038"/>
          <a:lstStyle/>
          <a:p>
            <a:pPr eaLnBrk="1" hangingPunct="1">
              <a:defRPr/>
            </a:pPr>
            <a:r>
              <a:rPr lang="en-US" smtClean="0"/>
              <a:t>4. Electron Transport System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295400" y="1905000"/>
            <a:ext cx="6934200" cy="4114800"/>
          </a:xfrm>
        </p:spPr>
        <p:txBody>
          <a:bodyPr lIns="92075" tIns="46038" rIns="92075" bIns="46038"/>
          <a:lstStyle/>
          <a:p>
            <a:pPr eaLnBrk="1" hangingPunct="1">
              <a:buFontTx/>
              <a:buNone/>
              <a:defRPr/>
            </a:pPr>
            <a:r>
              <a:rPr lang="en-US" sz="2800" dirty="0" smtClean="0"/>
              <a:t>Occurs within the cell membrane of Bacteria</a:t>
            </a:r>
          </a:p>
          <a:p>
            <a:pPr eaLnBrk="1" hangingPunct="1">
              <a:buFontTx/>
              <a:buNone/>
              <a:defRPr/>
            </a:pPr>
            <a:endParaRPr lang="en-US" sz="2800" dirty="0" smtClean="0"/>
          </a:p>
          <a:p>
            <a:pPr eaLnBrk="1" hangingPunct="1">
              <a:buFontTx/>
              <a:buNone/>
              <a:defRPr/>
            </a:pPr>
            <a:r>
              <a:rPr lang="en-US" sz="2800" dirty="0" err="1" smtClean="0"/>
              <a:t>Chemiosomotic</a:t>
            </a:r>
            <a:r>
              <a:rPr lang="en-US" sz="2800" dirty="0" smtClean="0"/>
              <a:t> Model of Mitchell</a:t>
            </a:r>
          </a:p>
          <a:p>
            <a:pPr lvl="1" eaLnBrk="1" hangingPunct="1">
              <a:buFont typeface="Tahoma" charset="0"/>
              <a:buNone/>
              <a:defRPr/>
            </a:pPr>
            <a:r>
              <a:rPr lang="en-US" sz="2200" dirty="0" smtClean="0"/>
              <a:t>34 ATP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build="p" bldLvl="2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2100"/>
            <a:ext cx="8229600" cy="1384300"/>
          </a:xfrm>
        </p:spPr>
        <p:txBody>
          <a:bodyPr lIns="92075" tIns="46038" rIns="92075" bIns="46038">
            <a:normAutofit fontScale="90000"/>
          </a:bodyPr>
          <a:lstStyle/>
          <a:p>
            <a:pPr eaLnBrk="1" hangingPunct="1">
              <a:defRPr/>
            </a:pPr>
            <a:r>
              <a:rPr lang="en-US" sz="3200" smtClean="0"/>
              <a:t>How 34 ATP from E.T.S. ?</a:t>
            </a:r>
            <a:br>
              <a:rPr lang="en-US" sz="3200" smtClean="0"/>
            </a:br>
            <a:r>
              <a:rPr lang="en-US" sz="3200" smtClean="0"/>
              <a:t>3 ATP for each NADH</a:t>
            </a:r>
            <a:r>
              <a:rPr lang="en-US" sz="3200" baseline="-25000" smtClean="0"/>
              <a:t>2</a:t>
            </a:r>
            <a:r>
              <a:rPr lang="en-US" sz="3200" smtClean="0"/>
              <a:t/>
            </a:r>
            <a:br>
              <a:rPr lang="en-US" sz="3200" smtClean="0"/>
            </a:br>
            <a:r>
              <a:rPr lang="en-US" sz="3200" smtClean="0"/>
              <a:t>2 ATP for each FADH</a:t>
            </a:r>
            <a:r>
              <a:rPr lang="en-US" sz="3200" baseline="-25000" smtClean="0"/>
              <a:t>2</a:t>
            </a:r>
            <a:endParaRPr lang="en-US" sz="3200" smtClean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0" y="2286000"/>
            <a:ext cx="3810000" cy="4572000"/>
          </a:xfrm>
        </p:spPr>
        <p:txBody>
          <a:bodyPr lIns="92075" tIns="46038" rIns="92075" bIns="46038">
            <a:normAutofit/>
          </a:bodyPr>
          <a:lstStyle/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2800" smtClean="0"/>
              <a:t>                    NADH</a:t>
            </a:r>
            <a:r>
              <a:rPr lang="en-US" sz="2800" baseline="-25000" smtClean="0"/>
              <a:t>2</a:t>
            </a:r>
            <a:endParaRPr lang="en-US" sz="2800" smtClean="0"/>
          </a:p>
          <a:p>
            <a:pPr eaLnBrk="1" hangingPunct="1">
              <a:lnSpc>
                <a:spcPct val="90000"/>
              </a:lnSpc>
              <a:defRPr/>
            </a:pPr>
            <a:endParaRPr lang="en-US" sz="2800" smtClean="0"/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2800" smtClean="0"/>
              <a:t>Glycolysis         2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2800" smtClean="0"/>
              <a:t>T. R.                  2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2800" smtClean="0"/>
              <a:t>Krebs Cycle      6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sz="2800" smtClean="0"/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2800" smtClean="0"/>
              <a:t>Total                 10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sz="2800" smtClean="0"/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2800" smtClean="0"/>
              <a:t>10 x 3 =  30  ATP</a:t>
            </a:r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334000" y="2286000"/>
            <a:ext cx="3810000" cy="4572000"/>
          </a:xfrm>
        </p:spPr>
        <p:txBody>
          <a:bodyPr lIns="92075" tIns="46038" rIns="92075" bIns="46038">
            <a:normAutofit/>
          </a:bodyPr>
          <a:lstStyle/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2800" smtClean="0"/>
              <a:t>                      FADH</a:t>
            </a:r>
            <a:r>
              <a:rPr lang="en-US" sz="2800" baseline="-25000" smtClean="0"/>
              <a:t>2</a:t>
            </a:r>
            <a:endParaRPr lang="en-US" sz="2800" smtClean="0"/>
          </a:p>
          <a:p>
            <a:pPr eaLnBrk="1" hangingPunct="1">
              <a:lnSpc>
                <a:spcPct val="90000"/>
              </a:lnSpc>
              <a:defRPr/>
            </a:pPr>
            <a:endParaRPr lang="en-US" sz="2800" smtClean="0"/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2800" smtClean="0"/>
              <a:t>Glycolysis             0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2800" smtClean="0"/>
              <a:t>T.R.                       0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2800" smtClean="0"/>
              <a:t>Krebs Cycle          2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endParaRPr lang="en-US" sz="2800" smtClean="0"/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2800" smtClean="0"/>
              <a:t>Total                      2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endParaRPr lang="en-US" sz="2800" smtClean="0"/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2800" smtClean="0"/>
              <a:t>2 x 2 =  4 ATP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1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17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17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17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17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17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17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17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17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17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17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build="p" autoUpdateAnimBg="0"/>
      <p:bldP spid="31748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28613"/>
            <a:ext cx="8229600" cy="1322387"/>
          </a:xfrm>
        </p:spPr>
        <p:txBody>
          <a:bodyPr lIns="92075" tIns="46038" rIns="92075" bIns="46038"/>
          <a:lstStyle/>
          <a:p>
            <a:pPr eaLnBrk="1" hangingPunct="1">
              <a:defRPr/>
            </a:pPr>
            <a:r>
              <a:rPr lang="en-US" sz="2800" smtClean="0"/>
              <a:t>Total ATP production for the complete oxidation of 1 molecule of glucose in Aerobic Respiration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295400" y="2065338"/>
            <a:ext cx="6934200" cy="4106862"/>
          </a:xfrm>
        </p:spPr>
        <p:txBody>
          <a:bodyPr lIns="92075" tIns="46038" rIns="92075" bIns="46038"/>
          <a:lstStyle/>
          <a:p>
            <a:pPr eaLnBrk="1" hangingPunct="1">
              <a:buFontTx/>
              <a:buNone/>
              <a:defRPr/>
            </a:pPr>
            <a:r>
              <a:rPr lang="en-US" dirty="0" smtClean="0"/>
              <a:t>                                      ATP</a:t>
            </a:r>
          </a:p>
          <a:p>
            <a:pPr eaLnBrk="1" hangingPunct="1">
              <a:buFontTx/>
              <a:buNone/>
              <a:defRPr/>
            </a:pPr>
            <a:r>
              <a:rPr lang="en-US" dirty="0" err="1" smtClean="0"/>
              <a:t>Glycolysis</a:t>
            </a:r>
            <a:r>
              <a:rPr lang="en-US" dirty="0" smtClean="0"/>
              <a:t>                        2</a:t>
            </a:r>
          </a:p>
          <a:p>
            <a:pPr eaLnBrk="1" hangingPunct="1">
              <a:buFontTx/>
              <a:buNone/>
              <a:defRPr/>
            </a:pPr>
            <a:r>
              <a:rPr lang="en-US" dirty="0" smtClean="0"/>
              <a:t>Transition Reaction           0</a:t>
            </a:r>
          </a:p>
          <a:p>
            <a:pPr eaLnBrk="1" hangingPunct="1">
              <a:buFontTx/>
              <a:buNone/>
              <a:defRPr/>
            </a:pPr>
            <a:r>
              <a:rPr lang="en-US" dirty="0" smtClean="0"/>
              <a:t>Krebs Cycle                      2</a:t>
            </a:r>
          </a:p>
          <a:p>
            <a:pPr eaLnBrk="1" hangingPunct="1">
              <a:buFontTx/>
              <a:buNone/>
              <a:defRPr/>
            </a:pPr>
            <a:r>
              <a:rPr lang="en-US" dirty="0" smtClean="0"/>
              <a:t>E.T.S.                              34</a:t>
            </a:r>
          </a:p>
          <a:p>
            <a:pPr eaLnBrk="1" hangingPunct="1">
              <a:buFontTx/>
              <a:buNone/>
              <a:defRPr/>
            </a:pPr>
            <a:endParaRPr lang="en-US" dirty="0" smtClean="0"/>
          </a:p>
          <a:p>
            <a:pPr eaLnBrk="1" hangingPunct="1">
              <a:buFontTx/>
              <a:buNone/>
              <a:defRPr/>
            </a:pPr>
            <a:r>
              <a:rPr lang="en-US" dirty="0" smtClean="0"/>
              <a:t>Total                                38  ATP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143000" y="1905000"/>
            <a:ext cx="7086600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3. or </a:t>
            </a:r>
            <a:r>
              <a:rPr lang="en-US" b="1" i="1" dirty="0" smtClean="0"/>
              <a:t>Anaerobic respiration</a:t>
            </a:r>
            <a:r>
              <a:rPr lang="en-US" dirty="0" smtClean="0"/>
              <a:t> (unique to bacteria) oxidation of organic compounds where an external substrate other than oxygen serves as final electron acceptor.</a:t>
            </a:r>
          </a:p>
          <a:p>
            <a:pPr eaLnBrk="1" hangingPunct="1">
              <a:defRPr/>
            </a:pPr>
            <a:r>
              <a:rPr lang="en-US" dirty="0" err="1" smtClean="0"/>
              <a:t>Eg</a:t>
            </a:r>
            <a:r>
              <a:rPr lang="en-US" dirty="0" smtClean="0"/>
              <a:t>. Nitrate, sulfate, carbon dioxide</a:t>
            </a:r>
          </a:p>
          <a:p>
            <a:pPr eaLnBrk="1" hangingPunct="1">
              <a:defRPr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2100"/>
            <a:ext cx="8229600" cy="1384300"/>
          </a:xfrm>
        </p:spPr>
        <p:txBody>
          <a:bodyPr lIns="92075" tIns="46038" rIns="92075" bIns="46038"/>
          <a:lstStyle/>
          <a:p>
            <a:pPr eaLnBrk="1" hangingPunct="1">
              <a:defRPr/>
            </a:pPr>
            <a:r>
              <a:rPr lang="en-US" smtClean="0"/>
              <a:t>Anaerobic Respiration 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0" y="1905000"/>
            <a:ext cx="8229600" cy="4114800"/>
          </a:xfrm>
        </p:spPr>
        <p:txBody>
          <a:bodyPr lIns="92075" tIns="46038" rIns="92075" bIns="46038"/>
          <a:lstStyle/>
          <a:p>
            <a:pPr eaLnBrk="1" hangingPunct="1">
              <a:defRPr/>
            </a:pPr>
            <a:r>
              <a:rPr lang="en-US" smtClean="0"/>
              <a:t>Electrons released by oxidation are passed down an E.T.S., but oxygen </a:t>
            </a:r>
            <a:r>
              <a:rPr lang="en-US" b="1" smtClean="0"/>
              <a:t>is not</a:t>
            </a:r>
            <a:r>
              <a:rPr lang="en-US" smtClean="0"/>
              <a:t> the final electron acceptor</a:t>
            </a:r>
          </a:p>
          <a:p>
            <a:pPr eaLnBrk="1" hangingPunct="1">
              <a:defRPr/>
            </a:pPr>
            <a:endParaRPr lang="en-US" smtClean="0"/>
          </a:p>
          <a:p>
            <a:pPr eaLnBrk="1" hangingPunct="1">
              <a:defRPr/>
            </a:pPr>
            <a:r>
              <a:rPr lang="en-US" sz="2800" smtClean="0"/>
              <a:t>Nitrate (NO</a:t>
            </a:r>
            <a:r>
              <a:rPr lang="en-US" sz="2800" baseline="-25000" smtClean="0"/>
              <a:t>3</a:t>
            </a:r>
            <a:r>
              <a:rPr lang="en-US" sz="2800" smtClean="0"/>
              <a:t>-)         ----&gt;   Nitrite  (NO</a:t>
            </a:r>
            <a:r>
              <a:rPr lang="en-US" sz="2800" baseline="-25000" smtClean="0"/>
              <a:t>2</a:t>
            </a:r>
            <a:r>
              <a:rPr lang="en-US" sz="2800" smtClean="0"/>
              <a:t>-)</a:t>
            </a:r>
          </a:p>
          <a:p>
            <a:pPr eaLnBrk="1" hangingPunct="1">
              <a:defRPr/>
            </a:pPr>
            <a:r>
              <a:rPr lang="en-US" sz="2800" smtClean="0"/>
              <a:t>Sulfate (SO</a:t>
            </a:r>
            <a:r>
              <a:rPr lang="en-US" sz="2800" baseline="30000" smtClean="0"/>
              <a:t>2</a:t>
            </a:r>
            <a:r>
              <a:rPr lang="en-US" sz="2800" baseline="-25000" smtClean="0"/>
              <a:t>4</a:t>
            </a:r>
            <a:r>
              <a:rPr lang="en-US" sz="2800" smtClean="0"/>
              <a:t>-)        ----&gt;   Hydrogen Sulfide (H</a:t>
            </a:r>
            <a:r>
              <a:rPr lang="en-US" sz="2800" baseline="-25000" smtClean="0"/>
              <a:t>2</a:t>
            </a:r>
            <a:r>
              <a:rPr lang="en-US" sz="2800" smtClean="0"/>
              <a:t>S)</a:t>
            </a:r>
          </a:p>
          <a:p>
            <a:pPr eaLnBrk="1" hangingPunct="1">
              <a:defRPr/>
            </a:pPr>
            <a:r>
              <a:rPr lang="en-US" sz="2800" smtClean="0"/>
              <a:t>Carbonate (CO</a:t>
            </a:r>
            <a:r>
              <a:rPr lang="en-US" sz="2800" baseline="30000" smtClean="0"/>
              <a:t>2</a:t>
            </a:r>
            <a:r>
              <a:rPr lang="en-US" sz="2800" baseline="-25000" smtClean="0"/>
              <a:t>4</a:t>
            </a:r>
            <a:r>
              <a:rPr lang="en-US" sz="2800" smtClean="0"/>
              <a:t>-)  -----&gt;  Methane (CH</a:t>
            </a:r>
            <a:r>
              <a:rPr lang="en-US" sz="2800" baseline="-25000" smtClean="0"/>
              <a:t>4</a:t>
            </a:r>
            <a:r>
              <a:rPr lang="en-US" sz="2800" smtClean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2100"/>
            <a:ext cx="8229600" cy="1384300"/>
          </a:xfrm>
        </p:spPr>
        <p:txBody>
          <a:bodyPr lIns="92075" tIns="46038" rIns="92075" bIns="46038"/>
          <a:lstStyle/>
          <a:p>
            <a:pPr eaLnBrk="1" hangingPunct="1">
              <a:defRPr/>
            </a:pPr>
            <a:r>
              <a:rPr lang="en-US" smtClean="0"/>
              <a:t>Fermentation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066800" y="1905000"/>
            <a:ext cx="7162800" cy="4114800"/>
          </a:xfrm>
        </p:spPr>
        <p:txBody>
          <a:bodyPr lIns="92075" tIns="46038" rIns="92075" bIns="46038"/>
          <a:lstStyle/>
          <a:p>
            <a:pPr eaLnBrk="1" hangingPunct="1">
              <a:buFontTx/>
              <a:buNone/>
              <a:defRPr/>
            </a:pPr>
            <a:r>
              <a:rPr lang="en-US" smtClean="0"/>
              <a:t>Anaerobic process that does not use the E.T.S.  Usually involves the incomplete oxidation of a carbohydrate which then becomes the final electron acceptor.</a:t>
            </a:r>
          </a:p>
          <a:p>
            <a:pPr eaLnBrk="1" hangingPunct="1">
              <a:buFontTx/>
              <a:buNone/>
              <a:defRPr/>
            </a:pPr>
            <a:endParaRPr lang="en-US" smtClean="0"/>
          </a:p>
          <a:p>
            <a:pPr eaLnBrk="1" hangingPunct="1">
              <a:buFontTx/>
              <a:buNone/>
              <a:defRPr/>
            </a:pPr>
            <a:r>
              <a:rPr lang="en-US" b="1" smtClean="0"/>
              <a:t>Glycolysis - plus an additional step</a:t>
            </a:r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066800" y="1905000"/>
            <a:ext cx="7162800" cy="4114800"/>
          </a:xfrm>
        </p:spPr>
        <p:txBody>
          <a:bodyPr>
            <a:normAutofit/>
          </a:bodyPr>
          <a:lstStyle/>
          <a:p>
            <a:pPr eaLnBrk="1" hangingPunct="1">
              <a:buFontTx/>
              <a:buNone/>
              <a:defRPr/>
            </a:pPr>
            <a:r>
              <a:rPr lang="en-US" dirty="0" smtClean="0"/>
              <a:t>2. </a:t>
            </a:r>
            <a:r>
              <a:rPr lang="en-US" dirty="0" err="1" smtClean="0"/>
              <a:t>Entner-Doudoroff</a:t>
            </a:r>
            <a:r>
              <a:rPr lang="en-US" dirty="0" smtClean="0"/>
              <a:t> pathway</a:t>
            </a:r>
          </a:p>
          <a:p>
            <a:pPr eaLnBrk="1" hangingPunct="1">
              <a:buFontTx/>
              <a:buNone/>
              <a:defRPr/>
            </a:pPr>
            <a:r>
              <a:rPr lang="en-US" dirty="0" smtClean="0"/>
              <a:t>Another pathway for glucose breakdown discovered by </a:t>
            </a:r>
            <a:r>
              <a:rPr lang="en-US" dirty="0" err="1" smtClean="0"/>
              <a:t>Entner</a:t>
            </a:r>
            <a:r>
              <a:rPr lang="en-US" dirty="0" smtClean="0"/>
              <a:t> &amp; </a:t>
            </a:r>
            <a:r>
              <a:rPr lang="en-US" dirty="0" err="1" smtClean="0"/>
              <a:t>Doudoroff</a:t>
            </a:r>
            <a:r>
              <a:rPr lang="en-US" dirty="0" smtClean="0"/>
              <a:t>.</a:t>
            </a:r>
          </a:p>
          <a:p>
            <a:pPr eaLnBrk="1" hangingPunct="1">
              <a:buFontTx/>
              <a:buNone/>
              <a:defRPr/>
            </a:pPr>
            <a:r>
              <a:rPr lang="en-US" dirty="0" smtClean="0"/>
              <a:t>Has evolutionary and taxonomic significance</a:t>
            </a:r>
          </a:p>
          <a:p>
            <a:pPr eaLnBrk="1" hangingPunct="1">
              <a:buFontTx/>
              <a:buNone/>
              <a:defRPr/>
            </a:pPr>
            <a:r>
              <a:rPr lang="en-US" dirty="0" smtClean="0"/>
              <a:t>Found in </a:t>
            </a:r>
            <a:r>
              <a:rPr lang="en-US" i="1" dirty="0" smtClean="0"/>
              <a:t>Pseudomonas, </a:t>
            </a:r>
            <a:r>
              <a:rPr lang="en-US" i="1" dirty="0" err="1" smtClean="0"/>
              <a:t>Rhizobium</a:t>
            </a:r>
            <a:r>
              <a:rPr lang="en-US" i="1" dirty="0" smtClean="0"/>
              <a:t>, </a:t>
            </a:r>
            <a:r>
              <a:rPr lang="en-US" i="1" dirty="0" err="1" smtClean="0"/>
              <a:t>Azotobacter</a:t>
            </a:r>
            <a:r>
              <a:rPr lang="en-US" i="1" dirty="0" smtClean="0"/>
              <a:t>, </a:t>
            </a:r>
            <a:r>
              <a:rPr lang="en-US" dirty="0" smtClean="0"/>
              <a:t>almost all gram negatives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066800" y="1066800"/>
            <a:ext cx="7162800" cy="4953000"/>
          </a:xfrm>
        </p:spPr>
        <p:txBody>
          <a:bodyPr>
            <a:normAutofit/>
          </a:bodyPr>
          <a:lstStyle/>
          <a:p>
            <a:pPr eaLnBrk="1" hangingPunct="1">
              <a:lnSpc>
                <a:spcPct val="70000"/>
              </a:lnSpc>
              <a:buFontTx/>
              <a:buNone/>
              <a:defRPr/>
            </a:pPr>
            <a:r>
              <a:rPr lang="en-US" sz="2400" b="1" i="1" dirty="0" smtClean="0"/>
              <a:t>Fermentation</a:t>
            </a:r>
          </a:p>
          <a:p>
            <a:pPr eaLnBrk="1" hangingPunct="1">
              <a:lnSpc>
                <a:spcPct val="70000"/>
              </a:lnSpc>
              <a:buFontTx/>
              <a:buNone/>
              <a:defRPr/>
            </a:pPr>
            <a:r>
              <a:rPr lang="en-US" sz="2400" dirty="0" smtClean="0"/>
              <a:t>Use organic molecules derived from </a:t>
            </a:r>
            <a:r>
              <a:rPr lang="en-US" sz="2400" dirty="0" err="1" smtClean="0"/>
              <a:t>glycolysis</a:t>
            </a:r>
            <a:r>
              <a:rPr lang="en-US" sz="2400" dirty="0" smtClean="0"/>
              <a:t> being </a:t>
            </a:r>
            <a:r>
              <a:rPr lang="en-US" sz="2400" dirty="0" err="1" smtClean="0"/>
              <a:t>metabolizd</a:t>
            </a:r>
            <a:r>
              <a:rPr lang="en-US" sz="2400" dirty="0" smtClean="0"/>
              <a:t> as electron acceptor.</a:t>
            </a:r>
          </a:p>
          <a:p>
            <a:pPr eaLnBrk="1" hangingPunct="1">
              <a:lnSpc>
                <a:spcPct val="70000"/>
              </a:lnSpc>
              <a:buFontTx/>
              <a:buNone/>
              <a:defRPr/>
            </a:pPr>
            <a:r>
              <a:rPr lang="en-US" sz="2400" dirty="0" err="1" smtClean="0"/>
              <a:t>Pyruvate</a:t>
            </a:r>
            <a:r>
              <a:rPr lang="en-US" sz="2400" dirty="0" smtClean="0"/>
              <a:t> (or molecules derived by </a:t>
            </a:r>
            <a:r>
              <a:rPr lang="en-US" sz="2400" dirty="0" err="1" smtClean="0"/>
              <a:t>pyruvate</a:t>
            </a:r>
            <a:r>
              <a:rPr lang="en-US" sz="2400" dirty="0" smtClean="0"/>
              <a:t>) is available from glucose breakdown.  Many cells use this as terminal electron acceptor.</a:t>
            </a:r>
          </a:p>
          <a:p>
            <a:pPr eaLnBrk="1" hangingPunct="1">
              <a:lnSpc>
                <a:spcPct val="70000"/>
              </a:lnSpc>
              <a:buFontTx/>
              <a:buNone/>
              <a:defRPr/>
            </a:pPr>
            <a:r>
              <a:rPr lang="en-US" sz="2400" dirty="0" smtClean="0"/>
              <a:t>Create waste products to be dumped out of cell.</a:t>
            </a:r>
          </a:p>
          <a:p>
            <a:pPr eaLnBrk="1" hangingPunct="1">
              <a:lnSpc>
                <a:spcPct val="70000"/>
              </a:lnSpc>
              <a:buFontTx/>
              <a:buNone/>
              <a:defRPr/>
            </a:pPr>
            <a:r>
              <a:rPr lang="en-US" sz="2400" dirty="0" smtClean="0"/>
              <a:t>Not as efficient as aerobic respiration; but does allow catabolism to continue in absence of oxygen, better than nothing at all.</a:t>
            </a:r>
          </a:p>
          <a:p>
            <a:pPr eaLnBrk="1" hangingPunct="1">
              <a:lnSpc>
                <a:spcPct val="70000"/>
              </a:lnSpc>
              <a:buFontTx/>
              <a:buNone/>
              <a:defRPr/>
            </a:pPr>
            <a:r>
              <a:rPr lang="en-US" sz="2400" dirty="0" smtClean="0"/>
              <a:t>Glucose</a:t>
            </a:r>
            <a:r>
              <a:rPr lang="en-US" sz="2400" dirty="0" smtClean="0">
                <a:sym typeface="Wingdings" pitchFamily="2" charset="2"/>
              </a:rPr>
              <a:t> 2 lactic acid</a:t>
            </a:r>
          </a:p>
          <a:p>
            <a:pPr eaLnBrk="1" hangingPunct="1">
              <a:lnSpc>
                <a:spcPct val="70000"/>
              </a:lnSpc>
              <a:buFontTx/>
              <a:buNone/>
              <a:defRPr/>
            </a:pPr>
            <a:r>
              <a:rPr lang="en-US" sz="2400" dirty="0" smtClean="0">
                <a:sym typeface="Wingdings" pitchFamily="2" charset="2"/>
              </a:rPr>
              <a:t>Some bacteria (lactic acid bacteria, including </a:t>
            </a:r>
            <a:r>
              <a:rPr lang="en-US" sz="2400" i="1" dirty="0" err="1" smtClean="0">
                <a:sym typeface="Wingdings" pitchFamily="2" charset="2"/>
              </a:rPr>
              <a:t>Strptococci</a:t>
            </a:r>
            <a:r>
              <a:rPr lang="en-US" sz="2400" i="1" dirty="0" smtClean="0">
                <a:sym typeface="Wingdings" pitchFamily="2" charset="2"/>
              </a:rPr>
              <a:t> </a:t>
            </a:r>
            <a:r>
              <a:rPr lang="en-US" sz="2400" dirty="0" smtClean="0">
                <a:sym typeface="Wingdings" pitchFamily="2" charset="2"/>
              </a:rPr>
              <a:t>and </a:t>
            </a:r>
            <a:r>
              <a:rPr lang="en-US" sz="2400" i="1" dirty="0" smtClean="0">
                <a:sym typeface="Wingdings" pitchFamily="2" charset="2"/>
              </a:rPr>
              <a:t>Lactobacilli) </a:t>
            </a:r>
            <a:r>
              <a:rPr lang="en-US" sz="2400" dirty="0" smtClean="0">
                <a:sym typeface="Wingdings" pitchFamily="2" charset="2"/>
              </a:rPr>
              <a:t>gain all their from fermentation no electron transport chain after. </a:t>
            </a:r>
          </a:p>
          <a:p>
            <a:pPr eaLnBrk="1" hangingPunct="1">
              <a:lnSpc>
                <a:spcPct val="70000"/>
              </a:lnSpc>
              <a:defRPr/>
            </a:pPr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143000" y="1905000"/>
            <a:ext cx="7086600" cy="4114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US" b="1" u="sng" dirty="0" smtClean="0"/>
              <a:t>Lactic acid fermentation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b="1" i="1" dirty="0" err="1" smtClean="0"/>
              <a:t>Pyruvate</a:t>
            </a:r>
            <a:r>
              <a:rPr lang="en-US" b="1" i="1" dirty="0" smtClean="0"/>
              <a:t> + NADH </a:t>
            </a:r>
            <a:r>
              <a:rPr lang="en-US" b="1" i="1" dirty="0" smtClean="0">
                <a:sym typeface="Wingdings" pitchFamily="2" charset="2"/>
              </a:rPr>
              <a:t> Lactic acid + NAD</a:t>
            </a:r>
            <a:r>
              <a:rPr lang="en-US" b="1" i="1" baseline="30000" dirty="0" smtClean="0">
                <a:sym typeface="Wingdings" pitchFamily="2" charset="2"/>
              </a:rPr>
              <a:t>+</a:t>
            </a:r>
            <a:endParaRPr lang="en-US" b="1" i="1" dirty="0" smtClean="0">
              <a:sym typeface="Wingdings" pitchFamily="2" charset="2"/>
            </a:endParaRP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b="1" i="1" dirty="0" smtClean="0">
                <a:sym typeface="Wingdings" pitchFamily="2" charset="2"/>
              </a:rPr>
              <a:t>Enzyme; Lactic acid </a:t>
            </a:r>
            <a:r>
              <a:rPr lang="en-US" b="1" i="1" dirty="0" err="1" smtClean="0">
                <a:sym typeface="Wingdings" pitchFamily="2" charset="2"/>
              </a:rPr>
              <a:t>dehydrogenase</a:t>
            </a:r>
            <a:endParaRPr lang="en-US" b="1" i="1" dirty="0" smtClean="0">
              <a:sym typeface="Wingdings" pitchFamily="2" charset="2"/>
            </a:endParaRP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dirty="0" smtClean="0">
                <a:sym typeface="Wingdings" pitchFamily="2" charset="2"/>
              </a:rPr>
              <a:t>Found in many bacteria, </a:t>
            </a:r>
            <a:r>
              <a:rPr lang="en-US" i="1" dirty="0" smtClean="0">
                <a:sym typeface="Wingdings" pitchFamily="2" charset="2"/>
              </a:rPr>
              <a:t>Bacillus,</a:t>
            </a:r>
            <a:r>
              <a:rPr lang="en-US" dirty="0" smtClean="0">
                <a:sym typeface="Wingdings" pitchFamily="2" charset="2"/>
              </a:rPr>
              <a:t> also in some protozoa, water molds, even human skeletal muscle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0"/>
            <a:ext cx="7772400" cy="1219200"/>
          </a:xfrm>
        </p:spPr>
        <p:txBody>
          <a:bodyPr lIns="92075" tIns="46038" rIns="92075" bIns="46038"/>
          <a:lstStyle/>
          <a:p>
            <a:pPr eaLnBrk="1" hangingPunct="1">
              <a:defRPr/>
            </a:pPr>
            <a:r>
              <a:rPr lang="en-US" smtClean="0"/>
              <a:t>1. Lactic Acid Fermenation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371600" y="990600"/>
            <a:ext cx="7772400" cy="5867400"/>
          </a:xfrm>
        </p:spPr>
        <p:txBody>
          <a:bodyPr lIns="92075" tIns="46038" rIns="92075" bIns="46038"/>
          <a:lstStyle/>
          <a:p>
            <a:pPr eaLnBrk="1" hangingPunct="1">
              <a:buFontTx/>
              <a:buNone/>
              <a:defRPr/>
            </a:pPr>
            <a:r>
              <a:rPr lang="en-US" smtClean="0"/>
              <a:t>Only 2 ATP</a:t>
            </a:r>
          </a:p>
          <a:p>
            <a:pPr eaLnBrk="1" hangingPunct="1">
              <a:buFontTx/>
              <a:buNone/>
              <a:defRPr/>
            </a:pPr>
            <a:r>
              <a:rPr lang="en-US" smtClean="0"/>
              <a:t>End Product  -  Lactic Acid</a:t>
            </a:r>
          </a:p>
          <a:p>
            <a:pPr eaLnBrk="1" hangingPunct="1">
              <a:buFontTx/>
              <a:buNone/>
              <a:defRPr/>
            </a:pPr>
            <a:r>
              <a:rPr lang="en-US" smtClean="0"/>
              <a:t>Food Spoilage</a:t>
            </a:r>
          </a:p>
          <a:p>
            <a:pPr eaLnBrk="1" hangingPunct="1">
              <a:buFontTx/>
              <a:buNone/>
              <a:defRPr/>
            </a:pPr>
            <a:r>
              <a:rPr lang="en-US" smtClean="0"/>
              <a:t>Food Production</a:t>
            </a:r>
          </a:p>
          <a:p>
            <a:pPr lvl="1" eaLnBrk="1" hangingPunct="1">
              <a:buFont typeface="Tahoma" charset="0"/>
              <a:buNone/>
              <a:defRPr/>
            </a:pPr>
            <a:r>
              <a:rPr lang="en-US" smtClean="0"/>
              <a:t>Yogurt         -    Milk</a:t>
            </a:r>
          </a:p>
          <a:p>
            <a:pPr lvl="1" eaLnBrk="1" hangingPunct="1">
              <a:buFont typeface="Tahoma" charset="0"/>
              <a:buNone/>
              <a:defRPr/>
            </a:pPr>
            <a:r>
              <a:rPr lang="en-US" smtClean="0"/>
              <a:t>Pickles         -   Cucumbers</a:t>
            </a:r>
          </a:p>
          <a:p>
            <a:pPr lvl="1" eaLnBrk="1" hangingPunct="1">
              <a:buFont typeface="Tahoma" charset="0"/>
              <a:buNone/>
              <a:defRPr/>
            </a:pPr>
            <a:r>
              <a:rPr lang="en-US" smtClean="0"/>
              <a:t>Sauerkraut   -  Cabbage</a:t>
            </a:r>
          </a:p>
          <a:p>
            <a:pPr eaLnBrk="1" hangingPunct="1">
              <a:buFontTx/>
              <a:buNone/>
              <a:defRPr/>
            </a:pPr>
            <a:r>
              <a:rPr lang="en-US" smtClean="0"/>
              <a:t> Genera:</a:t>
            </a:r>
          </a:p>
          <a:p>
            <a:pPr lvl="1" eaLnBrk="1" hangingPunct="1">
              <a:buFont typeface="Tahoma" charset="0"/>
              <a:buNone/>
              <a:defRPr/>
            </a:pPr>
            <a:r>
              <a:rPr lang="en-US" i="1" smtClean="0"/>
              <a:t>Streptococcus</a:t>
            </a:r>
          </a:p>
          <a:p>
            <a:pPr lvl="1" eaLnBrk="1" hangingPunct="1">
              <a:buFont typeface="Tahoma" charset="0"/>
              <a:buNone/>
              <a:defRPr/>
            </a:pPr>
            <a:r>
              <a:rPr lang="en-US" i="1" smtClean="0"/>
              <a:t>Lactobacillus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6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68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build="p" bldLvl="2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0"/>
            <a:ext cx="7848600" cy="68580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  <a:defRPr/>
            </a:pPr>
            <a:endParaRPr lang="en-US" sz="2800" i="1" dirty="0" smtClean="0"/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en-US" sz="2800" i="1" dirty="0" err="1" smtClean="0"/>
              <a:t>Homolactic</a:t>
            </a:r>
            <a:r>
              <a:rPr lang="en-US" sz="2800" i="1" dirty="0" smtClean="0"/>
              <a:t> </a:t>
            </a:r>
            <a:r>
              <a:rPr lang="en-US" sz="2800" i="1" dirty="0" err="1" smtClean="0"/>
              <a:t>fermenters</a:t>
            </a:r>
            <a:endParaRPr lang="en-US" sz="2800" i="1" dirty="0" smtClean="0"/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en-US" sz="2800" dirty="0" smtClean="0"/>
              <a:t>Some bacteria produce only lactic acid.  </a:t>
            </a:r>
            <a:r>
              <a:rPr lang="en-US" sz="2800" dirty="0" err="1" smtClean="0"/>
              <a:t>Pyruvate</a:t>
            </a:r>
            <a:r>
              <a:rPr lang="en-US" sz="2800" dirty="0" smtClean="0"/>
              <a:t> is reduced to lactic acid with the enzyme </a:t>
            </a:r>
            <a:r>
              <a:rPr lang="en-US" sz="2800" i="1" dirty="0" smtClean="0"/>
              <a:t>lactic acid </a:t>
            </a:r>
            <a:r>
              <a:rPr lang="en-US" sz="2800" i="1" dirty="0" err="1" smtClean="0"/>
              <a:t>dehydrogenase</a:t>
            </a:r>
            <a:r>
              <a:rPr lang="en-US" sz="2800" i="1" dirty="0" smtClean="0"/>
              <a:t>   </a:t>
            </a: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en-US" sz="2800" i="1" dirty="0" err="1" smtClean="0"/>
              <a:t>Eg</a:t>
            </a:r>
            <a:r>
              <a:rPr lang="en-US" sz="2800" i="1" dirty="0" smtClean="0"/>
              <a:t>. Streptococcus, </a:t>
            </a:r>
            <a:r>
              <a:rPr lang="en-US" sz="2800" i="1" dirty="0" err="1" smtClean="0"/>
              <a:t>Enterococcus</a:t>
            </a:r>
            <a:r>
              <a:rPr lang="en-US" sz="2800" i="1" dirty="0" smtClean="0"/>
              <a:t>, </a:t>
            </a:r>
            <a:r>
              <a:rPr lang="en-US" sz="2800" i="1" dirty="0" err="1" smtClean="0"/>
              <a:t>Lactococcus</a:t>
            </a:r>
            <a:r>
              <a:rPr lang="en-US" sz="2800" i="1" dirty="0" smtClean="0"/>
              <a:t>, Lactobacillus </a:t>
            </a:r>
            <a:r>
              <a:rPr lang="en-US" sz="2800" dirty="0" smtClean="0"/>
              <a:t>sp</a:t>
            </a:r>
            <a:r>
              <a:rPr lang="en-US" sz="2800" i="1" dirty="0" smtClean="0"/>
              <a:t>.</a:t>
            </a: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en-US" sz="2800" dirty="0" smtClean="0"/>
              <a:t>Collectively called as lactic acid bacteria</a:t>
            </a: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en-US" sz="2800" i="1" dirty="0" smtClean="0"/>
              <a:t>Important in Dairy industry.  Responsible of souring of milk : yogurt, cheese, buttermilk, sour cream etc. Excellent keeping properties</a:t>
            </a: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en-US" sz="2800" i="1" dirty="0" smtClean="0"/>
              <a:t>Streptococci </a:t>
            </a:r>
            <a:r>
              <a:rPr lang="en-US" sz="2800" dirty="0" smtClean="0"/>
              <a:t>living on tooth surface produce lactic acid.</a:t>
            </a: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en-US" sz="2800" i="1" dirty="0" smtClean="0"/>
              <a:t>Lactobacilli</a:t>
            </a:r>
            <a:r>
              <a:rPr lang="en-US" sz="2800" dirty="0" smtClean="0"/>
              <a:t> in human digestive system and help digestion of milk</a:t>
            </a: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en-US" sz="2800" i="1" dirty="0" smtClean="0"/>
              <a:t>Lactobacillus acidophilus </a:t>
            </a:r>
            <a:r>
              <a:rPr lang="en-US" sz="2800" dirty="0" smtClean="0"/>
              <a:t>is added to milk diet of those unable to digest milk carbohydrates.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533400" y="228600"/>
            <a:ext cx="7696200" cy="5897563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  <a:buFontTx/>
              <a:buNone/>
              <a:defRPr/>
            </a:pPr>
            <a:endParaRPr lang="en-US" i="1" dirty="0" smtClean="0"/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i="1" dirty="0" err="1" smtClean="0"/>
              <a:t>Heterolactic</a:t>
            </a:r>
            <a:r>
              <a:rPr lang="en-US" i="1" dirty="0" smtClean="0"/>
              <a:t> </a:t>
            </a:r>
            <a:r>
              <a:rPr lang="en-US" i="1" dirty="0" err="1" smtClean="0"/>
              <a:t>fermenters</a:t>
            </a:r>
            <a:endParaRPr lang="en-US" i="1" dirty="0" smtClean="0"/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i="1" dirty="0" smtClean="0"/>
              <a:t> </a:t>
            </a:r>
            <a:r>
              <a:rPr lang="en-US" dirty="0" smtClean="0"/>
              <a:t>some microbes</a:t>
            </a:r>
            <a:r>
              <a:rPr lang="en-US" i="1" dirty="0" smtClean="0"/>
              <a:t> </a:t>
            </a:r>
            <a:r>
              <a:rPr lang="en-US" i="1" dirty="0" err="1" smtClean="0"/>
              <a:t>eg</a:t>
            </a:r>
            <a:r>
              <a:rPr lang="en-US" i="1" dirty="0" smtClean="0"/>
              <a:t>. </a:t>
            </a:r>
            <a:r>
              <a:rPr lang="en-US" i="1" dirty="0" err="1" smtClean="0"/>
              <a:t>Leuconostoc</a:t>
            </a:r>
            <a:r>
              <a:rPr lang="en-US" i="1" dirty="0" smtClean="0"/>
              <a:t> </a:t>
            </a:r>
            <a:r>
              <a:rPr lang="en-US" dirty="0" smtClean="0"/>
              <a:t>using </a:t>
            </a:r>
            <a:r>
              <a:rPr lang="en-US" dirty="0" err="1" smtClean="0"/>
              <a:t>phosphoketolase</a:t>
            </a:r>
            <a:r>
              <a:rPr lang="en-US" dirty="0" smtClean="0"/>
              <a:t> pathway instead </a:t>
            </a:r>
            <a:r>
              <a:rPr lang="en-US" dirty="0" err="1" smtClean="0"/>
              <a:t>glycolytic</a:t>
            </a:r>
            <a:r>
              <a:rPr lang="en-US" dirty="0" smtClean="0"/>
              <a:t> pathway and produce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dirty="0" smtClean="0"/>
              <a:t>Ethanol, CO</a:t>
            </a:r>
            <a:r>
              <a:rPr lang="en-US" baseline="-25000" dirty="0" smtClean="0"/>
              <a:t>2</a:t>
            </a:r>
            <a:r>
              <a:rPr lang="en-US" dirty="0" smtClean="0"/>
              <a:t> , lactate  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dirty="0" smtClean="0"/>
              <a:t>Glucose + ADP+ pi </a:t>
            </a:r>
            <a:r>
              <a:rPr lang="en-US" dirty="0" smtClean="0">
                <a:sym typeface="Wingdings" pitchFamily="2" charset="2"/>
              </a:rPr>
              <a:t> Lactic acid+ ethanol+ CO</a:t>
            </a:r>
            <a:r>
              <a:rPr lang="en-US" baseline="-25000" dirty="0" smtClean="0">
                <a:sym typeface="Wingdings" pitchFamily="2" charset="2"/>
              </a:rPr>
              <a:t>2</a:t>
            </a:r>
            <a:r>
              <a:rPr lang="en-US" dirty="0" smtClean="0">
                <a:sym typeface="Wingdings" pitchFamily="2" charset="2"/>
              </a:rPr>
              <a:t> + ATP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i="1" dirty="0" err="1" smtClean="0">
                <a:sym typeface="Wingdings" pitchFamily="2" charset="2"/>
              </a:rPr>
              <a:t>Leuconostoc</a:t>
            </a:r>
            <a:r>
              <a:rPr lang="en-US" dirty="0" smtClean="0">
                <a:sym typeface="Wingdings" pitchFamily="2" charset="2"/>
              </a:rPr>
              <a:t> use in wine production.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i="1" dirty="0" err="1" smtClean="0"/>
              <a:t>Heterolactic</a:t>
            </a:r>
            <a:r>
              <a:rPr lang="en-US" i="1" dirty="0" smtClean="0"/>
              <a:t> </a:t>
            </a:r>
            <a:r>
              <a:rPr lang="en-US" i="1" dirty="0" err="1" smtClean="0"/>
              <a:t>fermentars</a:t>
            </a:r>
            <a:r>
              <a:rPr lang="en-US" i="1" dirty="0" smtClean="0"/>
              <a:t> can be used in the fermentation of vegetables </a:t>
            </a:r>
            <a:r>
              <a:rPr lang="en-US" i="1" dirty="0" err="1" smtClean="0"/>
              <a:t>eg</a:t>
            </a:r>
            <a:r>
              <a:rPr lang="en-US" i="1" dirty="0" smtClean="0"/>
              <a:t>. Cabbage (sauerkraut) and cucumbers (prickles) and in the manufacture of buttermilk, butter and some cheese.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14400" y="0"/>
            <a:ext cx="7848600" cy="6858000"/>
          </a:xfrm>
        </p:spPr>
        <p:txBody>
          <a:bodyPr/>
          <a:lstStyle/>
          <a:p>
            <a:pPr eaLnBrk="1" hangingPunct="1">
              <a:buFontTx/>
              <a:buNone/>
              <a:defRPr/>
            </a:pPr>
            <a:endParaRPr lang="en-US" sz="2800" b="1" u="sng" dirty="0" smtClean="0"/>
          </a:p>
          <a:p>
            <a:pPr eaLnBrk="1" hangingPunct="1">
              <a:buFontTx/>
              <a:buNone/>
              <a:defRPr/>
            </a:pPr>
            <a:r>
              <a:rPr lang="en-US" sz="2800" b="1" u="sng" dirty="0" smtClean="0"/>
              <a:t>Alcoholic Fermentation</a:t>
            </a:r>
          </a:p>
          <a:p>
            <a:pPr eaLnBrk="1" hangingPunct="1">
              <a:buFontTx/>
              <a:buNone/>
              <a:defRPr/>
            </a:pPr>
            <a:r>
              <a:rPr lang="en-US" sz="2800" dirty="0" err="1" smtClean="0"/>
              <a:t>Pyruvate</a:t>
            </a:r>
            <a:r>
              <a:rPr lang="en-US" sz="2800" dirty="0" smtClean="0"/>
              <a:t> is </a:t>
            </a:r>
            <a:r>
              <a:rPr lang="en-US" sz="2800" dirty="0" err="1" smtClean="0"/>
              <a:t>decarboxylated</a:t>
            </a:r>
            <a:r>
              <a:rPr lang="en-US" sz="2800" dirty="0" smtClean="0"/>
              <a:t> to acetaldehyde by enzyme </a:t>
            </a:r>
            <a:r>
              <a:rPr lang="en-US" sz="2800" i="1" dirty="0" err="1" smtClean="0"/>
              <a:t>pyruvate</a:t>
            </a:r>
            <a:r>
              <a:rPr lang="en-US" sz="2800" i="1" dirty="0" smtClean="0"/>
              <a:t> </a:t>
            </a:r>
            <a:r>
              <a:rPr lang="en-US" sz="2800" i="1" dirty="0" err="1" smtClean="0"/>
              <a:t>decarboxylase</a:t>
            </a:r>
            <a:r>
              <a:rPr lang="en-US" sz="2800" i="1" dirty="0" smtClean="0"/>
              <a:t>,</a:t>
            </a:r>
            <a:endParaRPr lang="en-US" sz="2800" dirty="0" smtClean="0"/>
          </a:p>
          <a:p>
            <a:pPr eaLnBrk="1" hangingPunct="1">
              <a:buFontTx/>
              <a:buNone/>
              <a:defRPr/>
            </a:pPr>
            <a:r>
              <a:rPr lang="en-US" sz="2800" dirty="0" smtClean="0"/>
              <a:t>Then reduce to ethanol by </a:t>
            </a:r>
            <a:r>
              <a:rPr lang="en-US" sz="2800" i="1" dirty="0" smtClean="0"/>
              <a:t>alcohol </a:t>
            </a:r>
            <a:r>
              <a:rPr lang="en-US" sz="2800" i="1" dirty="0" err="1" smtClean="0"/>
              <a:t>dehydrogenase</a:t>
            </a:r>
            <a:r>
              <a:rPr lang="en-US" sz="2800" i="1" dirty="0" smtClean="0"/>
              <a:t>.</a:t>
            </a:r>
            <a:endParaRPr lang="en-US" sz="2800" dirty="0" smtClean="0"/>
          </a:p>
          <a:p>
            <a:pPr eaLnBrk="1" hangingPunct="1">
              <a:buFontTx/>
              <a:buNone/>
              <a:defRPr/>
            </a:pPr>
            <a:r>
              <a:rPr lang="en-US" sz="2800" dirty="0" err="1" smtClean="0"/>
              <a:t>Pyruvate</a:t>
            </a:r>
            <a:r>
              <a:rPr lang="en-US" sz="2800" dirty="0" smtClean="0"/>
              <a:t> </a:t>
            </a:r>
            <a:r>
              <a:rPr lang="en-US" sz="2800" dirty="0" smtClean="0">
                <a:sym typeface="Wingdings" pitchFamily="2" charset="2"/>
              </a:rPr>
              <a:t>acetaldehyde+ CO</a:t>
            </a:r>
            <a:r>
              <a:rPr lang="en-US" sz="2800" baseline="-25000" dirty="0" smtClean="0">
                <a:sym typeface="Wingdings" pitchFamily="2" charset="2"/>
              </a:rPr>
              <a:t>2</a:t>
            </a:r>
            <a:endParaRPr lang="en-US" sz="2800" dirty="0" smtClean="0">
              <a:sym typeface="Wingdings" pitchFamily="2" charset="2"/>
            </a:endParaRPr>
          </a:p>
          <a:p>
            <a:pPr eaLnBrk="1" hangingPunct="1">
              <a:buFontTx/>
              <a:buNone/>
              <a:defRPr/>
            </a:pPr>
            <a:r>
              <a:rPr lang="en-US" sz="2800" dirty="0" smtClean="0">
                <a:sym typeface="Wingdings" pitchFamily="2" charset="2"/>
              </a:rPr>
              <a:t>Acetaldehyde + NADH ethanol +NAD</a:t>
            </a:r>
            <a:r>
              <a:rPr lang="en-US" sz="2800" baseline="30000" dirty="0" smtClean="0">
                <a:sym typeface="Wingdings" pitchFamily="2" charset="2"/>
              </a:rPr>
              <a:t>+</a:t>
            </a:r>
          </a:p>
          <a:p>
            <a:pPr eaLnBrk="1" hangingPunct="1">
              <a:buFontTx/>
              <a:buNone/>
              <a:defRPr/>
            </a:pPr>
            <a:r>
              <a:rPr lang="en-US" sz="2800" b="1" dirty="0" smtClean="0">
                <a:sym typeface="Wingdings" pitchFamily="2" charset="2"/>
              </a:rPr>
              <a:t>Found in few bacteria, in many fungi yeast</a:t>
            </a:r>
          </a:p>
          <a:p>
            <a:pPr eaLnBrk="1" hangingPunct="1">
              <a:buFontTx/>
              <a:buNone/>
              <a:defRPr/>
            </a:pPr>
            <a:r>
              <a:rPr lang="en-US" sz="2800" b="1" dirty="0" smtClean="0">
                <a:sym typeface="Wingdings" pitchFamily="2" charset="2"/>
              </a:rPr>
              <a:t>Yeast</a:t>
            </a:r>
            <a:r>
              <a:rPr lang="en-US" sz="2800" b="1" i="1" dirty="0" smtClean="0">
                <a:sym typeface="Wingdings" pitchFamily="2" charset="2"/>
              </a:rPr>
              <a:t> </a:t>
            </a:r>
            <a:r>
              <a:rPr lang="en-US" sz="2800" b="1" i="1" dirty="0" err="1" smtClean="0">
                <a:sym typeface="Wingdings" pitchFamily="2" charset="2"/>
              </a:rPr>
              <a:t>Saccharomyces</a:t>
            </a:r>
            <a:r>
              <a:rPr lang="en-US" sz="2800" b="1" i="1" dirty="0" smtClean="0">
                <a:sym typeface="Wingdings" pitchFamily="2" charset="2"/>
              </a:rPr>
              <a:t> </a:t>
            </a:r>
            <a:r>
              <a:rPr lang="en-US" sz="2800" b="1" i="1" dirty="0" err="1" smtClean="0">
                <a:sym typeface="Wingdings" pitchFamily="2" charset="2"/>
              </a:rPr>
              <a:t>cerevisiae</a:t>
            </a:r>
            <a:r>
              <a:rPr lang="en-US" sz="2800" b="1" i="1" dirty="0" smtClean="0">
                <a:sym typeface="Wingdings" pitchFamily="2" charset="2"/>
              </a:rPr>
              <a:t> (Baker’s yeast) </a:t>
            </a:r>
            <a:r>
              <a:rPr lang="en-US" sz="2800" dirty="0" smtClean="0">
                <a:sym typeface="Wingdings" pitchFamily="2" charset="2"/>
              </a:rPr>
              <a:t>use for production of bread.  Rising of bread caused by carbon dioxide</a:t>
            </a:r>
          </a:p>
          <a:p>
            <a:pPr eaLnBrk="1" hangingPunct="1">
              <a:buFontTx/>
              <a:buNone/>
              <a:defRPr/>
            </a:pPr>
            <a:r>
              <a:rPr lang="en-US" sz="2800" b="1" u="sng" dirty="0" smtClean="0"/>
              <a:t>Used to produce beer wine and alcoholic </a:t>
            </a:r>
            <a:r>
              <a:rPr lang="en-US" sz="2800" b="1" u="sng" dirty="0" err="1" smtClean="0"/>
              <a:t>spritis</a:t>
            </a:r>
            <a:endParaRPr lang="en-US" sz="2800" b="1" u="sng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/>
          <a:srcRect/>
          <a:stretch>
            <a:fillRect/>
          </a:stretch>
        </p:blipFill>
        <p:spPr>
          <a:xfrm>
            <a:off x="306388" y="0"/>
            <a:ext cx="8837612" cy="5284788"/>
          </a:xfrm>
          <a:noFill/>
        </p:spPr>
      </p:pic>
      <p:sp>
        <p:nvSpPr>
          <p:cNvPr id="37891" name="Rectangle 6"/>
          <p:cNvSpPr>
            <a:spLocks noChangeArrowheads="1"/>
          </p:cNvSpPr>
          <p:nvPr/>
        </p:nvSpPr>
        <p:spPr bwMode="auto">
          <a:xfrm>
            <a:off x="1066800" y="5562600"/>
            <a:ext cx="8077200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 i="1">
                <a:latin typeface="Arial" charset="0"/>
              </a:rPr>
              <a:t>Saccharomyces cerevisiae </a:t>
            </a:r>
            <a:r>
              <a:rPr lang="en-US" b="1">
                <a:latin typeface="Arial" charset="0"/>
              </a:rPr>
              <a:t>is commonly known as baker's, brewer's, or budding yeast. It is a unicellular eukaryotic organism that serves as a model system for studying genomics;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/>
          <p:cNvSpPr txBox="1">
            <a:spLocks noChangeArrowheads="1"/>
          </p:cNvSpPr>
          <p:nvPr/>
        </p:nvSpPr>
        <p:spPr bwMode="auto">
          <a:xfrm>
            <a:off x="1600200" y="0"/>
            <a:ext cx="7543800" cy="11906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 b="1" u="sng">
                <a:latin typeface="Arial" charset="0"/>
              </a:rPr>
              <a:t>Fermentation may result in numerous end products</a:t>
            </a:r>
            <a:endParaRPr lang="en-US" b="1" u="sng">
              <a:latin typeface="Arial" charset="0"/>
            </a:endParaRPr>
          </a:p>
        </p:txBody>
      </p:sp>
      <p:pic>
        <p:nvPicPr>
          <p:cNvPr id="35843" name="Picture 3" descr="U:\PowerPoint\Scanner\Micro\Fermentation products.t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90800" y="1143000"/>
            <a:ext cx="4267200" cy="413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844" name="Text Box 4"/>
          <p:cNvSpPr txBox="1">
            <a:spLocks noChangeArrowheads="1"/>
          </p:cNvSpPr>
          <p:nvPr/>
        </p:nvSpPr>
        <p:spPr bwMode="auto">
          <a:xfrm>
            <a:off x="1828800" y="5305425"/>
            <a:ext cx="6324600" cy="12001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latin typeface="Arial" charset="0"/>
              </a:rPr>
              <a:t>1. Type of organism</a:t>
            </a:r>
          </a:p>
          <a:p>
            <a:pPr>
              <a:spcBef>
                <a:spcPct val="50000"/>
              </a:spcBef>
            </a:pPr>
            <a:r>
              <a:rPr lang="en-US" b="1">
                <a:latin typeface="Arial" charset="0"/>
              </a:rPr>
              <a:t>2. Original substrate</a:t>
            </a:r>
          </a:p>
          <a:p>
            <a:pPr>
              <a:spcBef>
                <a:spcPct val="50000"/>
              </a:spcBef>
            </a:pPr>
            <a:r>
              <a:rPr lang="en-US" b="1">
                <a:latin typeface="Arial" charset="0"/>
              </a:rPr>
              <a:t>3. Enzymes that are present and active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58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8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4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2100"/>
            <a:ext cx="8229600" cy="1384300"/>
          </a:xfrm>
        </p:spPr>
        <p:txBody>
          <a:bodyPr lIns="92075" tIns="46038" rIns="92075" bIns="46038"/>
          <a:lstStyle/>
          <a:p>
            <a:pPr eaLnBrk="1" hangingPunct="1">
              <a:defRPr/>
            </a:pPr>
            <a:r>
              <a:rPr lang="en-US" smtClean="0"/>
              <a:t>Alcohol Fermentation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09600" y="1905000"/>
            <a:ext cx="7620000" cy="4114800"/>
          </a:xfrm>
        </p:spPr>
        <p:txBody>
          <a:bodyPr lIns="92075" tIns="46038" rIns="92075" bIns="46038">
            <a:normAutofit lnSpcReduction="10000"/>
          </a:bodyPr>
          <a:lstStyle/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dirty="0" smtClean="0"/>
              <a:t>Only 2 ATP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dirty="0" smtClean="0"/>
              <a:t>End products:</a:t>
            </a:r>
          </a:p>
          <a:p>
            <a:pPr lvl="1" eaLnBrk="1" hangingPunct="1">
              <a:lnSpc>
                <a:spcPct val="90000"/>
              </a:lnSpc>
              <a:buFont typeface="Tahoma" charset="0"/>
              <a:buNone/>
              <a:defRPr/>
            </a:pPr>
            <a:r>
              <a:rPr lang="en-US" dirty="0" smtClean="0"/>
              <a:t>alcohol</a:t>
            </a:r>
          </a:p>
          <a:p>
            <a:pPr lvl="1" eaLnBrk="1" hangingPunct="1">
              <a:lnSpc>
                <a:spcPct val="90000"/>
              </a:lnSpc>
              <a:buFont typeface="Tahoma" charset="0"/>
              <a:buNone/>
              <a:defRPr/>
            </a:pPr>
            <a:r>
              <a:rPr lang="en-US" dirty="0" smtClean="0"/>
              <a:t>CO</a:t>
            </a:r>
            <a:r>
              <a:rPr lang="en-US" baseline="-25000" dirty="0" smtClean="0"/>
              <a:t>2</a:t>
            </a:r>
            <a:endParaRPr lang="en-US" dirty="0" smtClean="0"/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dirty="0" smtClean="0"/>
              <a:t>Alcoholic Beverages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dirty="0" smtClean="0"/>
              <a:t>Bread dough to rise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endParaRPr lang="en-US" dirty="0" smtClean="0"/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i="1" dirty="0" err="1" smtClean="0"/>
              <a:t>Saccharomyces</a:t>
            </a:r>
            <a:r>
              <a:rPr lang="en-US" i="1" dirty="0" smtClean="0"/>
              <a:t> </a:t>
            </a:r>
            <a:r>
              <a:rPr lang="en-US" i="1" dirty="0" err="1" smtClean="0"/>
              <a:t>cerevisiae</a:t>
            </a:r>
            <a:r>
              <a:rPr lang="en-US" dirty="0" smtClean="0"/>
              <a:t>     (Yeast)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7" dur="500"/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2" dur="500"/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7" dur="500"/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2" dur="500"/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7" dur="500"/>
                                        <p:tgtEl>
                                          <p:spTgt spid="37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 build="p" bldLvl="2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09600" y="381000"/>
            <a:ext cx="8534400" cy="6477000"/>
          </a:xfrm>
        </p:spPr>
        <p:txBody>
          <a:bodyPr/>
          <a:lstStyle/>
          <a:p>
            <a:pPr eaLnBrk="1" hangingPunct="1">
              <a:buFontTx/>
              <a:buNone/>
              <a:defRPr/>
            </a:pPr>
            <a:endParaRPr lang="en-US" u="sng" dirty="0" smtClean="0"/>
          </a:p>
          <a:p>
            <a:pPr eaLnBrk="1" hangingPunct="1">
              <a:buFontTx/>
              <a:buNone/>
              <a:defRPr/>
            </a:pPr>
            <a:r>
              <a:rPr lang="en-US" u="sng" dirty="0" smtClean="0"/>
              <a:t>Mixed acid fermentation</a:t>
            </a:r>
          </a:p>
          <a:p>
            <a:pPr eaLnBrk="1" hangingPunct="1">
              <a:buFontTx/>
              <a:buNone/>
              <a:defRPr/>
            </a:pPr>
            <a:r>
              <a:rPr lang="en-US" dirty="0" smtClean="0"/>
              <a:t>Some bacteria use several pathways produce ethanol, formic acid, acetic acid, lactic acid, </a:t>
            </a:r>
            <a:r>
              <a:rPr lang="en-US" dirty="0" err="1" smtClean="0"/>
              <a:t>succunic</a:t>
            </a:r>
            <a:r>
              <a:rPr lang="en-US" dirty="0" smtClean="0"/>
              <a:t> acid, CO</a:t>
            </a:r>
            <a:r>
              <a:rPr lang="en-US" baseline="-25000" dirty="0" smtClean="0"/>
              <a:t>2</a:t>
            </a:r>
            <a:r>
              <a:rPr lang="en-US" dirty="0" smtClean="0"/>
              <a:t> and H</a:t>
            </a:r>
            <a:r>
              <a:rPr lang="en-US" baseline="-25000" dirty="0" smtClean="0"/>
              <a:t>2</a:t>
            </a:r>
            <a:r>
              <a:rPr lang="en-US" dirty="0" smtClean="0"/>
              <a:t> </a:t>
            </a:r>
          </a:p>
          <a:p>
            <a:pPr eaLnBrk="1" hangingPunct="1">
              <a:buFontTx/>
              <a:buNone/>
              <a:defRPr/>
            </a:pPr>
            <a:r>
              <a:rPr lang="en-US" i="1" dirty="0" smtClean="0"/>
              <a:t>Lots of acid – lower pH than many other fermentations.</a:t>
            </a:r>
          </a:p>
          <a:p>
            <a:pPr eaLnBrk="1" hangingPunct="1">
              <a:buFontTx/>
              <a:buNone/>
              <a:defRPr/>
            </a:pPr>
            <a:r>
              <a:rPr lang="en-US" i="1" dirty="0" smtClean="0"/>
              <a:t>Found in the same bacteria of family </a:t>
            </a:r>
            <a:r>
              <a:rPr lang="en-US" i="1" dirty="0" err="1" smtClean="0"/>
              <a:t>Enterobacteriaceae</a:t>
            </a:r>
            <a:endParaRPr lang="en-US" i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295400" y="457200"/>
            <a:ext cx="7315200" cy="5668963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3600" dirty="0" smtClean="0"/>
              <a:t>Formic acid fermentation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3600" dirty="0" err="1" smtClean="0"/>
              <a:t>Pyruvate</a:t>
            </a:r>
            <a:r>
              <a:rPr lang="en-US" sz="3600" dirty="0" smtClean="0"/>
              <a:t>(y b3-C) +</a:t>
            </a:r>
            <a:r>
              <a:rPr lang="en-US" sz="3600" dirty="0" err="1" smtClean="0"/>
              <a:t>CoA</a:t>
            </a:r>
            <a:r>
              <a:rPr lang="en-US" sz="3600" dirty="0" smtClean="0"/>
              <a:t> </a:t>
            </a:r>
            <a:r>
              <a:rPr lang="en-US" sz="3600" dirty="0" smtClean="0">
                <a:sym typeface="Wingdings" pitchFamily="2" charset="2"/>
              </a:rPr>
              <a:t>Acetyl-</a:t>
            </a:r>
            <a:r>
              <a:rPr lang="en-US" sz="3600" dirty="0" err="1" smtClean="0">
                <a:sym typeface="Wingdings" pitchFamily="2" charset="2"/>
              </a:rPr>
              <a:t>CoA</a:t>
            </a:r>
            <a:r>
              <a:rPr lang="en-US" sz="3600" dirty="0" smtClean="0">
                <a:sym typeface="Wingdings" pitchFamily="2" charset="2"/>
              </a:rPr>
              <a:t> (2-C)+formic </a:t>
            </a:r>
            <a:r>
              <a:rPr lang="en-US" sz="3600" dirty="0" err="1" smtClean="0">
                <a:sym typeface="Wingdings" pitchFamily="2" charset="2"/>
              </a:rPr>
              <a:t>aicd</a:t>
            </a:r>
            <a:r>
              <a:rPr lang="en-US" sz="3600" dirty="0" smtClean="0">
                <a:sym typeface="Wingdings" pitchFamily="2" charset="2"/>
              </a:rPr>
              <a:t>(1-C)-enzyme</a:t>
            </a:r>
            <a:r>
              <a:rPr lang="en-US" sz="3600" i="1" dirty="0" smtClean="0">
                <a:sym typeface="Wingdings" pitchFamily="2" charset="2"/>
              </a:rPr>
              <a:t> </a:t>
            </a:r>
            <a:r>
              <a:rPr lang="en-US" sz="3600" i="1" dirty="0" err="1" smtClean="0">
                <a:sym typeface="Wingdings" pitchFamily="2" charset="2"/>
              </a:rPr>
              <a:t>formate</a:t>
            </a:r>
            <a:r>
              <a:rPr lang="en-US" sz="3600" i="1" dirty="0" smtClean="0">
                <a:sym typeface="Wingdings" pitchFamily="2" charset="2"/>
              </a:rPr>
              <a:t> </a:t>
            </a:r>
            <a:r>
              <a:rPr lang="en-US" sz="3600" i="1" dirty="0" err="1" smtClean="0">
                <a:sym typeface="Wingdings" pitchFamily="2" charset="2"/>
              </a:rPr>
              <a:t>lyase</a:t>
            </a:r>
            <a:endParaRPr lang="en-US" sz="3600" dirty="0" smtClean="0">
              <a:sym typeface="Wingdings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3600" dirty="0" smtClean="0">
                <a:sym typeface="Wingdings" pitchFamily="2" charset="2"/>
              </a:rPr>
              <a:t>HCOOH CO</a:t>
            </a:r>
            <a:r>
              <a:rPr lang="en-US" sz="3600" baseline="-25000" dirty="0" smtClean="0">
                <a:sym typeface="Wingdings" pitchFamily="2" charset="2"/>
              </a:rPr>
              <a:t>2</a:t>
            </a:r>
            <a:r>
              <a:rPr lang="en-US" sz="3600" dirty="0" smtClean="0">
                <a:sym typeface="Wingdings" pitchFamily="2" charset="2"/>
              </a:rPr>
              <a:t> +H</a:t>
            </a:r>
            <a:r>
              <a:rPr lang="en-US" sz="3600" baseline="-25000" dirty="0" smtClean="0">
                <a:sym typeface="Wingdings" pitchFamily="2" charset="2"/>
              </a:rPr>
              <a:t>2</a:t>
            </a:r>
            <a:r>
              <a:rPr lang="en-US" sz="3600" dirty="0" smtClean="0">
                <a:sym typeface="Wingdings" pitchFamily="2" charset="2"/>
              </a:rPr>
              <a:t>- enzyme </a:t>
            </a:r>
            <a:r>
              <a:rPr lang="en-US" sz="3600" i="1" dirty="0" err="1" smtClean="0">
                <a:sym typeface="Wingdings" pitchFamily="2" charset="2"/>
              </a:rPr>
              <a:t>formate</a:t>
            </a:r>
            <a:r>
              <a:rPr lang="en-US" sz="3600" i="1" dirty="0" smtClean="0">
                <a:sym typeface="Wingdings" pitchFamily="2" charset="2"/>
              </a:rPr>
              <a:t> </a:t>
            </a:r>
            <a:r>
              <a:rPr lang="en-US" sz="3600" i="1" dirty="0" err="1" smtClean="0">
                <a:sym typeface="Wingdings" pitchFamily="2" charset="2"/>
              </a:rPr>
              <a:t>dehydrogenlyase</a:t>
            </a:r>
            <a:r>
              <a:rPr lang="en-US" sz="3600" dirty="0" smtClean="0">
                <a:sym typeface="Wingdings" pitchFamily="2" charset="2"/>
              </a:rPr>
              <a:t> 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3600" dirty="0" smtClean="0">
                <a:sym typeface="Wingdings" pitchFamily="2" charset="2"/>
              </a:rPr>
              <a:t>Found in many bacteria, very common in </a:t>
            </a:r>
            <a:r>
              <a:rPr lang="en-US" sz="3600" dirty="0" err="1" smtClean="0">
                <a:sym typeface="Wingdings" pitchFamily="2" charset="2"/>
              </a:rPr>
              <a:t>enterics</a:t>
            </a:r>
            <a:r>
              <a:rPr lang="en-US" sz="3600" dirty="0" smtClean="0">
                <a:sym typeface="Wingdings" pitchFamily="2" charset="2"/>
              </a:rPr>
              <a:t> (gram negative, facultative anaerobic rods, include </a:t>
            </a:r>
            <a:r>
              <a:rPr lang="en-US" sz="3600" i="1" dirty="0" smtClean="0">
                <a:sym typeface="Wingdings" pitchFamily="2" charset="2"/>
              </a:rPr>
              <a:t>Escherichia coli, </a:t>
            </a:r>
            <a:r>
              <a:rPr lang="en-US" sz="3600" i="1" dirty="0" err="1" smtClean="0">
                <a:sym typeface="Wingdings" pitchFamily="2" charset="2"/>
              </a:rPr>
              <a:t>Enterobacter</a:t>
            </a:r>
            <a:r>
              <a:rPr lang="en-US" sz="3600" i="1" dirty="0" smtClean="0">
                <a:sym typeface="Wingdings" pitchFamily="2" charset="2"/>
              </a:rPr>
              <a:t>, Salmonella, Proteus </a:t>
            </a:r>
            <a:r>
              <a:rPr lang="en-US" sz="3600" dirty="0" smtClean="0">
                <a:sym typeface="Wingdings" pitchFamily="2" charset="2"/>
              </a:rPr>
              <a:t>and other.</a:t>
            </a:r>
            <a:r>
              <a:rPr lang="en-US" sz="3600" i="1" dirty="0" smtClean="0">
                <a:sym typeface="Wingdings" pitchFamily="2" charset="2"/>
              </a:rPr>
              <a:t> 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3600" i="1" dirty="0" smtClean="0">
                <a:sym typeface="Wingdings" pitchFamily="2" charset="2"/>
              </a:rPr>
              <a:t>Useful in identification of </a:t>
            </a:r>
            <a:r>
              <a:rPr lang="en-US" sz="3600" i="1" dirty="0" err="1" smtClean="0">
                <a:sym typeface="Wingdings" pitchFamily="2" charset="2"/>
              </a:rPr>
              <a:t>enterics</a:t>
            </a:r>
            <a:r>
              <a:rPr lang="en-US" sz="3600" i="1" dirty="0" smtClean="0">
                <a:sym typeface="Wingdings" pitchFamily="2" charset="2"/>
              </a:rPr>
              <a:t>.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sz="3600" i="1" dirty="0" smtClean="0">
              <a:sym typeface="Wingdings" pitchFamily="2" charset="2"/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2100"/>
            <a:ext cx="8229600" cy="1384300"/>
          </a:xfrm>
        </p:spPr>
        <p:txBody>
          <a:bodyPr lIns="92075" tIns="46038" rIns="92075" bIns="46038"/>
          <a:lstStyle/>
          <a:p>
            <a:pPr eaLnBrk="1" hangingPunct="1">
              <a:defRPr/>
            </a:pPr>
            <a:r>
              <a:rPr lang="en-US" smtClean="0"/>
              <a:t>Propionic Acid Fermentation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0" y="1646238"/>
            <a:ext cx="4033838" cy="4525962"/>
          </a:xfrm>
        </p:spPr>
        <p:txBody>
          <a:bodyPr lIns="92075" tIns="46038" rIns="92075" bIns="46038"/>
          <a:lstStyle/>
          <a:p>
            <a:pPr eaLnBrk="1" hangingPunct="1">
              <a:buFontTx/>
              <a:buNone/>
              <a:defRPr/>
            </a:pPr>
            <a:r>
              <a:rPr lang="en-US" sz="2800" dirty="0" smtClean="0"/>
              <a:t>Only 2 ATP</a:t>
            </a:r>
          </a:p>
          <a:p>
            <a:pPr eaLnBrk="1" hangingPunct="1">
              <a:buFontTx/>
              <a:buNone/>
              <a:defRPr/>
            </a:pPr>
            <a:r>
              <a:rPr lang="en-US" sz="2800" dirty="0" smtClean="0"/>
              <a:t>End Products:</a:t>
            </a:r>
          </a:p>
          <a:p>
            <a:pPr lvl="1" eaLnBrk="1" hangingPunct="1">
              <a:buFont typeface="Tahoma" charset="0"/>
              <a:buNone/>
              <a:defRPr/>
            </a:pPr>
            <a:r>
              <a:rPr lang="en-US" dirty="0" err="1" smtClean="0"/>
              <a:t>Propionic</a:t>
            </a:r>
            <a:r>
              <a:rPr lang="en-US" dirty="0" smtClean="0"/>
              <a:t> acid</a:t>
            </a:r>
          </a:p>
          <a:p>
            <a:pPr lvl="1" eaLnBrk="1" hangingPunct="1">
              <a:buFont typeface="Tahoma" charset="0"/>
              <a:buNone/>
              <a:defRPr/>
            </a:pPr>
            <a:r>
              <a:rPr lang="en-US" dirty="0" smtClean="0"/>
              <a:t>CO</a:t>
            </a:r>
            <a:r>
              <a:rPr lang="en-US" baseline="-25000" dirty="0" smtClean="0"/>
              <a:t>2</a:t>
            </a:r>
          </a:p>
          <a:p>
            <a:pPr eaLnBrk="1" hangingPunct="1">
              <a:buFontTx/>
              <a:buNone/>
              <a:defRPr/>
            </a:pPr>
            <a:endParaRPr lang="en-US" sz="2800" dirty="0" smtClean="0"/>
          </a:p>
          <a:p>
            <a:pPr eaLnBrk="1" hangingPunct="1">
              <a:buFontTx/>
              <a:buNone/>
              <a:defRPr/>
            </a:pPr>
            <a:endParaRPr lang="en-US" sz="2800" dirty="0" smtClean="0"/>
          </a:p>
          <a:p>
            <a:pPr eaLnBrk="1" hangingPunct="1">
              <a:buFontTx/>
              <a:buNone/>
              <a:defRPr/>
            </a:pPr>
            <a:endParaRPr lang="en-US" sz="2800" dirty="0" smtClean="0"/>
          </a:p>
          <a:p>
            <a:pPr eaLnBrk="1" hangingPunct="1">
              <a:buFontTx/>
              <a:buNone/>
              <a:defRPr/>
            </a:pPr>
            <a:r>
              <a:rPr lang="en-US" sz="2800" i="1" dirty="0" err="1" smtClean="0"/>
              <a:t>Propionibacterium</a:t>
            </a:r>
            <a:r>
              <a:rPr lang="en-US" sz="2800" dirty="0" smtClean="0"/>
              <a:t> sp.</a:t>
            </a:r>
            <a:endParaRPr lang="en-US" sz="2800" baseline="-25000" dirty="0" smtClean="0"/>
          </a:p>
          <a:p>
            <a:pPr lvl="1" eaLnBrk="1" hangingPunct="1">
              <a:buFont typeface="Tahoma" charset="0"/>
              <a:buNone/>
              <a:defRPr/>
            </a:pPr>
            <a:endParaRPr lang="en-US" baseline="-25000" dirty="0" smtClean="0"/>
          </a:p>
        </p:txBody>
      </p:sp>
      <p:pic>
        <p:nvPicPr>
          <p:cNvPr id="50183" name="Picture 7" descr="C:\Program Files\Microsoft Office\Clipart\Office\Cheese1.wmf"/>
          <p:cNvPicPr>
            <a:picLocks noGrp="1" noChangeAspect="1" noChangeArrowheads="1"/>
          </p:cNvPicPr>
          <p:nvPr>
            <p:ph type="clipArt" sz="half" idx="4294967295"/>
          </p:nvPr>
        </p:nvPicPr>
        <p:blipFill>
          <a:blip r:embed="rId2"/>
          <a:srcRect/>
          <a:stretch>
            <a:fillRect/>
          </a:stretch>
        </p:blipFill>
        <p:spPr>
          <a:xfrm>
            <a:off x="5110163" y="1730375"/>
            <a:ext cx="4033837" cy="4156075"/>
          </a:xfr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50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 build="p" bldLvl="2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228600" y="838200"/>
            <a:ext cx="8001000" cy="51816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dirty="0" err="1" smtClean="0"/>
              <a:t>Propionic</a:t>
            </a:r>
            <a:r>
              <a:rPr lang="en-US" dirty="0" smtClean="0"/>
              <a:t> acid fermentation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dirty="0" smtClean="0"/>
              <a:t>Genus </a:t>
            </a:r>
            <a:r>
              <a:rPr lang="en-US" i="1" dirty="0" err="1" smtClean="0"/>
              <a:t>Propionibacterium</a:t>
            </a:r>
            <a:r>
              <a:rPr lang="en-US" i="1" dirty="0" smtClean="0"/>
              <a:t> </a:t>
            </a:r>
            <a:r>
              <a:rPr lang="en-US" dirty="0" smtClean="0"/>
              <a:t> carry out this fermentation.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dirty="0" smtClean="0"/>
              <a:t>Either Glucose or lactic acid converted to </a:t>
            </a:r>
            <a:r>
              <a:rPr lang="en-US" dirty="0" err="1" smtClean="0"/>
              <a:t>propionic</a:t>
            </a:r>
            <a:r>
              <a:rPr lang="en-US" dirty="0" smtClean="0"/>
              <a:t> acid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dirty="0" err="1" smtClean="0"/>
              <a:t>Propionic</a:t>
            </a:r>
            <a:r>
              <a:rPr lang="en-US" dirty="0" smtClean="0"/>
              <a:t> acid fermentation from lactic acid is important in </a:t>
            </a:r>
            <a:r>
              <a:rPr lang="en-US" dirty="0" err="1" smtClean="0"/>
              <a:t>swiss</a:t>
            </a:r>
            <a:r>
              <a:rPr lang="en-US" dirty="0" smtClean="0"/>
              <a:t> cheese manufacture where fermentative production of CO</a:t>
            </a:r>
            <a:r>
              <a:rPr lang="en-US" baseline="-25000" dirty="0" smtClean="0"/>
              <a:t>2 </a:t>
            </a:r>
            <a:r>
              <a:rPr lang="en-US" dirty="0" smtClean="0"/>
              <a:t>causes characteristic holes.</a:t>
            </a:r>
            <a:r>
              <a:rPr lang="en-US" baseline="-25000" dirty="0" smtClean="0"/>
              <a:t> </a:t>
            </a:r>
            <a:r>
              <a:rPr lang="en-US" dirty="0" smtClean="0"/>
              <a:t> </a:t>
            </a:r>
            <a:endParaRPr lang="en-US" i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304800" y="990600"/>
            <a:ext cx="7924800" cy="50292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3600" u="sng" dirty="0" smtClean="0"/>
              <a:t>Butyric acid fermentation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3600" dirty="0" err="1" smtClean="0"/>
              <a:t>Pyruvate</a:t>
            </a:r>
            <a:r>
              <a:rPr lang="en-US" sz="3600" dirty="0" smtClean="0"/>
              <a:t> converted to either acetone and CO</a:t>
            </a:r>
            <a:r>
              <a:rPr lang="en-US" sz="3600" baseline="-25000" dirty="0" smtClean="0"/>
              <a:t>2</a:t>
            </a:r>
            <a:r>
              <a:rPr lang="en-US" sz="3600" dirty="0" smtClean="0"/>
              <a:t> 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3600" dirty="0" err="1" smtClean="0"/>
              <a:t>Isopropanol</a:t>
            </a:r>
            <a:r>
              <a:rPr lang="en-US" sz="3600" dirty="0" smtClean="0"/>
              <a:t> and CO</a:t>
            </a:r>
            <a:r>
              <a:rPr lang="en-US" sz="3600" baseline="-25000" dirty="0" smtClean="0"/>
              <a:t>2</a:t>
            </a:r>
            <a:endParaRPr lang="en-US" sz="3600" dirty="0" smtClean="0"/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3600" dirty="0" err="1" smtClean="0"/>
              <a:t>Butanol</a:t>
            </a:r>
            <a:endParaRPr lang="en-US" sz="3600" dirty="0" smtClean="0"/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3600" dirty="0" smtClean="0"/>
              <a:t>Many of these are good organic solvents.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3600" dirty="0" smtClean="0"/>
              <a:t>Species of </a:t>
            </a:r>
            <a:r>
              <a:rPr lang="en-US" sz="3600" i="1" dirty="0" smtClean="0"/>
              <a:t>Clostridium </a:t>
            </a:r>
            <a:r>
              <a:rPr lang="en-US" sz="3600" dirty="0" smtClean="0"/>
              <a:t>carry out this fermentation.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90600" y="1066800"/>
            <a:ext cx="7239000" cy="49530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70000"/>
              </a:lnSpc>
              <a:buFontTx/>
              <a:buNone/>
              <a:defRPr/>
            </a:pPr>
            <a:r>
              <a:rPr lang="en-US" sz="2600" dirty="0" smtClean="0"/>
              <a:t>Differences between respiration in mitochondria (eukaryotes) and bacteria (prokaryotes)</a:t>
            </a:r>
          </a:p>
          <a:p>
            <a:pPr eaLnBrk="1" hangingPunct="1">
              <a:lnSpc>
                <a:spcPct val="70000"/>
              </a:lnSpc>
              <a:buFontTx/>
              <a:buNone/>
              <a:defRPr/>
            </a:pPr>
            <a:r>
              <a:rPr lang="en-US" sz="2600" dirty="0" smtClean="0"/>
              <a:t>In Eukaryotes:</a:t>
            </a:r>
          </a:p>
          <a:p>
            <a:pPr eaLnBrk="1" hangingPunct="1">
              <a:lnSpc>
                <a:spcPct val="70000"/>
              </a:lnSpc>
              <a:buFontTx/>
              <a:buNone/>
              <a:defRPr/>
            </a:pPr>
            <a:r>
              <a:rPr lang="en-US" sz="2600" dirty="0" smtClean="0"/>
              <a:t>ETS located in inner mitochondrial membrane, proton gradient develops across inner mitochondrial membrane.</a:t>
            </a:r>
          </a:p>
          <a:p>
            <a:pPr eaLnBrk="1" hangingPunct="1">
              <a:lnSpc>
                <a:spcPct val="70000"/>
              </a:lnSpc>
              <a:buFontTx/>
              <a:buNone/>
              <a:defRPr/>
            </a:pPr>
            <a:r>
              <a:rPr lang="en-US" sz="2600" dirty="0" smtClean="0"/>
              <a:t>Mitochondria are very efficient at generating proton gradient</a:t>
            </a:r>
          </a:p>
          <a:p>
            <a:pPr eaLnBrk="1" hangingPunct="1">
              <a:lnSpc>
                <a:spcPct val="70000"/>
              </a:lnSpc>
              <a:buFontTx/>
              <a:buNone/>
              <a:defRPr/>
            </a:pPr>
            <a:r>
              <a:rPr lang="en-US" sz="2600" dirty="0" smtClean="0"/>
              <a:t>With NADH electron donor, P/O ratio can be 3 (means 3 ATP made per NADH)</a:t>
            </a:r>
          </a:p>
          <a:p>
            <a:pPr eaLnBrk="1" hangingPunct="1">
              <a:lnSpc>
                <a:spcPct val="70000"/>
              </a:lnSpc>
              <a:buFontTx/>
              <a:buNone/>
              <a:defRPr/>
            </a:pPr>
            <a:r>
              <a:rPr lang="en-US" sz="2600" dirty="0" smtClean="0"/>
              <a:t>But with FADH as electron donor, P/O ratio only 2 (fewer protons are transported, less proton gradient)</a:t>
            </a:r>
          </a:p>
          <a:p>
            <a:pPr eaLnBrk="1" hangingPunct="1">
              <a:lnSpc>
                <a:spcPct val="70000"/>
              </a:lnSpc>
              <a:buFontTx/>
              <a:buNone/>
              <a:defRPr/>
            </a:pPr>
            <a:r>
              <a:rPr lang="en-US" sz="2600" dirty="0" smtClean="0"/>
              <a:t>Overall efficiency of respiration in mitochondria:~40% (means that about 40% of energy in glucose actually gets converted to ATP)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838200" y="609600"/>
            <a:ext cx="7391400" cy="5410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dirty="0" smtClean="0"/>
              <a:t>2.In Prokaryotes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dirty="0" smtClean="0"/>
              <a:t>ETS located in </a:t>
            </a:r>
            <a:r>
              <a:rPr lang="en-US" dirty="0" err="1" smtClean="0"/>
              <a:t>cytoplasmic</a:t>
            </a:r>
            <a:r>
              <a:rPr lang="en-US" dirty="0" smtClean="0"/>
              <a:t> membrane. Proton gradient develops across this membrane.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dirty="0" smtClean="0"/>
              <a:t>Bacteria are not as efficient.  ETS chains are shorter.  P/O ratios are lower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dirty="0" smtClean="0"/>
              <a:t>In prokaryotes P/O ratios for NADH are only ~2.  Overall efficiency of glucose oxidation is closer to 28%, not 40%.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533400" y="1143000"/>
            <a:ext cx="7696200" cy="4876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70000"/>
              </a:lnSpc>
              <a:buFontTx/>
              <a:buNone/>
              <a:defRPr/>
            </a:pPr>
            <a:r>
              <a:rPr lang="en-US" sz="3000" i="1" dirty="0" smtClean="0"/>
              <a:t>TCA cycle (Citric acid cycle/ Krebs cycle)</a:t>
            </a:r>
          </a:p>
          <a:p>
            <a:pPr eaLnBrk="1" hangingPunct="1">
              <a:lnSpc>
                <a:spcPct val="70000"/>
              </a:lnSpc>
              <a:buFontTx/>
              <a:buNone/>
              <a:defRPr/>
            </a:pPr>
            <a:r>
              <a:rPr lang="en-US" sz="3000" dirty="0" smtClean="0"/>
              <a:t>Formation of acetyl- Co A</a:t>
            </a:r>
          </a:p>
          <a:p>
            <a:pPr eaLnBrk="1" hangingPunct="1">
              <a:lnSpc>
                <a:spcPct val="70000"/>
              </a:lnSpc>
              <a:buFontTx/>
              <a:buNone/>
              <a:defRPr/>
            </a:pPr>
            <a:r>
              <a:rPr lang="en-US" sz="3000" dirty="0" smtClean="0"/>
              <a:t>Oxidation of </a:t>
            </a:r>
            <a:r>
              <a:rPr lang="en-US" sz="3000" dirty="0" err="1" smtClean="0"/>
              <a:t>pyruvate</a:t>
            </a:r>
            <a:r>
              <a:rPr lang="en-US" sz="3000" dirty="0" smtClean="0"/>
              <a:t>+ NAD</a:t>
            </a:r>
            <a:r>
              <a:rPr lang="en-US" sz="3000" baseline="30000" dirty="0" smtClean="0"/>
              <a:t>+</a:t>
            </a:r>
            <a:r>
              <a:rPr lang="en-US" sz="3000" dirty="0" smtClean="0"/>
              <a:t> </a:t>
            </a:r>
            <a:r>
              <a:rPr lang="en-US" sz="3000" dirty="0" smtClean="0">
                <a:sym typeface="Wingdings" pitchFamily="2" charset="2"/>
              </a:rPr>
              <a:t>Acetyl CoA+CO</a:t>
            </a:r>
            <a:r>
              <a:rPr lang="en-US" sz="3000" baseline="-25000" dirty="0" smtClean="0">
                <a:sym typeface="Wingdings" pitchFamily="2" charset="2"/>
              </a:rPr>
              <a:t>2</a:t>
            </a:r>
            <a:r>
              <a:rPr lang="en-US" sz="3000" dirty="0" smtClean="0">
                <a:sym typeface="Wingdings" pitchFamily="2" charset="2"/>
              </a:rPr>
              <a:t>+NADH</a:t>
            </a:r>
          </a:p>
          <a:p>
            <a:pPr eaLnBrk="1" hangingPunct="1">
              <a:lnSpc>
                <a:spcPct val="70000"/>
              </a:lnSpc>
              <a:buFontTx/>
              <a:buNone/>
              <a:defRPr/>
            </a:pPr>
            <a:r>
              <a:rPr lang="en-US" sz="3000" dirty="0" smtClean="0">
                <a:sym typeface="Wingdings" pitchFamily="2" charset="2"/>
              </a:rPr>
              <a:t>Carried out by </a:t>
            </a:r>
            <a:r>
              <a:rPr lang="en-US" sz="3000" dirty="0" err="1" smtClean="0">
                <a:sym typeface="Wingdings" pitchFamily="2" charset="2"/>
              </a:rPr>
              <a:t>pyruvate</a:t>
            </a:r>
            <a:r>
              <a:rPr lang="en-US" sz="3000" dirty="0" smtClean="0">
                <a:sym typeface="Wingdings" pitchFamily="2" charset="2"/>
              </a:rPr>
              <a:t> </a:t>
            </a:r>
            <a:r>
              <a:rPr lang="en-US" sz="3000" dirty="0" err="1" smtClean="0">
                <a:sym typeface="Wingdings" pitchFamily="2" charset="2"/>
              </a:rPr>
              <a:t>dehydrogenase</a:t>
            </a:r>
            <a:endParaRPr lang="en-US" sz="3000" dirty="0" smtClean="0">
              <a:sym typeface="Wingdings" pitchFamily="2" charset="2"/>
            </a:endParaRPr>
          </a:p>
          <a:p>
            <a:pPr eaLnBrk="1" hangingPunct="1">
              <a:lnSpc>
                <a:spcPct val="70000"/>
              </a:lnSpc>
              <a:buFontTx/>
              <a:buNone/>
              <a:defRPr/>
            </a:pPr>
            <a:r>
              <a:rPr lang="en-US" sz="3000" dirty="0" smtClean="0">
                <a:sym typeface="Wingdings" pitchFamily="2" charset="2"/>
              </a:rPr>
              <a:t>Net yield: Acetyl CoA+3NAD</a:t>
            </a:r>
            <a:r>
              <a:rPr lang="en-US" sz="3000" baseline="30000" dirty="0" smtClean="0">
                <a:sym typeface="Wingdings" pitchFamily="2" charset="2"/>
              </a:rPr>
              <a:t>+</a:t>
            </a:r>
            <a:r>
              <a:rPr lang="en-US" sz="3000" dirty="0" smtClean="0">
                <a:sym typeface="Wingdings" pitchFamily="2" charset="2"/>
              </a:rPr>
              <a:t> +FAD 2CO</a:t>
            </a:r>
            <a:r>
              <a:rPr lang="en-US" sz="3000" baseline="-25000" dirty="0" smtClean="0">
                <a:sym typeface="Wingdings" pitchFamily="2" charset="2"/>
              </a:rPr>
              <a:t>2</a:t>
            </a:r>
            <a:r>
              <a:rPr lang="en-US" sz="3000" dirty="0" smtClean="0">
                <a:sym typeface="Wingdings" pitchFamily="2" charset="2"/>
              </a:rPr>
              <a:t> +3NADH+FADH</a:t>
            </a:r>
            <a:r>
              <a:rPr lang="en-US" sz="3000" baseline="-25000" dirty="0" smtClean="0">
                <a:sym typeface="Wingdings" pitchFamily="2" charset="2"/>
              </a:rPr>
              <a:t>2</a:t>
            </a:r>
            <a:r>
              <a:rPr lang="en-US" sz="3000" dirty="0" smtClean="0">
                <a:sym typeface="Wingdings" pitchFamily="2" charset="2"/>
              </a:rPr>
              <a:t> +ATP</a:t>
            </a:r>
          </a:p>
          <a:p>
            <a:pPr eaLnBrk="1" hangingPunct="1">
              <a:lnSpc>
                <a:spcPct val="70000"/>
              </a:lnSpc>
              <a:buFontTx/>
              <a:buNone/>
              <a:defRPr/>
            </a:pPr>
            <a:r>
              <a:rPr lang="en-US" sz="3000" dirty="0" smtClean="0">
                <a:sym typeface="Wingdings" pitchFamily="2" charset="2"/>
              </a:rPr>
              <a:t>TCA cycle completes the oxidation of carbons in </a:t>
            </a:r>
            <a:r>
              <a:rPr lang="en-US" sz="3000" dirty="0" err="1" smtClean="0">
                <a:sym typeface="Wingdings" pitchFamily="2" charset="2"/>
              </a:rPr>
              <a:t>pyruvate</a:t>
            </a:r>
            <a:r>
              <a:rPr lang="en-US" sz="3000" dirty="0" smtClean="0">
                <a:sym typeface="Wingdings" pitchFamily="2" charset="2"/>
              </a:rPr>
              <a:t> to most oxidized form CO</a:t>
            </a:r>
            <a:r>
              <a:rPr lang="en-US" sz="3000" baseline="-25000" dirty="0" smtClean="0">
                <a:sym typeface="Wingdings" pitchFamily="2" charset="2"/>
              </a:rPr>
              <a:t>2</a:t>
            </a:r>
          </a:p>
          <a:p>
            <a:pPr eaLnBrk="1" hangingPunct="1">
              <a:lnSpc>
                <a:spcPct val="70000"/>
              </a:lnSpc>
              <a:buFontTx/>
              <a:buNone/>
              <a:defRPr/>
            </a:pPr>
            <a:r>
              <a:rPr lang="en-US" sz="3000" dirty="0" smtClean="0">
                <a:sym typeface="Wingdings" pitchFamily="2" charset="2"/>
              </a:rPr>
              <a:t>Removes electrons originally in C-H bonds to electron carriers NADH and FADH use in respiration machinery. </a:t>
            </a:r>
          </a:p>
          <a:p>
            <a:pPr eaLnBrk="1" hangingPunct="1">
              <a:lnSpc>
                <a:spcPct val="70000"/>
              </a:lnSpc>
              <a:defRPr/>
            </a:pPr>
            <a:endParaRPr lang="en-US" sz="3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/>
          <p:cNvSpPr>
            <a:spLocks noGrp="1"/>
          </p:cNvSpPr>
          <p:nvPr>
            <p:ph type="title" idx="4294967295"/>
          </p:nvPr>
        </p:nvSpPr>
        <p:spPr>
          <a:xfrm>
            <a:off x="990600" y="0"/>
            <a:ext cx="8153400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b="1" smtClean="0"/>
              <a:t>Anaerobic respiration:</a:t>
            </a:r>
            <a:br>
              <a:rPr lang="en-US" b="1" smtClean="0"/>
            </a:br>
            <a:endParaRPr lang="en-US" smtClean="0"/>
          </a:p>
        </p:txBody>
      </p:sp>
      <p:sp>
        <p:nvSpPr>
          <p:cNvPr id="61443" name="Content Placeholder 2"/>
          <p:cNvSpPr>
            <a:spLocks noGrp="1"/>
          </p:cNvSpPr>
          <p:nvPr>
            <p:ph idx="4294967295"/>
          </p:nvPr>
        </p:nvSpPr>
        <p:spPr>
          <a:xfrm>
            <a:off x="0" y="838200"/>
            <a:ext cx="8305800" cy="5287963"/>
          </a:xfrm>
        </p:spPr>
        <p:txBody>
          <a:bodyPr/>
          <a:lstStyle/>
          <a:p>
            <a:pPr eaLnBrk="1" hangingPunct="1">
              <a:buFontTx/>
              <a:buNone/>
              <a:defRPr/>
            </a:pPr>
            <a:r>
              <a:rPr lang="en-US" smtClean="0"/>
              <a:t>Use of acceptors other than oxygen. </a:t>
            </a:r>
          </a:p>
          <a:p>
            <a:pPr eaLnBrk="1" hangingPunct="1">
              <a:buFontTx/>
              <a:buNone/>
              <a:defRPr/>
            </a:pPr>
            <a:r>
              <a:rPr lang="en-US" smtClean="0"/>
              <a:t>Most common in bacteria. Most alternative electron acceptors are inorganic molecules, but some organic molecules can serve. </a:t>
            </a:r>
          </a:p>
          <a:p>
            <a:pPr eaLnBrk="1" hangingPunct="1">
              <a:buFontTx/>
              <a:buNone/>
              <a:defRPr/>
            </a:pPr>
            <a:r>
              <a:rPr lang="en-US" smtClean="0"/>
              <a:t>As with aerobic respiration, anaerobic respiration uses ETS, membrane localization, proton gradient, and ATP synthase. </a:t>
            </a:r>
          </a:p>
          <a:p>
            <a:pPr eaLnBrk="1" hangingPunct="1">
              <a:buFontTx/>
              <a:buNone/>
              <a:defRPr/>
            </a:pPr>
            <a:r>
              <a:rPr lang="en-US" smtClean="0"/>
              <a:t>Processes are of great importance both ecologically and industrially. </a:t>
            </a:r>
          </a:p>
          <a:p>
            <a:pPr eaLnBrk="1" hangingPunct="1">
              <a:defRPr/>
            </a:pPr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8458200" cy="1417638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000" smtClean="0"/>
              <a:t>Examples of anaerobic respiration:</a:t>
            </a:r>
            <a:br>
              <a:rPr lang="en-US" sz="4000" smtClean="0"/>
            </a:br>
            <a:endParaRPr lang="en-US" sz="4000" smtClean="0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2400" y="1600200"/>
            <a:ext cx="8991600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en-US" sz="3600" b="1" smtClean="0"/>
              <a:t>Nitrate (NO</a:t>
            </a:r>
            <a:r>
              <a:rPr lang="en-US" sz="3600" b="1" baseline="-25000" smtClean="0"/>
              <a:t>3</a:t>
            </a:r>
            <a:r>
              <a:rPr lang="en-US" sz="3600" b="1" baseline="30000" smtClean="0"/>
              <a:t>-</a:t>
            </a:r>
            <a:r>
              <a:rPr lang="en-US" sz="3600" b="1" smtClean="0"/>
              <a:t>)</a:t>
            </a:r>
            <a:r>
              <a:rPr lang="en-US" sz="3600" smtClean="0"/>
              <a:t>. </a:t>
            </a:r>
            <a:endParaRPr lang="en-US" sz="3600" b="1" smtClean="0"/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en-US" sz="3600" smtClean="0"/>
              <a:t>Process called </a:t>
            </a:r>
            <a:r>
              <a:rPr lang="en-US" sz="3600" i="1" smtClean="0"/>
              <a:t>denitrification</a:t>
            </a:r>
            <a:r>
              <a:rPr lang="en-US" sz="3600" smtClean="0"/>
              <a:t>- called dissimilative nitrate reduction</a:t>
            </a: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en-US" sz="3600" smtClean="0"/>
              <a:t>Organisms respiring anaerobically gain less energy than with oxygen</a:t>
            </a: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en-US" sz="3600" smtClean="0"/>
              <a:t>Enzyme </a:t>
            </a:r>
            <a:r>
              <a:rPr lang="en-US" sz="3600" i="1" smtClean="0"/>
              <a:t>nitrate reductase.  </a:t>
            </a:r>
            <a:r>
              <a:rPr lang="en-US" sz="3600" smtClean="0"/>
              <a:t>Enzyme is repressed by oxygen, synthesis turned on in absence of oxygen.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81000" y="457200"/>
            <a:ext cx="8610600" cy="6096000"/>
          </a:xfrm>
        </p:spPr>
        <p:txBody>
          <a:bodyPr>
            <a:normAutofit/>
          </a:bodyPr>
          <a:lstStyle/>
          <a:p>
            <a:pPr eaLnBrk="1" hangingPunct="1">
              <a:lnSpc>
                <a:spcPct val="70000"/>
              </a:lnSpc>
              <a:buFontTx/>
              <a:buNone/>
              <a:defRPr/>
            </a:pPr>
            <a:r>
              <a:rPr lang="en-US" i="1" dirty="0" smtClean="0"/>
              <a:t>Process can have several steps, proceed in two different directions</a:t>
            </a:r>
            <a:endParaRPr lang="en-US" dirty="0" smtClean="0"/>
          </a:p>
          <a:p>
            <a:pPr eaLnBrk="1" hangingPunct="1">
              <a:lnSpc>
                <a:spcPct val="70000"/>
              </a:lnSpc>
              <a:buFontTx/>
              <a:buNone/>
              <a:defRPr/>
            </a:pPr>
            <a:r>
              <a:rPr lang="en-US" i="1" dirty="0" smtClean="0"/>
              <a:t>1</a:t>
            </a:r>
            <a:r>
              <a:rPr lang="en-US" dirty="0" smtClean="0"/>
              <a:t>. nitrate</a:t>
            </a:r>
            <a:r>
              <a:rPr lang="en-US" dirty="0" smtClean="0">
                <a:sym typeface="Wingdings" pitchFamily="2" charset="2"/>
              </a:rPr>
              <a:t></a:t>
            </a:r>
            <a:r>
              <a:rPr lang="en-US" dirty="0" smtClean="0"/>
              <a:t> nitrite</a:t>
            </a:r>
            <a:r>
              <a:rPr lang="en-US" dirty="0" smtClean="0">
                <a:sym typeface="Wingdings" pitchFamily="2" charset="2"/>
              </a:rPr>
              <a:t></a:t>
            </a:r>
            <a:r>
              <a:rPr lang="en-US" i="1" dirty="0" smtClean="0"/>
              <a:t> </a:t>
            </a:r>
            <a:r>
              <a:rPr lang="en-US" i="1" dirty="0" smtClean="0">
                <a:sym typeface="Wingdings" pitchFamily="2" charset="2"/>
              </a:rPr>
              <a:t></a:t>
            </a:r>
            <a:r>
              <a:rPr lang="en-US" i="1" dirty="0" smtClean="0"/>
              <a:t> </a:t>
            </a:r>
            <a:r>
              <a:rPr lang="en-US" i="1" dirty="0" smtClean="0">
                <a:sym typeface="Wingdings" pitchFamily="2" charset="2"/>
              </a:rPr>
              <a:t></a:t>
            </a:r>
            <a:r>
              <a:rPr lang="en-US" i="1" dirty="0" smtClean="0"/>
              <a:t> </a:t>
            </a:r>
            <a:r>
              <a:rPr lang="en-US" i="1" dirty="0" smtClean="0">
                <a:sym typeface="Wingdings" pitchFamily="2" charset="2"/>
              </a:rPr>
              <a:t> ammonia</a:t>
            </a:r>
          </a:p>
          <a:p>
            <a:pPr eaLnBrk="1" hangingPunct="1">
              <a:lnSpc>
                <a:spcPct val="70000"/>
              </a:lnSpc>
              <a:buFontTx/>
              <a:buNone/>
              <a:defRPr/>
            </a:pPr>
            <a:r>
              <a:rPr lang="en-US" dirty="0" smtClean="0"/>
              <a:t>2. nitrate </a:t>
            </a:r>
            <a:r>
              <a:rPr lang="en-US" dirty="0" smtClean="0">
                <a:sym typeface="Wingdings" pitchFamily="2" charset="2"/>
              </a:rPr>
              <a:t></a:t>
            </a:r>
            <a:r>
              <a:rPr lang="en-US" dirty="0" smtClean="0"/>
              <a:t> nitrite </a:t>
            </a:r>
            <a:r>
              <a:rPr lang="en-US" dirty="0" smtClean="0">
                <a:sym typeface="Wingdings" pitchFamily="2" charset="2"/>
              </a:rPr>
              <a:t>nitrous oxide (N</a:t>
            </a:r>
            <a:r>
              <a:rPr lang="en-US" baseline="-25000" dirty="0" smtClean="0">
                <a:sym typeface="Wingdings" pitchFamily="2" charset="2"/>
              </a:rPr>
              <a:t>2</a:t>
            </a:r>
            <a:r>
              <a:rPr lang="en-US" dirty="0" smtClean="0">
                <a:sym typeface="Wingdings" pitchFamily="2" charset="2"/>
              </a:rPr>
              <a:t>O)</a:t>
            </a:r>
            <a:r>
              <a:rPr lang="en-US" dirty="0" err="1" smtClean="0">
                <a:sym typeface="Wingdings" pitchFamily="2" charset="2"/>
              </a:rPr>
              <a:t>dinitrogen</a:t>
            </a:r>
            <a:r>
              <a:rPr lang="en-US" dirty="0" smtClean="0">
                <a:sym typeface="Wingdings" pitchFamily="2" charset="2"/>
              </a:rPr>
              <a:t> gas</a:t>
            </a:r>
          </a:p>
          <a:p>
            <a:pPr eaLnBrk="1" hangingPunct="1">
              <a:lnSpc>
                <a:spcPct val="70000"/>
              </a:lnSpc>
              <a:buFontTx/>
              <a:buNone/>
              <a:defRPr/>
            </a:pPr>
            <a:endParaRPr lang="en-US" dirty="0" smtClean="0"/>
          </a:p>
          <a:p>
            <a:pPr eaLnBrk="1" hangingPunct="1">
              <a:lnSpc>
                <a:spcPct val="70000"/>
              </a:lnSpc>
              <a:buFontTx/>
              <a:buNone/>
              <a:defRPr/>
            </a:pPr>
            <a:r>
              <a:rPr lang="en-US" dirty="0" smtClean="0"/>
              <a:t>Second process is major pathway for loss of nitrogen compounds from soil, return of nitrogen to atmosphere</a:t>
            </a:r>
          </a:p>
          <a:p>
            <a:pPr eaLnBrk="1" hangingPunct="1">
              <a:lnSpc>
                <a:spcPct val="70000"/>
              </a:lnSpc>
              <a:buFontTx/>
              <a:buNone/>
              <a:defRPr/>
            </a:pPr>
            <a:endParaRPr lang="en-US" i="1" dirty="0" smtClean="0"/>
          </a:p>
          <a:p>
            <a:pPr eaLnBrk="1" hangingPunct="1">
              <a:lnSpc>
                <a:spcPct val="70000"/>
              </a:lnSpc>
              <a:buFontTx/>
              <a:buNone/>
              <a:defRPr/>
            </a:pPr>
            <a:r>
              <a:rPr lang="en-US" i="1" dirty="0" smtClean="0"/>
              <a:t>Pseudomonas </a:t>
            </a:r>
            <a:r>
              <a:rPr lang="en-US" b="1" dirty="0" smtClean="0"/>
              <a:t>species are common </a:t>
            </a:r>
            <a:r>
              <a:rPr lang="en-US" b="1" dirty="0" err="1" smtClean="0"/>
              <a:t>denitrifires</a:t>
            </a:r>
            <a:r>
              <a:rPr lang="en-US" b="1" dirty="0" smtClean="0"/>
              <a:t>, widespread in soils.  When fertilized soils become flooded, oxygen is rapidly depleted, </a:t>
            </a:r>
            <a:r>
              <a:rPr lang="en-US" b="1" i="1" dirty="0" smtClean="0"/>
              <a:t>Pseudomonas </a:t>
            </a:r>
            <a:r>
              <a:rPr lang="en-US" b="1" dirty="0" smtClean="0"/>
              <a:t>switch to anaerobic respiration and leaving field in unfertile state  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Content Placeholder 2"/>
          <p:cNvSpPr>
            <a:spLocks noGrp="1"/>
          </p:cNvSpPr>
          <p:nvPr>
            <p:ph idx="4294967295"/>
          </p:nvPr>
        </p:nvSpPr>
        <p:spPr>
          <a:xfrm>
            <a:off x="457200" y="304800"/>
            <a:ext cx="8686800" cy="5821363"/>
          </a:xfrm>
        </p:spPr>
        <p:txBody>
          <a:bodyPr>
            <a:normAutofit lnSpcReduction="10000"/>
          </a:bodyPr>
          <a:lstStyle/>
          <a:p>
            <a:pPr eaLnBrk="1" hangingPunct="1">
              <a:buFontTx/>
              <a:buNone/>
              <a:defRPr/>
            </a:pPr>
            <a:r>
              <a:rPr lang="en-US" b="1" dirty="0" smtClean="0"/>
              <a:t>2. Sulfate (SO</a:t>
            </a:r>
            <a:r>
              <a:rPr lang="en-US" b="1" baseline="-25000" dirty="0" smtClean="0"/>
              <a:t>4</a:t>
            </a:r>
            <a:r>
              <a:rPr lang="en-US" b="1" baseline="30000" dirty="0" smtClean="0"/>
              <a:t>2-</a:t>
            </a:r>
            <a:r>
              <a:rPr lang="en-US" b="1" dirty="0" smtClean="0"/>
              <a:t>).</a:t>
            </a:r>
            <a:r>
              <a:rPr lang="en-US" dirty="0" smtClean="0"/>
              <a:t> </a:t>
            </a:r>
          </a:p>
          <a:p>
            <a:pPr eaLnBrk="1" hangingPunct="1">
              <a:buFontTx/>
              <a:buNone/>
              <a:defRPr/>
            </a:pPr>
            <a:r>
              <a:rPr lang="en-US" sz="3600" dirty="0" smtClean="0"/>
              <a:t>Process called </a:t>
            </a:r>
            <a:r>
              <a:rPr lang="en-US" sz="3600" b="1" dirty="0" smtClean="0"/>
              <a:t>sulfate reduction</a:t>
            </a:r>
            <a:r>
              <a:rPr lang="en-US" sz="3600" dirty="0" smtClean="0"/>
              <a:t>. </a:t>
            </a:r>
          </a:p>
          <a:p>
            <a:pPr eaLnBrk="1" hangingPunct="1">
              <a:buFontTx/>
              <a:buNone/>
              <a:defRPr/>
            </a:pPr>
            <a:r>
              <a:rPr lang="en-US" sz="3600" dirty="0" smtClean="0"/>
              <a:t>Sulfate (SO</a:t>
            </a:r>
            <a:r>
              <a:rPr lang="en-US" sz="3600" baseline="-25000" dirty="0" smtClean="0"/>
              <a:t>4</a:t>
            </a:r>
            <a:r>
              <a:rPr lang="en-US" sz="3600" baseline="30000" dirty="0" smtClean="0"/>
              <a:t>2-</a:t>
            </a:r>
            <a:r>
              <a:rPr lang="en-US" sz="3600" dirty="0" smtClean="0"/>
              <a:t>) ---&gt; ---&gt; ---&gt; ---&gt; Hydrogen Sulfide (H</a:t>
            </a:r>
            <a:r>
              <a:rPr lang="en-US" sz="3600" baseline="-25000" dirty="0" smtClean="0"/>
              <a:t>2</a:t>
            </a:r>
            <a:r>
              <a:rPr lang="en-US" sz="3600" dirty="0" smtClean="0"/>
              <a:t>S) </a:t>
            </a:r>
          </a:p>
          <a:p>
            <a:pPr eaLnBrk="1" hangingPunct="1">
              <a:buFontTx/>
              <a:buNone/>
              <a:defRPr/>
            </a:pPr>
            <a:r>
              <a:rPr lang="en-US" sz="3600" dirty="0" smtClean="0"/>
              <a:t>Small group of bacteria carry out this reaction; all obligate anaerobes. </a:t>
            </a:r>
          </a:p>
          <a:p>
            <a:pPr eaLnBrk="1" hangingPunct="1">
              <a:buFontTx/>
              <a:buNone/>
              <a:defRPr/>
            </a:pPr>
            <a:r>
              <a:rPr lang="en-US" sz="3600" dirty="0" smtClean="0"/>
              <a:t>Have unique </a:t>
            </a:r>
            <a:r>
              <a:rPr lang="en-US" sz="3600" dirty="0" err="1" smtClean="0"/>
              <a:t>cytochrome</a:t>
            </a:r>
            <a:r>
              <a:rPr lang="en-US" sz="3600" dirty="0" smtClean="0"/>
              <a:t> c3. </a:t>
            </a:r>
          </a:p>
          <a:p>
            <a:pPr eaLnBrk="1" hangingPunct="1">
              <a:buFontTx/>
              <a:buNone/>
              <a:defRPr/>
            </a:pPr>
            <a:r>
              <a:rPr lang="en-US" sz="3600" dirty="0" smtClean="0"/>
              <a:t>Sulfate is common in seawater. Often, H</a:t>
            </a:r>
            <a:r>
              <a:rPr lang="en-US" sz="3600" baseline="-25000" dirty="0" smtClean="0"/>
              <a:t>2</a:t>
            </a:r>
            <a:r>
              <a:rPr lang="en-US" sz="3600" dirty="0" smtClean="0"/>
              <a:t>S combines with iron, forms insoluble </a:t>
            </a:r>
            <a:r>
              <a:rPr lang="en-US" sz="3600" dirty="0" err="1" smtClean="0"/>
              <a:t>FeS</a:t>
            </a:r>
            <a:r>
              <a:rPr lang="en-US" sz="3600" dirty="0" smtClean="0"/>
              <a:t> ----&gt; black sediments. Common in estuaries. </a:t>
            </a:r>
          </a:p>
          <a:p>
            <a:pPr eaLnBrk="1" hangingPunct="1">
              <a:defRPr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Content Placeholder 2"/>
          <p:cNvSpPr>
            <a:spLocks noGrp="1"/>
          </p:cNvSpPr>
          <p:nvPr>
            <p:ph idx="4294967295"/>
          </p:nvPr>
        </p:nvSpPr>
        <p:spPr>
          <a:xfrm>
            <a:off x="0" y="0"/>
            <a:ext cx="9144000" cy="6629400"/>
          </a:xfrm>
        </p:spPr>
        <p:txBody>
          <a:bodyPr/>
          <a:lstStyle/>
          <a:p>
            <a:pPr eaLnBrk="1" hangingPunct="1">
              <a:buFontTx/>
              <a:buNone/>
              <a:defRPr/>
            </a:pPr>
            <a:r>
              <a:rPr lang="en-US" b="1" dirty="0" smtClean="0"/>
              <a:t>3. Carbon dioxide (CO</a:t>
            </a:r>
            <a:r>
              <a:rPr lang="en-US" b="1" baseline="-25000" dirty="0" smtClean="0"/>
              <a:t>2</a:t>
            </a:r>
            <a:r>
              <a:rPr lang="en-US" b="1" dirty="0" smtClean="0"/>
              <a:t>). </a:t>
            </a:r>
            <a:endParaRPr lang="en-US" dirty="0" smtClean="0"/>
          </a:p>
          <a:p>
            <a:pPr lvl="1" eaLnBrk="1" hangingPunct="1">
              <a:buFont typeface="Tahoma" charset="0"/>
              <a:buNone/>
              <a:defRPr/>
            </a:pPr>
            <a:r>
              <a:rPr lang="en-US" sz="3200" dirty="0" smtClean="0"/>
              <a:t>One of most common inorganic ions. </a:t>
            </a:r>
          </a:p>
          <a:p>
            <a:pPr lvl="1" eaLnBrk="1" hangingPunct="1">
              <a:buFont typeface="Tahoma" charset="0"/>
              <a:buNone/>
              <a:defRPr/>
            </a:pPr>
            <a:r>
              <a:rPr lang="en-US" sz="3200" b="1" dirty="0" err="1" smtClean="0"/>
              <a:t>Methanogens</a:t>
            </a:r>
            <a:r>
              <a:rPr lang="en-US" sz="3200" dirty="0" smtClean="0"/>
              <a:t>: most important group of CO</a:t>
            </a:r>
            <a:r>
              <a:rPr lang="en-US" sz="3200" baseline="-25000" dirty="0" smtClean="0"/>
              <a:t>2</a:t>
            </a:r>
            <a:r>
              <a:rPr lang="en-US" sz="3200" dirty="0" smtClean="0"/>
              <a:t> reducers. Obligate anaerobes, </a:t>
            </a:r>
            <a:r>
              <a:rPr lang="en-US" sz="3200" dirty="0" err="1" smtClean="0"/>
              <a:t>archaebacteria</a:t>
            </a:r>
            <a:r>
              <a:rPr lang="en-US" sz="3200" dirty="0" smtClean="0"/>
              <a:t>. Produce methane as waste product. </a:t>
            </a:r>
          </a:p>
          <a:p>
            <a:pPr lvl="1" eaLnBrk="1" hangingPunct="1">
              <a:buFont typeface="Tahoma" charset="0"/>
              <a:buNone/>
              <a:defRPr/>
            </a:pPr>
            <a:r>
              <a:rPr lang="en-US" sz="3200" dirty="0" smtClean="0"/>
              <a:t>Reaction: CO</a:t>
            </a:r>
            <a:r>
              <a:rPr lang="en-US" sz="3200" baseline="-25000" dirty="0" smtClean="0"/>
              <a:t>2</a:t>
            </a:r>
            <a:r>
              <a:rPr lang="en-US" sz="3200" dirty="0" smtClean="0"/>
              <a:t> + H</a:t>
            </a:r>
            <a:r>
              <a:rPr lang="en-US" sz="3200" baseline="-25000" dirty="0" smtClean="0"/>
              <a:t>2</a:t>
            </a:r>
            <a:r>
              <a:rPr lang="en-US" sz="3200" dirty="0" smtClean="0"/>
              <a:t> + H</a:t>
            </a:r>
            <a:r>
              <a:rPr lang="en-US" sz="3200" baseline="30000" dirty="0" smtClean="0"/>
              <a:t>+</a:t>
            </a:r>
            <a:r>
              <a:rPr lang="en-US" sz="3200" dirty="0" smtClean="0"/>
              <a:t> ---&gt; CH</a:t>
            </a:r>
            <a:r>
              <a:rPr lang="en-US" sz="3200" baseline="-25000" dirty="0" smtClean="0"/>
              <a:t>4</a:t>
            </a:r>
            <a:r>
              <a:rPr lang="en-US" sz="3200" dirty="0" smtClean="0"/>
              <a:t> + H</a:t>
            </a:r>
            <a:r>
              <a:rPr lang="en-US" sz="3200" baseline="-25000" dirty="0" smtClean="0"/>
              <a:t>2</a:t>
            </a:r>
            <a:r>
              <a:rPr lang="en-US" sz="3200" dirty="0" smtClean="0"/>
              <a:t>O </a:t>
            </a:r>
          </a:p>
          <a:p>
            <a:pPr lvl="1" eaLnBrk="1" hangingPunct="1">
              <a:buFont typeface="Tahoma" charset="0"/>
              <a:buNone/>
              <a:defRPr/>
            </a:pPr>
            <a:r>
              <a:rPr lang="en-US" sz="3200" dirty="0" smtClean="0"/>
              <a:t>Note: reaction also requires Hydrogen gas. </a:t>
            </a:r>
            <a:r>
              <a:rPr lang="en-US" sz="3200" dirty="0" err="1" smtClean="0"/>
              <a:t>Methanogens</a:t>
            </a:r>
            <a:r>
              <a:rPr lang="en-US" sz="3200" dirty="0" smtClean="0"/>
              <a:t> typically live alongside bacteria that produce hydrogen by fermentation, remove hydrogen as it is made.</a:t>
            </a:r>
          </a:p>
          <a:p>
            <a:pPr eaLnBrk="1" hangingPunct="1">
              <a:buFontTx/>
              <a:buNone/>
              <a:defRPr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 idx="4294967295"/>
          </p:nvPr>
        </p:nvSpPr>
        <p:spPr>
          <a:xfrm>
            <a:off x="0" y="292100"/>
            <a:ext cx="8229600" cy="1384300"/>
          </a:xfrm>
        </p:spPr>
        <p:txBody>
          <a:bodyPr/>
          <a:lstStyle/>
          <a:p>
            <a:pPr eaLnBrk="1" hangingPunct="1">
              <a:defRPr/>
            </a:pPr>
            <a:r>
              <a:rPr lang="en-US" b="1" dirty="0" smtClean="0"/>
              <a:t> </a:t>
            </a:r>
            <a:r>
              <a:rPr lang="en-US" sz="3600" b="1" dirty="0" smtClean="0"/>
              <a:t>Catabolism of substances other than glucose</a:t>
            </a:r>
            <a:endParaRPr lang="en-US" sz="3600" dirty="0" smtClean="0"/>
          </a:p>
        </p:txBody>
      </p:sp>
      <p:sp>
        <p:nvSpPr>
          <p:cNvPr id="66563" name="Content Placeholder 2"/>
          <p:cNvSpPr>
            <a:spLocks noGrp="1"/>
          </p:cNvSpPr>
          <p:nvPr>
            <p:ph idx="4294967295"/>
          </p:nvPr>
        </p:nvSpPr>
        <p:spPr>
          <a:xfrm>
            <a:off x="457200" y="1905000"/>
            <a:ext cx="7772400" cy="4114800"/>
          </a:xfrm>
        </p:spPr>
        <p:txBody>
          <a:bodyPr/>
          <a:lstStyle/>
          <a:p>
            <a:pPr eaLnBrk="1" hangingPunct="1">
              <a:buFontTx/>
              <a:buNone/>
              <a:defRPr/>
            </a:pPr>
            <a:r>
              <a:rPr lang="en-US" dirty="0" smtClean="0"/>
              <a:t>Many other possible C-sources for catabolism beside glucose. In general, must convert these into molecules that can enter into central metabolism, either in </a:t>
            </a:r>
            <a:r>
              <a:rPr lang="en-US" dirty="0" err="1" smtClean="0"/>
              <a:t>glycolysis</a:t>
            </a:r>
            <a:r>
              <a:rPr lang="en-US" dirty="0" smtClean="0"/>
              <a:t> or TCA cycle.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Content Placeholder 2"/>
          <p:cNvSpPr>
            <a:spLocks noGrp="1"/>
          </p:cNvSpPr>
          <p:nvPr>
            <p:ph idx="4294967295"/>
          </p:nvPr>
        </p:nvSpPr>
        <p:spPr>
          <a:xfrm>
            <a:off x="685800" y="1143000"/>
            <a:ext cx="7543800" cy="4876800"/>
          </a:xfrm>
        </p:spPr>
        <p:txBody>
          <a:bodyPr>
            <a:normAutofit lnSpcReduction="10000"/>
          </a:bodyPr>
          <a:lstStyle/>
          <a:p>
            <a:pPr eaLnBrk="1" hangingPunct="1">
              <a:buFontTx/>
              <a:buNone/>
              <a:defRPr/>
            </a:pPr>
            <a:r>
              <a:rPr lang="en-US" b="1" dirty="0" smtClean="0"/>
              <a:t>1.Carbohydrates</a:t>
            </a:r>
            <a:r>
              <a:rPr lang="en-US" dirty="0" smtClean="0"/>
              <a:t> </a:t>
            </a:r>
          </a:p>
          <a:p>
            <a:pPr eaLnBrk="1" hangingPunct="1">
              <a:buFontTx/>
              <a:buNone/>
              <a:defRPr/>
            </a:pPr>
            <a:r>
              <a:rPr lang="en-US" dirty="0" smtClean="0"/>
              <a:t>Most abundant C-sources in most environments, most in various polysaccharides (cellulose, starch, lignin, etc.) </a:t>
            </a:r>
          </a:p>
          <a:p>
            <a:pPr eaLnBrk="1" hangingPunct="1">
              <a:buFontTx/>
              <a:buNone/>
              <a:defRPr/>
            </a:pPr>
            <a:r>
              <a:rPr lang="en-US" dirty="0" smtClean="0"/>
              <a:t>To gain access to sugars, must first secrete hydrolytic enzymes that break down </a:t>
            </a:r>
            <a:r>
              <a:rPr lang="en-US" dirty="0" err="1" smtClean="0"/>
              <a:t>glycosidic</a:t>
            </a:r>
            <a:r>
              <a:rPr lang="en-US" dirty="0" smtClean="0"/>
              <a:t> bonds in polysaccharides, produce mono- and disaccharides that can be transported into cells. </a:t>
            </a:r>
          </a:p>
          <a:p>
            <a:pPr eaLnBrk="1" hangingPunct="1">
              <a:buFontTx/>
              <a:buNone/>
              <a:defRPr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Content Placeholder 2"/>
          <p:cNvSpPr>
            <a:spLocks noGrp="1"/>
          </p:cNvSpPr>
          <p:nvPr>
            <p:ph idx="4294967295"/>
          </p:nvPr>
        </p:nvSpPr>
        <p:spPr>
          <a:xfrm>
            <a:off x="838200" y="0"/>
            <a:ext cx="7848600" cy="6126163"/>
          </a:xfrm>
        </p:spPr>
        <p:txBody>
          <a:bodyPr/>
          <a:lstStyle/>
          <a:p>
            <a:pPr eaLnBrk="1" hangingPunct="1">
              <a:buFontTx/>
              <a:buNone/>
              <a:defRPr/>
            </a:pPr>
            <a:endParaRPr lang="en-US" dirty="0" smtClean="0"/>
          </a:p>
          <a:p>
            <a:pPr eaLnBrk="1" hangingPunct="1">
              <a:buFontTx/>
              <a:buNone/>
              <a:defRPr/>
            </a:pPr>
            <a:endParaRPr lang="en-US" dirty="0" smtClean="0"/>
          </a:p>
          <a:p>
            <a:pPr eaLnBrk="1" hangingPunct="1">
              <a:buFontTx/>
              <a:buNone/>
              <a:defRPr/>
            </a:pPr>
            <a:r>
              <a:rPr lang="en-US" dirty="0" smtClean="0"/>
              <a:t>Starch, glycogen -- easily hydrolyzed by amylases </a:t>
            </a:r>
          </a:p>
          <a:p>
            <a:pPr eaLnBrk="1" hangingPunct="1">
              <a:buFontTx/>
              <a:buNone/>
              <a:defRPr/>
            </a:pPr>
            <a:r>
              <a:rPr lang="en-US" dirty="0" smtClean="0"/>
              <a:t>Cellulose -- difficult to digest, very insoluble, tightly folded. Many fungi, some bacteria produce </a:t>
            </a:r>
            <a:r>
              <a:rPr lang="en-US" dirty="0" err="1" smtClean="0"/>
              <a:t>cellulases</a:t>
            </a:r>
            <a:r>
              <a:rPr lang="en-US" dirty="0" smtClean="0"/>
              <a:t>. </a:t>
            </a:r>
          </a:p>
          <a:p>
            <a:pPr eaLnBrk="1" hangingPunct="1">
              <a:buFontTx/>
              <a:buNone/>
              <a:defRPr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Content Placeholder 3"/>
          <p:cNvSpPr>
            <a:spLocks noGrp="1"/>
          </p:cNvSpPr>
          <p:nvPr>
            <p:ph idx="4294967295"/>
          </p:nvPr>
        </p:nvSpPr>
        <p:spPr>
          <a:xfrm>
            <a:off x="762000" y="990600"/>
            <a:ext cx="7467600" cy="5029200"/>
          </a:xfrm>
        </p:spPr>
        <p:txBody>
          <a:bodyPr>
            <a:normAutofit/>
          </a:bodyPr>
          <a:lstStyle/>
          <a:p>
            <a:pPr eaLnBrk="1" hangingPunct="1">
              <a:buFontTx/>
              <a:buNone/>
              <a:defRPr/>
            </a:pPr>
            <a:r>
              <a:rPr lang="en-US" sz="2800" b="1" dirty="0" smtClean="0"/>
              <a:t>2.lipids</a:t>
            </a:r>
            <a:r>
              <a:rPr lang="en-US" sz="2800" dirty="0" smtClean="0"/>
              <a:t> </a:t>
            </a:r>
          </a:p>
          <a:p>
            <a:pPr eaLnBrk="1" hangingPunct="1">
              <a:buFontTx/>
              <a:buNone/>
              <a:defRPr/>
            </a:pPr>
            <a:r>
              <a:rPr lang="en-US" sz="2800" dirty="0" smtClean="0"/>
              <a:t>Biological lipids common as triglycerides, </a:t>
            </a:r>
            <a:r>
              <a:rPr lang="en-US" sz="2800" dirty="0" err="1" smtClean="0"/>
              <a:t>diglycerides</a:t>
            </a:r>
            <a:r>
              <a:rPr lang="en-US" sz="2800" dirty="0" smtClean="0"/>
              <a:t>. </a:t>
            </a:r>
          </a:p>
          <a:p>
            <a:pPr eaLnBrk="1" hangingPunct="1">
              <a:buFontTx/>
              <a:buNone/>
              <a:defRPr/>
            </a:pPr>
            <a:r>
              <a:rPr lang="en-US" sz="2800" dirty="0" smtClean="0"/>
              <a:t>To </a:t>
            </a:r>
            <a:r>
              <a:rPr lang="en-US" sz="2800" dirty="0" err="1" smtClean="0"/>
              <a:t>catabolize</a:t>
            </a:r>
            <a:r>
              <a:rPr lang="en-US" sz="2800" dirty="0" smtClean="0"/>
              <a:t>, bacteria secrete lipases, hydrolyze </a:t>
            </a:r>
            <a:r>
              <a:rPr lang="en-US" sz="2800" dirty="0" err="1" smtClean="0"/>
              <a:t>glycerides</a:t>
            </a:r>
            <a:r>
              <a:rPr lang="en-US" sz="2800" dirty="0" smtClean="0"/>
              <a:t> to free fatty acids and glycerol. </a:t>
            </a:r>
          </a:p>
          <a:p>
            <a:pPr eaLnBrk="1" hangingPunct="1">
              <a:buFontTx/>
              <a:buNone/>
              <a:defRPr/>
            </a:pPr>
            <a:r>
              <a:rPr lang="en-US" sz="2800" dirty="0" smtClean="0"/>
              <a:t>Fatty acids attacked by Beta-oxidation pathway. </a:t>
            </a:r>
          </a:p>
          <a:p>
            <a:pPr eaLnBrk="1" hangingPunct="1">
              <a:buFontTx/>
              <a:buNone/>
              <a:defRPr/>
            </a:pPr>
            <a:r>
              <a:rPr lang="en-US" sz="2800" dirty="0" smtClean="0"/>
              <a:t>Using FAD and NAD+ to remove electrons, 2-C units are removed as Acetyl-</a:t>
            </a:r>
            <a:r>
              <a:rPr lang="en-US" sz="2800" dirty="0" err="1" smtClean="0"/>
              <a:t>CoA</a:t>
            </a:r>
            <a:r>
              <a:rPr lang="en-US" sz="2800" dirty="0" smtClean="0"/>
              <a:t>, feed directly into central metabolism at TCA cycle entry. </a:t>
            </a:r>
            <a:r>
              <a:rPr lang="en-US" sz="2800" dirty="0" err="1" smtClean="0"/>
              <a:t>Glycolysis</a:t>
            </a:r>
            <a:r>
              <a:rPr lang="en-US" sz="2800" dirty="0" smtClean="0"/>
              <a:t> pathway not involved.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0" y="292100"/>
            <a:ext cx="8229600" cy="13843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000" smtClean="0"/>
              <a:t>Mixed amino acid fermentation </a:t>
            </a:r>
            <a:br>
              <a:rPr lang="en-US" sz="4000" smtClean="0"/>
            </a:br>
            <a:endParaRPr lang="en-US" sz="4000" smtClean="0"/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38200" y="1524000"/>
            <a:ext cx="7772400" cy="5105400"/>
          </a:xfrm>
        </p:spPr>
        <p:txBody>
          <a:bodyPr/>
          <a:lstStyle/>
          <a:p>
            <a:pPr eaLnBrk="1" hangingPunct="1">
              <a:buFontTx/>
              <a:buNone/>
              <a:defRPr/>
            </a:pPr>
            <a:r>
              <a:rPr lang="en-US" sz="3600" dirty="0" smtClean="0"/>
              <a:t>Some microbes can ferment substances other than carbohydrate.</a:t>
            </a:r>
          </a:p>
          <a:p>
            <a:pPr eaLnBrk="1" hangingPunct="1">
              <a:buFontTx/>
              <a:buNone/>
              <a:defRPr/>
            </a:pPr>
            <a:r>
              <a:rPr lang="en-US" sz="3600" dirty="0" smtClean="0"/>
              <a:t>Genus </a:t>
            </a:r>
            <a:r>
              <a:rPr lang="en-US" sz="3600" i="1" dirty="0" smtClean="0"/>
              <a:t>Clostridium (</a:t>
            </a:r>
            <a:r>
              <a:rPr lang="en-US" sz="3600" i="1" dirty="0" err="1" smtClean="0"/>
              <a:t>eg</a:t>
            </a:r>
            <a:r>
              <a:rPr lang="en-US" sz="3600" i="1" dirty="0" smtClean="0"/>
              <a:t>. C. </a:t>
            </a:r>
            <a:r>
              <a:rPr lang="en-US" sz="3600" i="1" dirty="0" err="1" smtClean="0"/>
              <a:t>sporogenes</a:t>
            </a:r>
            <a:r>
              <a:rPr lang="en-US" sz="3600" i="1" dirty="0" smtClean="0"/>
              <a:t>, C. </a:t>
            </a:r>
            <a:r>
              <a:rPr lang="en-US" sz="3600" i="1" dirty="0" err="1" smtClean="0"/>
              <a:t>botulinum</a:t>
            </a:r>
            <a:r>
              <a:rPr lang="en-US" sz="3600" i="1" dirty="0" smtClean="0"/>
              <a:t>)</a:t>
            </a:r>
            <a:r>
              <a:rPr lang="en-US" sz="3600" dirty="0" smtClean="0"/>
              <a:t> can ferment mixtures of </a:t>
            </a:r>
            <a:r>
              <a:rPr lang="en-US" sz="3600" dirty="0" err="1" smtClean="0"/>
              <a:t>aminoacids</a:t>
            </a:r>
            <a:endParaRPr lang="en-US" sz="3600" dirty="0" smtClean="0"/>
          </a:p>
          <a:p>
            <a:pPr eaLnBrk="1" hangingPunct="1">
              <a:buFontTx/>
              <a:buNone/>
              <a:defRPr/>
            </a:pPr>
            <a:r>
              <a:rPr lang="en-US" sz="3600" dirty="0" smtClean="0"/>
              <a:t>This process is called </a:t>
            </a:r>
            <a:r>
              <a:rPr lang="en-US" sz="3600" b="1" dirty="0" err="1" smtClean="0"/>
              <a:t>Stickland</a:t>
            </a:r>
            <a:r>
              <a:rPr lang="en-US" sz="3600" dirty="0" smtClean="0"/>
              <a:t> reaction </a:t>
            </a:r>
          </a:p>
          <a:p>
            <a:pPr eaLnBrk="1" hangingPunct="1">
              <a:buFontTx/>
              <a:buNone/>
              <a:defRPr/>
            </a:pPr>
            <a:r>
              <a:rPr lang="en-US" sz="3600" dirty="0" smtClean="0"/>
              <a:t>Generates NH</a:t>
            </a:r>
            <a:r>
              <a:rPr lang="en-US" sz="3600" baseline="-25000" dirty="0" smtClean="0"/>
              <a:t>3</a:t>
            </a:r>
            <a:r>
              <a:rPr lang="en-US" sz="3600" dirty="0" smtClean="0"/>
              <a:t>, H</a:t>
            </a:r>
            <a:r>
              <a:rPr lang="en-US" sz="3600" baseline="-25000" dirty="0" smtClean="0"/>
              <a:t>2</a:t>
            </a:r>
            <a:r>
              <a:rPr lang="en-US" sz="3600" dirty="0" smtClean="0"/>
              <a:t>S, fatty acids and CO</a:t>
            </a:r>
            <a:r>
              <a:rPr lang="en-US" sz="3600" baseline="-25000" dirty="0" smtClean="0"/>
              <a:t>2</a:t>
            </a:r>
            <a:endParaRPr lang="en-US" sz="3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457200" y="914400"/>
            <a:ext cx="7772400" cy="5105400"/>
          </a:xfrm>
        </p:spPr>
        <p:txBody>
          <a:bodyPr/>
          <a:lstStyle/>
          <a:p>
            <a:pPr eaLnBrk="1" hangingPunct="1">
              <a:buFontTx/>
              <a:buNone/>
              <a:defRPr/>
            </a:pPr>
            <a:r>
              <a:rPr lang="en-US" sz="3600" i="1" dirty="0" smtClean="0"/>
              <a:t>Clostridium </a:t>
            </a:r>
            <a:r>
              <a:rPr lang="en-US" sz="3600" dirty="0" smtClean="0"/>
              <a:t>(obligate anaerobes): can oxidize  </a:t>
            </a:r>
            <a:r>
              <a:rPr lang="en-US" sz="3600" dirty="0" err="1" smtClean="0"/>
              <a:t>pyruvate</a:t>
            </a:r>
            <a:r>
              <a:rPr lang="en-US" sz="3600" dirty="0" smtClean="0"/>
              <a:t> to acetyl Co-A.</a:t>
            </a:r>
          </a:p>
          <a:p>
            <a:pPr eaLnBrk="1" hangingPunct="1">
              <a:buFontTx/>
              <a:buNone/>
              <a:defRPr/>
            </a:pPr>
            <a:r>
              <a:rPr lang="en-US" sz="3600" dirty="0" smtClean="0"/>
              <a:t>Hydrogen gas can be liberated directly</a:t>
            </a:r>
          </a:p>
          <a:p>
            <a:pPr eaLnBrk="1" hangingPunct="1">
              <a:buFontTx/>
              <a:buNone/>
              <a:defRPr/>
            </a:pPr>
            <a:r>
              <a:rPr lang="en-US" sz="3600" dirty="0" smtClean="0"/>
              <a:t>Responsible for gas produced by botulism (</a:t>
            </a:r>
            <a:r>
              <a:rPr lang="en-US" sz="3600" i="1" dirty="0" smtClean="0"/>
              <a:t>C. </a:t>
            </a:r>
            <a:r>
              <a:rPr lang="en-US" sz="3600" i="1" dirty="0" err="1" smtClean="0"/>
              <a:t>botulinum</a:t>
            </a:r>
            <a:r>
              <a:rPr lang="en-US" sz="3600" i="1" dirty="0" smtClean="0"/>
              <a:t>) </a:t>
            </a:r>
            <a:r>
              <a:rPr lang="en-US" sz="3600" dirty="0" smtClean="0"/>
              <a:t>that causes swollen cans in improperly sterilized canning process.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9" name="Content Placeholder 2"/>
          <p:cNvSpPr>
            <a:spLocks noGrp="1"/>
          </p:cNvSpPr>
          <p:nvPr>
            <p:ph idx="4294967295"/>
          </p:nvPr>
        </p:nvSpPr>
        <p:spPr>
          <a:xfrm>
            <a:off x="838200" y="1066800"/>
            <a:ext cx="7391400" cy="4953000"/>
          </a:xfrm>
        </p:spPr>
        <p:txBody>
          <a:bodyPr>
            <a:normAutofit fontScale="92500"/>
          </a:bodyPr>
          <a:lstStyle/>
          <a:p>
            <a:pPr eaLnBrk="1" hangingPunct="1">
              <a:buFontTx/>
              <a:buNone/>
              <a:defRPr/>
            </a:pPr>
            <a:r>
              <a:rPr lang="en-US" b="1" dirty="0" smtClean="0"/>
              <a:t>3.proteins</a:t>
            </a:r>
            <a:r>
              <a:rPr lang="en-US" dirty="0" smtClean="0"/>
              <a:t> </a:t>
            </a:r>
          </a:p>
          <a:p>
            <a:pPr eaLnBrk="1" hangingPunct="1">
              <a:buFontTx/>
              <a:buNone/>
              <a:defRPr/>
            </a:pPr>
            <a:r>
              <a:rPr lang="en-US" dirty="0" smtClean="0"/>
              <a:t>Proteins must first be hydrolyzed by protease enzymes, to get individual amino acids which can be transported into cells. </a:t>
            </a:r>
          </a:p>
          <a:p>
            <a:pPr eaLnBrk="1" hangingPunct="1">
              <a:buFontTx/>
              <a:buNone/>
              <a:defRPr/>
            </a:pPr>
            <a:r>
              <a:rPr lang="en-US" dirty="0" smtClean="0"/>
              <a:t>Amino acids all have common structure: NH</a:t>
            </a:r>
            <a:r>
              <a:rPr lang="en-US" baseline="-25000" dirty="0" smtClean="0"/>
              <a:t>2</a:t>
            </a:r>
            <a:r>
              <a:rPr lang="en-US" dirty="0" smtClean="0"/>
              <a:t> - RCH - COOH. </a:t>
            </a:r>
          </a:p>
          <a:p>
            <a:pPr eaLnBrk="1" hangingPunct="1">
              <a:buFontTx/>
              <a:buNone/>
              <a:defRPr/>
            </a:pPr>
            <a:r>
              <a:rPr lang="en-US" dirty="0" smtClean="0"/>
              <a:t>1st step in catabolism is to remove amino group (</a:t>
            </a:r>
            <a:r>
              <a:rPr lang="en-US" dirty="0" err="1" smtClean="0"/>
              <a:t>deamination</a:t>
            </a:r>
            <a:r>
              <a:rPr lang="en-US" dirty="0" smtClean="0"/>
              <a:t>), often by swapping it with another substrate (</a:t>
            </a:r>
            <a:r>
              <a:rPr lang="en-US" dirty="0" err="1" smtClean="0"/>
              <a:t>transamination</a:t>
            </a:r>
            <a:r>
              <a:rPr lang="en-US" dirty="0" smtClean="0"/>
              <a:t>). </a:t>
            </a:r>
          </a:p>
          <a:p>
            <a:pPr eaLnBrk="1" hangingPunct="1">
              <a:buFontTx/>
              <a:buNone/>
              <a:defRPr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Content Placeholder 2"/>
          <p:cNvSpPr>
            <a:spLocks noGrp="1"/>
          </p:cNvSpPr>
          <p:nvPr>
            <p:ph idx="4294967295"/>
          </p:nvPr>
        </p:nvSpPr>
        <p:spPr>
          <a:xfrm>
            <a:off x="914400" y="1295400"/>
            <a:ext cx="7315200" cy="4724400"/>
          </a:xfrm>
        </p:spPr>
        <p:txBody>
          <a:bodyPr/>
          <a:lstStyle/>
          <a:p>
            <a:pPr eaLnBrk="1" hangingPunct="1">
              <a:buFontTx/>
              <a:buNone/>
              <a:defRPr/>
            </a:pPr>
            <a:r>
              <a:rPr lang="en-US" dirty="0" smtClean="0"/>
              <a:t>Typical example: </a:t>
            </a:r>
            <a:r>
              <a:rPr lang="en-US" dirty="0" err="1" smtClean="0"/>
              <a:t>glutamic</a:t>
            </a:r>
            <a:r>
              <a:rPr lang="en-US" dirty="0" smtClean="0"/>
              <a:t> acid (an AA) + </a:t>
            </a:r>
            <a:r>
              <a:rPr lang="en-US" dirty="0" err="1" smtClean="0"/>
              <a:t>pyruvate</a:t>
            </a:r>
            <a:r>
              <a:rPr lang="en-US" dirty="0" smtClean="0"/>
              <a:t> ---&gt; alpha-</a:t>
            </a:r>
            <a:r>
              <a:rPr lang="en-US" dirty="0" err="1" smtClean="0"/>
              <a:t>ketoglutarate</a:t>
            </a:r>
            <a:r>
              <a:rPr lang="en-US" dirty="0" smtClean="0"/>
              <a:t> + </a:t>
            </a:r>
            <a:r>
              <a:rPr lang="en-US" dirty="0" err="1" smtClean="0"/>
              <a:t>alanine</a:t>
            </a:r>
            <a:r>
              <a:rPr lang="en-US" dirty="0" smtClean="0"/>
              <a:t> (= </a:t>
            </a:r>
            <a:r>
              <a:rPr lang="en-US" dirty="0" err="1" smtClean="0"/>
              <a:t>pyruvate</a:t>
            </a:r>
            <a:r>
              <a:rPr lang="en-US" dirty="0" smtClean="0"/>
              <a:t> + amino group). Now alpha-KG can be oxidized in TCA cycle, since it is a TCA cycle compound. </a:t>
            </a:r>
          </a:p>
          <a:p>
            <a:pPr eaLnBrk="1" hangingPunct="1">
              <a:buFontTx/>
              <a:buNone/>
              <a:defRPr/>
            </a:pPr>
            <a:r>
              <a:rPr lang="en-US" dirty="0" smtClean="0"/>
              <a:t>As excess amino groups accumulate, must be secreted as waste products, possibly as ammonium ion (leads to alkaline pH). </a:t>
            </a:r>
          </a:p>
          <a:p>
            <a:pPr eaLnBrk="1" hangingPunct="1">
              <a:defRPr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551</TotalTime>
  <Words>2169</Words>
  <Application>Microsoft Office PowerPoint</Application>
  <PresentationFormat>On-screen Show (4:3)</PresentationFormat>
  <Paragraphs>277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3" baseType="lpstr">
      <vt:lpstr>Arial</vt:lpstr>
      <vt:lpstr>Calibri</vt:lpstr>
      <vt:lpstr>Tahoma</vt:lpstr>
      <vt:lpstr>Times New Roman</vt:lpstr>
      <vt:lpstr>Wingdings</vt:lpstr>
      <vt:lpstr>Office Theme</vt:lpstr>
      <vt:lpstr>Microbial Catabolism</vt:lpstr>
      <vt:lpstr>PowerPoint Presentation</vt:lpstr>
      <vt:lpstr>PowerPoint Presentation</vt:lpstr>
      <vt:lpstr>Carbohydrate Catabolism</vt:lpstr>
      <vt:lpstr>Aerobic Cellular Respiration</vt:lpstr>
      <vt:lpstr>Chemical Equation</vt:lpstr>
      <vt:lpstr>Aerobic Cellular Respiration</vt:lpstr>
      <vt:lpstr>1. Glycolysis       (splitting of sugar)</vt:lpstr>
      <vt:lpstr>2. Transition Reaction</vt:lpstr>
      <vt:lpstr>3. Krebs Cycle    (Citric Acid Cycle)</vt:lpstr>
      <vt:lpstr>4. Electron Transport System</vt:lpstr>
      <vt:lpstr>How 34 ATP from E.T.S. ? 3 ATP for each NADH2 2 ATP for each FADH2</vt:lpstr>
      <vt:lpstr>Total ATP production for the complete oxidation of 1 molecule of glucose in Aerobic Respiration</vt:lpstr>
      <vt:lpstr>PowerPoint Presentation</vt:lpstr>
      <vt:lpstr>Anaerobic Respiration </vt:lpstr>
      <vt:lpstr>Fermentation</vt:lpstr>
      <vt:lpstr>PowerPoint Presentation</vt:lpstr>
      <vt:lpstr>PowerPoint Presentation</vt:lpstr>
      <vt:lpstr>PowerPoint Presentation</vt:lpstr>
      <vt:lpstr>1. Lactic Acid Fermenation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Alcohol Fermentation</vt:lpstr>
      <vt:lpstr>PowerPoint Presentation</vt:lpstr>
      <vt:lpstr>PowerPoint Presentation</vt:lpstr>
      <vt:lpstr>Propionic Acid Fermentation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Anaerobic respiration: </vt:lpstr>
      <vt:lpstr>Examples of anaerobic respiration: </vt:lpstr>
      <vt:lpstr>PowerPoint Presentation</vt:lpstr>
      <vt:lpstr>PowerPoint Presentation</vt:lpstr>
      <vt:lpstr>PowerPoint Presentation</vt:lpstr>
      <vt:lpstr> Catabolism of substances other than glucose</vt:lpstr>
      <vt:lpstr>PowerPoint Presentation</vt:lpstr>
      <vt:lpstr>PowerPoint Presentation</vt:lpstr>
      <vt:lpstr>PowerPoint Presentation</vt:lpstr>
      <vt:lpstr>Mixed amino acid fermentation  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Microbial Catabolism</dc:title>
  <dc:creator>Neela</dc:creator>
  <cp:lastModifiedBy>zumaira</cp:lastModifiedBy>
  <cp:revision>42</cp:revision>
  <cp:lastPrinted>2016-11-04T17:35:39Z</cp:lastPrinted>
  <dcterms:created xsi:type="dcterms:W3CDTF">2007-11-20T23:09:32Z</dcterms:created>
  <dcterms:modified xsi:type="dcterms:W3CDTF">2016-11-04T17:36:03Z</dcterms:modified>
</cp:coreProperties>
</file>