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57" r:id="rId3"/>
    <p:sldId id="258" r:id="rId4"/>
    <p:sldId id="274" r:id="rId5"/>
    <p:sldId id="277" r:id="rId6"/>
    <p:sldId id="263" r:id="rId7"/>
    <p:sldId id="262" r:id="rId8"/>
    <p:sldId id="265" r:id="rId9"/>
    <p:sldId id="266" r:id="rId10"/>
    <p:sldId id="269" r:id="rId11"/>
    <p:sldId id="278" r:id="rId12"/>
    <p:sldId id="270" r:id="rId13"/>
    <p:sldId id="279" r:id="rId14"/>
    <p:sldId id="271" r:id="rId15"/>
    <p:sldId id="272" r:id="rId16"/>
    <p:sldId id="280" r:id="rId17"/>
    <p:sldId id="273" r:id="rId18"/>
    <p:sldId id="276" r:id="rId19"/>
    <p:sldId id="282" r:id="rId20"/>
    <p:sldId id="283" r:id="rId21"/>
    <p:sldId id="284" r:id="rId22"/>
    <p:sldId id="286" r:id="rId23"/>
    <p:sldId id="287" r:id="rId24"/>
    <p:sldId id="288" r:id="rId25"/>
    <p:sldId id="285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12/31/2024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12/31/2024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COM1201-Program Design</a:t>
            </a:r>
            <a:endParaRPr lang="en-US" sz="4000" dirty="0"/>
          </a:p>
        </p:txBody>
      </p:sp>
      <p:sp>
        <p:nvSpPr>
          <p:cNvPr id="4" name="Rectangle 3"/>
          <p:cNvSpPr/>
          <p:nvPr/>
        </p:nvSpPr>
        <p:spPr>
          <a:xfrm>
            <a:off x="4364195" y="4275785"/>
            <a:ext cx="345853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/>
              <a:t>Pseudocodes</a:t>
            </a:r>
          </a:p>
        </p:txBody>
      </p:sp>
    </p:spTree>
    <p:extLst>
      <p:ext uri="{BB962C8B-B14F-4D97-AF65-F5344CB8AC3E}">
        <p14:creationId xmlns:p14="http://schemas.microsoft.com/office/powerpoint/2010/main" val="3664621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and apply the rules of pseudocode</a:t>
            </a:r>
            <a:r>
              <a:rPr lang="en-US" dirty="0" smtClean="0"/>
              <a:t>.</a:t>
            </a:r>
          </a:p>
          <a:p>
            <a:r>
              <a:rPr lang="en-US" dirty="0" smtClean="0"/>
              <a:t>Create </a:t>
            </a:r>
            <a:r>
              <a:rPr lang="en-US" dirty="0"/>
              <a:t>pseudocode</a:t>
            </a:r>
            <a:endParaRPr lang="en-US" dirty="0" smtClean="0"/>
          </a:p>
          <a:p>
            <a:r>
              <a:rPr lang="en-US" dirty="0" smtClean="0"/>
              <a:t> Convert </a:t>
            </a:r>
            <a:r>
              <a:rPr lang="en-US" dirty="0"/>
              <a:t>a flowchart to pseudocode and vise-versa.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Describe the advantages and disadvantages of pseudocode.</a:t>
            </a:r>
          </a:p>
        </p:txBody>
      </p:sp>
    </p:spTree>
    <p:extLst>
      <p:ext uri="{BB962C8B-B14F-4D97-AF65-F5344CB8AC3E}">
        <p14:creationId xmlns:p14="http://schemas.microsoft.com/office/powerpoint/2010/main" val="197263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Another </a:t>
            </a:r>
            <a:r>
              <a:rPr lang="en-US" dirty="0"/>
              <a:t>formal program design tool</a:t>
            </a:r>
            <a:r>
              <a:rPr lang="en-US" dirty="0" smtClean="0"/>
              <a:t>.</a:t>
            </a:r>
          </a:p>
          <a:p>
            <a:r>
              <a:rPr lang="en-US" dirty="0" smtClean="0"/>
              <a:t> It was </a:t>
            </a:r>
            <a:r>
              <a:rPr lang="en-US" dirty="0"/>
              <a:t>developed along with the structured programming.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Pseudocode works very well with the rules of structured design and programming.</a:t>
            </a:r>
          </a:p>
        </p:txBody>
      </p:sp>
    </p:spTree>
    <p:extLst>
      <p:ext uri="{BB962C8B-B14F-4D97-AF65-F5344CB8AC3E}">
        <p14:creationId xmlns:p14="http://schemas.microsoft.com/office/powerpoint/2010/main" val="2927294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Pseudocodes?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 is a simplified, high-level description of a computer program or algorithm written in plain language.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does not follow the strict syntax of a programming language but focuses on the logic and steps needed to solve a problem.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bridges the gap between human thinking and computer programming, making it easier to understand and implement algorithms.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60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712890"/>
            <a:ext cx="9872871" cy="438311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·  </a:t>
            </a:r>
            <a:r>
              <a:rPr lang="en-US" b="1" dirty="0"/>
              <a:t>Language-Agnostic</a:t>
            </a:r>
            <a:r>
              <a:rPr lang="en-US" dirty="0"/>
              <a:t>:</a:t>
            </a:r>
          </a:p>
          <a:p>
            <a:pPr marL="45720" lvl="0" indent="0">
              <a:buNone/>
            </a:pPr>
            <a:r>
              <a:rPr lang="en-US" dirty="0" smtClean="0"/>
              <a:t>	Pseudocode </a:t>
            </a:r>
            <a:r>
              <a:rPr lang="en-US" dirty="0"/>
              <a:t>is not tied to any specific programming language. It is a universal way </a:t>
            </a:r>
            <a:r>
              <a:rPr lang="en-US" dirty="0" smtClean="0"/>
              <a:t>	of </a:t>
            </a:r>
            <a:r>
              <a:rPr lang="en-US" dirty="0"/>
              <a:t>explaining algorithms.</a:t>
            </a:r>
          </a:p>
          <a:p>
            <a:r>
              <a:rPr lang="en-US" dirty="0"/>
              <a:t>·  </a:t>
            </a:r>
            <a:r>
              <a:rPr lang="en-US" b="1" dirty="0"/>
              <a:t>Human-Readable</a:t>
            </a:r>
            <a:r>
              <a:rPr lang="en-US" dirty="0"/>
              <a:t>:</a:t>
            </a:r>
          </a:p>
          <a:p>
            <a:pPr marL="45720" lvl="0" indent="0">
              <a:buNone/>
            </a:pPr>
            <a:r>
              <a:rPr lang="en-US" dirty="0" smtClean="0"/>
              <a:t>	It </a:t>
            </a:r>
            <a:r>
              <a:rPr lang="en-US" dirty="0"/>
              <a:t>uses plain English (or another natural language) mixed with mathematical </a:t>
            </a:r>
            <a:r>
              <a:rPr lang="en-US" dirty="0" smtClean="0"/>
              <a:t>	notations </a:t>
            </a:r>
            <a:r>
              <a:rPr lang="en-US" dirty="0"/>
              <a:t>and programming constructs.</a:t>
            </a:r>
          </a:p>
          <a:p>
            <a:r>
              <a:rPr lang="en-US" dirty="0"/>
              <a:t>·  </a:t>
            </a:r>
            <a:r>
              <a:rPr lang="en-US" b="1" dirty="0"/>
              <a:t>Structured</a:t>
            </a:r>
            <a:r>
              <a:rPr lang="en-US" dirty="0"/>
              <a:t>:</a:t>
            </a:r>
          </a:p>
          <a:p>
            <a:pPr marL="45720" lvl="0" indent="0">
              <a:buNone/>
            </a:pPr>
            <a:r>
              <a:rPr lang="en-US" dirty="0" smtClean="0"/>
              <a:t>	It </a:t>
            </a:r>
            <a:r>
              <a:rPr lang="en-US" dirty="0"/>
              <a:t>follows a logical structure, often using constructs like BEGIN, IF, WHILE, and END </a:t>
            </a:r>
            <a:r>
              <a:rPr lang="en-US" dirty="0" smtClean="0"/>
              <a:t>	to </a:t>
            </a:r>
            <a:r>
              <a:rPr lang="en-US" dirty="0"/>
              <a:t>represent the flow of the algorithm.</a:t>
            </a:r>
          </a:p>
          <a:p>
            <a:r>
              <a:rPr lang="en-US" dirty="0"/>
              <a:t>·  </a:t>
            </a:r>
            <a:r>
              <a:rPr lang="en-US" b="1" dirty="0"/>
              <a:t>No Syntax Rules</a:t>
            </a:r>
            <a:r>
              <a:rPr lang="en-US" dirty="0"/>
              <a:t>:</a:t>
            </a:r>
          </a:p>
          <a:p>
            <a:pPr marL="45720" lvl="0" indent="0">
              <a:buNone/>
            </a:pPr>
            <a:r>
              <a:rPr lang="en-US" dirty="0" smtClean="0"/>
              <a:t>	There </a:t>
            </a:r>
            <a:r>
              <a:rPr lang="en-US" dirty="0"/>
              <a:t>are no rigid rules, but clarity and simplicity are prioritized to convey the </a:t>
            </a:r>
            <a:r>
              <a:rPr lang="en-US" dirty="0" smtClean="0"/>
              <a:t>	intended </a:t>
            </a:r>
            <a:r>
              <a:rPr lang="en-US" dirty="0"/>
              <a:t>logic effectively.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884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for 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Simplicity and Clarity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Use simple, plain language that clearly conveys the logic of the algorithm.</a:t>
            </a:r>
          </a:p>
          <a:p>
            <a:pPr lvl="1"/>
            <a:r>
              <a:rPr lang="en-US" dirty="0"/>
              <a:t>Avoid unnecessary complexity or implementation-specific details.</a:t>
            </a:r>
          </a:p>
          <a:p>
            <a:r>
              <a:rPr lang="en-US" u="sng" dirty="0"/>
              <a:t>Structured Representation:</a:t>
            </a:r>
          </a:p>
          <a:p>
            <a:pPr lvl="1"/>
            <a:r>
              <a:rPr lang="en-US" dirty="0"/>
              <a:t>Begin with the start or begin keyword to indicate the beginning of the pseudocode.</a:t>
            </a:r>
          </a:p>
          <a:p>
            <a:pPr lvl="1"/>
            <a:r>
              <a:rPr lang="en-US" dirty="0"/>
              <a:t>Use end or stop to mark the end of the pseudocode.</a:t>
            </a:r>
          </a:p>
          <a:p>
            <a:r>
              <a:rPr lang="en-US" u="sng" dirty="0"/>
              <a:t>Indentation for Clarity:</a:t>
            </a:r>
          </a:p>
          <a:p>
            <a:pPr lvl="1"/>
            <a:r>
              <a:rPr lang="en-US" dirty="0"/>
              <a:t>Use proper indentation to represent blocks of code, such as loops or conditional statements.</a:t>
            </a:r>
          </a:p>
          <a:p>
            <a:pPr lvl="1"/>
            <a:r>
              <a:rPr lang="en-US" dirty="0"/>
              <a:t>Indentation makes it easier to understand the hierarchy and flow.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402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for 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Keywords for Control Structures:</a:t>
            </a:r>
          </a:p>
          <a:p>
            <a:pPr lvl="1"/>
            <a:r>
              <a:rPr lang="en-US" dirty="0"/>
              <a:t>Use standard keywords for control structures, such as:</a:t>
            </a:r>
          </a:p>
          <a:p>
            <a:pPr lvl="1"/>
            <a:r>
              <a:rPr lang="en-US" dirty="0"/>
              <a:t>IF...THEN...ELSE for conditional branching.</a:t>
            </a:r>
          </a:p>
          <a:p>
            <a:pPr lvl="1"/>
            <a:r>
              <a:rPr lang="en-US" dirty="0"/>
              <a:t>FOR, WHILE, or REPEAT...UNTIL for loops.</a:t>
            </a:r>
          </a:p>
          <a:p>
            <a:pPr lvl="1"/>
            <a:r>
              <a:rPr lang="en-US" dirty="0"/>
              <a:t>INPUT, OUTPUT for user interaction.</a:t>
            </a:r>
          </a:p>
          <a:p>
            <a:r>
              <a:rPr lang="en-US" u="sng" dirty="0"/>
              <a:t>Avoid Syntax from Programming Languages:</a:t>
            </a:r>
          </a:p>
          <a:p>
            <a:pPr lvl="1"/>
            <a:r>
              <a:rPr lang="en-US" dirty="0"/>
              <a:t>Do not use syntax from a specific programming language; instead, describe operations in general terms.</a:t>
            </a:r>
          </a:p>
          <a:p>
            <a:pPr lvl="1"/>
            <a:r>
              <a:rPr lang="en-US" dirty="0"/>
              <a:t>For example, write Set A = 5 instead of </a:t>
            </a:r>
            <a:r>
              <a:rPr lang="en-US" dirty="0" err="1"/>
              <a:t>int</a:t>
            </a:r>
            <a:r>
              <a:rPr lang="en-US" dirty="0"/>
              <a:t> A = 5.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44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for 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Comments (Optional):</a:t>
            </a:r>
          </a:p>
          <a:p>
            <a:r>
              <a:rPr lang="en-US" dirty="0"/>
              <a:t>Use comments to explain the logic or purpose of specific sections.</a:t>
            </a:r>
          </a:p>
          <a:p>
            <a:r>
              <a:rPr lang="en-US" dirty="0"/>
              <a:t>Comments can be denoted by a special symbol or keyword, e.g., // or Note:.</a:t>
            </a:r>
          </a:p>
          <a:p>
            <a:r>
              <a:rPr lang="en-US" u="sng" dirty="0"/>
              <a:t>Keep it Language-Agnostic:</a:t>
            </a:r>
          </a:p>
          <a:p>
            <a:r>
              <a:rPr lang="en-US" dirty="0"/>
              <a:t>The pseudocode should not depend on any specific programming language but be universally comprehensible.</a:t>
            </a:r>
          </a:p>
          <a:p>
            <a:r>
              <a:rPr lang="en-US" u="sng" dirty="0"/>
              <a:t>End Each Structure Properly:</a:t>
            </a:r>
          </a:p>
          <a:p>
            <a:r>
              <a:rPr lang="en-US" dirty="0"/>
              <a:t>Use ENDIF, ENDWHILE, or similar to clearly indicate the end of control structures.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68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for 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Descriptive Variable Names:</a:t>
            </a:r>
          </a:p>
          <a:p>
            <a:pPr lvl="1"/>
            <a:r>
              <a:rPr lang="en-US" dirty="0"/>
              <a:t>Use meaningful and descriptive variable names to make the pseudocode self-explanatory.</a:t>
            </a:r>
          </a:p>
          <a:p>
            <a:pPr lvl="1"/>
            <a:r>
              <a:rPr lang="en-US" dirty="0"/>
              <a:t>For example, use </a:t>
            </a:r>
            <a:r>
              <a:rPr lang="en-US" dirty="0" err="1"/>
              <a:t>totalAmount</a:t>
            </a:r>
            <a:r>
              <a:rPr lang="en-US" dirty="0"/>
              <a:t> instead of x.</a:t>
            </a:r>
          </a:p>
          <a:p>
            <a:r>
              <a:rPr lang="en-US" u="sng" dirty="0"/>
              <a:t>No Specific Language Syntax:</a:t>
            </a:r>
          </a:p>
          <a:p>
            <a:pPr lvl="1"/>
            <a:r>
              <a:rPr lang="en-US" dirty="0"/>
              <a:t>Avoid using constructs or syntax specific to any programming language. Pseudocode should be understandable by anyone familiar with programming concepts.</a:t>
            </a:r>
          </a:p>
          <a:p>
            <a:r>
              <a:rPr lang="en-US" u="sng" dirty="0"/>
              <a:t>Flow Control:</a:t>
            </a:r>
          </a:p>
          <a:p>
            <a:pPr lvl="1"/>
            <a:r>
              <a:rPr lang="en-US" dirty="0"/>
              <a:t>Ensure proper logical flow with clearly defined steps.</a:t>
            </a:r>
          </a:p>
          <a:p>
            <a:pPr lvl="1"/>
            <a:r>
              <a:rPr lang="en-US" dirty="0"/>
              <a:t>Avoid ambiguous instructions or steps.</a:t>
            </a:r>
          </a:p>
        </p:txBody>
      </p:sp>
    </p:spTree>
    <p:extLst>
      <p:ext uri="{BB962C8B-B14F-4D97-AF65-F5344CB8AC3E}">
        <p14:creationId xmlns:p14="http://schemas.microsoft.com/office/powerpoint/2010/main" val="332816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01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400" dirty="0"/>
              <a:t>Write a pseudocode to take two numbers as input, calculate their sum, and display the result.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400" dirty="0"/>
              <a:t>BEGIN    </a:t>
            </a:r>
          </a:p>
          <a:p>
            <a:pPr marL="4572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INPUT </a:t>
            </a:r>
            <a:r>
              <a:rPr lang="en-US" sz="2400" dirty="0"/>
              <a:t>number1   </a:t>
            </a:r>
          </a:p>
          <a:p>
            <a:pPr marL="45720" indent="0">
              <a:buNone/>
            </a:pPr>
            <a:r>
              <a:rPr lang="en-US" sz="2400" dirty="0"/>
              <a:t> INPUT number2    </a:t>
            </a:r>
          </a:p>
          <a:p>
            <a:pPr marL="45720" indent="0">
              <a:buNone/>
            </a:pPr>
            <a:r>
              <a:rPr lang="en-US" sz="2400" dirty="0"/>
              <a:t>SET sum = number1 + number2    </a:t>
            </a:r>
          </a:p>
          <a:p>
            <a:pPr marL="45720" indent="0">
              <a:buNone/>
            </a:pPr>
            <a:r>
              <a:rPr lang="en-US" sz="2400" dirty="0"/>
              <a:t>OUTPUT "The sum of the two numbers is: ", sum</a:t>
            </a:r>
          </a:p>
          <a:p>
            <a:pPr marL="45720" indent="0">
              <a:buNone/>
            </a:pPr>
            <a:r>
              <a:rPr lang="en-US" sz="2400" dirty="0"/>
              <a:t>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482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02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We will assume our input includes name, the hours worked, and the hourly rate and that we are to write out the gross pay as well as the gross pay minus a deduction of $15 for dues and uniforms.</a:t>
            </a:r>
          </a:p>
          <a:p>
            <a:pPr marL="457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49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02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600" dirty="0"/>
              <a:t>We will assume our input includes name, the hours worked, and the hourly rate and that we are to write out the gross pay as well as the gross pay minus a deduction of $15 for dues and uniforms.</a:t>
            </a:r>
          </a:p>
          <a:p>
            <a:pPr marL="4572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US" dirty="0"/>
              <a:t>BEGIN </a:t>
            </a:r>
          </a:p>
          <a:p>
            <a:pPr marL="274320" lvl="1" indent="0">
              <a:buNone/>
            </a:pPr>
            <a:r>
              <a:rPr lang="en-US" dirty="0"/>
              <a:t>INPUT name </a:t>
            </a:r>
          </a:p>
          <a:p>
            <a:pPr marL="274320" lvl="1" indent="0">
              <a:buNone/>
            </a:pPr>
            <a:r>
              <a:rPr lang="en-US" dirty="0"/>
              <a:t>INPUT </a:t>
            </a:r>
            <a:r>
              <a:rPr lang="en-US" dirty="0" err="1"/>
              <a:t>hoursWorked</a:t>
            </a:r>
            <a:r>
              <a:rPr lang="en-US" dirty="0"/>
              <a:t>  </a:t>
            </a:r>
          </a:p>
          <a:p>
            <a:pPr marL="274320" lvl="1" indent="0">
              <a:buNone/>
            </a:pPr>
            <a:r>
              <a:rPr lang="en-US" dirty="0"/>
              <a:t>INPUT </a:t>
            </a:r>
            <a:r>
              <a:rPr lang="en-US" dirty="0" err="1"/>
              <a:t>hourlyRate</a:t>
            </a:r>
            <a:r>
              <a:rPr lang="en-US" dirty="0"/>
              <a:t>    </a:t>
            </a:r>
          </a:p>
          <a:p>
            <a:pPr marL="274320" lvl="1" indent="0">
              <a:buNone/>
            </a:pPr>
            <a:r>
              <a:rPr lang="en-US" dirty="0"/>
              <a:t>SET </a:t>
            </a:r>
            <a:r>
              <a:rPr lang="en-US" dirty="0" err="1"/>
              <a:t>grossPay</a:t>
            </a:r>
            <a:r>
              <a:rPr lang="en-US" dirty="0"/>
              <a:t> = </a:t>
            </a:r>
            <a:r>
              <a:rPr lang="en-US" dirty="0" err="1"/>
              <a:t>hoursWorked</a:t>
            </a:r>
            <a:r>
              <a:rPr lang="en-US" dirty="0"/>
              <a:t> * </a:t>
            </a:r>
            <a:r>
              <a:rPr lang="en-US" dirty="0" err="1"/>
              <a:t>hourlyRate</a:t>
            </a:r>
            <a:r>
              <a:rPr lang="en-US" dirty="0"/>
              <a:t>    </a:t>
            </a:r>
          </a:p>
          <a:p>
            <a:pPr marL="274320" lvl="1" indent="0">
              <a:buNone/>
            </a:pPr>
            <a:r>
              <a:rPr lang="en-US" dirty="0"/>
              <a:t>SET deduction = 15    </a:t>
            </a:r>
          </a:p>
          <a:p>
            <a:pPr marL="274320" lvl="1" indent="0">
              <a:buNone/>
            </a:pPr>
            <a:r>
              <a:rPr lang="en-US" dirty="0"/>
              <a:t>SET </a:t>
            </a:r>
            <a:r>
              <a:rPr lang="en-US" dirty="0" err="1"/>
              <a:t>netPay</a:t>
            </a:r>
            <a:r>
              <a:rPr lang="en-US" dirty="0"/>
              <a:t> = </a:t>
            </a:r>
            <a:r>
              <a:rPr lang="en-US" dirty="0" err="1"/>
              <a:t>grossPay</a:t>
            </a:r>
            <a:r>
              <a:rPr lang="en-US" dirty="0"/>
              <a:t> - deduction  </a:t>
            </a:r>
          </a:p>
          <a:p>
            <a:pPr marL="274320" lvl="1" indent="0">
              <a:buNone/>
            </a:pPr>
            <a:r>
              <a:rPr lang="en-US" dirty="0" smtClean="0"/>
              <a:t>OUTPUT </a:t>
            </a:r>
            <a:r>
              <a:rPr lang="en-US" dirty="0"/>
              <a:t>"Gross Pay: $", </a:t>
            </a:r>
            <a:r>
              <a:rPr lang="en-US" dirty="0" err="1"/>
              <a:t>grossPay</a:t>
            </a:r>
            <a:r>
              <a:rPr lang="en-US" dirty="0"/>
              <a:t>    </a:t>
            </a:r>
          </a:p>
          <a:p>
            <a:pPr marL="274320" lvl="1" indent="0">
              <a:buNone/>
            </a:pPr>
            <a:r>
              <a:rPr lang="en-US" dirty="0"/>
              <a:t>OUTPUT "Net Pay after deduction of $15: $", </a:t>
            </a:r>
            <a:r>
              <a:rPr lang="en-US" dirty="0" err="1"/>
              <a:t>netPay</a:t>
            </a:r>
            <a:endParaRPr lang="en-US" dirty="0"/>
          </a:p>
          <a:p>
            <a:pPr marL="274320" lvl="1" indent="0">
              <a:buNone/>
            </a:pPr>
            <a:r>
              <a:rPr lang="en-US" dirty="0"/>
              <a:t>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595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 03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pseudocode to calculate the area and circumference of a circle. The pseudocode should:</a:t>
            </a:r>
          </a:p>
          <a:p>
            <a:r>
              <a:rPr lang="en-US" dirty="0"/>
              <a:t>Take the radius of the circle as input.</a:t>
            </a:r>
          </a:p>
          <a:p>
            <a:r>
              <a:rPr lang="en-US" dirty="0"/>
              <a:t>Use the formulas:</a:t>
            </a:r>
          </a:p>
          <a:p>
            <a:pPr lvl="1"/>
            <a:r>
              <a:rPr lang="en-US" dirty="0"/>
              <a:t>Area = π × radius²</a:t>
            </a:r>
          </a:p>
          <a:p>
            <a:pPr lvl="1"/>
            <a:r>
              <a:rPr lang="en-US" dirty="0"/>
              <a:t>Circumference = 2 × π × radius</a:t>
            </a:r>
          </a:p>
          <a:p>
            <a:r>
              <a:rPr lang="en-US" dirty="0"/>
              <a:t>Display both the area and the circumference as output.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26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03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Write a pseudocode to calculate the area and circumference of a circle. The pseudocode should:</a:t>
            </a:r>
          </a:p>
          <a:p>
            <a:r>
              <a:rPr lang="en-US" dirty="0"/>
              <a:t>Take the radius of the circle as input.</a:t>
            </a:r>
          </a:p>
          <a:p>
            <a:r>
              <a:rPr lang="en-US" dirty="0"/>
              <a:t>Use the formulas:</a:t>
            </a:r>
          </a:p>
          <a:p>
            <a:pPr lvl="1"/>
            <a:r>
              <a:rPr lang="en-US" dirty="0"/>
              <a:t>Area = π × radius²</a:t>
            </a:r>
          </a:p>
          <a:p>
            <a:pPr lvl="1"/>
            <a:r>
              <a:rPr lang="en-US" dirty="0"/>
              <a:t>Circumference = 2 × π × radius</a:t>
            </a:r>
          </a:p>
          <a:p>
            <a:r>
              <a:rPr lang="en-US" dirty="0"/>
              <a:t>Display both the area and the circumference as output.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7880" y="2057400"/>
            <a:ext cx="5899168" cy="4023360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US" dirty="0"/>
              <a:t>BEGIN</a:t>
            </a:r>
          </a:p>
          <a:p>
            <a:pPr marL="45720" indent="0">
              <a:buNone/>
            </a:pPr>
            <a:r>
              <a:rPr lang="en-US" dirty="0"/>
              <a:t>    INPUT radius</a:t>
            </a:r>
          </a:p>
          <a:p>
            <a:pPr marL="45720" indent="0">
              <a:buNone/>
            </a:pPr>
            <a:r>
              <a:rPr lang="en-US" dirty="0"/>
              <a:t>    SET π = 3.14159</a:t>
            </a:r>
          </a:p>
          <a:p>
            <a:pPr marL="45720" indent="0">
              <a:buNone/>
            </a:pPr>
            <a:r>
              <a:rPr lang="en-US" dirty="0"/>
              <a:t>    SET area = π * radius * radius</a:t>
            </a:r>
          </a:p>
          <a:p>
            <a:pPr marL="45720" indent="0">
              <a:buNone/>
            </a:pPr>
            <a:r>
              <a:rPr lang="en-US" dirty="0"/>
              <a:t>    SET circumference = 2 * π * radius</a:t>
            </a:r>
          </a:p>
          <a:p>
            <a:pPr marL="45720" indent="0">
              <a:buNone/>
            </a:pPr>
            <a:r>
              <a:rPr lang="en-US" dirty="0"/>
              <a:t>    OUTPUT "The area of the circle is: ", area</a:t>
            </a:r>
          </a:p>
          <a:p>
            <a:pPr marL="45720" indent="0">
              <a:buNone/>
            </a:pPr>
            <a:r>
              <a:rPr lang="en-US" dirty="0"/>
              <a:t>    OUTPUT "The circumference of the circle is: ", circumference</a:t>
            </a:r>
          </a:p>
          <a:p>
            <a:pPr marL="45720" indent="0">
              <a:buNone/>
            </a:pPr>
            <a:r>
              <a:rPr lang="en-US" dirty="0"/>
              <a:t>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41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04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45720" indent="0">
              <a:buNone/>
            </a:pPr>
            <a:r>
              <a:rPr lang="en-US" sz="2400" dirty="0"/>
              <a:t>Write a pseudocode to check if a number is positive, negative, or zero, and display the appropriate message.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45720" indent="0">
              <a:buNone/>
            </a:pPr>
            <a:r>
              <a:rPr lang="en-US" dirty="0"/>
              <a:t>BEGIN   </a:t>
            </a:r>
            <a:endParaRPr lang="en-US" dirty="0" smtClean="0"/>
          </a:p>
          <a:p>
            <a:pPr marL="45720" indent="0">
              <a:buNone/>
            </a:pPr>
            <a:r>
              <a:rPr lang="en-US" dirty="0" smtClean="0"/>
              <a:t>INPUT </a:t>
            </a:r>
            <a:r>
              <a:rPr lang="en-US" dirty="0"/>
              <a:t>number   </a:t>
            </a:r>
            <a:endParaRPr lang="en-US" dirty="0" smtClean="0"/>
          </a:p>
          <a:p>
            <a:pPr marL="45720" indent="0">
              <a:buNone/>
            </a:pPr>
            <a:r>
              <a:rPr lang="en-US" dirty="0" smtClean="0"/>
              <a:t>	IF </a:t>
            </a:r>
            <a:r>
              <a:rPr lang="en-US" dirty="0"/>
              <a:t>number &gt; </a:t>
            </a:r>
            <a:r>
              <a:rPr lang="en-US" dirty="0" smtClean="0"/>
              <a:t>0 THEN        </a:t>
            </a:r>
          </a:p>
          <a:p>
            <a:pPr marL="45720" indent="0">
              <a:buNone/>
            </a:pPr>
            <a:r>
              <a:rPr lang="en-US" dirty="0" smtClean="0"/>
              <a:t>		OUTPUT </a:t>
            </a:r>
            <a:r>
              <a:rPr lang="en-US" dirty="0"/>
              <a:t>"The number is </a:t>
            </a:r>
            <a:r>
              <a:rPr lang="en-US" dirty="0" smtClean="0"/>
              <a:t>			positive.“</a:t>
            </a:r>
          </a:p>
          <a:p>
            <a:pPr marL="45720" indent="0">
              <a:buNone/>
            </a:pPr>
            <a:r>
              <a:rPr lang="en-US" dirty="0" smtClean="0"/>
              <a:t> 	ELSE </a:t>
            </a:r>
            <a:r>
              <a:rPr lang="en-US" dirty="0"/>
              <a:t>IF number &lt; 0 THEN     </a:t>
            </a:r>
            <a:endParaRPr lang="en-US" dirty="0" smtClean="0"/>
          </a:p>
          <a:p>
            <a:pPr marL="45720" indent="0">
              <a:buNone/>
            </a:pPr>
            <a:r>
              <a:rPr lang="en-US" dirty="0" smtClean="0"/>
              <a:t> 		OUTPUT </a:t>
            </a:r>
            <a:r>
              <a:rPr lang="en-US" dirty="0"/>
              <a:t>"The number is </a:t>
            </a:r>
            <a:r>
              <a:rPr lang="en-US" dirty="0" smtClean="0"/>
              <a:t>			negative</a:t>
            </a:r>
            <a:r>
              <a:rPr lang="en-US" dirty="0"/>
              <a:t>."    </a:t>
            </a:r>
            <a:endParaRPr lang="en-US" dirty="0" smtClean="0"/>
          </a:p>
          <a:p>
            <a:pPr marL="45720" indent="0">
              <a:buNone/>
            </a:pPr>
            <a:r>
              <a:rPr lang="en-US" dirty="0" smtClean="0"/>
              <a:t>	ELSE        </a:t>
            </a:r>
          </a:p>
          <a:p>
            <a:pPr marL="45720" indent="0">
              <a:buNone/>
            </a:pPr>
            <a:r>
              <a:rPr lang="en-US" dirty="0" smtClean="0"/>
              <a:t>		OUTPUT </a:t>
            </a:r>
            <a:r>
              <a:rPr lang="en-US" dirty="0"/>
              <a:t>"The number is zero."    </a:t>
            </a:r>
            <a:endParaRPr lang="en-US" dirty="0" smtClean="0"/>
          </a:p>
          <a:p>
            <a:pPr marL="45720" indent="0">
              <a:buNone/>
            </a:pPr>
            <a:r>
              <a:rPr lang="en-US" dirty="0" smtClean="0"/>
              <a:t>	ENDIF</a:t>
            </a:r>
          </a:p>
          <a:p>
            <a:pPr marL="45720" indent="0">
              <a:buNone/>
            </a:pPr>
            <a:r>
              <a:rPr lang="en-US" dirty="0" smtClean="0"/>
              <a:t>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459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8642" y="1249251"/>
            <a:ext cx="825535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BEGIN   </a:t>
            </a:r>
          </a:p>
          <a:p>
            <a:pPr marL="4572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INPUT number   </a:t>
            </a:r>
          </a:p>
          <a:p>
            <a:pPr marL="4572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	IF number &gt; </a:t>
            </a:r>
            <a:r>
              <a:rPr lang="en-US" sz="2400" dirty="0" smtClean="0">
                <a:solidFill>
                  <a:schemeClr val="tx2"/>
                </a:solidFill>
              </a:rPr>
              <a:t>0 </a:t>
            </a:r>
            <a:r>
              <a:rPr lang="en-US" sz="2400" dirty="0">
                <a:solidFill>
                  <a:schemeClr val="tx2"/>
                </a:solidFill>
              </a:rPr>
              <a:t>THEN        </a:t>
            </a:r>
          </a:p>
          <a:p>
            <a:pPr marL="4572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		OUTPUT "The number is 	</a:t>
            </a:r>
            <a:r>
              <a:rPr lang="en-US" sz="2400" dirty="0" smtClean="0">
                <a:solidFill>
                  <a:schemeClr val="tx2"/>
                </a:solidFill>
              </a:rPr>
              <a:t>positive</a:t>
            </a:r>
            <a:r>
              <a:rPr lang="en-US" sz="2400" dirty="0">
                <a:solidFill>
                  <a:schemeClr val="tx2"/>
                </a:solidFill>
              </a:rPr>
              <a:t>.“</a:t>
            </a:r>
          </a:p>
          <a:p>
            <a:pPr marL="4572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 	ELSE IF number &lt; 0 THEN     </a:t>
            </a:r>
          </a:p>
          <a:p>
            <a:pPr marL="4572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 		OUTPUT "The number is 	</a:t>
            </a:r>
            <a:r>
              <a:rPr lang="en-US" sz="2400" dirty="0" smtClean="0">
                <a:solidFill>
                  <a:schemeClr val="tx2"/>
                </a:solidFill>
              </a:rPr>
              <a:t>negative</a:t>
            </a:r>
            <a:r>
              <a:rPr lang="en-US" sz="2400" dirty="0">
                <a:solidFill>
                  <a:schemeClr val="tx2"/>
                </a:solidFill>
              </a:rPr>
              <a:t>."    </a:t>
            </a:r>
          </a:p>
          <a:p>
            <a:pPr marL="4572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	ELSE        </a:t>
            </a:r>
          </a:p>
          <a:p>
            <a:pPr marL="4572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		OUTPUT "The number is zero."    </a:t>
            </a:r>
          </a:p>
          <a:p>
            <a:pPr marL="4572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	ENDIF</a:t>
            </a:r>
          </a:p>
          <a:p>
            <a:pPr marL="4572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234493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 smtClean="0"/>
              <a:t>05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1738648"/>
            <a:ext cx="4137338" cy="4342111"/>
          </a:xfrm>
        </p:spPr>
        <p:txBody>
          <a:bodyPr>
            <a:normAutofit fontScale="62500" lnSpcReduction="20000"/>
          </a:bodyPr>
          <a:lstStyle/>
          <a:p>
            <a:r>
              <a:rPr lang="en-US" sz="3200" dirty="0"/>
              <a:t>Write a pseudocode to display the day of the week based on a number input (1 for Monday, 2 for Tuesday, ..., 7 for Sunday).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0192" y="1622738"/>
            <a:ext cx="4982300" cy="4458022"/>
          </a:xfrm>
        </p:spPr>
        <p:txBody>
          <a:bodyPr>
            <a:normAutofit fontScale="62500" lnSpcReduction="20000"/>
          </a:bodyPr>
          <a:lstStyle/>
          <a:p>
            <a:pPr marL="45720" indent="0">
              <a:buNone/>
            </a:pPr>
            <a:r>
              <a:rPr lang="en-US" dirty="0"/>
              <a:t>BEGIN</a:t>
            </a:r>
          </a:p>
          <a:p>
            <a:pPr marL="45720" indent="0">
              <a:buNone/>
            </a:pPr>
            <a:r>
              <a:rPr lang="en-US" dirty="0"/>
              <a:t>    INPUT </a:t>
            </a:r>
            <a:r>
              <a:rPr lang="en-US" dirty="0" err="1"/>
              <a:t>dayNumber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    SWITCH </a:t>
            </a:r>
            <a:r>
              <a:rPr lang="en-US" dirty="0" err="1"/>
              <a:t>dayNumber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        CASE 1:</a:t>
            </a:r>
          </a:p>
          <a:p>
            <a:pPr marL="45720" indent="0">
              <a:buNone/>
            </a:pPr>
            <a:r>
              <a:rPr lang="en-US" dirty="0"/>
              <a:t>            OUTPUT "Monday"</a:t>
            </a:r>
          </a:p>
          <a:p>
            <a:pPr marL="45720" indent="0">
              <a:buNone/>
            </a:pPr>
            <a:r>
              <a:rPr lang="en-US" dirty="0"/>
              <a:t>            BREAK</a:t>
            </a:r>
          </a:p>
          <a:p>
            <a:pPr marL="45720" indent="0">
              <a:buNone/>
            </a:pPr>
            <a:r>
              <a:rPr lang="en-US" dirty="0"/>
              <a:t>        CASE 2:</a:t>
            </a:r>
          </a:p>
          <a:p>
            <a:pPr marL="45720" indent="0">
              <a:buNone/>
            </a:pPr>
            <a:r>
              <a:rPr lang="en-US" dirty="0"/>
              <a:t>            OUTPUT "Tuesday"</a:t>
            </a:r>
          </a:p>
          <a:p>
            <a:pPr marL="45720" indent="0">
              <a:buNone/>
            </a:pPr>
            <a:r>
              <a:rPr lang="en-US" dirty="0"/>
              <a:t>            </a:t>
            </a:r>
            <a:r>
              <a:rPr lang="en-US" dirty="0" smtClean="0"/>
              <a:t>BREAK</a:t>
            </a:r>
          </a:p>
          <a:p>
            <a:pPr marL="45720" indent="0">
              <a:buNone/>
            </a:pPr>
            <a:r>
              <a:rPr lang="en-US" dirty="0"/>
              <a:t> DEFAULT:</a:t>
            </a:r>
          </a:p>
          <a:p>
            <a:pPr marL="45720" indent="0">
              <a:buNone/>
            </a:pPr>
            <a:r>
              <a:rPr lang="en-US" dirty="0"/>
              <a:t>            OUTPUT "Invalid input. Please enter a number between 1 and 7."</a:t>
            </a:r>
          </a:p>
          <a:p>
            <a:pPr marL="45720" indent="0">
              <a:buNone/>
            </a:pPr>
            <a:r>
              <a:rPr lang="en-US" dirty="0"/>
              <a:t>    ENDSWITCH</a:t>
            </a:r>
          </a:p>
          <a:p>
            <a:pPr marL="45720" indent="0">
              <a:buNone/>
            </a:pPr>
            <a:r>
              <a:rPr lang="en-US" dirty="0"/>
              <a:t>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07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94516" y="2631583"/>
            <a:ext cx="9875520" cy="1356360"/>
          </a:xfrm>
        </p:spPr>
        <p:txBody>
          <a:bodyPr/>
          <a:lstStyle/>
          <a:p>
            <a:pPr algn="ctr"/>
            <a:r>
              <a:rPr lang="en-US" dirty="0" smtClean="0"/>
              <a:t>Next Looping in pseudocode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07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While Loop example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608454" y="2186188"/>
            <a:ext cx="3583546" cy="4023360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Printing Numbers from 1 to 10 Using a While Loop</a:t>
            </a:r>
          </a:p>
          <a:p>
            <a:pPr marL="4572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953037" y="1735427"/>
            <a:ext cx="5458819" cy="4023360"/>
          </a:xfrm>
        </p:spPr>
        <p:txBody>
          <a:bodyPr/>
          <a:lstStyle/>
          <a:p>
            <a:pPr marL="45720" indent="0">
              <a:buNone/>
            </a:pPr>
            <a:r>
              <a:rPr lang="en-US" dirty="0" smtClean="0"/>
              <a:t>BEGIN</a:t>
            </a:r>
            <a:endParaRPr lang="en-US" dirty="0" smtClean="0"/>
          </a:p>
          <a:p>
            <a:pPr marL="45720" indent="0">
              <a:buNone/>
            </a:pPr>
            <a:r>
              <a:rPr lang="en-US" dirty="0" smtClean="0"/>
              <a:t>Initialize </a:t>
            </a:r>
            <a:r>
              <a:rPr lang="en-US" dirty="0"/>
              <a:t>number = 1 </a:t>
            </a:r>
            <a:endParaRPr lang="en-US" dirty="0" smtClean="0"/>
          </a:p>
          <a:p>
            <a:pPr marL="45720" indent="0">
              <a:buNone/>
            </a:pPr>
            <a:r>
              <a:rPr lang="en-US" dirty="0"/>
              <a:t>	</a:t>
            </a:r>
            <a:r>
              <a:rPr lang="en-US" dirty="0" smtClean="0"/>
              <a:t>WHILE </a:t>
            </a:r>
            <a:r>
              <a:rPr lang="en-US" dirty="0"/>
              <a:t>number &lt;= 10 </a:t>
            </a:r>
            <a:endParaRPr lang="en-US" dirty="0" smtClean="0"/>
          </a:p>
          <a:p>
            <a:pPr marL="45720" indent="0">
              <a:buNone/>
            </a:pPr>
            <a:r>
              <a:rPr lang="en-US" dirty="0"/>
              <a:t>	</a:t>
            </a:r>
            <a:r>
              <a:rPr lang="en-US" dirty="0" smtClean="0"/>
              <a:t>	PRINT </a:t>
            </a:r>
            <a:r>
              <a:rPr lang="en-US" dirty="0"/>
              <a:t>"Number: ", number </a:t>
            </a:r>
            <a:r>
              <a:rPr lang="en-US" dirty="0" smtClean="0"/>
              <a:t>		number </a:t>
            </a:r>
            <a:r>
              <a:rPr lang="en-US" dirty="0"/>
              <a:t>= number + </a:t>
            </a:r>
            <a:r>
              <a:rPr lang="en-US" dirty="0" smtClean="0"/>
              <a:t>1</a:t>
            </a:r>
          </a:p>
          <a:p>
            <a:pPr marL="45720" indent="0">
              <a:buNone/>
            </a:pPr>
            <a:r>
              <a:rPr lang="en-US" dirty="0" smtClean="0"/>
              <a:t>	 </a:t>
            </a:r>
            <a:r>
              <a:rPr lang="en-US" dirty="0"/>
              <a:t>END WHILE </a:t>
            </a:r>
            <a:endParaRPr lang="en-US" dirty="0" smtClean="0"/>
          </a:p>
          <a:p>
            <a:pPr marL="45720" indent="0">
              <a:buNone/>
            </a:pPr>
            <a:r>
              <a:rPr lang="en-US" dirty="0" smtClean="0"/>
              <a:t>PRINT </a:t>
            </a:r>
            <a:r>
              <a:rPr lang="en-US" dirty="0"/>
              <a:t>"Loop Completed</a:t>
            </a:r>
            <a:r>
              <a:rPr lang="en-US" dirty="0" smtClean="0"/>
              <a:t>!“</a:t>
            </a:r>
          </a:p>
          <a:p>
            <a:pPr marL="45720" indent="0">
              <a:buNone/>
            </a:pPr>
            <a:r>
              <a:rPr lang="en-US" dirty="0" smtClean="0"/>
              <a:t>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202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while Loop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Printing Numbers from 1 to 10 Using a 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Do While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Loop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3222" y="2057400"/>
            <a:ext cx="5241701" cy="4023360"/>
          </a:xfrm>
        </p:spPr>
        <p:txBody>
          <a:bodyPr/>
          <a:lstStyle/>
          <a:p>
            <a:pPr marL="45720" indent="0">
              <a:buNone/>
            </a:pPr>
            <a:r>
              <a:rPr lang="en-US" dirty="0" smtClean="0"/>
              <a:t>	INITIALIZE </a:t>
            </a:r>
            <a:r>
              <a:rPr lang="en-US" dirty="0"/>
              <a:t>number = </a:t>
            </a:r>
            <a:r>
              <a:rPr lang="en-US" dirty="0" smtClean="0"/>
              <a:t>1</a:t>
            </a:r>
          </a:p>
          <a:p>
            <a:pPr marL="45720" indent="0">
              <a:buNone/>
            </a:pPr>
            <a:r>
              <a:rPr lang="en-US" dirty="0" smtClean="0"/>
              <a:t> 	DO </a:t>
            </a:r>
          </a:p>
          <a:p>
            <a:pPr marL="45720" indent="0">
              <a:buNone/>
            </a:pPr>
            <a:r>
              <a:rPr lang="en-US" dirty="0" smtClean="0"/>
              <a:t>		PRINT </a:t>
            </a:r>
            <a:r>
              <a:rPr lang="en-US" dirty="0"/>
              <a:t>"Number: ", number </a:t>
            </a:r>
            <a:endParaRPr lang="en-US" dirty="0" smtClean="0"/>
          </a:p>
          <a:p>
            <a:pPr marL="45720" indent="0">
              <a:buNone/>
            </a:pPr>
            <a:r>
              <a:rPr lang="en-US" dirty="0" smtClean="0"/>
              <a:t>		number </a:t>
            </a:r>
            <a:r>
              <a:rPr lang="en-US" dirty="0"/>
              <a:t>= number + 1 </a:t>
            </a:r>
            <a:endParaRPr lang="en-US" dirty="0" smtClean="0"/>
          </a:p>
          <a:p>
            <a:pPr marL="45720" indent="0">
              <a:buNone/>
            </a:pPr>
            <a:r>
              <a:rPr lang="en-US" dirty="0" smtClean="0"/>
              <a:t>	WHILE </a:t>
            </a:r>
            <a:r>
              <a:rPr lang="en-US" dirty="0"/>
              <a:t>number &lt;= 10 </a:t>
            </a:r>
            <a:endParaRPr lang="en-US" dirty="0" smtClean="0"/>
          </a:p>
          <a:p>
            <a:pPr marL="45720" indent="0">
              <a:buNone/>
            </a:pPr>
            <a:r>
              <a:rPr lang="en-US" dirty="0"/>
              <a:t>	END WHILE </a:t>
            </a:r>
          </a:p>
          <a:p>
            <a:pPr marL="45720" indent="0">
              <a:buNone/>
            </a:pPr>
            <a:r>
              <a:rPr lang="en-US" dirty="0" smtClean="0"/>
              <a:t>	PRINT </a:t>
            </a:r>
            <a:r>
              <a:rPr lang="en-US" dirty="0"/>
              <a:t>"Loop Completed!"</a:t>
            </a:r>
          </a:p>
        </p:txBody>
      </p:sp>
    </p:spTree>
    <p:extLst>
      <p:ext uri="{BB962C8B-B14F-4D97-AF65-F5344CB8AC3E}">
        <p14:creationId xmlns:p14="http://schemas.microsoft.com/office/powerpoint/2010/main" val="3565496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Loop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Printing Numbers from 1 to 10 Using a 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for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Loop</a:t>
            </a:r>
          </a:p>
          <a:p>
            <a:pPr marL="4572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FOR number = 1 TO </a:t>
            </a:r>
            <a:r>
              <a:rPr lang="en-US" dirty="0" smtClean="0"/>
              <a:t>10</a:t>
            </a:r>
          </a:p>
          <a:p>
            <a:pPr marL="45720" indent="0">
              <a:buNone/>
            </a:pPr>
            <a:r>
              <a:rPr lang="en-US" dirty="0" smtClean="0"/>
              <a:t> 	PRINT </a:t>
            </a:r>
            <a:r>
              <a:rPr lang="en-US" dirty="0"/>
              <a:t>"Number: ", number </a:t>
            </a:r>
            <a:endParaRPr lang="en-US" dirty="0" smtClean="0"/>
          </a:p>
          <a:p>
            <a:pPr marL="45720" indent="0">
              <a:buNone/>
            </a:pPr>
            <a:r>
              <a:rPr lang="en-US" dirty="0" smtClean="0"/>
              <a:t>END </a:t>
            </a:r>
            <a:r>
              <a:rPr lang="en-US" dirty="0"/>
              <a:t>FOR </a:t>
            </a:r>
            <a:endParaRPr lang="en-US" dirty="0" smtClean="0"/>
          </a:p>
          <a:p>
            <a:pPr marL="45720" indent="0">
              <a:buNone/>
            </a:pPr>
            <a:r>
              <a:rPr lang="en-US" dirty="0" smtClean="0"/>
              <a:t>PRINT </a:t>
            </a:r>
            <a:r>
              <a:rPr lang="en-US" dirty="0"/>
              <a:t>"Loop Completed!"</a:t>
            </a:r>
          </a:p>
        </p:txBody>
      </p:sp>
    </p:spTree>
    <p:extLst>
      <p:ext uri="{BB962C8B-B14F-4D97-AF65-F5344CB8AC3E}">
        <p14:creationId xmlns:p14="http://schemas.microsoft.com/office/powerpoint/2010/main" val="318114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 structure in </a:t>
            </a:r>
            <a:r>
              <a:rPr lang="en-US" dirty="0"/>
              <a:t>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Write a pseudocode that evaluates a student's grade and provides feedback based on the following criteria:</a:t>
            </a:r>
          </a:p>
          <a:p>
            <a:r>
              <a:rPr lang="en-US" dirty="0"/>
              <a:t>If the grade is </a:t>
            </a:r>
            <a:r>
              <a:rPr lang="en-US" b="1" dirty="0"/>
              <a:t>A</a:t>
            </a:r>
            <a:r>
              <a:rPr lang="en-US" dirty="0"/>
              <a:t>, print "Excellent!"</a:t>
            </a:r>
          </a:p>
          <a:p>
            <a:r>
              <a:rPr lang="en-US" dirty="0"/>
              <a:t>If the grade is </a:t>
            </a:r>
            <a:r>
              <a:rPr lang="en-US" b="1" dirty="0"/>
              <a:t>B</a:t>
            </a:r>
            <a:r>
              <a:rPr lang="en-US" dirty="0"/>
              <a:t>, print "Good!"</a:t>
            </a:r>
          </a:p>
          <a:p>
            <a:r>
              <a:rPr lang="en-US" dirty="0"/>
              <a:t>If the grade is </a:t>
            </a:r>
            <a:r>
              <a:rPr lang="en-US" b="1" dirty="0"/>
              <a:t>C</a:t>
            </a:r>
            <a:r>
              <a:rPr lang="en-US" dirty="0"/>
              <a:t>, print "Fair."</a:t>
            </a:r>
          </a:p>
          <a:p>
            <a:r>
              <a:rPr lang="en-US" dirty="0"/>
              <a:t>If the grade is </a:t>
            </a:r>
            <a:r>
              <a:rPr lang="en-US" b="1" dirty="0"/>
              <a:t>F</a:t>
            </a:r>
            <a:r>
              <a:rPr lang="en-US" dirty="0"/>
              <a:t>, print "Failed."</a:t>
            </a:r>
          </a:p>
          <a:p>
            <a:r>
              <a:rPr lang="en-US" dirty="0"/>
              <a:t>For any other input, print "Invalid grade entered."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97560" y="188866"/>
            <a:ext cx="4983200" cy="666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38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Write a pseudocode that evaluates a student's grade and provides feedback based on the following criteria:</a:t>
            </a:r>
          </a:p>
          <a:p>
            <a:r>
              <a:rPr lang="en-US" dirty="0"/>
              <a:t>If the grade is </a:t>
            </a:r>
            <a:r>
              <a:rPr lang="en-US" b="1" dirty="0"/>
              <a:t>A</a:t>
            </a:r>
            <a:r>
              <a:rPr lang="en-US" dirty="0"/>
              <a:t>, print "Excellent!"</a:t>
            </a:r>
          </a:p>
          <a:p>
            <a:r>
              <a:rPr lang="en-US" dirty="0"/>
              <a:t>If the grade is </a:t>
            </a:r>
            <a:r>
              <a:rPr lang="en-US" b="1" dirty="0"/>
              <a:t>B</a:t>
            </a:r>
            <a:r>
              <a:rPr lang="en-US" dirty="0"/>
              <a:t>, print "Good!"</a:t>
            </a:r>
          </a:p>
          <a:p>
            <a:r>
              <a:rPr lang="en-US" dirty="0"/>
              <a:t>If the grade is </a:t>
            </a:r>
            <a:r>
              <a:rPr lang="en-US" b="1" dirty="0"/>
              <a:t>C</a:t>
            </a:r>
            <a:r>
              <a:rPr lang="en-US" dirty="0"/>
              <a:t>, print "Fair."</a:t>
            </a:r>
          </a:p>
          <a:p>
            <a:r>
              <a:rPr lang="en-US" dirty="0"/>
              <a:t>If the grade is </a:t>
            </a:r>
            <a:r>
              <a:rPr lang="en-US" b="1" dirty="0"/>
              <a:t>F</a:t>
            </a:r>
            <a:r>
              <a:rPr lang="en-US" dirty="0"/>
              <a:t>, print "Failed."</a:t>
            </a:r>
          </a:p>
          <a:p>
            <a:r>
              <a:rPr lang="en-US" dirty="0"/>
              <a:t>For any other input, print "Invalid grade entered."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41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5270" y="1439213"/>
            <a:ext cx="4754880" cy="4023360"/>
          </a:xfrm>
        </p:spPr>
        <p:txBody>
          <a:bodyPr>
            <a:normAutofit fontScale="85000" lnSpcReduction="20000"/>
          </a:bodyPr>
          <a:lstStyle/>
          <a:p>
            <a:pPr marL="45720" indent="0">
              <a:buNone/>
            </a:pPr>
            <a:r>
              <a:rPr lang="en-US" dirty="0"/>
              <a:t>BEGIN </a:t>
            </a:r>
          </a:p>
          <a:p>
            <a:pPr marL="45720" indent="0">
              <a:buNone/>
            </a:pPr>
            <a:r>
              <a:rPr lang="en-US" dirty="0"/>
              <a:t>// Outer loop for rows </a:t>
            </a:r>
          </a:p>
          <a:p>
            <a:pPr marL="45720" indent="0">
              <a:buNone/>
            </a:pPr>
            <a:r>
              <a:rPr lang="en-US" dirty="0"/>
              <a:t>FOR row FROM 1 TO 5 DO </a:t>
            </a:r>
          </a:p>
          <a:p>
            <a:pPr marL="45720" indent="0">
              <a:buNone/>
            </a:pPr>
            <a:r>
              <a:rPr lang="en-US" dirty="0"/>
              <a:t>// Inner loop for columns</a:t>
            </a:r>
          </a:p>
          <a:p>
            <a:pPr marL="45720" indent="0">
              <a:buNone/>
            </a:pPr>
            <a:r>
              <a:rPr lang="en-US" dirty="0"/>
              <a:t> 	FOR column FROM 1 TO row</a:t>
            </a:r>
          </a:p>
          <a:p>
            <a:pPr marL="45720" indent="0">
              <a:buNone/>
            </a:pPr>
            <a:r>
              <a:rPr lang="en-US" dirty="0"/>
              <a:t>                                      DO PRINT "*", " " </a:t>
            </a:r>
          </a:p>
          <a:p>
            <a:pPr marL="45720" indent="0">
              <a:buNone/>
            </a:pPr>
            <a:r>
              <a:rPr lang="en-US" dirty="0"/>
              <a:t>                   END FOR</a:t>
            </a:r>
          </a:p>
          <a:p>
            <a:pPr marL="45720" indent="0">
              <a:buNone/>
            </a:pPr>
            <a:r>
              <a:rPr lang="en-US" dirty="0"/>
              <a:t> // Print a newline after completing each  row 	PRINT newline</a:t>
            </a:r>
          </a:p>
          <a:p>
            <a:pPr marL="45720" indent="0">
              <a:buNone/>
            </a:pPr>
            <a:r>
              <a:rPr lang="en-US" dirty="0"/>
              <a:t> 	</a:t>
            </a:r>
            <a:r>
              <a:rPr lang="en-US" dirty="0" smtClean="0"/>
              <a:t> </a:t>
            </a:r>
            <a:r>
              <a:rPr lang="en-US" dirty="0"/>
              <a:t>FOR </a:t>
            </a:r>
            <a:r>
              <a:rPr lang="en-US" dirty="0" smtClean="0"/>
              <a:t>END</a:t>
            </a:r>
          </a:p>
          <a:p>
            <a:pPr marL="45720" indent="0">
              <a:buNone/>
            </a:pPr>
            <a:r>
              <a:rPr lang="en-US" dirty="0"/>
              <a:t>END</a:t>
            </a:r>
          </a:p>
          <a:p>
            <a:pPr marL="4572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67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Loops in pseudocodes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965960"/>
            <a:ext cx="4754880" cy="4023360"/>
          </a:xfrm>
        </p:spPr>
        <p:txBody>
          <a:bodyPr>
            <a:normAutofit/>
          </a:bodyPr>
          <a:lstStyle/>
          <a:p>
            <a:r>
              <a:rPr lang="en-US" dirty="0"/>
              <a:t>Write a pseudocode to print the following pattern using nested </a:t>
            </a:r>
            <a:r>
              <a:rPr lang="en-US" dirty="0" smtClean="0"/>
              <a:t>loops</a:t>
            </a:r>
          </a:p>
          <a:p>
            <a:pPr marL="1717120" lvl="6" indent="0">
              <a:buNone/>
            </a:pPr>
            <a:r>
              <a:rPr lang="en-US" sz="3200" dirty="0" smtClean="0"/>
              <a:t>*</a:t>
            </a:r>
          </a:p>
          <a:p>
            <a:pPr marL="1717120" lvl="6" indent="0">
              <a:buNone/>
            </a:pPr>
            <a:r>
              <a:rPr lang="en-US" sz="3200" dirty="0" smtClean="0"/>
              <a:t>**</a:t>
            </a:r>
          </a:p>
          <a:p>
            <a:pPr marL="1717120" lvl="6" indent="0">
              <a:buNone/>
            </a:pPr>
            <a:r>
              <a:rPr lang="en-US" sz="3200" dirty="0" smtClean="0"/>
              <a:t>***</a:t>
            </a:r>
          </a:p>
          <a:p>
            <a:pPr marL="1717120" lvl="6" indent="0">
              <a:buNone/>
            </a:pPr>
            <a:r>
              <a:rPr lang="en-US" sz="3200" dirty="0" smtClean="0"/>
              <a:t>****</a:t>
            </a:r>
          </a:p>
          <a:p>
            <a:pPr marL="1717120" lvl="6" indent="0">
              <a:buNone/>
            </a:pPr>
            <a:r>
              <a:rPr lang="en-US" sz="3200" dirty="0" smtClean="0"/>
              <a:t>*****</a:t>
            </a:r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941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exercises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04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Custom 3">
      <a:dk1>
        <a:srgbClr val="FFFFFF"/>
      </a:dk1>
      <a:lt1>
        <a:srgbClr val="DECDE8"/>
      </a:lt1>
      <a:dk2>
        <a:srgbClr val="373545"/>
      </a:dk2>
      <a:lt2>
        <a:srgbClr val="DCD8DC"/>
      </a:lt2>
      <a:accent1>
        <a:srgbClr val="373545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6707</TotalTime>
  <Words>1149</Words>
  <Application>Microsoft Office PowerPoint</Application>
  <PresentationFormat>Widescreen</PresentationFormat>
  <Paragraphs>198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Corbel</vt:lpstr>
      <vt:lpstr>Basis</vt:lpstr>
      <vt:lpstr>COM1201-Program Design</vt:lpstr>
      <vt:lpstr>Objectives</vt:lpstr>
      <vt:lpstr>Introduction</vt:lpstr>
      <vt:lpstr>What is Pseudocodes?</vt:lpstr>
      <vt:lpstr>Key Features of Pseudocode</vt:lpstr>
      <vt:lpstr>Rules for Pseudocode</vt:lpstr>
      <vt:lpstr>Rules for Pseudocode</vt:lpstr>
      <vt:lpstr>Rules for Pseudocode</vt:lpstr>
      <vt:lpstr>Rules for Pseudocode</vt:lpstr>
      <vt:lpstr>Example 01 </vt:lpstr>
      <vt:lpstr>Example 02</vt:lpstr>
      <vt:lpstr>Example 02</vt:lpstr>
      <vt:lpstr>EX 03</vt:lpstr>
      <vt:lpstr>Example 03</vt:lpstr>
      <vt:lpstr>Example 04</vt:lpstr>
      <vt:lpstr>PowerPoint Presentation</vt:lpstr>
      <vt:lpstr>Example 05</vt:lpstr>
      <vt:lpstr>Next Looping in pseudocode</vt:lpstr>
      <vt:lpstr>While Loop example</vt:lpstr>
      <vt:lpstr>Do while Loop Example</vt:lpstr>
      <vt:lpstr>For Loop example</vt:lpstr>
      <vt:lpstr>Switch structure in pseudocode</vt:lpstr>
      <vt:lpstr>Try</vt:lpstr>
      <vt:lpstr>PowerPoint Presentation</vt:lpstr>
      <vt:lpstr>Nested Loops in pseudocodes</vt:lpstr>
      <vt:lpstr>Sample exercises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34</cp:revision>
  <dcterms:created xsi:type="dcterms:W3CDTF">2024-12-10T09:26:34Z</dcterms:created>
  <dcterms:modified xsi:type="dcterms:W3CDTF">2025-01-01T23:25:32Z</dcterms:modified>
</cp:coreProperties>
</file>